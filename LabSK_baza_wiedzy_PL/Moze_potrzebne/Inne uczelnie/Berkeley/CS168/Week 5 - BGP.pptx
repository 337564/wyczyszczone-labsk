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fntdata" ContentType="application/x-fontdata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5143500" cx="9144000"/>
  <p:notesSz cx="6858000" cy="9144000"/>
  <p:embeddedFontLst>
    <p:embeddedFont>
      <p:font typeface="PT Sans Narrow"/>
      <p:regular r:id="rId56"/>
      <p:bold r:id="rId57"/>
    </p:embeddedFont>
    <p:embeddedFont>
      <p:font typeface="Open Sans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20551163-69D8-41D5-804B-67B62984040B}">
  <a:tblStyle styleId="{20551163-69D8-41D5-804B-67B62984040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4.xml"/><Relationship Id="rId26" Type="http://schemas.openxmlformats.org/officeDocument/2006/relationships/slide" Target="slides/slide21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34" Type="http://schemas.openxmlformats.org/officeDocument/2006/relationships/slide" Target="slides/slide29.xml"/><Relationship Id="rId21" Type="http://schemas.openxmlformats.org/officeDocument/2006/relationships/slide" Target="slides/slide16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customXml" Target="../customXml/item2.xml"/><Relationship Id="rId7" Type="http://schemas.openxmlformats.org/officeDocument/2006/relationships/slide" Target="slides/slide2.xml"/><Relationship Id="rId2" Type="http://schemas.openxmlformats.org/officeDocument/2006/relationships/presProps" Target="presProps.xml"/><Relationship Id="rId29" Type="http://schemas.openxmlformats.org/officeDocument/2006/relationships/slide" Target="slides/slide24.xml"/><Relationship Id="rId16" Type="http://schemas.openxmlformats.org/officeDocument/2006/relationships/slide" Target="slides/slide11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24" Type="http://schemas.openxmlformats.org/officeDocument/2006/relationships/slide" Target="slides/slide19.xml"/><Relationship Id="rId53" Type="http://schemas.openxmlformats.org/officeDocument/2006/relationships/slide" Target="slides/slide48.xml"/><Relationship Id="rId11" Type="http://schemas.openxmlformats.org/officeDocument/2006/relationships/slide" Target="slides/slide6.xml"/><Relationship Id="rId58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61" Type="http://schemas.openxmlformats.org/officeDocument/2006/relationships/font" Target="fonts/OpenSans-boldItalic.fntdata"/><Relationship Id="rId19" Type="http://schemas.openxmlformats.org/officeDocument/2006/relationships/slide" Target="slides/slide14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56" Type="http://schemas.openxmlformats.org/officeDocument/2006/relationships/font" Target="fonts/PTSansNarrow-regular.fntdata"/><Relationship Id="rId14" Type="http://schemas.openxmlformats.org/officeDocument/2006/relationships/slide" Target="slides/slide9.xml"/><Relationship Id="rId64" Type="http://schemas.openxmlformats.org/officeDocument/2006/relationships/customXml" Target="../customXml/item3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tableStyles" Target="tableStyles.xml"/><Relationship Id="rId46" Type="http://schemas.openxmlformats.org/officeDocument/2006/relationships/slide" Target="slides/slide41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5" Type="http://schemas.openxmlformats.org/officeDocument/2006/relationships/slide" Target="slides/slide20.xml"/><Relationship Id="rId12" Type="http://schemas.openxmlformats.org/officeDocument/2006/relationships/slide" Target="slides/slide7.xml"/><Relationship Id="rId59" Type="http://schemas.openxmlformats.org/officeDocument/2006/relationships/font" Target="fonts/OpenSans-bold.fntdata"/><Relationship Id="rId17" Type="http://schemas.openxmlformats.org/officeDocument/2006/relationships/slide" Target="slides/slide12.xml"/><Relationship Id="rId41" Type="http://schemas.openxmlformats.org/officeDocument/2006/relationships/slide" Target="slides/slide36.xml"/><Relationship Id="rId20" Type="http://schemas.openxmlformats.org/officeDocument/2006/relationships/slide" Target="slides/slide15.xml"/><Relationship Id="rId54" Type="http://schemas.openxmlformats.org/officeDocument/2006/relationships/slide" Target="slides/slide49.xml"/><Relationship Id="rId62" Type="http://schemas.openxmlformats.org/officeDocument/2006/relationships/customXml" Target="../customXml/item1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49" Type="http://schemas.openxmlformats.org/officeDocument/2006/relationships/slide" Target="slides/slide44.xml"/><Relationship Id="rId36" Type="http://schemas.openxmlformats.org/officeDocument/2006/relationships/slide" Target="slides/slide3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57" Type="http://schemas.openxmlformats.org/officeDocument/2006/relationships/font" Target="fonts/PTSansNarrow-bold.fntdata"/><Relationship Id="rId15" Type="http://schemas.openxmlformats.org/officeDocument/2006/relationships/slide" Target="slides/slide10.xml"/><Relationship Id="rId44" Type="http://schemas.openxmlformats.org/officeDocument/2006/relationships/slide" Target="slides/slide39.xml"/><Relationship Id="rId31" Type="http://schemas.openxmlformats.org/officeDocument/2006/relationships/slide" Target="slides/slide26.xml"/><Relationship Id="rId60" Type="http://schemas.openxmlformats.org/officeDocument/2006/relationships/font" Target="fonts/OpenSans-italic.fntdata"/><Relationship Id="rId52" Type="http://schemas.openxmlformats.org/officeDocument/2006/relationships/slide" Target="slides/slide47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IGP := Murphy’s </a:t>
            </a:r>
            <a:r>
              <a:rPr lang="en-US"/>
              <a:t>explanation</a:t>
            </a:r>
            <a:r>
              <a:rPr lang="en-US"/>
              <a:t> of how forwarding tables within domain are made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EBGP, IBGP := EBGP, IGBP = communicating destinations in different destinations 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these sessions on TCP </a:t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3" name="Google Shape;44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0" name="Google Shape;500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0" name="Google Shape;54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5" name="Google Shape;55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0" name="Google Shape;590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4" name="Google Shape;604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9" name="Google Shape;60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5" name="Google Shape;615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6" name="Google Shape;646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4" name="Google Shape;674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route attributes describe property of the route like ASPATH, LOCALPREF, etc.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for this only message we care about are updates</a:t>
            </a:r>
            <a:endParaRPr/>
          </a:p>
        </p:txBody>
      </p:sp>
      <p:sp>
        <p:nvSpPr>
          <p:cNvPr id="702" name="Google Shape;702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0" name="Google Shape;710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" name="Google Shape;71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Multi-Exit Discriminator preferred output packet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iBGP path is to get the packet out quickly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Deeper slides are Hidden out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TABLE from LECTURE Priority Rule Remarks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1 LOCAL PREF Pick highest LOCAL PREF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 ASPATH Pick shortest ASPATH length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3 IGP path Lowest IGP cost to next hop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(egress router)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 MED MED preferred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5 Router ID Smallest next-hop router’s IP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address as tie-breaker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3" name="Google Shape;723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9" name="Google Shape;729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5" name="Google Shape;735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" name="Google Shape;74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Multi-Exit Discriminator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4" name="Google Shape;77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Multi-Exit Discriminator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1" name="Google Shape;79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Multi-Exit Discriminator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0" name="Google Shape;81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Multi-Exit Discriminator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7" name="Google Shape;81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STOP HERE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Cover worksheet first, then come back if there’s time (Sylvia will cover this in lecture)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Multi-Exit Discriminator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3" name="Google Shape;82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5" name="Google Shape;85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0" name="Google Shape;89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5" name="Google Shape;92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0" name="Google Shape;96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5" name="Google Shape;99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0" name="Google Shape;103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5" name="Google Shape;106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1" name="Google Shape;1101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7" name="Google Shape;110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Multi-Exit Discriminator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4" name="Google Shape;111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Multi-Exit Discriminator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7" name="Google Shape;1137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3" name="Google Shape;1163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8" name="Google Shape;1168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1954346"/>
            <a:ext cx="7772400" cy="745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5400"/>
              <a:buFont typeface="PT Sans Narrow"/>
              <a:buNone/>
              <a:defRPr b="1" i="0" sz="5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664038" y="2711450"/>
            <a:ext cx="5813188" cy="3956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" name="Google Shape;21;p2"/>
          <p:cNvCxnSpPr/>
          <p:nvPr/>
        </p:nvCxnSpPr>
        <p:spPr>
          <a:xfrm>
            <a:off x="457200" y="3722904"/>
            <a:ext cx="8229600" cy="0"/>
          </a:xfrm>
          <a:prstGeom prst="straightConnector1">
            <a:avLst/>
          </a:prstGeom>
          <a:noFill/>
          <a:ln cap="flat" cmpd="sng" w="1270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22" name="Google Shape;22;p2"/>
          <p:cNvCxnSpPr/>
          <p:nvPr/>
        </p:nvCxnSpPr>
        <p:spPr>
          <a:xfrm>
            <a:off x="457200" y="1488704"/>
            <a:ext cx="8229600" cy="0"/>
          </a:xfrm>
          <a:prstGeom prst="straightConnector1">
            <a:avLst/>
          </a:prstGeom>
          <a:noFill/>
          <a:ln cap="flat" cmpd="sng" w="1270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23" name="Google Shape;23;p2"/>
          <p:cNvCxnSpPr/>
          <p:nvPr/>
        </p:nvCxnSpPr>
        <p:spPr>
          <a:xfrm>
            <a:off x="457200" y="1603004"/>
            <a:ext cx="8229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24" name="Google Shape;24;p2"/>
          <p:cNvCxnSpPr/>
          <p:nvPr/>
        </p:nvCxnSpPr>
        <p:spPr>
          <a:xfrm>
            <a:off x="457200" y="3605957"/>
            <a:ext cx="8229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25" name="Google Shape;25;p2"/>
          <p:cNvCxnSpPr/>
          <p:nvPr/>
        </p:nvCxnSpPr>
        <p:spPr>
          <a:xfrm>
            <a:off x="1081214" y="2909296"/>
            <a:ext cx="582824" cy="0"/>
          </a:xfrm>
          <a:prstGeom prst="straightConnector1">
            <a:avLst/>
          </a:prstGeom>
          <a:noFill/>
          <a:ln cap="flat" cmpd="sng" w="1270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26" name="Google Shape;26;p2"/>
          <p:cNvCxnSpPr/>
          <p:nvPr/>
        </p:nvCxnSpPr>
        <p:spPr>
          <a:xfrm>
            <a:off x="7480987" y="2902841"/>
            <a:ext cx="582824" cy="0"/>
          </a:xfrm>
          <a:prstGeom prst="straightConnector1">
            <a:avLst/>
          </a:prstGeom>
          <a:noFill/>
          <a:ln cap="flat" cmpd="sng" w="1270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  <a:defRPr b="1" i="0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3" name="Google Shape;33;p3"/>
          <p:cNvCxnSpPr/>
          <p:nvPr/>
        </p:nvCxnSpPr>
        <p:spPr>
          <a:xfrm>
            <a:off x="0" y="5118865"/>
            <a:ext cx="9144000" cy="0"/>
          </a:xfrm>
          <a:prstGeom prst="straightConnector1">
            <a:avLst/>
          </a:prstGeom>
          <a:noFill/>
          <a:ln cap="flat" cmpd="sng" w="1270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>
  <p:cSld name="Section 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Arial"/>
              <a:buNone/>
              <a:defRPr b="1" i="0" sz="12000" u="none" cap="none" strike="noStrike">
                <a:solidFill>
                  <a:schemeClr val="accent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  <a:defRPr b="1" i="0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1" name="Google Shape;41;p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  <a:defRPr b="1" i="0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  <a:defRPr b="1" i="0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2000"/>
              <a:buFont typeface="PT Sans Narrow"/>
              <a:buNone/>
              <a:defRPr b="1" i="0" sz="20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6" name="Google Shape;66;p9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695D46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695D46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95D46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695D4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695D46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695D46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2000"/>
              <a:buFont typeface="PT Sans Narrow"/>
              <a:buNone/>
              <a:defRPr b="1" i="0" sz="20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3" name="Google Shape;73;p1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695D46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695D46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95D46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695D4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695D46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695D46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  <a:defRPr b="1" i="0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  <a:defRPr b="1" i="0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12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  <a:defRPr b="1" i="0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type="ctrTitle"/>
          </p:nvPr>
        </p:nvSpPr>
        <p:spPr>
          <a:xfrm>
            <a:off x="685800" y="1954346"/>
            <a:ext cx="7772400" cy="745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860"/>
              <a:buFont typeface="PT Sans Narrow"/>
              <a:buNone/>
            </a:pPr>
            <a:r>
              <a:rPr b="1" i="0" lang="en-US" sz="486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BGP</a:t>
            </a:r>
            <a:endParaRPr/>
          </a:p>
        </p:txBody>
      </p:sp>
      <p:sp>
        <p:nvSpPr>
          <p:cNvPr id="95" name="Google Shape;95;p13"/>
          <p:cNvSpPr txBox="1"/>
          <p:nvPr>
            <p:ph idx="1" type="subTitle"/>
          </p:nvPr>
        </p:nvSpPr>
        <p:spPr>
          <a:xfrm>
            <a:off x="1664038" y="2711450"/>
            <a:ext cx="5813188" cy="395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220"/>
              <a:buFont typeface="Arial"/>
              <a:buNone/>
            </a:pPr>
            <a:r>
              <a:rPr b="0" i="0" lang="en-US" sz="222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rPr>
              <a:t>CS 168 – </a:t>
            </a:r>
            <a:r>
              <a:rPr lang="en-US" sz="2220"/>
              <a:t>Spring</a:t>
            </a:r>
            <a:r>
              <a:rPr b="0" i="0" lang="en-US" sz="222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rPr>
              <a:t> 20</a:t>
            </a:r>
            <a:r>
              <a:rPr lang="en-US" sz="2220"/>
              <a:t>20</a:t>
            </a:r>
            <a:r>
              <a:rPr b="0" i="0" lang="en-US" sz="222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rPr>
              <a:t> – Section </a:t>
            </a:r>
            <a:r>
              <a:rPr lang="en-US" sz="2220"/>
              <a:t>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Agenda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01" name="Google Shape;101;p1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BGP Basics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Open Sans"/>
                <a:ea typeface="Open Sans"/>
                <a:cs typeface="Open Sans"/>
                <a:sym typeface="Open Sans"/>
              </a:rPr>
              <a:t>Business Relationship among ASes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Open Sans"/>
                <a:ea typeface="Open Sans"/>
                <a:cs typeface="Open Sans"/>
                <a:sym typeface="Open Sans"/>
              </a:rPr>
              <a:t>Basic Messages in BGP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Route attributes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Policy Oscillation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Gao-Rexford Policy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Three parts of BGP</a:t>
            </a:r>
            <a:endParaRPr/>
          </a:p>
        </p:txBody>
      </p:sp>
      <p:sp>
        <p:nvSpPr>
          <p:cNvPr id="107" name="Google Shape;107;p15"/>
          <p:cNvSpPr txBox="1"/>
          <p:nvPr>
            <p:ph idx="1" type="body"/>
          </p:nvPr>
        </p:nvSpPr>
        <p:spPr>
          <a:xfrm>
            <a:off x="457199" y="1200151"/>
            <a:ext cx="8466667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120"/>
              <a:buFont typeface="Arial"/>
              <a:buChar char="•"/>
            </a:pPr>
            <a:r>
              <a:rPr b="1" i="0" lang="en-US" sz="212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eBGP</a:t>
            </a:r>
            <a:endParaRPr b="1" i="0" sz="212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1" marL="74295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750"/>
              <a:buFont typeface="Arial"/>
              <a:buChar char="–"/>
            </a:pPr>
            <a:r>
              <a:rPr b="0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Between border routers in </a:t>
            </a:r>
            <a:r>
              <a:rPr b="1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different ASes</a:t>
            </a:r>
            <a:endParaRPr b="0" i="0" sz="175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1" marL="74295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750"/>
              <a:buFont typeface="Arial"/>
              <a:buChar char="–"/>
            </a:pPr>
            <a:r>
              <a:rPr b="0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Learn about </a:t>
            </a:r>
            <a:r>
              <a:rPr b="1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external routes</a:t>
            </a:r>
            <a:endParaRPr sz="1900"/>
          </a:p>
          <a:p>
            <a:pPr indent="-336550" lvl="0" marL="342900" marR="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rgbClr val="695D46"/>
              </a:buClr>
              <a:buSzPts val="2120"/>
              <a:buFont typeface="Arial"/>
              <a:buChar char="•"/>
            </a:pPr>
            <a:r>
              <a:rPr b="1" i="0" lang="en-US" sz="212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iBGP</a:t>
            </a:r>
            <a:endParaRPr b="1" i="0" sz="212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1" marL="74295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750"/>
              <a:buFont typeface="Arial"/>
              <a:buChar char="–"/>
            </a:pPr>
            <a:r>
              <a:rPr b="0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Between border routers and other routers </a:t>
            </a:r>
            <a:r>
              <a:rPr b="1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within</a:t>
            </a:r>
            <a:r>
              <a:rPr b="0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 single AS</a:t>
            </a:r>
            <a:endParaRPr b="0" i="0" sz="175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1" marL="74295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750"/>
              <a:buFont typeface="Arial"/>
              <a:buChar char="–"/>
            </a:pPr>
            <a:r>
              <a:rPr lang="en-US" sz="1750"/>
              <a:t>L</a:t>
            </a:r>
            <a:r>
              <a:rPr b="0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earn </a:t>
            </a:r>
            <a:r>
              <a:rPr b="1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which border router </a:t>
            </a:r>
            <a:r>
              <a:rPr b="0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to use to reach external destinations</a:t>
            </a:r>
            <a:endParaRPr sz="1900"/>
          </a:p>
          <a:p>
            <a:pPr indent="-336550" lvl="0" marL="342900" marR="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rgbClr val="695D46"/>
              </a:buClr>
              <a:buSzPts val="2120"/>
              <a:buFont typeface="Arial"/>
              <a:buChar char="•"/>
            </a:pPr>
            <a:r>
              <a:rPr b="1" i="0" lang="en-US" sz="212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IGP</a:t>
            </a:r>
            <a:endParaRPr sz="2300"/>
          </a:p>
          <a:p>
            <a:pPr indent="-279400" lvl="1" marL="74295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750"/>
              <a:buFont typeface="Arial"/>
              <a:buChar char="–"/>
            </a:pPr>
            <a:r>
              <a:rPr b="0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The </a:t>
            </a:r>
            <a:r>
              <a:rPr b="1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protocol</a:t>
            </a:r>
            <a:r>
              <a:rPr b="0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used for </a:t>
            </a:r>
            <a:r>
              <a:rPr b="1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intradomain</a:t>
            </a:r>
            <a:r>
              <a:rPr b="0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routing (e.g. OSPF).</a:t>
            </a:r>
            <a:endParaRPr sz="1900"/>
          </a:p>
          <a:p>
            <a:pPr indent="-222250" lvl="2" marL="11430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Shortest path to </a:t>
            </a:r>
            <a:r>
              <a:rPr b="1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subnet in the same AS</a:t>
            </a:r>
            <a:endParaRPr sz="1900"/>
          </a:p>
          <a:p>
            <a:pPr indent="-222250" lvl="2" marL="11430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Shortest path to </a:t>
            </a:r>
            <a:r>
              <a:rPr b="1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border router </a:t>
            </a:r>
            <a:r>
              <a:rPr b="0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for given external network</a:t>
            </a:r>
            <a:endParaRPr sz="1900"/>
          </a:p>
          <a:p>
            <a:pPr indent="-279400" lvl="1" marL="74295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750"/>
              <a:buFont typeface="Arial"/>
              <a:buChar char="–"/>
            </a:pPr>
            <a:r>
              <a:rPr b="0" i="0" lang="en-US" sz="175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Just a different name for L3 routing as we’ve talked about earlier</a:t>
            </a:r>
            <a:endParaRPr b="1" i="0" sz="175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Arial"/>
              <a:buNone/>
            </a:pPr>
            <a:r>
              <a:rPr b="1" i="0" lang="en-US" sz="10000" u="none" cap="none" strike="noStrike">
                <a:solidFill>
                  <a:schemeClr val="accent2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The Big Picture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1151468" y="3305175"/>
            <a:ext cx="69172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How does this fit with what we’ve learned so far?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nitor.png" id="118" name="Google Shape;1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919" y="2741490"/>
            <a:ext cx="781068" cy="78106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843306" y="3588157"/>
            <a:ext cx="2247027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Host (you)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IP: 1.2.3.4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MAC: 01:0a:00:00:0b:02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" name="Google Shape;120;p17"/>
          <p:cNvGrpSpPr/>
          <p:nvPr/>
        </p:nvGrpSpPr>
        <p:grpSpPr>
          <a:xfrm>
            <a:off x="1386840" y="733029"/>
            <a:ext cx="4465477" cy="4378281"/>
            <a:chOff x="1386840" y="733029"/>
            <a:chExt cx="4465477" cy="4378281"/>
          </a:xfrm>
        </p:grpSpPr>
        <p:pic>
          <p:nvPicPr>
            <p:cNvPr descr="monitor.png" id="121" name="Google Shape;121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61346" y="733029"/>
              <a:ext cx="781068" cy="7810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onitor.png" id="122" name="Google Shape;122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09440" y="3596623"/>
              <a:ext cx="781068" cy="7810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17"/>
            <p:cNvSpPr txBox="1"/>
            <p:nvPr/>
          </p:nvSpPr>
          <p:spPr>
            <a:xfrm>
              <a:off x="4275824" y="4372646"/>
              <a:ext cx="1576493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Host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IP: 1.2.3.5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MAC: …</a:t>
              </a:r>
              <a:endParaRPr b="0" i="0" sz="1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1386840" y="1531729"/>
              <a:ext cx="1576493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Host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IP: 1.2.3.6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MAC: …</a:t>
              </a:r>
              <a:endParaRPr b="0" i="0" sz="1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125" name="Google Shape;125;p17"/>
            <p:cNvCxnSpPr/>
            <p:nvPr/>
          </p:nvCxnSpPr>
          <p:spPr>
            <a:xfrm>
              <a:off x="2243666" y="1380067"/>
              <a:ext cx="648573" cy="648573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126" name="Google Shape;126;p17"/>
            <p:cNvCxnSpPr/>
            <p:nvPr/>
          </p:nvCxnSpPr>
          <p:spPr>
            <a:xfrm rot="10800000">
              <a:off x="4409441" y="3251184"/>
              <a:ext cx="196426" cy="423349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</p:grpSp>
      <p:grpSp>
        <p:nvGrpSpPr>
          <p:cNvPr id="127" name="Google Shape;127;p17"/>
          <p:cNvGrpSpPr/>
          <p:nvPr/>
        </p:nvGrpSpPr>
        <p:grpSpPr>
          <a:xfrm>
            <a:off x="1710267" y="1820333"/>
            <a:ext cx="3353804" cy="1642534"/>
            <a:chOff x="1710267" y="1820333"/>
            <a:chExt cx="3353804" cy="1642534"/>
          </a:xfrm>
        </p:grpSpPr>
        <p:sp>
          <p:nvSpPr>
            <p:cNvPr id="128" name="Google Shape;128;p17"/>
            <p:cNvSpPr/>
            <p:nvPr/>
          </p:nvSpPr>
          <p:spPr>
            <a:xfrm>
              <a:off x="2243666" y="1820333"/>
              <a:ext cx="2820405" cy="1642534"/>
            </a:xfrm>
            <a:prstGeom prst="cloud">
              <a:avLst/>
            </a:prstGeom>
            <a:solidFill>
              <a:srgbClr val="B7FFE7"/>
            </a:solidFill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2553573" y="2387600"/>
              <a:ext cx="224702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Subnet (4</a:t>
              </a:r>
              <a:r>
                <a:rPr b="1" baseline="30000" i="0" lang="en-US" sz="14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th</a:t>
              </a:r>
              <a:r>
                <a:rPr b="1" i="0" lang="en-US" sz="14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 floor Soda)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1.2.3/24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0" name="Google Shape;130;p17"/>
            <p:cNvCxnSpPr/>
            <p:nvPr/>
          </p:nvCxnSpPr>
          <p:spPr>
            <a:xfrm flipH="1" rot="10800000">
              <a:off x="1710267" y="2844800"/>
              <a:ext cx="635000" cy="194733"/>
            </a:xfrm>
            <a:prstGeom prst="straightConnector1">
              <a:avLst/>
            </a:prstGeom>
            <a:noFill/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</p:grpSp>
      <p:sp>
        <p:nvSpPr>
          <p:cNvPr id="131" name="Google Shape;131;p17"/>
          <p:cNvSpPr txBox="1"/>
          <p:nvPr/>
        </p:nvSpPr>
        <p:spPr>
          <a:xfrm>
            <a:off x="2489200" y="236603"/>
            <a:ext cx="3567033" cy="92333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L2: 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Destinations are </a:t>
            </a:r>
            <a:r>
              <a:rPr b="1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MAC</a:t>
            </a:r>
            <a:r>
              <a:rPr b="0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addresses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Learning switches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17"/>
          <p:cNvGrpSpPr/>
          <p:nvPr/>
        </p:nvGrpSpPr>
        <p:grpSpPr>
          <a:xfrm>
            <a:off x="5191760" y="619595"/>
            <a:ext cx="3582901" cy="3163256"/>
            <a:chOff x="5191760" y="619595"/>
            <a:chExt cx="3582901" cy="3163256"/>
          </a:xfrm>
        </p:grpSpPr>
        <p:grpSp>
          <p:nvGrpSpPr>
            <p:cNvPr id="133" name="Google Shape;133;p17"/>
            <p:cNvGrpSpPr/>
            <p:nvPr/>
          </p:nvGrpSpPr>
          <p:grpSpPr>
            <a:xfrm>
              <a:off x="5191760" y="619595"/>
              <a:ext cx="3582901" cy="3163256"/>
              <a:chOff x="5191760" y="619595"/>
              <a:chExt cx="3582901" cy="3163256"/>
            </a:xfrm>
          </p:grpSpPr>
          <p:grpSp>
            <p:nvGrpSpPr>
              <p:cNvPr id="134" name="Google Shape;134;p17"/>
              <p:cNvGrpSpPr/>
              <p:nvPr/>
            </p:nvGrpSpPr>
            <p:grpSpPr>
              <a:xfrm>
                <a:off x="5191760" y="619595"/>
                <a:ext cx="3582901" cy="3163256"/>
                <a:chOff x="5191760" y="619595"/>
                <a:chExt cx="3582901" cy="3163256"/>
              </a:xfrm>
            </p:grpSpPr>
            <p:cxnSp>
              <p:nvCxnSpPr>
                <p:cNvPr id="135" name="Google Shape;135;p17"/>
                <p:cNvCxnSpPr/>
                <p:nvPr/>
              </p:nvCxnSpPr>
              <p:spPr>
                <a:xfrm flipH="1" rot="10800000">
                  <a:off x="5191760" y="1159933"/>
                  <a:ext cx="1132840" cy="111046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0000">
                    <a:srgbClr val="000000">
                      <a:alpha val="37254"/>
                    </a:srgbClr>
                  </a:outerShdw>
                </a:effectLst>
              </p:spPr>
            </p:cxnSp>
            <p:cxnSp>
              <p:nvCxnSpPr>
                <p:cNvPr id="136" name="Google Shape;136;p17"/>
                <p:cNvCxnSpPr/>
                <p:nvPr/>
              </p:nvCxnSpPr>
              <p:spPr>
                <a:xfrm>
                  <a:off x="6525502" y="1278467"/>
                  <a:ext cx="798165" cy="1463023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0000">
                    <a:srgbClr val="000000">
                      <a:alpha val="37254"/>
                    </a:srgbClr>
                  </a:outerShdw>
                </a:effectLst>
              </p:spPr>
            </p:cxnSp>
            <p:cxnSp>
              <p:nvCxnSpPr>
                <p:cNvPr id="137" name="Google Shape;137;p17"/>
                <p:cNvCxnSpPr/>
                <p:nvPr/>
              </p:nvCxnSpPr>
              <p:spPr>
                <a:xfrm>
                  <a:off x="5191760" y="2472267"/>
                  <a:ext cx="2038773" cy="41483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0000">
                    <a:srgbClr val="000000">
                      <a:alpha val="37254"/>
                    </a:srgbClr>
                  </a:outerShdw>
                </a:effectLst>
              </p:spPr>
            </p:cxnSp>
            <p:sp>
              <p:nvSpPr>
                <p:cNvPr id="138" name="Google Shape;138;p17"/>
                <p:cNvSpPr/>
                <p:nvPr/>
              </p:nvSpPr>
              <p:spPr>
                <a:xfrm>
                  <a:off x="6923435" y="2887097"/>
                  <a:ext cx="1851226" cy="895754"/>
                </a:xfrm>
                <a:prstGeom prst="cloud">
                  <a:avLst/>
                </a:prstGeom>
                <a:solidFill>
                  <a:srgbClr val="B7FFE7"/>
                </a:solidFill>
                <a:ln cap="flat" cmpd="sng" w="28575">
                  <a:solidFill>
                    <a:schemeClr val="accent6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509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" name="Google Shape;139;p17"/>
                <p:cNvSpPr/>
                <p:nvPr/>
              </p:nvSpPr>
              <p:spPr>
                <a:xfrm>
                  <a:off x="6525502" y="619595"/>
                  <a:ext cx="1851226" cy="895754"/>
                </a:xfrm>
                <a:prstGeom prst="cloud">
                  <a:avLst/>
                </a:prstGeom>
                <a:solidFill>
                  <a:srgbClr val="B7FFE7"/>
                </a:solidFill>
                <a:ln cap="flat" cmpd="sng" w="28575">
                  <a:solidFill>
                    <a:schemeClr val="accent6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509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router.png" id="140" name="Google Shape;140;p1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6163734" y="905086"/>
                  <a:ext cx="766457" cy="50842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router.png" id="141" name="Google Shape;141;p1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7082591" y="2693247"/>
                  <a:ext cx="766457" cy="50842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42" name="Google Shape;142;p17"/>
              <p:cNvSpPr/>
              <p:nvPr/>
            </p:nvSpPr>
            <p:spPr>
              <a:xfrm>
                <a:off x="6842481" y="788266"/>
                <a:ext cx="1417312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3</a:t>
                </a:r>
                <a:r>
                  <a:rPr b="1" baseline="30000" i="0" lang="en-US" sz="14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rd</a:t>
                </a:r>
                <a:r>
                  <a:rPr b="1" i="0" lang="en-US" sz="14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floor Soda</a:t>
                </a:r>
                <a:endParaRPr b="0" i="0" sz="14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1.2.4/24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7"/>
              <p:cNvSpPr/>
              <p:nvPr/>
            </p:nvSpPr>
            <p:spPr>
              <a:xfrm>
                <a:off x="7165025" y="3087155"/>
                <a:ext cx="137120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7</a:t>
                </a:r>
                <a:r>
                  <a:rPr b="1" baseline="30000" i="0" lang="en-US" sz="14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th</a:t>
                </a:r>
                <a:r>
                  <a:rPr b="1" i="0" lang="en-US" sz="14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floor Soda</a:t>
                </a:r>
                <a:endParaRPr b="0" i="0" sz="14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1.2.5/24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" name="Google Shape;144;p17"/>
            <p:cNvSpPr txBox="1"/>
            <p:nvPr/>
          </p:nvSpPr>
          <p:spPr>
            <a:xfrm>
              <a:off x="5654057" y="649766"/>
              <a:ext cx="17428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Default gateway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7"/>
            <p:cNvSpPr txBox="1"/>
            <p:nvPr/>
          </p:nvSpPr>
          <p:spPr>
            <a:xfrm>
              <a:off x="6576304" y="2422156"/>
              <a:ext cx="17428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Default gateway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" name="Google Shape;146;p17"/>
          <p:cNvGrpSpPr/>
          <p:nvPr/>
        </p:nvGrpSpPr>
        <p:grpSpPr>
          <a:xfrm>
            <a:off x="4192626" y="1821520"/>
            <a:ext cx="1742889" cy="819653"/>
            <a:chOff x="4192626" y="1821520"/>
            <a:chExt cx="1742889" cy="819653"/>
          </a:xfrm>
        </p:grpSpPr>
        <p:pic>
          <p:nvPicPr>
            <p:cNvPr descr="router.png" id="147" name="Google Shape;147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05867" y="2132753"/>
              <a:ext cx="766457" cy="5084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17"/>
            <p:cNvSpPr txBox="1"/>
            <p:nvPr/>
          </p:nvSpPr>
          <p:spPr>
            <a:xfrm>
              <a:off x="4192626" y="1821520"/>
              <a:ext cx="17428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Default gateway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" name="Google Shape;149;p17"/>
          <p:cNvSpPr/>
          <p:nvPr/>
        </p:nvSpPr>
        <p:spPr>
          <a:xfrm>
            <a:off x="8581754" y="4774168"/>
            <a:ext cx="5741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/>
          <p:nvPr/>
        </p:nvSpPr>
        <p:spPr>
          <a:xfrm>
            <a:off x="4792012" y="2770282"/>
            <a:ext cx="1142890" cy="665591"/>
          </a:xfrm>
          <a:prstGeom prst="cloud">
            <a:avLst/>
          </a:prstGeom>
          <a:solidFill>
            <a:srgbClr val="B7FFE7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18"/>
          <p:cNvCxnSpPr/>
          <p:nvPr/>
        </p:nvCxnSpPr>
        <p:spPr>
          <a:xfrm flipH="1">
            <a:off x="3680631" y="3127190"/>
            <a:ext cx="1064787" cy="524352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156" name="Google Shape;156;p18"/>
          <p:cNvCxnSpPr/>
          <p:nvPr/>
        </p:nvCxnSpPr>
        <p:spPr>
          <a:xfrm>
            <a:off x="2285461" y="2053050"/>
            <a:ext cx="906389" cy="541698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grpSp>
        <p:nvGrpSpPr>
          <p:cNvPr id="157" name="Google Shape;157;p18"/>
          <p:cNvGrpSpPr/>
          <p:nvPr/>
        </p:nvGrpSpPr>
        <p:grpSpPr>
          <a:xfrm>
            <a:off x="506320" y="1957756"/>
            <a:ext cx="4467433" cy="2728822"/>
            <a:chOff x="506320" y="1957756"/>
            <a:chExt cx="4467433" cy="2728822"/>
          </a:xfrm>
        </p:grpSpPr>
        <p:pic>
          <p:nvPicPr>
            <p:cNvPr descr="monitor.png" id="158" name="Google Shape;15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6320" y="3942352"/>
              <a:ext cx="442916" cy="4429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onitor.png" id="159" name="Google Shape;159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6168" y="2778175"/>
              <a:ext cx="439903" cy="4399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onitor.png" id="160" name="Google Shape;160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66249" y="4246675"/>
              <a:ext cx="439903" cy="43990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1" name="Google Shape;161;p18"/>
            <p:cNvCxnSpPr/>
            <p:nvPr/>
          </p:nvCxnSpPr>
          <p:spPr>
            <a:xfrm>
              <a:off x="1267118" y="3127190"/>
              <a:ext cx="365280" cy="36528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162" name="Google Shape;162;p18"/>
            <p:cNvCxnSpPr/>
            <p:nvPr/>
          </p:nvCxnSpPr>
          <p:spPr>
            <a:xfrm rot="10800000">
              <a:off x="2366250" y="4052122"/>
              <a:ext cx="110628" cy="238433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grpSp>
          <p:nvGrpSpPr>
            <p:cNvPr id="163" name="Google Shape;163;p18"/>
            <p:cNvGrpSpPr/>
            <p:nvPr/>
          </p:nvGrpSpPr>
          <p:grpSpPr>
            <a:xfrm>
              <a:off x="949946" y="3381774"/>
              <a:ext cx="1856911" cy="820419"/>
              <a:chOff x="1710267" y="1820333"/>
              <a:chExt cx="3717662" cy="1642534"/>
            </a:xfrm>
          </p:grpSpPr>
          <p:sp>
            <p:nvSpPr>
              <p:cNvPr id="164" name="Google Shape;164;p18"/>
              <p:cNvSpPr/>
              <p:nvPr/>
            </p:nvSpPr>
            <p:spPr>
              <a:xfrm>
                <a:off x="2243666" y="1820333"/>
                <a:ext cx="2820405" cy="1642534"/>
              </a:xfrm>
              <a:prstGeom prst="cloud">
                <a:avLst/>
              </a:prstGeom>
              <a:solidFill>
                <a:srgbClr val="B7FFE7"/>
              </a:solidFill>
              <a:ln cap="flat" cmpd="sng" w="28575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8"/>
              <p:cNvSpPr txBox="1"/>
              <p:nvPr/>
            </p:nvSpPr>
            <p:spPr>
              <a:xfrm>
                <a:off x="1938547" y="2171349"/>
                <a:ext cx="3489382" cy="924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4</a:t>
                </a:r>
                <a:r>
                  <a:rPr b="1" baseline="3000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th</a:t>
                </a: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floor Soda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1.2.3/24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6" name="Google Shape;166;p18"/>
              <p:cNvCxnSpPr/>
              <p:nvPr/>
            </p:nvCxnSpPr>
            <p:spPr>
              <a:xfrm flipH="1" rot="10800000">
                <a:off x="1710267" y="2844800"/>
                <a:ext cx="635000" cy="194733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254"/>
                  </a:srgbClr>
                </a:outerShdw>
              </a:effectLst>
            </p:spPr>
          </p:cxnSp>
        </p:grpSp>
        <p:grpSp>
          <p:nvGrpSpPr>
            <p:cNvPr id="167" name="Google Shape;167;p18"/>
            <p:cNvGrpSpPr/>
            <p:nvPr/>
          </p:nvGrpSpPr>
          <p:grpSpPr>
            <a:xfrm>
              <a:off x="2953682" y="1957756"/>
              <a:ext cx="1742889" cy="820419"/>
              <a:chOff x="1938547" y="1820333"/>
              <a:chExt cx="3489382" cy="1642534"/>
            </a:xfrm>
          </p:grpSpPr>
          <p:sp>
            <p:nvSpPr>
              <p:cNvPr id="168" name="Google Shape;168;p18"/>
              <p:cNvSpPr/>
              <p:nvPr/>
            </p:nvSpPr>
            <p:spPr>
              <a:xfrm>
                <a:off x="2243666" y="1820333"/>
                <a:ext cx="2820405" cy="1642534"/>
              </a:xfrm>
              <a:prstGeom prst="cloud">
                <a:avLst/>
              </a:prstGeom>
              <a:solidFill>
                <a:srgbClr val="B7FFE7"/>
              </a:solidFill>
              <a:ln cap="flat" cmpd="sng" w="28575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8"/>
              <p:cNvSpPr txBox="1"/>
              <p:nvPr/>
            </p:nvSpPr>
            <p:spPr>
              <a:xfrm>
                <a:off x="1938547" y="2171349"/>
                <a:ext cx="3489382" cy="924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3</a:t>
                </a:r>
                <a:r>
                  <a:rPr b="1" baseline="3000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rd</a:t>
                </a: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floor Soda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1.2.4/24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0" name="Google Shape;170;p18"/>
            <p:cNvGrpSpPr/>
            <p:nvPr/>
          </p:nvGrpSpPr>
          <p:grpSpPr>
            <a:xfrm>
              <a:off x="3230864" y="3611467"/>
              <a:ext cx="1742889" cy="820419"/>
              <a:chOff x="1938547" y="1820333"/>
              <a:chExt cx="3489382" cy="1642534"/>
            </a:xfrm>
          </p:grpSpPr>
          <p:sp>
            <p:nvSpPr>
              <p:cNvPr id="171" name="Google Shape;171;p18"/>
              <p:cNvSpPr/>
              <p:nvPr/>
            </p:nvSpPr>
            <p:spPr>
              <a:xfrm>
                <a:off x="2243666" y="1820333"/>
                <a:ext cx="2820405" cy="1642534"/>
              </a:xfrm>
              <a:prstGeom prst="cloud">
                <a:avLst/>
              </a:prstGeom>
              <a:solidFill>
                <a:srgbClr val="B7FFE7"/>
              </a:solidFill>
              <a:ln cap="flat" cmpd="sng" w="28575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8"/>
              <p:cNvSpPr txBox="1"/>
              <p:nvPr/>
            </p:nvSpPr>
            <p:spPr>
              <a:xfrm>
                <a:off x="1938547" y="2171349"/>
                <a:ext cx="3489382" cy="924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7</a:t>
                </a:r>
                <a:r>
                  <a:rPr b="1" baseline="3000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th</a:t>
                </a: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 floor Soda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1.2.5/24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73" name="Google Shape;173;p18"/>
            <p:cNvCxnSpPr>
              <a:stCxn id="174" idx="0"/>
            </p:cNvCxnSpPr>
            <p:nvPr/>
          </p:nvCxnSpPr>
          <p:spPr>
            <a:xfrm flipH="1">
              <a:off x="2523750" y="2431364"/>
              <a:ext cx="668100" cy="115410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175" name="Google Shape;175;p18"/>
            <p:cNvCxnSpPr>
              <a:stCxn id="174" idx="0"/>
            </p:cNvCxnSpPr>
            <p:nvPr/>
          </p:nvCxnSpPr>
          <p:spPr>
            <a:xfrm>
              <a:off x="3191850" y="2431364"/>
              <a:ext cx="488700" cy="131310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176" name="Google Shape;176;p18"/>
            <p:cNvCxnSpPr/>
            <p:nvPr/>
          </p:nvCxnSpPr>
          <p:spPr>
            <a:xfrm>
              <a:off x="2476878" y="3557101"/>
              <a:ext cx="1157002" cy="94441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pic>
          <p:nvPicPr>
            <p:cNvPr descr="router.png" id="174" name="Google Shape;174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00433" y="2431364"/>
              <a:ext cx="382833" cy="253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router.png" id="177" name="Google Shape;177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85461" y="3396958"/>
              <a:ext cx="382833" cy="253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router.png" id="178" name="Google Shape;178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94304" y="3560676"/>
              <a:ext cx="382833" cy="25394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79" name="Google Shape;179;p18"/>
          <p:cNvCxnSpPr>
            <a:endCxn id="177" idx="0"/>
          </p:cNvCxnSpPr>
          <p:nvPr/>
        </p:nvCxnSpPr>
        <p:spPr>
          <a:xfrm>
            <a:off x="2222177" y="1957858"/>
            <a:ext cx="254700" cy="14391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180" name="Google Shape;180;p18"/>
          <p:cNvCxnSpPr/>
          <p:nvPr/>
        </p:nvCxnSpPr>
        <p:spPr>
          <a:xfrm>
            <a:off x="4600595" y="1407328"/>
            <a:ext cx="191417" cy="159257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181" name="Google Shape;181;p18"/>
          <p:cNvCxnSpPr/>
          <p:nvPr/>
        </p:nvCxnSpPr>
        <p:spPr>
          <a:xfrm flipH="1">
            <a:off x="2222232" y="1407328"/>
            <a:ext cx="2378363" cy="550428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182" name="Google Shape;182;p18"/>
          <p:cNvSpPr/>
          <p:nvPr/>
        </p:nvSpPr>
        <p:spPr>
          <a:xfrm>
            <a:off x="1380739" y="1496291"/>
            <a:ext cx="1142890" cy="665591"/>
          </a:xfrm>
          <a:prstGeom prst="cloud">
            <a:avLst/>
          </a:prstGeom>
          <a:solidFill>
            <a:srgbClr val="B7FFE7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3871423" y="741737"/>
            <a:ext cx="1142890" cy="665591"/>
          </a:xfrm>
          <a:prstGeom prst="cloud">
            <a:avLst/>
          </a:prstGeom>
          <a:solidFill>
            <a:srgbClr val="B7FFE7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outer.png" id="184" name="Google Shape;1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0815" y="1957756"/>
            <a:ext cx="382833" cy="253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uter.png" id="185" name="Google Shape;18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9179" y="1280036"/>
            <a:ext cx="382833" cy="253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uter.png" id="186" name="Google Shape;18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0595" y="2999898"/>
            <a:ext cx="382833" cy="25394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6129867" y="633705"/>
            <a:ext cx="2872787" cy="135421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L3: Intradomain</a:t>
            </a:r>
            <a:endParaRPr b="1" i="0" sz="1800" u="none" cap="none" strike="noStrike">
              <a:solidFill>
                <a:srgbClr val="EF6C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Destinations are </a:t>
            </a:r>
            <a:r>
              <a:rPr b="1" i="0" lang="en-US" sz="16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IP addresses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IGP</a:t>
            </a:r>
            <a:r>
              <a:rPr b="0" i="0" lang="en-US" sz="16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: exchange info about paths to local destinations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DV routing and friends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226154" y="556759"/>
            <a:ext cx="5836504" cy="4349683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837532" y="170029"/>
            <a:ext cx="265677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Domain (AS)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837532" y="556759"/>
            <a:ext cx="216290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UC Berkeley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IP prefix: 1.2/16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7150658" y="4773936"/>
            <a:ext cx="19933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i="0" lang="en-US" sz="1800" u="none" cap="none" strike="noStrike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AN: </a:t>
            </a:r>
            <a:r>
              <a:rPr b="1" i="0" lang="en-US" sz="1800" u="sng" cap="none" strike="noStrike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Intra</a:t>
            </a:r>
            <a:r>
              <a:rPr b="1" i="0" lang="en-US" sz="1800" u="none" cap="none" strike="noStrike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domain</a:t>
            </a:r>
            <a:endParaRPr b="1" i="0" sz="1800" u="none" cap="none" strike="noStrike">
              <a:solidFill>
                <a:srgbClr val="EF6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6" name="Google Shape;196;p19"/>
          <p:cNvCxnSpPr/>
          <p:nvPr/>
        </p:nvCxnSpPr>
        <p:spPr>
          <a:xfrm flipH="1" rot="10800000">
            <a:off x="4600595" y="878636"/>
            <a:ext cx="1166322" cy="528692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197" name="Google Shape;197;p19"/>
          <p:cNvCxnSpPr/>
          <p:nvPr/>
        </p:nvCxnSpPr>
        <p:spPr>
          <a:xfrm flipH="1">
            <a:off x="4792012" y="2348829"/>
            <a:ext cx="1061888" cy="651069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198" name="Google Shape;198;p19"/>
          <p:cNvCxnSpPr/>
          <p:nvPr/>
        </p:nvCxnSpPr>
        <p:spPr>
          <a:xfrm rot="10800000">
            <a:off x="4600595" y="1401385"/>
            <a:ext cx="1253305" cy="810955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199" name="Google Shape;199;p19"/>
          <p:cNvCxnSpPr/>
          <p:nvPr/>
        </p:nvCxnSpPr>
        <p:spPr>
          <a:xfrm flipH="1">
            <a:off x="2523629" y="2212340"/>
            <a:ext cx="3243288" cy="1344761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200" name="Google Shape;200;p19"/>
          <p:cNvSpPr/>
          <p:nvPr/>
        </p:nvSpPr>
        <p:spPr>
          <a:xfrm>
            <a:off x="4792012" y="2770282"/>
            <a:ext cx="1142890" cy="665591"/>
          </a:xfrm>
          <a:prstGeom prst="cloud">
            <a:avLst/>
          </a:prstGeom>
          <a:solidFill>
            <a:srgbClr val="B7FFE7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19"/>
          <p:cNvCxnSpPr/>
          <p:nvPr/>
        </p:nvCxnSpPr>
        <p:spPr>
          <a:xfrm flipH="1">
            <a:off x="3680631" y="3127190"/>
            <a:ext cx="1064787" cy="524352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202" name="Google Shape;202;p19"/>
          <p:cNvCxnSpPr/>
          <p:nvPr/>
        </p:nvCxnSpPr>
        <p:spPr>
          <a:xfrm>
            <a:off x="2285461" y="2053050"/>
            <a:ext cx="906389" cy="541698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grpSp>
        <p:nvGrpSpPr>
          <p:cNvPr id="203" name="Google Shape;203;p19"/>
          <p:cNvGrpSpPr/>
          <p:nvPr/>
        </p:nvGrpSpPr>
        <p:grpSpPr>
          <a:xfrm>
            <a:off x="506320" y="1957756"/>
            <a:ext cx="4467433" cy="2728822"/>
            <a:chOff x="506320" y="1957756"/>
            <a:chExt cx="4467433" cy="2728822"/>
          </a:xfrm>
        </p:grpSpPr>
        <p:pic>
          <p:nvPicPr>
            <p:cNvPr descr="monitor.png" id="204" name="Google Shape;204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6320" y="3942352"/>
              <a:ext cx="442916" cy="4429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onitor.png" id="205" name="Google Shape;20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6168" y="2778175"/>
              <a:ext cx="439903" cy="4399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onitor.png" id="206" name="Google Shape;206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66249" y="4246675"/>
              <a:ext cx="439903" cy="43990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7" name="Google Shape;207;p19"/>
            <p:cNvCxnSpPr/>
            <p:nvPr/>
          </p:nvCxnSpPr>
          <p:spPr>
            <a:xfrm>
              <a:off x="1267118" y="3127190"/>
              <a:ext cx="365280" cy="36528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208" name="Google Shape;208;p19"/>
            <p:cNvCxnSpPr/>
            <p:nvPr/>
          </p:nvCxnSpPr>
          <p:spPr>
            <a:xfrm rot="10800000">
              <a:off x="2366250" y="4052122"/>
              <a:ext cx="110628" cy="238433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grpSp>
          <p:nvGrpSpPr>
            <p:cNvPr id="209" name="Google Shape;209;p19"/>
            <p:cNvGrpSpPr/>
            <p:nvPr/>
          </p:nvGrpSpPr>
          <p:grpSpPr>
            <a:xfrm>
              <a:off x="949946" y="3381774"/>
              <a:ext cx="1856911" cy="820419"/>
              <a:chOff x="1710267" y="1820333"/>
              <a:chExt cx="3717662" cy="1642534"/>
            </a:xfrm>
          </p:grpSpPr>
          <p:sp>
            <p:nvSpPr>
              <p:cNvPr id="210" name="Google Shape;210;p19"/>
              <p:cNvSpPr/>
              <p:nvPr/>
            </p:nvSpPr>
            <p:spPr>
              <a:xfrm>
                <a:off x="2243666" y="1820333"/>
                <a:ext cx="2820405" cy="1642534"/>
              </a:xfrm>
              <a:prstGeom prst="cloud">
                <a:avLst/>
              </a:prstGeom>
              <a:solidFill>
                <a:srgbClr val="B7FFE7"/>
              </a:solidFill>
              <a:ln cap="flat" cmpd="sng" w="28575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9"/>
              <p:cNvSpPr txBox="1"/>
              <p:nvPr/>
            </p:nvSpPr>
            <p:spPr>
              <a:xfrm>
                <a:off x="1938547" y="2171349"/>
                <a:ext cx="3489382" cy="924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4</a:t>
                </a:r>
                <a:r>
                  <a:rPr b="1" baseline="3000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th</a:t>
                </a: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floor Soda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1.2.3/24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2" name="Google Shape;212;p19"/>
              <p:cNvCxnSpPr/>
              <p:nvPr/>
            </p:nvCxnSpPr>
            <p:spPr>
              <a:xfrm flipH="1" rot="10800000">
                <a:off x="1710267" y="2844800"/>
                <a:ext cx="635000" cy="194733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254"/>
                  </a:srgbClr>
                </a:outerShdw>
              </a:effectLst>
            </p:spPr>
          </p:cxnSp>
        </p:grpSp>
        <p:grpSp>
          <p:nvGrpSpPr>
            <p:cNvPr id="213" name="Google Shape;213;p19"/>
            <p:cNvGrpSpPr/>
            <p:nvPr/>
          </p:nvGrpSpPr>
          <p:grpSpPr>
            <a:xfrm>
              <a:off x="2953682" y="1957756"/>
              <a:ext cx="1742889" cy="820419"/>
              <a:chOff x="1938547" y="1820333"/>
              <a:chExt cx="3489382" cy="1642534"/>
            </a:xfrm>
          </p:grpSpPr>
          <p:sp>
            <p:nvSpPr>
              <p:cNvPr id="214" name="Google Shape;214;p19"/>
              <p:cNvSpPr/>
              <p:nvPr/>
            </p:nvSpPr>
            <p:spPr>
              <a:xfrm>
                <a:off x="2243666" y="1820333"/>
                <a:ext cx="2820405" cy="1642534"/>
              </a:xfrm>
              <a:prstGeom prst="cloud">
                <a:avLst/>
              </a:prstGeom>
              <a:solidFill>
                <a:srgbClr val="B7FFE7"/>
              </a:solidFill>
              <a:ln cap="flat" cmpd="sng" w="28575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9"/>
              <p:cNvSpPr txBox="1"/>
              <p:nvPr/>
            </p:nvSpPr>
            <p:spPr>
              <a:xfrm>
                <a:off x="1938547" y="2171349"/>
                <a:ext cx="3489382" cy="924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3</a:t>
                </a:r>
                <a:r>
                  <a:rPr b="1" baseline="3000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rd</a:t>
                </a: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floor Soda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1.2.4/24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6" name="Google Shape;216;p19"/>
            <p:cNvGrpSpPr/>
            <p:nvPr/>
          </p:nvGrpSpPr>
          <p:grpSpPr>
            <a:xfrm>
              <a:off x="3230864" y="3611467"/>
              <a:ext cx="1742889" cy="820419"/>
              <a:chOff x="1938547" y="1820333"/>
              <a:chExt cx="3489382" cy="1642534"/>
            </a:xfrm>
          </p:grpSpPr>
          <p:sp>
            <p:nvSpPr>
              <p:cNvPr id="217" name="Google Shape;217;p19"/>
              <p:cNvSpPr/>
              <p:nvPr/>
            </p:nvSpPr>
            <p:spPr>
              <a:xfrm>
                <a:off x="2243666" y="1820333"/>
                <a:ext cx="2820405" cy="1642534"/>
              </a:xfrm>
              <a:prstGeom prst="cloud">
                <a:avLst/>
              </a:prstGeom>
              <a:solidFill>
                <a:srgbClr val="B7FFE7"/>
              </a:solidFill>
              <a:ln cap="flat" cmpd="sng" w="28575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9"/>
              <p:cNvSpPr txBox="1"/>
              <p:nvPr/>
            </p:nvSpPr>
            <p:spPr>
              <a:xfrm>
                <a:off x="1938547" y="2171349"/>
                <a:ext cx="3489382" cy="924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7</a:t>
                </a:r>
                <a:r>
                  <a:rPr b="1" baseline="3000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th</a:t>
                </a: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 floor Soda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1.2.5/24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19" name="Google Shape;219;p19"/>
            <p:cNvCxnSpPr>
              <a:stCxn id="220" idx="0"/>
            </p:cNvCxnSpPr>
            <p:nvPr/>
          </p:nvCxnSpPr>
          <p:spPr>
            <a:xfrm flipH="1">
              <a:off x="2523750" y="2431364"/>
              <a:ext cx="668100" cy="115410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221" name="Google Shape;221;p19"/>
            <p:cNvCxnSpPr>
              <a:stCxn id="220" idx="0"/>
            </p:cNvCxnSpPr>
            <p:nvPr/>
          </p:nvCxnSpPr>
          <p:spPr>
            <a:xfrm>
              <a:off x="3191850" y="2431364"/>
              <a:ext cx="488700" cy="131310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222" name="Google Shape;222;p19"/>
            <p:cNvCxnSpPr/>
            <p:nvPr/>
          </p:nvCxnSpPr>
          <p:spPr>
            <a:xfrm>
              <a:off x="2476878" y="3557101"/>
              <a:ext cx="1157002" cy="94441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pic>
          <p:nvPicPr>
            <p:cNvPr descr="router.png" id="220" name="Google Shape;220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00433" y="2431364"/>
              <a:ext cx="382833" cy="253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router.png" id="223" name="Google Shape;223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85461" y="3396958"/>
              <a:ext cx="382833" cy="253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router.png" id="224" name="Google Shape;22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94304" y="3560676"/>
              <a:ext cx="382833" cy="25394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25" name="Google Shape;225;p19"/>
          <p:cNvCxnSpPr>
            <a:endCxn id="223" idx="0"/>
          </p:cNvCxnSpPr>
          <p:nvPr/>
        </p:nvCxnSpPr>
        <p:spPr>
          <a:xfrm>
            <a:off x="2222177" y="1957858"/>
            <a:ext cx="254700" cy="14391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226" name="Google Shape;226;p19"/>
          <p:cNvCxnSpPr/>
          <p:nvPr/>
        </p:nvCxnSpPr>
        <p:spPr>
          <a:xfrm>
            <a:off x="4600595" y="1407328"/>
            <a:ext cx="191417" cy="159257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227" name="Google Shape;227;p19"/>
          <p:cNvCxnSpPr/>
          <p:nvPr/>
        </p:nvCxnSpPr>
        <p:spPr>
          <a:xfrm flipH="1">
            <a:off x="2222232" y="1407328"/>
            <a:ext cx="2378363" cy="550428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228" name="Google Shape;228;p19"/>
          <p:cNvSpPr/>
          <p:nvPr/>
        </p:nvSpPr>
        <p:spPr>
          <a:xfrm>
            <a:off x="1380739" y="1496291"/>
            <a:ext cx="1142890" cy="665591"/>
          </a:xfrm>
          <a:prstGeom prst="cloud">
            <a:avLst/>
          </a:prstGeom>
          <a:solidFill>
            <a:srgbClr val="B7FFE7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3871423" y="741737"/>
            <a:ext cx="1142890" cy="665591"/>
          </a:xfrm>
          <a:prstGeom prst="cloud">
            <a:avLst/>
          </a:prstGeom>
          <a:solidFill>
            <a:srgbClr val="B7FFE7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outer.png" id="230" name="Google Shape;23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0815" y="1957756"/>
            <a:ext cx="382833" cy="253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uter.png" id="231" name="Google Shape;2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9179" y="1280036"/>
            <a:ext cx="382833" cy="253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uter.png" id="232" name="Google Shape;23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0595" y="2999898"/>
            <a:ext cx="382833" cy="25394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9"/>
          <p:cNvSpPr/>
          <p:nvPr/>
        </p:nvSpPr>
        <p:spPr>
          <a:xfrm>
            <a:off x="226154" y="556759"/>
            <a:ext cx="5836504" cy="4349683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837533" y="170030"/>
            <a:ext cx="163934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Domain (AS)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837532" y="556759"/>
            <a:ext cx="216290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UC Berkeley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IP prefix: 1.2/16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6" name="Google Shape;236;p19"/>
          <p:cNvGrpSpPr/>
          <p:nvPr/>
        </p:nvGrpSpPr>
        <p:grpSpPr>
          <a:xfrm>
            <a:off x="5526058" y="170029"/>
            <a:ext cx="4406938" cy="4651779"/>
            <a:chOff x="5526058" y="170029"/>
            <a:chExt cx="4406938" cy="4651779"/>
          </a:xfrm>
        </p:grpSpPr>
        <p:grpSp>
          <p:nvGrpSpPr>
            <p:cNvPr id="237" name="Google Shape;237;p19"/>
            <p:cNvGrpSpPr/>
            <p:nvPr/>
          </p:nvGrpSpPr>
          <p:grpSpPr>
            <a:xfrm>
              <a:off x="5526058" y="170029"/>
              <a:ext cx="4406938" cy="4651779"/>
              <a:chOff x="5526058" y="170029"/>
              <a:chExt cx="4406938" cy="4651779"/>
            </a:xfrm>
          </p:grpSpPr>
          <p:grpSp>
            <p:nvGrpSpPr>
              <p:cNvPr id="238" name="Google Shape;238;p19"/>
              <p:cNvGrpSpPr/>
              <p:nvPr/>
            </p:nvGrpSpPr>
            <p:grpSpPr>
              <a:xfrm>
                <a:off x="5526058" y="170029"/>
                <a:ext cx="4406938" cy="4651779"/>
                <a:chOff x="5526058" y="170029"/>
                <a:chExt cx="4406938" cy="4651779"/>
              </a:xfrm>
            </p:grpSpPr>
            <p:sp>
              <p:nvSpPr>
                <p:cNvPr id="239" name="Google Shape;239;p19"/>
                <p:cNvSpPr/>
                <p:nvPr/>
              </p:nvSpPr>
              <p:spPr>
                <a:xfrm>
                  <a:off x="7228087" y="170029"/>
                  <a:ext cx="1652261" cy="1231356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25400">
                  <a:solidFill>
                    <a:schemeClr val="accent1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" name="Google Shape;240;p19"/>
                <p:cNvSpPr/>
                <p:nvPr/>
              </p:nvSpPr>
              <p:spPr>
                <a:xfrm>
                  <a:off x="6554356" y="3590452"/>
                  <a:ext cx="1652261" cy="1231356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25400">
                  <a:solidFill>
                    <a:schemeClr val="accent1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" name="Google Shape;241;p19"/>
                <p:cNvSpPr/>
                <p:nvPr/>
              </p:nvSpPr>
              <p:spPr>
                <a:xfrm>
                  <a:off x="8280735" y="2126774"/>
                  <a:ext cx="1652261" cy="1231356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25400">
                  <a:solidFill>
                    <a:schemeClr val="accent1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42" name="Google Shape;242;p19"/>
                <p:cNvGrpSpPr/>
                <p:nvPr/>
              </p:nvGrpSpPr>
              <p:grpSpPr>
                <a:xfrm>
                  <a:off x="5526058" y="544479"/>
                  <a:ext cx="3252125" cy="3356054"/>
                  <a:chOff x="5526058" y="544479"/>
                  <a:chExt cx="3252125" cy="3356054"/>
                </a:xfrm>
              </p:grpSpPr>
              <p:cxnSp>
                <p:nvCxnSpPr>
                  <p:cNvPr id="243" name="Google Shape;243;p19"/>
                  <p:cNvCxnSpPr/>
                  <p:nvPr/>
                </p:nvCxnSpPr>
                <p:spPr>
                  <a:xfrm>
                    <a:off x="5934902" y="816360"/>
                    <a:ext cx="1615150" cy="283518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0000">
                      <a:srgbClr val="000000">
                        <a:alpha val="37254"/>
                      </a:srgbClr>
                    </a:outerShdw>
                  </a:effectLst>
                </p:spPr>
              </p:cxnSp>
              <p:cxnSp>
                <p:nvCxnSpPr>
                  <p:cNvPr id="244" name="Google Shape;244;p19"/>
                  <p:cNvCxnSpPr/>
                  <p:nvPr/>
                </p:nvCxnSpPr>
                <p:spPr>
                  <a:xfrm>
                    <a:off x="6175734" y="2212340"/>
                    <a:ext cx="2030883" cy="382408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0000">
                      <a:srgbClr val="000000">
                        <a:alpha val="37254"/>
                      </a:srgbClr>
                    </a:outerShdw>
                  </a:effectLst>
                </p:spPr>
              </p:cxnSp>
              <p:cxnSp>
                <p:nvCxnSpPr>
                  <p:cNvPr id="245" name="Google Shape;245;p19"/>
                  <p:cNvCxnSpPr/>
                  <p:nvPr/>
                </p:nvCxnSpPr>
                <p:spPr>
                  <a:xfrm flipH="1" rot="10800000">
                    <a:off x="6084253" y="741737"/>
                    <a:ext cx="1143834" cy="1664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0000">
                      <a:srgbClr val="000000">
                        <a:alpha val="37254"/>
                      </a:srgbClr>
                    </a:outerShdw>
                  </a:effectLst>
                </p:spPr>
              </p:cxnSp>
              <p:cxnSp>
                <p:nvCxnSpPr>
                  <p:cNvPr id="246" name="Google Shape;246;p19"/>
                  <p:cNvCxnSpPr>
                    <a:stCxn id="247" idx="0"/>
                  </p:cNvCxnSpPr>
                  <p:nvPr/>
                </p:nvCxnSpPr>
                <p:spPr>
                  <a:xfrm rot="10800000">
                    <a:off x="7106443" y="816230"/>
                    <a:ext cx="300300" cy="2541900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0000">
                      <a:srgbClr val="000000">
                        <a:alpha val="37254"/>
                      </a:srgbClr>
                    </a:outerShdw>
                  </a:effectLst>
                </p:spPr>
              </p:cxnSp>
              <p:cxnSp>
                <p:nvCxnSpPr>
                  <p:cNvPr id="248" name="Google Shape;248;p19"/>
                  <p:cNvCxnSpPr>
                    <a:endCxn id="247" idx="0"/>
                  </p:cNvCxnSpPr>
                  <p:nvPr/>
                </p:nvCxnSpPr>
                <p:spPr>
                  <a:xfrm flipH="1">
                    <a:off x="7406743" y="2594630"/>
                    <a:ext cx="799800" cy="763500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0000">
                      <a:srgbClr val="000000">
                        <a:alpha val="37254"/>
                      </a:srgbClr>
                    </a:outerShdw>
                  </a:effectLst>
                </p:spPr>
              </p:cxnSp>
              <p:pic>
                <p:nvPicPr>
                  <p:cNvPr descr="router.png" id="247" name="Google Shape;247;p19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6997899" y="3358130"/>
                    <a:ext cx="817687" cy="542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router.png" id="249" name="Google Shape;249;p19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7960496" y="2242647"/>
                    <a:ext cx="817687" cy="542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router.png" id="250" name="Google Shape;250;p19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6819243" y="544479"/>
                    <a:ext cx="817687" cy="542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router.png" id="251" name="Google Shape;251;p19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5526058" y="546679"/>
                    <a:ext cx="817687" cy="542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router.png" id="252" name="Google Shape;252;p19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5653814" y="2077084"/>
                    <a:ext cx="817687" cy="542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253" name="Google Shape;253;p19"/>
              <p:cNvSpPr txBox="1"/>
              <p:nvPr/>
            </p:nvSpPr>
            <p:spPr>
              <a:xfrm>
                <a:off x="7650021" y="556759"/>
                <a:ext cx="1017691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Google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7.8/16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54" name="Google Shape;254;p19"/>
              <p:cNvSpPr txBox="1"/>
              <p:nvPr/>
            </p:nvSpPr>
            <p:spPr>
              <a:xfrm>
                <a:off x="8343829" y="2633429"/>
                <a:ext cx="896924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MIT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5.6/16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5" name="Google Shape;255;p19"/>
            <p:cNvSpPr txBox="1"/>
            <p:nvPr/>
          </p:nvSpPr>
          <p:spPr>
            <a:xfrm>
              <a:off x="6946824" y="4063793"/>
              <a:ext cx="937233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AT&amp;T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3.4/16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7153251" y="4774168"/>
            <a:ext cx="19907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WAN: </a:t>
            </a:r>
            <a:r>
              <a:rPr b="1" i="0" lang="en-US" sz="1800" u="sng" cap="none" strike="noStrike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Inter</a:t>
            </a:r>
            <a:r>
              <a:rPr b="1" i="0" lang="en-US" sz="1800" u="none" cap="none" strike="noStrike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domain</a:t>
            </a:r>
            <a:endParaRPr b="1" i="0" sz="1800" u="none" cap="none" strike="noStrike">
              <a:solidFill>
                <a:srgbClr val="EF6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5191213" y="267480"/>
            <a:ext cx="174288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Border 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6358234" y="279760"/>
            <a:ext cx="174288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Border 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7550052" y="1908834"/>
            <a:ext cx="174288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Border 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6591627" y="3095498"/>
            <a:ext cx="174288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Border 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5238902" y="1829987"/>
            <a:ext cx="174288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Border 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" name="Google Shape;266;p20"/>
          <p:cNvCxnSpPr/>
          <p:nvPr/>
        </p:nvCxnSpPr>
        <p:spPr>
          <a:xfrm flipH="1" rot="10800000">
            <a:off x="4600595" y="878636"/>
            <a:ext cx="1166322" cy="528692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267" name="Google Shape;267;p20"/>
          <p:cNvCxnSpPr/>
          <p:nvPr/>
        </p:nvCxnSpPr>
        <p:spPr>
          <a:xfrm flipH="1">
            <a:off x="4792012" y="2348829"/>
            <a:ext cx="1061888" cy="651069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268" name="Google Shape;268;p20"/>
          <p:cNvCxnSpPr/>
          <p:nvPr/>
        </p:nvCxnSpPr>
        <p:spPr>
          <a:xfrm rot="10800000">
            <a:off x="4600595" y="1401385"/>
            <a:ext cx="1253305" cy="810955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269" name="Google Shape;269;p20"/>
          <p:cNvCxnSpPr/>
          <p:nvPr/>
        </p:nvCxnSpPr>
        <p:spPr>
          <a:xfrm flipH="1">
            <a:off x="2523629" y="2212340"/>
            <a:ext cx="3243288" cy="1344761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270" name="Google Shape;270;p20"/>
          <p:cNvSpPr/>
          <p:nvPr/>
        </p:nvSpPr>
        <p:spPr>
          <a:xfrm>
            <a:off x="4792012" y="2770282"/>
            <a:ext cx="1142890" cy="665591"/>
          </a:xfrm>
          <a:prstGeom prst="cloud">
            <a:avLst/>
          </a:prstGeom>
          <a:solidFill>
            <a:srgbClr val="B7FFE7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20"/>
          <p:cNvCxnSpPr/>
          <p:nvPr/>
        </p:nvCxnSpPr>
        <p:spPr>
          <a:xfrm flipH="1">
            <a:off x="3680631" y="3127190"/>
            <a:ext cx="1064787" cy="524352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272" name="Google Shape;272;p20"/>
          <p:cNvCxnSpPr/>
          <p:nvPr/>
        </p:nvCxnSpPr>
        <p:spPr>
          <a:xfrm>
            <a:off x="2285461" y="2053050"/>
            <a:ext cx="906389" cy="541698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grpSp>
        <p:nvGrpSpPr>
          <p:cNvPr id="273" name="Google Shape;273;p20"/>
          <p:cNvGrpSpPr/>
          <p:nvPr/>
        </p:nvGrpSpPr>
        <p:grpSpPr>
          <a:xfrm>
            <a:off x="506320" y="1957756"/>
            <a:ext cx="4467433" cy="2728822"/>
            <a:chOff x="506320" y="1957756"/>
            <a:chExt cx="4467433" cy="2728822"/>
          </a:xfrm>
        </p:grpSpPr>
        <p:pic>
          <p:nvPicPr>
            <p:cNvPr descr="monitor.png" id="274" name="Google Shape;274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6320" y="3942352"/>
              <a:ext cx="442916" cy="4429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onitor.png" id="275" name="Google Shape;275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6168" y="2778175"/>
              <a:ext cx="439903" cy="4399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onitor.png" id="276" name="Google Shape;276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66249" y="4246675"/>
              <a:ext cx="439903" cy="43990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77" name="Google Shape;277;p20"/>
            <p:cNvCxnSpPr/>
            <p:nvPr/>
          </p:nvCxnSpPr>
          <p:spPr>
            <a:xfrm>
              <a:off x="1267118" y="3127190"/>
              <a:ext cx="365280" cy="36528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278" name="Google Shape;278;p20"/>
            <p:cNvCxnSpPr/>
            <p:nvPr/>
          </p:nvCxnSpPr>
          <p:spPr>
            <a:xfrm rot="10800000">
              <a:off x="2366250" y="4052122"/>
              <a:ext cx="110628" cy="238433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grpSp>
          <p:nvGrpSpPr>
            <p:cNvPr id="279" name="Google Shape;279;p20"/>
            <p:cNvGrpSpPr/>
            <p:nvPr/>
          </p:nvGrpSpPr>
          <p:grpSpPr>
            <a:xfrm>
              <a:off x="949946" y="3381774"/>
              <a:ext cx="1856911" cy="820419"/>
              <a:chOff x="1710267" y="1820333"/>
              <a:chExt cx="3717662" cy="1642534"/>
            </a:xfrm>
          </p:grpSpPr>
          <p:sp>
            <p:nvSpPr>
              <p:cNvPr id="280" name="Google Shape;280;p20"/>
              <p:cNvSpPr/>
              <p:nvPr/>
            </p:nvSpPr>
            <p:spPr>
              <a:xfrm>
                <a:off x="2243666" y="1820333"/>
                <a:ext cx="2820405" cy="1642534"/>
              </a:xfrm>
              <a:prstGeom prst="cloud">
                <a:avLst/>
              </a:prstGeom>
              <a:solidFill>
                <a:srgbClr val="B7FFE7"/>
              </a:solidFill>
              <a:ln cap="flat" cmpd="sng" w="28575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20"/>
              <p:cNvSpPr txBox="1"/>
              <p:nvPr/>
            </p:nvSpPr>
            <p:spPr>
              <a:xfrm>
                <a:off x="1938547" y="2171349"/>
                <a:ext cx="3489382" cy="924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4</a:t>
                </a:r>
                <a:r>
                  <a:rPr b="1" baseline="3000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th</a:t>
                </a: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floor Soda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1.2.3/24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2" name="Google Shape;282;p20"/>
              <p:cNvCxnSpPr/>
              <p:nvPr/>
            </p:nvCxnSpPr>
            <p:spPr>
              <a:xfrm flipH="1" rot="10800000">
                <a:off x="1710267" y="2844800"/>
                <a:ext cx="635000" cy="194733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254"/>
                  </a:srgbClr>
                </a:outerShdw>
              </a:effectLst>
            </p:spPr>
          </p:cxnSp>
        </p:grpSp>
        <p:grpSp>
          <p:nvGrpSpPr>
            <p:cNvPr id="283" name="Google Shape;283;p20"/>
            <p:cNvGrpSpPr/>
            <p:nvPr/>
          </p:nvGrpSpPr>
          <p:grpSpPr>
            <a:xfrm>
              <a:off x="2953682" y="1957756"/>
              <a:ext cx="1742889" cy="820419"/>
              <a:chOff x="1938547" y="1820333"/>
              <a:chExt cx="3489382" cy="1642534"/>
            </a:xfrm>
          </p:grpSpPr>
          <p:sp>
            <p:nvSpPr>
              <p:cNvPr id="284" name="Google Shape;284;p20"/>
              <p:cNvSpPr/>
              <p:nvPr/>
            </p:nvSpPr>
            <p:spPr>
              <a:xfrm>
                <a:off x="2243666" y="1820333"/>
                <a:ext cx="2820405" cy="1642534"/>
              </a:xfrm>
              <a:prstGeom prst="cloud">
                <a:avLst/>
              </a:prstGeom>
              <a:solidFill>
                <a:srgbClr val="B7FFE7"/>
              </a:solidFill>
              <a:ln cap="flat" cmpd="sng" w="28575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20"/>
              <p:cNvSpPr txBox="1"/>
              <p:nvPr/>
            </p:nvSpPr>
            <p:spPr>
              <a:xfrm>
                <a:off x="1938547" y="2171349"/>
                <a:ext cx="3489382" cy="924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3</a:t>
                </a:r>
                <a:r>
                  <a:rPr b="1" baseline="3000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rd</a:t>
                </a: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floor Soda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1.2.4/24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6" name="Google Shape;286;p20"/>
            <p:cNvGrpSpPr/>
            <p:nvPr/>
          </p:nvGrpSpPr>
          <p:grpSpPr>
            <a:xfrm>
              <a:off x="3230864" y="3611467"/>
              <a:ext cx="1742889" cy="820419"/>
              <a:chOff x="1938547" y="1820333"/>
              <a:chExt cx="3489382" cy="1642534"/>
            </a:xfrm>
          </p:grpSpPr>
          <p:sp>
            <p:nvSpPr>
              <p:cNvPr id="287" name="Google Shape;287;p20"/>
              <p:cNvSpPr/>
              <p:nvPr/>
            </p:nvSpPr>
            <p:spPr>
              <a:xfrm>
                <a:off x="2243666" y="1820333"/>
                <a:ext cx="2820405" cy="1642534"/>
              </a:xfrm>
              <a:prstGeom prst="cloud">
                <a:avLst/>
              </a:prstGeom>
              <a:solidFill>
                <a:srgbClr val="B7FFE7"/>
              </a:solidFill>
              <a:ln cap="flat" cmpd="sng" w="28575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20"/>
              <p:cNvSpPr txBox="1"/>
              <p:nvPr/>
            </p:nvSpPr>
            <p:spPr>
              <a:xfrm>
                <a:off x="1938547" y="2171349"/>
                <a:ext cx="3489382" cy="924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7</a:t>
                </a:r>
                <a:r>
                  <a:rPr b="1" baseline="3000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th</a:t>
                </a: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 floor Soda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1.2.5/24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89" name="Google Shape;289;p20"/>
            <p:cNvCxnSpPr>
              <a:stCxn id="290" idx="0"/>
            </p:cNvCxnSpPr>
            <p:nvPr/>
          </p:nvCxnSpPr>
          <p:spPr>
            <a:xfrm flipH="1">
              <a:off x="2523750" y="2431364"/>
              <a:ext cx="668100" cy="115410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291" name="Google Shape;291;p20"/>
            <p:cNvCxnSpPr>
              <a:stCxn id="290" idx="0"/>
            </p:cNvCxnSpPr>
            <p:nvPr/>
          </p:nvCxnSpPr>
          <p:spPr>
            <a:xfrm>
              <a:off x="3191850" y="2431364"/>
              <a:ext cx="488700" cy="131310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292" name="Google Shape;292;p20"/>
            <p:cNvCxnSpPr/>
            <p:nvPr/>
          </p:nvCxnSpPr>
          <p:spPr>
            <a:xfrm>
              <a:off x="2476878" y="3557101"/>
              <a:ext cx="1157002" cy="94441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pic>
          <p:nvPicPr>
            <p:cNvPr descr="router.png" id="290" name="Google Shape;290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00433" y="2431364"/>
              <a:ext cx="382833" cy="253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router.png" id="293" name="Google Shape;293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85461" y="3396958"/>
              <a:ext cx="382833" cy="253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router.png" id="294" name="Google Shape;294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94304" y="3560676"/>
              <a:ext cx="382833" cy="25394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95" name="Google Shape;295;p20"/>
          <p:cNvCxnSpPr>
            <a:endCxn id="293" idx="0"/>
          </p:cNvCxnSpPr>
          <p:nvPr/>
        </p:nvCxnSpPr>
        <p:spPr>
          <a:xfrm>
            <a:off x="2222177" y="1957858"/>
            <a:ext cx="254700" cy="14391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296" name="Google Shape;296;p20"/>
          <p:cNvCxnSpPr/>
          <p:nvPr/>
        </p:nvCxnSpPr>
        <p:spPr>
          <a:xfrm>
            <a:off x="4600595" y="1407328"/>
            <a:ext cx="191417" cy="159257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297" name="Google Shape;297;p20"/>
          <p:cNvCxnSpPr/>
          <p:nvPr/>
        </p:nvCxnSpPr>
        <p:spPr>
          <a:xfrm flipH="1">
            <a:off x="2222232" y="1407328"/>
            <a:ext cx="2378363" cy="550428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298" name="Google Shape;298;p20"/>
          <p:cNvSpPr/>
          <p:nvPr/>
        </p:nvSpPr>
        <p:spPr>
          <a:xfrm>
            <a:off x="1380739" y="1496291"/>
            <a:ext cx="1142890" cy="665591"/>
          </a:xfrm>
          <a:prstGeom prst="cloud">
            <a:avLst/>
          </a:prstGeom>
          <a:solidFill>
            <a:srgbClr val="B7FFE7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3871423" y="741737"/>
            <a:ext cx="1142890" cy="665591"/>
          </a:xfrm>
          <a:prstGeom prst="cloud">
            <a:avLst/>
          </a:prstGeom>
          <a:solidFill>
            <a:srgbClr val="B7FFE7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outer.png" id="300" name="Google Shape;3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0815" y="1957756"/>
            <a:ext cx="382833" cy="253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uter.png" id="301" name="Google Shape;30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9179" y="1280036"/>
            <a:ext cx="382833" cy="253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uter.png" id="302" name="Google Shape;30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0595" y="2999898"/>
            <a:ext cx="382833" cy="253948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0"/>
          <p:cNvSpPr/>
          <p:nvPr/>
        </p:nvSpPr>
        <p:spPr>
          <a:xfrm>
            <a:off x="226154" y="556759"/>
            <a:ext cx="5836504" cy="4349683"/>
          </a:xfrm>
          <a:prstGeom prst="roundRect">
            <a:avLst>
              <a:gd fmla="val 16667" name="adj"/>
            </a:avLst>
          </a:prstGeom>
          <a:solidFill>
            <a:srgbClr val="E1DCCB">
              <a:alpha val="80000"/>
            </a:srgbClr>
          </a:solidFill>
          <a:ln cap="flat" cmpd="sng" w="2540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837533" y="170030"/>
            <a:ext cx="163934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Domain (AS)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5" name="Google Shape;305;p20"/>
          <p:cNvSpPr txBox="1"/>
          <p:nvPr/>
        </p:nvSpPr>
        <p:spPr>
          <a:xfrm>
            <a:off x="837532" y="556759"/>
            <a:ext cx="216290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UC Berkeley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AS number: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IP prefix: 1.2/16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6" name="Google Shape;306;p20"/>
          <p:cNvGrpSpPr/>
          <p:nvPr/>
        </p:nvGrpSpPr>
        <p:grpSpPr>
          <a:xfrm>
            <a:off x="5526058" y="170029"/>
            <a:ext cx="4406938" cy="4651779"/>
            <a:chOff x="5526058" y="170029"/>
            <a:chExt cx="4406938" cy="4651779"/>
          </a:xfrm>
        </p:grpSpPr>
        <p:grpSp>
          <p:nvGrpSpPr>
            <p:cNvPr id="307" name="Google Shape;307;p20"/>
            <p:cNvGrpSpPr/>
            <p:nvPr/>
          </p:nvGrpSpPr>
          <p:grpSpPr>
            <a:xfrm>
              <a:off x="5526058" y="170029"/>
              <a:ext cx="4406938" cy="4651779"/>
              <a:chOff x="5526058" y="170029"/>
              <a:chExt cx="4406938" cy="4651779"/>
            </a:xfrm>
          </p:grpSpPr>
          <p:sp>
            <p:nvSpPr>
              <p:cNvPr id="308" name="Google Shape;308;p20"/>
              <p:cNvSpPr/>
              <p:nvPr/>
            </p:nvSpPr>
            <p:spPr>
              <a:xfrm>
                <a:off x="7228087" y="170029"/>
                <a:ext cx="1652261" cy="1231356"/>
              </a:xfrm>
              <a:prstGeom prst="roundRect">
                <a:avLst>
                  <a:gd fmla="val 16667" name="adj"/>
                </a:avLst>
              </a:prstGeom>
              <a:noFill/>
              <a:ln cap="flat" cmpd="sng" w="25400">
                <a:solidFill>
                  <a:schemeClr val="accent1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20"/>
              <p:cNvSpPr/>
              <p:nvPr/>
            </p:nvSpPr>
            <p:spPr>
              <a:xfrm>
                <a:off x="6554356" y="3590452"/>
                <a:ext cx="1652261" cy="1231356"/>
              </a:xfrm>
              <a:prstGeom prst="roundRect">
                <a:avLst>
                  <a:gd fmla="val 16667" name="adj"/>
                </a:avLst>
              </a:prstGeom>
              <a:noFill/>
              <a:ln cap="flat" cmpd="sng" w="25400">
                <a:solidFill>
                  <a:schemeClr val="accent1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20"/>
              <p:cNvSpPr/>
              <p:nvPr/>
            </p:nvSpPr>
            <p:spPr>
              <a:xfrm>
                <a:off x="8280735" y="2126774"/>
                <a:ext cx="1652261" cy="1231356"/>
              </a:xfrm>
              <a:prstGeom prst="roundRect">
                <a:avLst>
                  <a:gd fmla="val 16667" name="adj"/>
                </a:avLst>
              </a:prstGeom>
              <a:noFill/>
              <a:ln cap="flat" cmpd="sng" w="25400">
                <a:solidFill>
                  <a:schemeClr val="accent1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1" name="Google Shape;311;p20"/>
              <p:cNvGrpSpPr/>
              <p:nvPr/>
            </p:nvGrpSpPr>
            <p:grpSpPr>
              <a:xfrm>
                <a:off x="5526058" y="544479"/>
                <a:ext cx="3252125" cy="3356054"/>
                <a:chOff x="5526058" y="544479"/>
                <a:chExt cx="3252125" cy="3356054"/>
              </a:xfrm>
            </p:grpSpPr>
            <p:cxnSp>
              <p:nvCxnSpPr>
                <p:cNvPr id="312" name="Google Shape;312;p20"/>
                <p:cNvCxnSpPr/>
                <p:nvPr/>
              </p:nvCxnSpPr>
              <p:spPr>
                <a:xfrm>
                  <a:off x="6175734" y="2212340"/>
                  <a:ext cx="2030883" cy="382408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0000">
                    <a:srgbClr val="000000">
                      <a:alpha val="37254"/>
                    </a:srgbClr>
                  </a:outerShdw>
                </a:effectLst>
              </p:spPr>
            </p:cxnSp>
            <p:cxnSp>
              <p:nvCxnSpPr>
                <p:cNvPr id="313" name="Google Shape;313;p20"/>
                <p:cNvCxnSpPr/>
                <p:nvPr/>
              </p:nvCxnSpPr>
              <p:spPr>
                <a:xfrm flipH="1" rot="10800000">
                  <a:off x="6084253" y="741737"/>
                  <a:ext cx="1143834" cy="16642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0000">
                    <a:srgbClr val="000000">
                      <a:alpha val="37254"/>
                    </a:srgbClr>
                  </a:outerShdw>
                </a:effectLst>
              </p:spPr>
            </p:cxnSp>
            <p:cxnSp>
              <p:nvCxnSpPr>
                <p:cNvPr id="314" name="Google Shape;314;p20"/>
                <p:cNvCxnSpPr/>
                <p:nvPr/>
              </p:nvCxnSpPr>
              <p:spPr>
                <a:xfrm>
                  <a:off x="5934902" y="816360"/>
                  <a:ext cx="1615150" cy="2835182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0000">
                    <a:srgbClr val="000000">
                      <a:alpha val="37254"/>
                    </a:srgbClr>
                  </a:outerShdw>
                </a:effectLst>
              </p:spPr>
            </p:cxnSp>
            <p:cxnSp>
              <p:nvCxnSpPr>
                <p:cNvPr id="315" name="Google Shape;315;p20"/>
                <p:cNvCxnSpPr>
                  <a:stCxn id="316" idx="0"/>
                </p:cNvCxnSpPr>
                <p:nvPr/>
              </p:nvCxnSpPr>
              <p:spPr>
                <a:xfrm rot="10800000">
                  <a:off x="7106443" y="816230"/>
                  <a:ext cx="300300" cy="2541900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0000">
                    <a:srgbClr val="000000">
                      <a:alpha val="37254"/>
                    </a:srgbClr>
                  </a:outerShdw>
                </a:effectLst>
              </p:spPr>
            </p:cxnSp>
            <p:cxnSp>
              <p:nvCxnSpPr>
                <p:cNvPr id="317" name="Google Shape;317;p20"/>
                <p:cNvCxnSpPr>
                  <a:endCxn id="316" idx="0"/>
                </p:cNvCxnSpPr>
                <p:nvPr/>
              </p:nvCxnSpPr>
              <p:spPr>
                <a:xfrm flipH="1">
                  <a:off x="7406743" y="2594630"/>
                  <a:ext cx="799800" cy="763500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0000">
                    <a:srgbClr val="000000">
                      <a:alpha val="37254"/>
                    </a:srgbClr>
                  </a:outerShdw>
                </a:effectLst>
              </p:spPr>
            </p:cxnSp>
            <p:pic>
              <p:nvPicPr>
                <p:cNvPr descr="router.png" id="316" name="Google Shape;316;p20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6997899" y="3358130"/>
                  <a:ext cx="817687" cy="5424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router.png" id="318" name="Google Shape;318;p20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7960496" y="2242647"/>
                  <a:ext cx="817687" cy="5424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router.png" id="319" name="Google Shape;319;p20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6819243" y="544479"/>
                  <a:ext cx="817687" cy="5424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router.png" id="320" name="Google Shape;320;p20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5526058" y="546679"/>
                  <a:ext cx="817687" cy="5424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router.png" id="321" name="Google Shape;321;p20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5653814" y="2077084"/>
                  <a:ext cx="817687" cy="5424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322" name="Google Shape;322;p20"/>
            <p:cNvSpPr txBox="1"/>
            <p:nvPr/>
          </p:nvSpPr>
          <p:spPr>
            <a:xfrm>
              <a:off x="7580437" y="556759"/>
              <a:ext cx="1404822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Google (4)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7.8/16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3" name="Google Shape;323;p20"/>
            <p:cNvSpPr txBox="1"/>
            <p:nvPr/>
          </p:nvSpPr>
          <p:spPr>
            <a:xfrm>
              <a:off x="8248150" y="2676924"/>
              <a:ext cx="1058943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MIT (3)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5.6/16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4" name="Google Shape;324;p20"/>
          <p:cNvSpPr txBox="1"/>
          <p:nvPr/>
        </p:nvSpPr>
        <p:spPr>
          <a:xfrm>
            <a:off x="6804113" y="4063793"/>
            <a:ext cx="140250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AT&amp;T (2)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3.4/16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642038" y="1613062"/>
            <a:ext cx="5011775" cy="141269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F6C00"/>
                </a:solidFill>
                <a:latin typeface="Open Sans"/>
                <a:ea typeface="Open Sans"/>
                <a:cs typeface="Open Sans"/>
                <a:sym typeface="Open Sans"/>
              </a:rPr>
              <a:t>Interdomain: eBGP</a:t>
            </a:r>
            <a:endParaRPr b="1" i="0" sz="1800" u="none" cap="none" strike="noStrike">
              <a:solidFill>
                <a:srgbClr val="EF6C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Between border routers in </a:t>
            </a:r>
            <a:r>
              <a:rPr b="1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different</a:t>
            </a: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ASes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Learn about routes to </a:t>
            </a:r>
            <a:r>
              <a:rPr b="1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external</a:t>
            </a: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networks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Destinations are</a:t>
            </a:r>
            <a:r>
              <a:rPr b="1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IP prefixes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6" name="Google Shape;326;p20"/>
          <p:cNvGrpSpPr/>
          <p:nvPr/>
        </p:nvGrpSpPr>
        <p:grpSpPr>
          <a:xfrm>
            <a:off x="2806857" y="239733"/>
            <a:ext cx="3195315" cy="1900426"/>
            <a:chOff x="4051871" y="2770282"/>
            <a:chExt cx="3195315" cy="1900426"/>
          </a:xfrm>
        </p:grpSpPr>
        <p:sp>
          <p:nvSpPr>
            <p:cNvPr id="327" name="Google Shape;327;p20"/>
            <p:cNvSpPr/>
            <p:nvPr/>
          </p:nvSpPr>
          <p:spPr>
            <a:xfrm>
              <a:off x="4051871" y="2770282"/>
              <a:ext cx="1900426" cy="1900426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EE68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28" name="Google Shape;328;p20"/>
            <p:cNvCxnSpPr>
              <a:stCxn id="327" idx="7"/>
            </p:cNvCxnSpPr>
            <p:nvPr/>
          </p:nvCxnSpPr>
          <p:spPr>
            <a:xfrm>
              <a:off x="5673986" y="3048593"/>
              <a:ext cx="1573200" cy="22380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329" name="Google Shape;329;p20"/>
            <p:cNvCxnSpPr>
              <a:stCxn id="327" idx="5"/>
            </p:cNvCxnSpPr>
            <p:nvPr/>
          </p:nvCxnSpPr>
          <p:spPr>
            <a:xfrm flipH="1" rot="10800000">
              <a:off x="5673986" y="3524797"/>
              <a:ext cx="1573200" cy="867600"/>
            </a:xfrm>
            <a:prstGeom prst="straightConnector1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pic>
          <p:nvPicPr>
            <p:cNvPr descr="documentation.png" id="330" name="Google Shape;330;p20"/>
            <p:cNvPicPr preferRelativeResize="0"/>
            <p:nvPr/>
          </p:nvPicPr>
          <p:blipFill rotWithShape="1">
            <a:blip r:embed="rId5">
              <a:alphaModFix/>
            </a:blip>
            <a:srcRect b="0" l="0" r="14285" t="0"/>
            <a:stretch/>
          </p:blipFill>
          <p:spPr>
            <a:xfrm>
              <a:off x="4368148" y="2984262"/>
              <a:ext cx="1256088" cy="14654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" name="Google Shape;331;p20"/>
            <p:cNvSpPr/>
            <p:nvPr/>
          </p:nvSpPr>
          <p:spPr>
            <a:xfrm>
              <a:off x="4443289" y="3169266"/>
              <a:ext cx="1061183" cy="1216019"/>
            </a:xfrm>
            <a:prstGeom prst="roundRect">
              <a:avLst>
                <a:gd fmla="val 16667" name="adj"/>
              </a:avLst>
            </a:prstGeom>
            <a:solidFill>
              <a:srgbClr val="CFD4D9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From: AT&amp;T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5.6/16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Path: {3,</a:t>
              </a:r>
              <a:r>
                <a:rPr b="1" i="0" lang="en-US" sz="16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0" i="0" lang="en-US" sz="1600" u="none" cap="none" strike="noStrike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documentation.png" id="332" name="Google Shape;332;p20"/>
          <p:cNvPicPr preferRelativeResize="0"/>
          <p:nvPr/>
        </p:nvPicPr>
        <p:blipFill rotWithShape="1">
          <a:blip r:embed="rId5">
            <a:alphaModFix/>
          </a:blip>
          <a:srcRect b="0" l="0" r="14285" t="0"/>
          <a:stretch/>
        </p:blipFill>
        <p:spPr>
          <a:xfrm>
            <a:off x="7221041" y="3170685"/>
            <a:ext cx="340144" cy="39683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0"/>
          <p:cNvSpPr/>
          <p:nvPr/>
        </p:nvSpPr>
        <p:spPr>
          <a:xfrm>
            <a:off x="7153251" y="4774168"/>
            <a:ext cx="19907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WAN: Interdomain</a:t>
            </a:r>
            <a:endParaRPr b="1" i="0" sz="1800" u="none" cap="none" strike="noStrike">
              <a:solidFill>
                <a:srgbClr val="EF6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8" name="Google Shape;338;p21"/>
          <p:cNvCxnSpPr/>
          <p:nvPr/>
        </p:nvCxnSpPr>
        <p:spPr>
          <a:xfrm flipH="1" rot="10800000">
            <a:off x="4600595" y="878636"/>
            <a:ext cx="1166322" cy="528692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339" name="Google Shape;339;p21"/>
          <p:cNvCxnSpPr/>
          <p:nvPr/>
        </p:nvCxnSpPr>
        <p:spPr>
          <a:xfrm flipH="1">
            <a:off x="4792012" y="2348829"/>
            <a:ext cx="1061888" cy="651069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340" name="Google Shape;340;p21"/>
          <p:cNvCxnSpPr/>
          <p:nvPr/>
        </p:nvCxnSpPr>
        <p:spPr>
          <a:xfrm rot="10800000">
            <a:off x="4600595" y="1401385"/>
            <a:ext cx="1253305" cy="810955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341" name="Google Shape;341;p21"/>
          <p:cNvCxnSpPr/>
          <p:nvPr/>
        </p:nvCxnSpPr>
        <p:spPr>
          <a:xfrm flipH="1">
            <a:off x="2523629" y="2212340"/>
            <a:ext cx="3243288" cy="1344761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342" name="Google Shape;342;p21"/>
          <p:cNvSpPr/>
          <p:nvPr/>
        </p:nvSpPr>
        <p:spPr>
          <a:xfrm>
            <a:off x="4792012" y="2770282"/>
            <a:ext cx="1142890" cy="665591"/>
          </a:xfrm>
          <a:prstGeom prst="cloud">
            <a:avLst/>
          </a:prstGeom>
          <a:solidFill>
            <a:srgbClr val="B7FFE7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" name="Google Shape;343;p21"/>
          <p:cNvCxnSpPr/>
          <p:nvPr/>
        </p:nvCxnSpPr>
        <p:spPr>
          <a:xfrm flipH="1">
            <a:off x="3680631" y="3127190"/>
            <a:ext cx="1064787" cy="524352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344" name="Google Shape;344;p21"/>
          <p:cNvCxnSpPr/>
          <p:nvPr/>
        </p:nvCxnSpPr>
        <p:spPr>
          <a:xfrm>
            <a:off x="2285461" y="2053050"/>
            <a:ext cx="906389" cy="541698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grpSp>
        <p:nvGrpSpPr>
          <p:cNvPr id="345" name="Google Shape;345;p21"/>
          <p:cNvGrpSpPr/>
          <p:nvPr/>
        </p:nvGrpSpPr>
        <p:grpSpPr>
          <a:xfrm>
            <a:off x="506320" y="1957756"/>
            <a:ext cx="4467433" cy="2728822"/>
            <a:chOff x="506320" y="1957756"/>
            <a:chExt cx="4467433" cy="2728822"/>
          </a:xfrm>
        </p:grpSpPr>
        <p:pic>
          <p:nvPicPr>
            <p:cNvPr descr="monitor.png" id="346" name="Google Shape;346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6320" y="3942352"/>
              <a:ext cx="442916" cy="4429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onitor.png" id="347" name="Google Shape;347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6168" y="2778175"/>
              <a:ext cx="439903" cy="4399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onitor.png" id="348" name="Google Shape;348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66249" y="4246675"/>
              <a:ext cx="439903" cy="43990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49" name="Google Shape;349;p21"/>
            <p:cNvCxnSpPr/>
            <p:nvPr/>
          </p:nvCxnSpPr>
          <p:spPr>
            <a:xfrm>
              <a:off x="1267118" y="3127190"/>
              <a:ext cx="365280" cy="36528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350" name="Google Shape;350;p21"/>
            <p:cNvCxnSpPr/>
            <p:nvPr/>
          </p:nvCxnSpPr>
          <p:spPr>
            <a:xfrm rot="10800000">
              <a:off x="2366250" y="4052122"/>
              <a:ext cx="110628" cy="238433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grpSp>
          <p:nvGrpSpPr>
            <p:cNvPr id="351" name="Google Shape;351;p21"/>
            <p:cNvGrpSpPr/>
            <p:nvPr/>
          </p:nvGrpSpPr>
          <p:grpSpPr>
            <a:xfrm>
              <a:off x="949946" y="3381774"/>
              <a:ext cx="1856911" cy="820419"/>
              <a:chOff x="1710267" y="1820333"/>
              <a:chExt cx="3717662" cy="1642534"/>
            </a:xfrm>
          </p:grpSpPr>
          <p:sp>
            <p:nvSpPr>
              <p:cNvPr id="352" name="Google Shape;352;p21"/>
              <p:cNvSpPr/>
              <p:nvPr/>
            </p:nvSpPr>
            <p:spPr>
              <a:xfrm>
                <a:off x="2243666" y="1820333"/>
                <a:ext cx="2820405" cy="1642534"/>
              </a:xfrm>
              <a:prstGeom prst="cloud">
                <a:avLst/>
              </a:prstGeom>
              <a:solidFill>
                <a:srgbClr val="B7FFE7"/>
              </a:solidFill>
              <a:ln cap="flat" cmpd="sng" w="28575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21"/>
              <p:cNvSpPr txBox="1"/>
              <p:nvPr/>
            </p:nvSpPr>
            <p:spPr>
              <a:xfrm>
                <a:off x="1938547" y="2171349"/>
                <a:ext cx="3489382" cy="924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4</a:t>
                </a:r>
                <a:r>
                  <a:rPr b="1" baseline="3000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th</a:t>
                </a: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floor Soda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1.2.3/24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54" name="Google Shape;354;p21"/>
              <p:cNvCxnSpPr/>
              <p:nvPr/>
            </p:nvCxnSpPr>
            <p:spPr>
              <a:xfrm flipH="1" rot="10800000">
                <a:off x="1710267" y="2844800"/>
                <a:ext cx="635000" cy="194733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254"/>
                  </a:srgbClr>
                </a:outerShdw>
              </a:effectLst>
            </p:spPr>
          </p:cxnSp>
        </p:grpSp>
        <p:grpSp>
          <p:nvGrpSpPr>
            <p:cNvPr id="355" name="Google Shape;355;p21"/>
            <p:cNvGrpSpPr/>
            <p:nvPr/>
          </p:nvGrpSpPr>
          <p:grpSpPr>
            <a:xfrm>
              <a:off x="2953682" y="1957756"/>
              <a:ext cx="1742889" cy="820419"/>
              <a:chOff x="1938547" y="1820333"/>
              <a:chExt cx="3489382" cy="1642534"/>
            </a:xfrm>
          </p:grpSpPr>
          <p:sp>
            <p:nvSpPr>
              <p:cNvPr id="356" name="Google Shape;356;p21"/>
              <p:cNvSpPr/>
              <p:nvPr/>
            </p:nvSpPr>
            <p:spPr>
              <a:xfrm>
                <a:off x="2243666" y="1820333"/>
                <a:ext cx="2820405" cy="1642534"/>
              </a:xfrm>
              <a:prstGeom prst="cloud">
                <a:avLst/>
              </a:prstGeom>
              <a:solidFill>
                <a:srgbClr val="B7FFE7"/>
              </a:solidFill>
              <a:ln cap="flat" cmpd="sng" w="28575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21"/>
              <p:cNvSpPr txBox="1"/>
              <p:nvPr/>
            </p:nvSpPr>
            <p:spPr>
              <a:xfrm>
                <a:off x="1938547" y="2171349"/>
                <a:ext cx="3489382" cy="924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3</a:t>
                </a:r>
                <a:r>
                  <a:rPr b="1" baseline="3000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rd</a:t>
                </a: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floor Soda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1.2.4/24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8" name="Google Shape;358;p21"/>
            <p:cNvGrpSpPr/>
            <p:nvPr/>
          </p:nvGrpSpPr>
          <p:grpSpPr>
            <a:xfrm>
              <a:off x="3230864" y="3611467"/>
              <a:ext cx="1742889" cy="820419"/>
              <a:chOff x="1938547" y="1820333"/>
              <a:chExt cx="3489382" cy="1642534"/>
            </a:xfrm>
          </p:grpSpPr>
          <p:sp>
            <p:nvSpPr>
              <p:cNvPr id="359" name="Google Shape;359;p21"/>
              <p:cNvSpPr/>
              <p:nvPr/>
            </p:nvSpPr>
            <p:spPr>
              <a:xfrm>
                <a:off x="2243666" y="1820333"/>
                <a:ext cx="2820405" cy="1642534"/>
              </a:xfrm>
              <a:prstGeom prst="cloud">
                <a:avLst/>
              </a:prstGeom>
              <a:solidFill>
                <a:srgbClr val="B7FFE7"/>
              </a:solidFill>
              <a:ln cap="flat" cmpd="sng" w="28575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21"/>
              <p:cNvSpPr txBox="1"/>
              <p:nvPr/>
            </p:nvSpPr>
            <p:spPr>
              <a:xfrm>
                <a:off x="1938547" y="2171349"/>
                <a:ext cx="3489382" cy="924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7</a:t>
                </a:r>
                <a:r>
                  <a:rPr b="1" baseline="3000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th</a:t>
                </a: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 floor Soda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1.2.5/24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61" name="Google Shape;361;p21"/>
            <p:cNvCxnSpPr>
              <a:stCxn id="362" idx="0"/>
            </p:cNvCxnSpPr>
            <p:nvPr/>
          </p:nvCxnSpPr>
          <p:spPr>
            <a:xfrm flipH="1">
              <a:off x="2523750" y="2431364"/>
              <a:ext cx="668100" cy="115410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363" name="Google Shape;363;p21"/>
            <p:cNvCxnSpPr>
              <a:stCxn id="362" idx="0"/>
            </p:cNvCxnSpPr>
            <p:nvPr/>
          </p:nvCxnSpPr>
          <p:spPr>
            <a:xfrm>
              <a:off x="3191850" y="2431364"/>
              <a:ext cx="488700" cy="131310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364" name="Google Shape;364;p21"/>
            <p:cNvCxnSpPr/>
            <p:nvPr/>
          </p:nvCxnSpPr>
          <p:spPr>
            <a:xfrm>
              <a:off x="2476878" y="3557101"/>
              <a:ext cx="1157002" cy="94441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pic>
          <p:nvPicPr>
            <p:cNvPr descr="router.png" id="362" name="Google Shape;362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00433" y="2431364"/>
              <a:ext cx="382833" cy="253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router.png" id="365" name="Google Shape;365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85461" y="3396958"/>
              <a:ext cx="382833" cy="253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router.png" id="366" name="Google Shape;36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94304" y="3560676"/>
              <a:ext cx="382833" cy="25394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67" name="Google Shape;367;p21"/>
          <p:cNvCxnSpPr>
            <a:endCxn id="365" idx="0"/>
          </p:cNvCxnSpPr>
          <p:nvPr/>
        </p:nvCxnSpPr>
        <p:spPr>
          <a:xfrm>
            <a:off x="2222177" y="1957858"/>
            <a:ext cx="254700" cy="14391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368" name="Google Shape;368;p21"/>
          <p:cNvCxnSpPr/>
          <p:nvPr/>
        </p:nvCxnSpPr>
        <p:spPr>
          <a:xfrm>
            <a:off x="4600595" y="1407328"/>
            <a:ext cx="191417" cy="159257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369" name="Google Shape;369;p21"/>
          <p:cNvCxnSpPr/>
          <p:nvPr/>
        </p:nvCxnSpPr>
        <p:spPr>
          <a:xfrm flipH="1">
            <a:off x="2222232" y="1407328"/>
            <a:ext cx="2378363" cy="550428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370" name="Google Shape;370;p21"/>
          <p:cNvSpPr/>
          <p:nvPr/>
        </p:nvSpPr>
        <p:spPr>
          <a:xfrm>
            <a:off x="1380739" y="1496291"/>
            <a:ext cx="1142890" cy="665591"/>
          </a:xfrm>
          <a:prstGeom prst="cloud">
            <a:avLst/>
          </a:prstGeom>
          <a:solidFill>
            <a:srgbClr val="B7FFE7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1"/>
          <p:cNvSpPr/>
          <p:nvPr/>
        </p:nvSpPr>
        <p:spPr>
          <a:xfrm>
            <a:off x="3871423" y="741737"/>
            <a:ext cx="1142890" cy="665591"/>
          </a:xfrm>
          <a:prstGeom prst="cloud">
            <a:avLst/>
          </a:prstGeom>
          <a:solidFill>
            <a:srgbClr val="B7FFE7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outer.png" id="372" name="Google Shape;37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0815" y="1957756"/>
            <a:ext cx="382833" cy="253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uter.png" id="373" name="Google Shape;37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9179" y="1280036"/>
            <a:ext cx="382833" cy="253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uter.png" id="374" name="Google Shape;37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0595" y="2999898"/>
            <a:ext cx="382833" cy="253948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1"/>
          <p:cNvSpPr/>
          <p:nvPr/>
        </p:nvSpPr>
        <p:spPr>
          <a:xfrm>
            <a:off x="226154" y="556759"/>
            <a:ext cx="5836504" cy="4349683"/>
          </a:xfrm>
          <a:prstGeom prst="roundRect">
            <a:avLst>
              <a:gd fmla="val 16667" name="adj"/>
            </a:avLst>
          </a:prstGeom>
          <a:solidFill>
            <a:srgbClr val="E1DCCB">
              <a:alpha val="80000"/>
            </a:srgbClr>
          </a:solidFill>
          <a:ln cap="flat" cmpd="sng" w="2540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837533" y="170030"/>
            <a:ext cx="163934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Domain (AS)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7" name="Google Shape;377;p21"/>
          <p:cNvSpPr txBox="1"/>
          <p:nvPr/>
        </p:nvSpPr>
        <p:spPr>
          <a:xfrm>
            <a:off x="837524" y="556750"/>
            <a:ext cx="2421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UC Berkeley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AS number: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IP prefix: 1.2/16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8" name="Google Shape;378;p21"/>
          <p:cNvGrpSpPr/>
          <p:nvPr/>
        </p:nvGrpSpPr>
        <p:grpSpPr>
          <a:xfrm>
            <a:off x="5526058" y="170029"/>
            <a:ext cx="4406938" cy="4651779"/>
            <a:chOff x="5526058" y="170029"/>
            <a:chExt cx="4406938" cy="4651779"/>
          </a:xfrm>
        </p:grpSpPr>
        <p:grpSp>
          <p:nvGrpSpPr>
            <p:cNvPr id="379" name="Google Shape;379;p21"/>
            <p:cNvGrpSpPr/>
            <p:nvPr/>
          </p:nvGrpSpPr>
          <p:grpSpPr>
            <a:xfrm>
              <a:off x="5526058" y="170029"/>
              <a:ext cx="4406938" cy="4651779"/>
              <a:chOff x="5526058" y="170029"/>
              <a:chExt cx="4406938" cy="4651779"/>
            </a:xfrm>
          </p:grpSpPr>
          <p:sp>
            <p:nvSpPr>
              <p:cNvPr id="380" name="Google Shape;380;p21"/>
              <p:cNvSpPr/>
              <p:nvPr/>
            </p:nvSpPr>
            <p:spPr>
              <a:xfrm>
                <a:off x="7228087" y="170029"/>
                <a:ext cx="1652261" cy="1231356"/>
              </a:xfrm>
              <a:prstGeom prst="roundRect">
                <a:avLst>
                  <a:gd fmla="val 16667" name="adj"/>
                </a:avLst>
              </a:prstGeom>
              <a:noFill/>
              <a:ln cap="flat" cmpd="sng" w="25400">
                <a:solidFill>
                  <a:schemeClr val="accent1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21"/>
              <p:cNvSpPr/>
              <p:nvPr/>
            </p:nvSpPr>
            <p:spPr>
              <a:xfrm>
                <a:off x="6554356" y="3590452"/>
                <a:ext cx="1652261" cy="1231356"/>
              </a:xfrm>
              <a:prstGeom prst="roundRect">
                <a:avLst>
                  <a:gd fmla="val 16667" name="adj"/>
                </a:avLst>
              </a:prstGeom>
              <a:noFill/>
              <a:ln cap="flat" cmpd="sng" w="25400">
                <a:solidFill>
                  <a:schemeClr val="accent1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21"/>
              <p:cNvSpPr/>
              <p:nvPr/>
            </p:nvSpPr>
            <p:spPr>
              <a:xfrm>
                <a:off x="8280735" y="2126774"/>
                <a:ext cx="1652261" cy="1231356"/>
              </a:xfrm>
              <a:prstGeom prst="roundRect">
                <a:avLst>
                  <a:gd fmla="val 16667" name="adj"/>
                </a:avLst>
              </a:prstGeom>
              <a:noFill/>
              <a:ln cap="flat" cmpd="sng" w="25400">
                <a:solidFill>
                  <a:schemeClr val="accent1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3" name="Google Shape;383;p21"/>
              <p:cNvGrpSpPr/>
              <p:nvPr/>
            </p:nvGrpSpPr>
            <p:grpSpPr>
              <a:xfrm>
                <a:off x="5526058" y="544479"/>
                <a:ext cx="3252125" cy="3356054"/>
                <a:chOff x="5526058" y="544479"/>
                <a:chExt cx="3252125" cy="3356054"/>
              </a:xfrm>
            </p:grpSpPr>
            <p:cxnSp>
              <p:nvCxnSpPr>
                <p:cNvPr id="384" name="Google Shape;384;p21"/>
                <p:cNvCxnSpPr/>
                <p:nvPr/>
              </p:nvCxnSpPr>
              <p:spPr>
                <a:xfrm>
                  <a:off x="6175734" y="2212340"/>
                  <a:ext cx="2030883" cy="382408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0000">
                    <a:srgbClr val="000000">
                      <a:alpha val="37254"/>
                    </a:srgbClr>
                  </a:outerShdw>
                </a:effectLst>
              </p:spPr>
            </p:cxnSp>
            <p:cxnSp>
              <p:nvCxnSpPr>
                <p:cNvPr id="385" name="Google Shape;385;p21"/>
                <p:cNvCxnSpPr/>
                <p:nvPr/>
              </p:nvCxnSpPr>
              <p:spPr>
                <a:xfrm flipH="1" rot="10800000">
                  <a:off x="6084253" y="741737"/>
                  <a:ext cx="1143834" cy="16642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0000">
                    <a:srgbClr val="000000">
                      <a:alpha val="37254"/>
                    </a:srgbClr>
                  </a:outerShdw>
                </a:effectLst>
              </p:spPr>
            </p:cxnSp>
            <p:cxnSp>
              <p:nvCxnSpPr>
                <p:cNvPr id="386" name="Google Shape;386;p21"/>
                <p:cNvCxnSpPr/>
                <p:nvPr/>
              </p:nvCxnSpPr>
              <p:spPr>
                <a:xfrm>
                  <a:off x="5934902" y="816360"/>
                  <a:ext cx="1615150" cy="2835182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0000">
                    <a:srgbClr val="000000">
                      <a:alpha val="37254"/>
                    </a:srgbClr>
                  </a:outerShdw>
                </a:effectLst>
              </p:spPr>
            </p:cxnSp>
            <p:cxnSp>
              <p:nvCxnSpPr>
                <p:cNvPr id="387" name="Google Shape;387;p21"/>
                <p:cNvCxnSpPr>
                  <a:stCxn id="388" idx="0"/>
                </p:cNvCxnSpPr>
                <p:nvPr/>
              </p:nvCxnSpPr>
              <p:spPr>
                <a:xfrm rot="10800000">
                  <a:off x="7106443" y="816230"/>
                  <a:ext cx="300300" cy="2541900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0000">
                    <a:srgbClr val="000000">
                      <a:alpha val="37254"/>
                    </a:srgbClr>
                  </a:outerShdw>
                </a:effectLst>
              </p:spPr>
            </p:cxnSp>
            <p:cxnSp>
              <p:nvCxnSpPr>
                <p:cNvPr id="389" name="Google Shape;389;p21"/>
                <p:cNvCxnSpPr>
                  <a:endCxn id="388" idx="0"/>
                </p:cNvCxnSpPr>
                <p:nvPr/>
              </p:nvCxnSpPr>
              <p:spPr>
                <a:xfrm flipH="1">
                  <a:off x="7406743" y="2594630"/>
                  <a:ext cx="799800" cy="763500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0000">
                    <a:srgbClr val="000000">
                      <a:alpha val="37254"/>
                    </a:srgbClr>
                  </a:outerShdw>
                </a:effectLst>
              </p:spPr>
            </p:cxnSp>
            <p:pic>
              <p:nvPicPr>
                <p:cNvPr descr="router.png" id="388" name="Google Shape;388;p21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6997899" y="3358130"/>
                  <a:ext cx="817687" cy="5424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router.png" id="390" name="Google Shape;390;p21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7960496" y="2242647"/>
                  <a:ext cx="817687" cy="5424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router.png" id="391" name="Google Shape;391;p21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6819243" y="544479"/>
                  <a:ext cx="817687" cy="5424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router.png" id="392" name="Google Shape;392;p21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5526058" y="546679"/>
                  <a:ext cx="817687" cy="5424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router.png" id="393" name="Google Shape;393;p21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5653814" y="2077084"/>
                  <a:ext cx="817687" cy="5424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394" name="Google Shape;394;p21"/>
            <p:cNvSpPr txBox="1"/>
            <p:nvPr/>
          </p:nvSpPr>
          <p:spPr>
            <a:xfrm>
              <a:off x="7580437" y="556759"/>
              <a:ext cx="1404822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Google (4)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7.8/16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5" name="Google Shape;395;p21"/>
            <p:cNvSpPr txBox="1"/>
            <p:nvPr/>
          </p:nvSpPr>
          <p:spPr>
            <a:xfrm>
              <a:off x="8248150" y="2676924"/>
              <a:ext cx="1058943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MIT (3)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695D46"/>
                  </a:solidFill>
                  <a:latin typeface="Open Sans"/>
                  <a:ea typeface="Open Sans"/>
                  <a:cs typeface="Open Sans"/>
                  <a:sym typeface="Open Sans"/>
                </a:rPr>
                <a:t>5.6/16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6" name="Google Shape;396;p21"/>
          <p:cNvSpPr txBox="1"/>
          <p:nvPr/>
        </p:nvSpPr>
        <p:spPr>
          <a:xfrm>
            <a:off x="6804113" y="4063793"/>
            <a:ext cx="140250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AT&amp;T (2)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3.4/16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1"/>
          <p:cNvSpPr txBox="1"/>
          <p:nvPr/>
        </p:nvSpPr>
        <p:spPr>
          <a:xfrm>
            <a:off x="642038" y="1613062"/>
            <a:ext cx="5011775" cy="141269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F6C00"/>
                </a:solidFill>
                <a:latin typeface="Open Sans"/>
                <a:ea typeface="Open Sans"/>
                <a:cs typeface="Open Sans"/>
                <a:sym typeface="Open Sans"/>
              </a:rPr>
              <a:t>Interdomain: eBGP</a:t>
            </a:r>
            <a:endParaRPr b="1" i="0" sz="1800" u="none" cap="none" strike="noStrike">
              <a:solidFill>
                <a:srgbClr val="EF6C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Between border routers in </a:t>
            </a:r>
            <a:r>
              <a:rPr b="1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different</a:t>
            </a: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ASes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Learn about routes to </a:t>
            </a:r>
            <a:r>
              <a:rPr b="1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external</a:t>
            </a: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networks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Destinations are</a:t>
            </a:r>
            <a:r>
              <a:rPr b="1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IP prefixes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8" name="Google Shape;398;p21"/>
          <p:cNvGrpSpPr/>
          <p:nvPr/>
        </p:nvGrpSpPr>
        <p:grpSpPr>
          <a:xfrm>
            <a:off x="4269751" y="2141785"/>
            <a:ext cx="3136992" cy="2790755"/>
            <a:chOff x="4269751" y="2141785"/>
            <a:chExt cx="3136992" cy="2790755"/>
          </a:xfrm>
        </p:grpSpPr>
        <p:cxnSp>
          <p:nvCxnSpPr>
            <p:cNvPr id="399" name="Google Shape;399;p21"/>
            <p:cNvCxnSpPr>
              <a:endCxn id="388" idx="0"/>
            </p:cNvCxnSpPr>
            <p:nvPr/>
          </p:nvCxnSpPr>
          <p:spPr>
            <a:xfrm flipH="1" rot="10800000">
              <a:off x="6084343" y="3358130"/>
              <a:ext cx="1322400" cy="29340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400" name="Google Shape;400;p21"/>
            <p:cNvCxnSpPr>
              <a:endCxn id="388" idx="0"/>
            </p:cNvCxnSpPr>
            <p:nvPr/>
          </p:nvCxnSpPr>
          <p:spPr>
            <a:xfrm flipH="1" rot="10800000">
              <a:off x="6084343" y="3358130"/>
              <a:ext cx="1322400" cy="890400"/>
            </a:xfrm>
            <a:prstGeom prst="straightConnector1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grpSp>
          <p:nvGrpSpPr>
            <p:cNvPr id="401" name="Google Shape;401;p21"/>
            <p:cNvGrpSpPr/>
            <p:nvPr/>
          </p:nvGrpSpPr>
          <p:grpSpPr>
            <a:xfrm>
              <a:off x="4269751" y="3032114"/>
              <a:ext cx="1900426" cy="1900426"/>
              <a:chOff x="4269751" y="3032114"/>
              <a:chExt cx="1900426" cy="1900426"/>
            </a:xfrm>
          </p:grpSpPr>
          <p:sp>
            <p:nvSpPr>
              <p:cNvPr id="402" name="Google Shape;402;p21"/>
              <p:cNvSpPr/>
              <p:nvPr/>
            </p:nvSpPr>
            <p:spPr>
              <a:xfrm>
                <a:off x="4269751" y="3032114"/>
                <a:ext cx="1900426" cy="1900426"/>
              </a:xfrm>
              <a:prstGeom prst="ellipse">
                <a:avLst/>
              </a:prstGeom>
              <a:solidFill>
                <a:schemeClr val="lt1"/>
              </a:solidFill>
              <a:ln cap="flat" cmpd="sng" w="2857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documentation.png" id="403" name="Google Shape;403;p2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14285" t="0"/>
              <a:stretch/>
            </p:blipFill>
            <p:spPr>
              <a:xfrm>
                <a:off x="4586028" y="3246094"/>
                <a:ext cx="1256088" cy="146543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4" name="Google Shape;404;p21"/>
              <p:cNvSpPr/>
              <p:nvPr/>
            </p:nvSpPr>
            <p:spPr>
              <a:xfrm>
                <a:off x="4661169" y="3431098"/>
                <a:ext cx="1061183" cy="1216019"/>
              </a:xfrm>
              <a:prstGeom prst="roundRect">
                <a:avLst>
                  <a:gd fmla="val 16667" name="adj"/>
                </a:avLst>
              </a:prstGeom>
              <a:solidFill>
                <a:srgbClr val="CFD4D9"/>
              </a:solidFill>
              <a:ln cap="flat" cmpd="sng" w="9525">
                <a:solidFill>
                  <a:srgbClr val="D8D8D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accent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From: MIT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accent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5.6/16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accent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Path: {3}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05" name="Google Shape;405;p21"/>
            <p:cNvCxnSpPr/>
            <p:nvPr/>
          </p:nvCxnSpPr>
          <p:spPr>
            <a:xfrm flipH="1" rot="10800000">
              <a:off x="5021255" y="2141785"/>
              <a:ext cx="1322490" cy="890329"/>
            </a:xfrm>
            <a:prstGeom prst="straightConnector1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406" name="Google Shape;406;p21"/>
            <p:cNvCxnSpPr/>
            <p:nvPr/>
          </p:nvCxnSpPr>
          <p:spPr>
            <a:xfrm flipH="1" rot="10800000">
              <a:off x="5766917" y="2242647"/>
              <a:ext cx="408817" cy="976136"/>
            </a:xfrm>
            <a:prstGeom prst="straightConnector1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</p:grpSp>
      <p:pic>
        <p:nvPicPr>
          <p:cNvPr descr="documentation.png" id="407" name="Google Shape;407;p21"/>
          <p:cNvPicPr preferRelativeResize="0"/>
          <p:nvPr/>
        </p:nvPicPr>
        <p:blipFill rotWithShape="1">
          <a:blip r:embed="rId5">
            <a:alphaModFix/>
          </a:blip>
          <a:srcRect b="0" l="0" r="14285" t="0"/>
          <a:stretch/>
        </p:blipFill>
        <p:spPr>
          <a:xfrm>
            <a:off x="8036271" y="2359341"/>
            <a:ext cx="340144" cy="39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umentation.png" id="408" name="Google Shape;408;p21"/>
          <p:cNvPicPr preferRelativeResize="0"/>
          <p:nvPr/>
        </p:nvPicPr>
        <p:blipFill rotWithShape="1">
          <a:blip r:embed="rId5">
            <a:alphaModFix/>
          </a:blip>
          <a:srcRect b="0" l="0" r="14285" t="0"/>
          <a:stretch/>
        </p:blipFill>
        <p:spPr>
          <a:xfrm>
            <a:off x="8037931" y="2349370"/>
            <a:ext cx="340144" cy="39683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1"/>
          <p:cNvSpPr/>
          <p:nvPr/>
        </p:nvSpPr>
        <p:spPr>
          <a:xfrm>
            <a:off x="7153251" y="4774168"/>
            <a:ext cx="19907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WAN: Interdomain</a:t>
            </a:r>
            <a:endParaRPr b="1" i="0" sz="1800" u="none" cap="none" strike="noStrike">
              <a:solidFill>
                <a:srgbClr val="EF6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2"/>
          <p:cNvSpPr/>
          <p:nvPr/>
        </p:nvSpPr>
        <p:spPr>
          <a:xfrm>
            <a:off x="5746055" y="1343039"/>
            <a:ext cx="2424815" cy="1237042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96F2DF">
                  <a:alpha val="61568"/>
                </a:srgbClr>
              </a:gs>
              <a:gs pos="100000">
                <a:srgbClr val="B0FFFF">
                  <a:alpha val="61568"/>
                </a:srgbClr>
              </a:gs>
            </a:gsLst>
            <a:lin ang="16200000" scaled="0"/>
          </a:gradFill>
          <a:ln cap="flat" cmpd="sng" w="9525">
            <a:solidFill>
              <a:srgbClr val="9BE3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592667" y="1311425"/>
            <a:ext cx="2424815" cy="1237042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96F2DF">
                  <a:alpha val="61568"/>
                </a:srgbClr>
              </a:gs>
              <a:gs pos="100000">
                <a:srgbClr val="B0FFFF">
                  <a:alpha val="61568"/>
                </a:srgbClr>
              </a:gs>
            </a:gsLst>
            <a:lin ang="16200000" scaled="0"/>
          </a:gradFill>
          <a:ln cap="flat" cmpd="sng" w="9525">
            <a:solidFill>
              <a:srgbClr val="9BE3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Soda → MIT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descr="monitor.png" id="417" name="Google Shape;4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946" y="1605639"/>
            <a:ext cx="767557" cy="7675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uter.png" id="418" name="Google Shape;4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8638" y="2217784"/>
            <a:ext cx="817687" cy="542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uter.png" id="419" name="Google Shape;41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8638" y="3552345"/>
            <a:ext cx="817687" cy="542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uter.png" id="420" name="Google Shape;42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1042" y="3552345"/>
            <a:ext cx="817687" cy="542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nitor.png" id="421" name="Google Shape;4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598" y="1548373"/>
            <a:ext cx="767557" cy="767557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2"/>
          <p:cNvSpPr txBox="1"/>
          <p:nvPr/>
        </p:nvSpPr>
        <p:spPr>
          <a:xfrm>
            <a:off x="949946" y="2559092"/>
            <a:ext cx="17356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0" baseline="30000" i="0" lang="en-US" sz="1800" u="none" cap="none" strike="noStrike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th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 floor Soda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3" name="Google Shape;423;p22"/>
          <p:cNvCxnSpPr/>
          <p:nvPr/>
        </p:nvCxnSpPr>
        <p:spPr>
          <a:xfrm>
            <a:off x="1786469" y="1961560"/>
            <a:ext cx="899143" cy="34984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424" name="Google Shape;424;p22"/>
          <p:cNvSpPr txBox="1"/>
          <p:nvPr/>
        </p:nvSpPr>
        <p:spPr>
          <a:xfrm>
            <a:off x="2147416" y="1844664"/>
            <a:ext cx="20404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Default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5" name="Google Shape;425;p22"/>
          <p:cNvCxnSpPr>
            <a:stCxn id="418" idx="2"/>
          </p:cNvCxnSpPr>
          <p:nvPr/>
        </p:nvCxnSpPr>
        <p:spPr>
          <a:xfrm>
            <a:off x="3017482" y="2760187"/>
            <a:ext cx="0" cy="7152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426" name="Google Shape;426;p22"/>
          <p:cNvSpPr txBox="1"/>
          <p:nvPr/>
        </p:nvSpPr>
        <p:spPr>
          <a:xfrm>
            <a:off x="2147416" y="4063841"/>
            <a:ext cx="17401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Border 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2"/>
          <p:cNvSpPr txBox="1"/>
          <p:nvPr/>
        </p:nvSpPr>
        <p:spPr>
          <a:xfrm>
            <a:off x="4902199" y="4063841"/>
            <a:ext cx="17401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Border 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8" name="Google Shape;428;p22"/>
          <p:cNvCxnSpPr/>
          <p:nvPr/>
        </p:nvCxnSpPr>
        <p:spPr>
          <a:xfrm>
            <a:off x="3426325" y="3773427"/>
            <a:ext cx="1772208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429" name="Google Shape;429;p22"/>
          <p:cNvCxnSpPr/>
          <p:nvPr/>
        </p:nvCxnSpPr>
        <p:spPr>
          <a:xfrm rot="10800000">
            <a:off x="5717459" y="2864115"/>
            <a:ext cx="0" cy="612572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430" name="Google Shape;430;p22"/>
          <p:cNvSpPr/>
          <p:nvPr/>
        </p:nvSpPr>
        <p:spPr>
          <a:xfrm>
            <a:off x="203200" y="1151467"/>
            <a:ext cx="3937000" cy="346637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outer.png" id="431" name="Google Shape;43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9509" y="2217784"/>
            <a:ext cx="817687" cy="542403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2"/>
          <p:cNvSpPr txBox="1"/>
          <p:nvPr/>
        </p:nvSpPr>
        <p:spPr>
          <a:xfrm>
            <a:off x="4729303" y="1810796"/>
            <a:ext cx="20404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Default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4470385" y="1151467"/>
            <a:ext cx="3937000" cy="3539001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4" name="Google Shape;434;p22"/>
          <p:cNvCxnSpPr/>
          <p:nvPr/>
        </p:nvCxnSpPr>
        <p:spPr>
          <a:xfrm flipH="1" rot="10800000">
            <a:off x="6128729" y="2040467"/>
            <a:ext cx="856271" cy="270934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435" name="Google Shape;435;p22"/>
          <p:cNvSpPr txBox="1"/>
          <p:nvPr/>
        </p:nvSpPr>
        <p:spPr>
          <a:xfrm>
            <a:off x="6137196" y="2576880"/>
            <a:ext cx="20404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0" baseline="30000" i="0" lang="en-US" sz="1800" u="none" cap="none" strike="noStrike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nd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 floor CSAIL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2"/>
          <p:cNvSpPr txBox="1"/>
          <p:nvPr/>
        </p:nvSpPr>
        <p:spPr>
          <a:xfrm>
            <a:off x="1102346" y="4677108"/>
            <a:ext cx="17356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UC Berkeley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2"/>
          <p:cNvSpPr txBox="1"/>
          <p:nvPr/>
        </p:nvSpPr>
        <p:spPr>
          <a:xfrm>
            <a:off x="5757563" y="4690468"/>
            <a:ext cx="17356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2398514" y="1348878"/>
            <a:ext cx="5741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2"/>
          <p:cNvSpPr/>
          <p:nvPr/>
        </p:nvSpPr>
        <p:spPr>
          <a:xfrm>
            <a:off x="5850098" y="1363707"/>
            <a:ext cx="5741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2"/>
          <p:cNvSpPr/>
          <p:nvPr/>
        </p:nvSpPr>
        <p:spPr>
          <a:xfrm>
            <a:off x="3990246" y="4677108"/>
            <a:ext cx="6419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ASes</a:t>
            </a:r>
            <a:endParaRPr b="1" i="0" sz="1800" u="none" cap="none" strike="noStrike">
              <a:solidFill>
                <a:srgbClr val="EF6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5" name="Google Shape;445;p23"/>
          <p:cNvCxnSpPr/>
          <p:nvPr/>
        </p:nvCxnSpPr>
        <p:spPr>
          <a:xfrm flipH="1" rot="10800000">
            <a:off x="4600595" y="878636"/>
            <a:ext cx="1166322" cy="528692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446" name="Google Shape;446;p23"/>
          <p:cNvCxnSpPr/>
          <p:nvPr/>
        </p:nvCxnSpPr>
        <p:spPr>
          <a:xfrm flipH="1">
            <a:off x="4792012" y="2348829"/>
            <a:ext cx="1061888" cy="651069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447" name="Google Shape;447;p23"/>
          <p:cNvCxnSpPr/>
          <p:nvPr/>
        </p:nvCxnSpPr>
        <p:spPr>
          <a:xfrm rot="10800000">
            <a:off x="4600595" y="1401385"/>
            <a:ext cx="1253305" cy="810955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448" name="Google Shape;448;p23"/>
          <p:cNvCxnSpPr/>
          <p:nvPr/>
        </p:nvCxnSpPr>
        <p:spPr>
          <a:xfrm flipH="1">
            <a:off x="2523629" y="2212340"/>
            <a:ext cx="3243288" cy="1344761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449" name="Google Shape;449;p23"/>
          <p:cNvSpPr/>
          <p:nvPr/>
        </p:nvSpPr>
        <p:spPr>
          <a:xfrm>
            <a:off x="4792012" y="2770282"/>
            <a:ext cx="1142890" cy="665591"/>
          </a:xfrm>
          <a:prstGeom prst="cloud">
            <a:avLst/>
          </a:prstGeom>
          <a:solidFill>
            <a:srgbClr val="B7FFE7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" name="Google Shape;450;p23"/>
          <p:cNvCxnSpPr/>
          <p:nvPr/>
        </p:nvCxnSpPr>
        <p:spPr>
          <a:xfrm flipH="1">
            <a:off x="3680631" y="3127190"/>
            <a:ext cx="1064787" cy="524352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451" name="Google Shape;451;p23"/>
          <p:cNvCxnSpPr/>
          <p:nvPr/>
        </p:nvCxnSpPr>
        <p:spPr>
          <a:xfrm>
            <a:off x="2285461" y="2053050"/>
            <a:ext cx="906389" cy="541698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grpSp>
        <p:nvGrpSpPr>
          <p:cNvPr id="452" name="Google Shape;452;p23"/>
          <p:cNvGrpSpPr/>
          <p:nvPr/>
        </p:nvGrpSpPr>
        <p:grpSpPr>
          <a:xfrm>
            <a:off x="506320" y="1957756"/>
            <a:ext cx="4467433" cy="2728822"/>
            <a:chOff x="506320" y="1957756"/>
            <a:chExt cx="4467433" cy="2728822"/>
          </a:xfrm>
        </p:grpSpPr>
        <p:pic>
          <p:nvPicPr>
            <p:cNvPr descr="monitor.png" id="453" name="Google Shape;453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6320" y="3942352"/>
              <a:ext cx="442916" cy="4429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onitor.png" id="454" name="Google Shape;454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6168" y="2778175"/>
              <a:ext cx="439903" cy="4399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onitor.png" id="455" name="Google Shape;455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66249" y="4246675"/>
              <a:ext cx="439903" cy="43990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56" name="Google Shape;456;p23"/>
            <p:cNvCxnSpPr/>
            <p:nvPr/>
          </p:nvCxnSpPr>
          <p:spPr>
            <a:xfrm>
              <a:off x="1267118" y="3127190"/>
              <a:ext cx="365280" cy="36528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457" name="Google Shape;457;p23"/>
            <p:cNvCxnSpPr/>
            <p:nvPr/>
          </p:nvCxnSpPr>
          <p:spPr>
            <a:xfrm rot="10800000">
              <a:off x="2366250" y="4052122"/>
              <a:ext cx="110628" cy="238433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grpSp>
          <p:nvGrpSpPr>
            <p:cNvPr id="458" name="Google Shape;458;p23"/>
            <p:cNvGrpSpPr/>
            <p:nvPr/>
          </p:nvGrpSpPr>
          <p:grpSpPr>
            <a:xfrm>
              <a:off x="949946" y="3381774"/>
              <a:ext cx="1856911" cy="820419"/>
              <a:chOff x="1710267" y="1820333"/>
              <a:chExt cx="3717662" cy="1642534"/>
            </a:xfrm>
          </p:grpSpPr>
          <p:sp>
            <p:nvSpPr>
              <p:cNvPr id="459" name="Google Shape;459;p23"/>
              <p:cNvSpPr/>
              <p:nvPr/>
            </p:nvSpPr>
            <p:spPr>
              <a:xfrm>
                <a:off x="2243666" y="1820333"/>
                <a:ext cx="2820405" cy="1642534"/>
              </a:xfrm>
              <a:prstGeom prst="cloud">
                <a:avLst/>
              </a:prstGeom>
              <a:solidFill>
                <a:srgbClr val="B7FFE7"/>
              </a:solidFill>
              <a:ln cap="flat" cmpd="sng" w="28575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23"/>
              <p:cNvSpPr txBox="1"/>
              <p:nvPr/>
            </p:nvSpPr>
            <p:spPr>
              <a:xfrm>
                <a:off x="1938547" y="2171349"/>
                <a:ext cx="3489382" cy="924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4</a:t>
                </a:r>
                <a:r>
                  <a:rPr b="1" baseline="3000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th</a:t>
                </a: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floor Soda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1.2.3/24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1" name="Google Shape;461;p23"/>
              <p:cNvCxnSpPr/>
              <p:nvPr/>
            </p:nvCxnSpPr>
            <p:spPr>
              <a:xfrm flipH="1" rot="10800000">
                <a:off x="1710267" y="2844800"/>
                <a:ext cx="635000" cy="194733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254"/>
                  </a:srgbClr>
                </a:outerShdw>
              </a:effectLst>
            </p:spPr>
          </p:cxnSp>
        </p:grpSp>
        <p:grpSp>
          <p:nvGrpSpPr>
            <p:cNvPr id="462" name="Google Shape;462;p23"/>
            <p:cNvGrpSpPr/>
            <p:nvPr/>
          </p:nvGrpSpPr>
          <p:grpSpPr>
            <a:xfrm>
              <a:off x="2953682" y="1957756"/>
              <a:ext cx="1742889" cy="820419"/>
              <a:chOff x="1938547" y="1820333"/>
              <a:chExt cx="3489382" cy="1642534"/>
            </a:xfrm>
          </p:grpSpPr>
          <p:sp>
            <p:nvSpPr>
              <p:cNvPr id="463" name="Google Shape;463;p23"/>
              <p:cNvSpPr/>
              <p:nvPr/>
            </p:nvSpPr>
            <p:spPr>
              <a:xfrm>
                <a:off x="2243666" y="1820333"/>
                <a:ext cx="2820405" cy="1642534"/>
              </a:xfrm>
              <a:prstGeom prst="cloud">
                <a:avLst/>
              </a:prstGeom>
              <a:solidFill>
                <a:srgbClr val="B7FFE7"/>
              </a:solidFill>
              <a:ln cap="flat" cmpd="sng" w="28575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23"/>
              <p:cNvSpPr txBox="1"/>
              <p:nvPr/>
            </p:nvSpPr>
            <p:spPr>
              <a:xfrm>
                <a:off x="1938547" y="2171349"/>
                <a:ext cx="3489382" cy="924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3</a:t>
                </a:r>
                <a:r>
                  <a:rPr b="1" baseline="3000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rd</a:t>
                </a: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floor Soda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1.2.4/24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5" name="Google Shape;465;p23"/>
            <p:cNvGrpSpPr/>
            <p:nvPr/>
          </p:nvGrpSpPr>
          <p:grpSpPr>
            <a:xfrm>
              <a:off x="3230864" y="3611467"/>
              <a:ext cx="1742889" cy="820419"/>
              <a:chOff x="1938547" y="1820333"/>
              <a:chExt cx="3489382" cy="1642534"/>
            </a:xfrm>
          </p:grpSpPr>
          <p:sp>
            <p:nvSpPr>
              <p:cNvPr id="466" name="Google Shape;466;p23"/>
              <p:cNvSpPr/>
              <p:nvPr/>
            </p:nvSpPr>
            <p:spPr>
              <a:xfrm>
                <a:off x="2243666" y="1820333"/>
                <a:ext cx="2820405" cy="1642534"/>
              </a:xfrm>
              <a:prstGeom prst="cloud">
                <a:avLst/>
              </a:prstGeom>
              <a:solidFill>
                <a:srgbClr val="B7FFE7"/>
              </a:solidFill>
              <a:ln cap="flat" cmpd="sng" w="28575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23"/>
              <p:cNvSpPr txBox="1"/>
              <p:nvPr/>
            </p:nvSpPr>
            <p:spPr>
              <a:xfrm>
                <a:off x="1938547" y="2171349"/>
                <a:ext cx="3489382" cy="924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7</a:t>
                </a:r>
                <a:r>
                  <a:rPr b="1" baseline="3000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th</a:t>
                </a:r>
                <a:r>
                  <a:rPr b="1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 floor Soda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695D4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1.2.5/24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68" name="Google Shape;468;p23"/>
            <p:cNvCxnSpPr>
              <a:stCxn id="469" idx="0"/>
            </p:cNvCxnSpPr>
            <p:nvPr/>
          </p:nvCxnSpPr>
          <p:spPr>
            <a:xfrm flipH="1">
              <a:off x="2523750" y="2431364"/>
              <a:ext cx="668100" cy="1154100"/>
            </a:xfrm>
            <a:prstGeom prst="straightConnector1">
              <a:avLst/>
            </a:prstGeom>
            <a:noFill/>
            <a:ln cap="flat" cmpd="sng" w="571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470" name="Google Shape;470;p23"/>
            <p:cNvCxnSpPr>
              <a:stCxn id="469" idx="0"/>
            </p:cNvCxnSpPr>
            <p:nvPr/>
          </p:nvCxnSpPr>
          <p:spPr>
            <a:xfrm>
              <a:off x="3191850" y="2431364"/>
              <a:ext cx="488700" cy="1313100"/>
            </a:xfrm>
            <a:prstGeom prst="straightConnector1">
              <a:avLst/>
            </a:prstGeom>
            <a:noFill/>
            <a:ln cap="flat" cmpd="sng" w="571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471" name="Google Shape;471;p23"/>
            <p:cNvCxnSpPr/>
            <p:nvPr/>
          </p:nvCxnSpPr>
          <p:spPr>
            <a:xfrm>
              <a:off x="2476878" y="3557101"/>
              <a:ext cx="1157002" cy="94441"/>
            </a:xfrm>
            <a:prstGeom prst="straightConnector1">
              <a:avLst/>
            </a:prstGeom>
            <a:noFill/>
            <a:ln cap="flat" cmpd="sng" w="571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pic>
          <p:nvPicPr>
            <p:cNvPr descr="router.png" id="469" name="Google Shape;469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00433" y="2431364"/>
              <a:ext cx="382833" cy="253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router.png" id="472" name="Google Shape;47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85461" y="3396958"/>
              <a:ext cx="382833" cy="253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router.png" id="473" name="Google Shape;473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94304" y="3560676"/>
              <a:ext cx="382833" cy="25394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74" name="Google Shape;474;p23"/>
          <p:cNvCxnSpPr>
            <a:endCxn id="472" idx="0"/>
          </p:cNvCxnSpPr>
          <p:nvPr/>
        </p:nvCxnSpPr>
        <p:spPr>
          <a:xfrm>
            <a:off x="2222177" y="1957858"/>
            <a:ext cx="254700" cy="14391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475" name="Google Shape;475;p23"/>
          <p:cNvCxnSpPr/>
          <p:nvPr/>
        </p:nvCxnSpPr>
        <p:spPr>
          <a:xfrm>
            <a:off x="4600595" y="1407328"/>
            <a:ext cx="191417" cy="159257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476" name="Google Shape;476;p23"/>
          <p:cNvCxnSpPr/>
          <p:nvPr/>
        </p:nvCxnSpPr>
        <p:spPr>
          <a:xfrm flipH="1">
            <a:off x="2222232" y="1407328"/>
            <a:ext cx="2378363" cy="550428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477" name="Google Shape;477;p23"/>
          <p:cNvSpPr/>
          <p:nvPr/>
        </p:nvSpPr>
        <p:spPr>
          <a:xfrm>
            <a:off x="1380739" y="1496291"/>
            <a:ext cx="1142890" cy="665591"/>
          </a:xfrm>
          <a:prstGeom prst="cloud">
            <a:avLst/>
          </a:prstGeom>
          <a:solidFill>
            <a:srgbClr val="B7FFE7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3871423" y="741737"/>
            <a:ext cx="1142890" cy="665591"/>
          </a:xfrm>
          <a:prstGeom prst="cloud">
            <a:avLst/>
          </a:prstGeom>
          <a:solidFill>
            <a:srgbClr val="B7FFE7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outer.png" id="479" name="Google Shape;47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0815" y="1957756"/>
            <a:ext cx="382833" cy="253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uter.png" id="480" name="Google Shape;48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9179" y="1280036"/>
            <a:ext cx="382833" cy="253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uter.png" id="481" name="Google Shape;48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0595" y="2999898"/>
            <a:ext cx="382833" cy="253948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23"/>
          <p:cNvSpPr/>
          <p:nvPr/>
        </p:nvSpPr>
        <p:spPr>
          <a:xfrm>
            <a:off x="226154" y="556759"/>
            <a:ext cx="5836504" cy="4349683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3"/>
          <p:cNvSpPr txBox="1"/>
          <p:nvPr/>
        </p:nvSpPr>
        <p:spPr>
          <a:xfrm>
            <a:off x="837533" y="170030"/>
            <a:ext cx="163934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Domain (AS)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4" name="Google Shape;484;p23"/>
          <p:cNvSpPr txBox="1"/>
          <p:nvPr/>
        </p:nvSpPr>
        <p:spPr>
          <a:xfrm>
            <a:off x="837532" y="556759"/>
            <a:ext cx="216290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UC Berkeley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ocumentation.png" id="485" name="Google Shape;485;p23"/>
          <p:cNvPicPr preferRelativeResize="0"/>
          <p:nvPr/>
        </p:nvPicPr>
        <p:blipFill rotWithShape="1">
          <a:blip r:embed="rId5">
            <a:alphaModFix/>
          </a:blip>
          <a:srcRect b="0" l="0" r="14285" t="0"/>
          <a:stretch/>
        </p:blipFill>
        <p:spPr>
          <a:xfrm>
            <a:off x="5653814" y="2019689"/>
            <a:ext cx="340144" cy="39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umentation.png" id="486" name="Google Shape;486;p23"/>
          <p:cNvPicPr preferRelativeResize="0"/>
          <p:nvPr/>
        </p:nvPicPr>
        <p:blipFill rotWithShape="1">
          <a:blip r:embed="rId5">
            <a:alphaModFix/>
          </a:blip>
          <a:srcRect b="0" l="0" r="14285" t="0"/>
          <a:stretch/>
        </p:blipFill>
        <p:spPr>
          <a:xfrm>
            <a:off x="5674857" y="2013604"/>
            <a:ext cx="340144" cy="39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umentation.png" id="487" name="Google Shape;487;p23"/>
          <p:cNvPicPr preferRelativeResize="0"/>
          <p:nvPr/>
        </p:nvPicPr>
        <p:blipFill rotWithShape="1">
          <a:blip r:embed="rId5">
            <a:alphaModFix/>
          </a:blip>
          <a:srcRect b="0" l="0" r="14285" t="0"/>
          <a:stretch/>
        </p:blipFill>
        <p:spPr>
          <a:xfrm>
            <a:off x="2366249" y="3275998"/>
            <a:ext cx="340144" cy="39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umentation.png" id="488" name="Google Shape;488;p23"/>
          <p:cNvPicPr preferRelativeResize="0"/>
          <p:nvPr/>
        </p:nvPicPr>
        <p:blipFill rotWithShape="1">
          <a:blip r:embed="rId5">
            <a:alphaModFix/>
          </a:blip>
          <a:srcRect b="0" l="0" r="14285" t="0"/>
          <a:stretch/>
        </p:blipFill>
        <p:spPr>
          <a:xfrm>
            <a:off x="2385439" y="3237137"/>
            <a:ext cx="340144" cy="39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uter.png" id="489" name="Google Shape;48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6702" y="2013604"/>
            <a:ext cx="817687" cy="542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uter.png" id="490" name="Google Shape;49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6058" y="546679"/>
            <a:ext cx="817687" cy="542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umentation.png" id="491" name="Google Shape;491;p23"/>
          <p:cNvPicPr preferRelativeResize="0"/>
          <p:nvPr/>
        </p:nvPicPr>
        <p:blipFill rotWithShape="1">
          <a:blip r:embed="rId5">
            <a:alphaModFix/>
          </a:blip>
          <a:srcRect b="0" l="0" r="14285" t="0"/>
          <a:stretch/>
        </p:blipFill>
        <p:spPr>
          <a:xfrm>
            <a:off x="5683555" y="2013604"/>
            <a:ext cx="340144" cy="39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umentation.png" id="492" name="Google Shape;492;p23"/>
          <p:cNvPicPr preferRelativeResize="0"/>
          <p:nvPr/>
        </p:nvPicPr>
        <p:blipFill rotWithShape="1">
          <a:blip r:embed="rId5">
            <a:alphaModFix/>
          </a:blip>
          <a:srcRect b="0" l="0" r="14285" t="0"/>
          <a:stretch/>
        </p:blipFill>
        <p:spPr>
          <a:xfrm>
            <a:off x="5426228" y="701844"/>
            <a:ext cx="340144" cy="39683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8503305" y="4774168"/>
            <a:ext cx="640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iBGP</a:t>
            </a:r>
            <a:endParaRPr b="1" i="0" sz="1800" u="none" cap="none" strike="noStrike">
              <a:solidFill>
                <a:srgbClr val="EF6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3"/>
          <p:cNvSpPr/>
          <p:nvPr/>
        </p:nvSpPr>
        <p:spPr>
          <a:xfrm>
            <a:off x="226154" y="553847"/>
            <a:ext cx="5836504" cy="4349683"/>
          </a:xfrm>
          <a:prstGeom prst="roundRect">
            <a:avLst>
              <a:gd fmla="val 16667" name="adj"/>
            </a:avLst>
          </a:prstGeom>
          <a:solidFill>
            <a:srgbClr val="E0DBC9">
              <a:alpha val="80000"/>
            </a:srgbClr>
          </a:solidFill>
          <a:ln cap="flat" cmpd="sng" w="2540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3"/>
          <p:cNvSpPr txBox="1"/>
          <p:nvPr/>
        </p:nvSpPr>
        <p:spPr>
          <a:xfrm>
            <a:off x="647753" y="1615573"/>
            <a:ext cx="6402300" cy="1080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F6C00"/>
                </a:solidFill>
                <a:latin typeface="Open Sans"/>
                <a:ea typeface="Open Sans"/>
                <a:cs typeface="Open Sans"/>
                <a:sym typeface="Open Sans"/>
              </a:rPr>
              <a:t>Intradomain: iBGP</a:t>
            </a:r>
            <a:endParaRPr b="0" i="0" sz="1800" u="none" cap="none" strike="noStrike">
              <a:solidFill>
                <a:srgbClr val="EF6C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Border routers and other routers </a:t>
            </a:r>
            <a:r>
              <a:rPr b="1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within </a:t>
            </a: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b="1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single AS</a:t>
            </a:r>
            <a:endParaRPr b="0" i="0" sz="180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To </a:t>
            </a:r>
            <a:r>
              <a:rPr b="1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which border router </a:t>
            </a: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should I send packets for MIT?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ox.png" id="496" name="Google Shape;49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85458" y="3108340"/>
            <a:ext cx="333299" cy="3332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7" name="Google Shape;497;p23"/>
          <p:cNvCxnSpPr/>
          <p:nvPr/>
        </p:nvCxnSpPr>
        <p:spPr>
          <a:xfrm flipH="1" rot="10800000">
            <a:off x="3245825" y="2486925"/>
            <a:ext cx="2307900" cy="584100"/>
          </a:xfrm>
          <a:prstGeom prst="straightConnector1">
            <a:avLst/>
          </a:prstGeom>
          <a:noFill/>
          <a:ln cap="flat" cmpd="sng" w="114300">
            <a:solidFill>
              <a:srgbClr val="FF6800"/>
            </a:solidFill>
            <a:prstDash val="dot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3959"/>
              <a:buFont typeface="PT Sans Narrow"/>
              <a:buNone/>
            </a:pPr>
            <a:r>
              <a:rPr lang="en-US" sz="3959"/>
              <a:t>Path-Vector (BGP)</a:t>
            </a:r>
            <a:r>
              <a:rPr b="1" i="0" lang="en-US" sz="3959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vs. Distance-Vector</a:t>
            </a:r>
            <a:endParaRPr/>
          </a:p>
        </p:txBody>
      </p:sp>
      <p:sp>
        <p:nvSpPr>
          <p:cNvPr id="503" name="Google Shape;503;p24"/>
          <p:cNvSpPr/>
          <p:nvPr/>
        </p:nvSpPr>
        <p:spPr>
          <a:xfrm>
            <a:off x="224287" y="1138687"/>
            <a:ext cx="5253487" cy="3790208"/>
          </a:xfrm>
          <a:prstGeom prst="rect">
            <a:avLst/>
          </a:prstGeom>
          <a:noFill/>
          <a:ln cap="flat" cmpd="sng" w="25400">
            <a:solidFill>
              <a:srgbClr val="AE4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4"/>
          <p:cNvSpPr/>
          <p:nvPr/>
        </p:nvSpPr>
        <p:spPr>
          <a:xfrm>
            <a:off x="3640346" y="1140863"/>
            <a:ext cx="5253487" cy="3790208"/>
          </a:xfrm>
          <a:prstGeom prst="rect">
            <a:avLst/>
          </a:prstGeom>
          <a:noFill/>
          <a:ln cap="flat" cmpd="sng" w="25400">
            <a:solidFill>
              <a:srgbClr val="AE4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4"/>
          <p:cNvSpPr/>
          <p:nvPr/>
        </p:nvSpPr>
        <p:spPr>
          <a:xfrm>
            <a:off x="3640343" y="1344668"/>
            <a:ext cx="1915065" cy="1513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3038" lvl="0" marL="173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Destination based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3038" lvl="0" marL="173038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No global view of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3038" lvl="0" marL="173038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Iterative</a:t>
            </a:r>
            <a:r>
              <a:rPr lang="en-US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0" i="0" lang="en-US" sz="1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distributed convergence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4"/>
          <p:cNvSpPr/>
          <p:nvPr/>
        </p:nvSpPr>
        <p:spPr>
          <a:xfrm>
            <a:off x="224287" y="1260034"/>
            <a:ext cx="3528204" cy="2843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Send </a:t>
            </a:r>
            <a:r>
              <a:rPr b="1" i="0" lang="en-US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paths</a:t>
            </a:r>
            <a:endParaRPr b="0" i="0" sz="160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1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All hops to destination</a:t>
            </a:r>
            <a:endParaRPr/>
          </a:p>
          <a:p>
            <a:pPr indent="-158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May choose </a:t>
            </a:r>
            <a:r>
              <a:rPr b="1" lang="en-US" sz="1600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other </a:t>
            </a:r>
            <a:r>
              <a:rPr lang="en-US" sz="1600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than </a:t>
            </a:r>
            <a:r>
              <a:rPr i="0" lang="en-US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shortest </a:t>
            </a:r>
            <a:r>
              <a:rPr b="0" i="0" lang="en-US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path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1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Base choices on policy instead</a:t>
            </a:r>
            <a:endParaRPr/>
          </a:p>
          <a:p>
            <a:pPr indent="-158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Selective </a:t>
            </a:r>
            <a:r>
              <a:rPr b="0" i="0" lang="en-US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route advertisement</a:t>
            </a:r>
            <a:endParaRPr/>
          </a:p>
          <a:p>
            <a:pPr indent="-1905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Route aggregation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1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Combine prefixes if possible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7" name="Google Shape;507;p24"/>
          <p:cNvSpPr/>
          <p:nvPr/>
        </p:nvSpPr>
        <p:spPr>
          <a:xfrm>
            <a:off x="5503654" y="1276234"/>
            <a:ext cx="3416059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Send </a:t>
            </a:r>
            <a:r>
              <a:rPr b="1" i="0" lang="en-US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distances</a:t>
            </a:r>
            <a:endParaRPr/>
          </a:p>
        </p:txBody>
      </p:sp>
      <p:sp>
        <p:nvSpPr>
          <p:cNvPr id="508" name="Google Shape;508;p24"/>
          <p:cNvSpPr/>
          <p:nvPr/>
        </p:nvSpPr>
        <p:spPr>
          <a:xfrm>
            <a:off x="5555408" y="2024958"/>
            <a:ext cx="4572000" cy="1643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Shortest </a:t>
            </a:r>
            <a:r>
              <a:rPr b="0" i="0" lang="en-US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path metric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05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Send all </a:t>
            </a:r>
            <a:r>
              <a:rPr b="0" i="0" lang="en-US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updates to neighbors</a:t>
            </a:r>
            <a:endParaRPr/>
          </a:p>
          <a:p>
            <a:pPr indent="-1905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05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No </a:t>
            </a:r>
            <a:r>
              <a:rPr b="0" i="0" lang="en-US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route aggregation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5"/>
          <p:cNvSpPr/>
          <p:nvPr/>
        </p:nvSpPr>
        <p:spPr>
          <a:xfrm>
            <a:off x="2478722" y="3243074"/>
            <a:ext cx="1900426" cy="1900426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EE68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4" name="Google Shape;514;p25"/>
          <p:cNvCxnSpPr/>
          <p:nvPr/>
        </p:nvCxnSpPr>
        <p:spPr>
          <a:xfrm>
            <a:off x="2372496" y="2836904"/>
            <a:ext cx="217328" cy="869725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515" name="Google Shape;515;p25"/>
          <p:cNvCxnSpPr/>
          <p:nvPr/>
        </p:nvCxnSpPr>
        <p:spPr>
          <a:xfrm rot="10800000">
            <a:off x="2589824" y="2655936"/>
            <a:ext cx="793534" cy="587138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516" name="Google Shape;516;p2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Path Vector</a:t>
            </a:r>
            <a:endParaRPr/>
          </a:p>
        </p:txBody>
      </p:sp>
      <p:pic>
        <p:nvPicPr>
          <p:cNvPr descr="monitor.png" id="517" name="Google Shape;51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246" y="2332336"/>
            <a:ext cx="767557" cy="767557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25"/>
          <p:cNvSpPr/>
          <p:nvPr/>
        </p:nvSpPr>
        <p:spPr>
          <a:xfrm>
            <a:off x="293623" y="1931256"/>
            <a:ext cx="2078873" cy="144936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5"/>
          <p:cNvSpPr/>
          <p:nvPr/>
        </p:nvSpPr>
        <p:spPr>
          <a:xfrm>
            <a:off x="4169933" y="1931256"/>
            <a:ext cx="1414321" cy="144936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5"/>
          <p:cNvSpPr/>
          <p:nvPr/>
        </p:nvSpPr>
        <p:spPr>
          <a:xfrm>
            <a:off x="7383662" y="1931256"/>
            <a:ext cx="1414321" cy="144936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5"/>
          <p:cNvSpPr txBox="1"/>
          <p:nvPr/>
        </p:nvSpPr>
        <p:spPr>
          <a:xfrm>
            <a:off x="478518" y="1561924"/>
            <a:ext cx="16003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AS 1</a:t>
            </a: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1.2/16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5"/>
          <p:cNvSpPr txBox="1"/>
          <p:nvPr/>
        </p:nvSpPr>
        <p:spPr>
          <a:xfrm>
            <a:off x="4550978" y="2532064"/>
            <a:ext cx="6505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5"/>
          <p:cNvSpPr txBox="1"/>
          <p:nvPr/>
        </p:nvSpPr>
        <p:spPr>
          <a:xfrm>
            <a:off x="7750779" y="2532064"/>
            <a:ext cx="7789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AS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ocumentation.png" id="524" name="Google Shape;524;p25"/>
          <p:cNvPicPr preferRelativeResize="0"/>
          <p:nvPr/>
        </p:nvPicPr>
        <p:blipFill rotWithShape="1">
          <a:blip r:embed="rId4">
            <a:alphaModFix/>
          </a:blip>
          <a:srcRect b="0" l="0" r="14285" t="0"/>
          <a:stretch/>
        </p:blipFill>
        <p:spPr>
          <a:xfrm>
            <a:off x="2850898" y="3536831"/>
            <a:ext cx="1134506" cy="1323593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25"/>
          <p:cNvSpPr/>
          <p:nvPr/>
        </p:nvSpPr>
        <p:spPr>
          <a:xfrm>
            <a:off x="2926038" y="3697465"/>
            <a:ext cx="958467" cy="1098316"/>
          </a:xfrm>
          <a:prstGeom prst="roundRect">
            <a:avLst>
              <a:gd fmla="val 16667" name="adj"/>
            </a:avLst>
          </a:prstGeom>
          <a:solidFill>
            <a:srgbClr val="CFD4D9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1.2/16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Path: {</a:t>
            </a:r>
            <a:r>
              <a:rPr b="0" i="0" lang="en-US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6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6" name="Google Shape;526;p25"/>
          <p:cNvCxnSpPr>
            <a:stCxn id="518" idx="3"/>
            <a:endCxn id="519" idx="1"/>
          </p:cNvCxnSpPr>
          <p:nvPr/>
        </p:nvCxnSpPr>
        <p:spPr>
          <a:xfrm>
            <a:off x="2372496" y="2655936"/>
            <a:ext cx="17973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527" name="Google Shape;527;p25"/>
          <p:cNvCxnSpPr/>
          <p:nvPr/>
        </p:nvCxnSpPr>
        <p:spPr>
          <a:xfrm>
            <a:off x="5586225" y="2645677"/>
            <a:ext cx="1797437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pic>
        <p:nvPicPr>
          <p:cNvPr descr="documentation.png" id="528" name="Google Shape;528;p25"/>
          <p:cNvPicPr preferRelativeResize="0"/>
          <p:nvPr/>
        </p:nvPicPr>
        <p:blipFill rotWithShape="1">
          <a:blip r:embed="rId4">
            <a:alphaModFix/>
          </a:blip>
          <a:srcRect b="0" l="0" r="14285" t="0"/>
          <a:stretch/>
        </p:blipFill>
        <p:spPr>
          <a:xfrm>
            <a:off x="2279594" y="2474968"/>
            <a:ext cx="309734" cy="3613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9" name="Google Shape;529;p25"/>
          <p:cNvGrpSpPr/>
          <p:nvPr/>
        </p:nvGrpSpPr>
        <p:grpSpPr>
          <a:xfrm>
            <a:off x="5586668" y="2647412"/>
            <a:ext cx="2006652" cy="2487853"/>
            <a:chOff x="5586668" y="2647412"/>
            <a:chExt cx="2006652" cy="2487853"/>
          </a:xfrm>
        </p:grpSpPr>
        <p:sp>
          <p:nvSpPr>
            <p:cNvPr id="530" name="Google Shape;530;p25"/>
            <p:cNvSpPr/>
            <p:nvPr/>
          </p:nvSpPr>
          <p:spPr>
            <a:xfrm>
              <a:off x="5692894" y="3234840"/>
              <a:ext cx="1900426" cy="1900426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EE68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1" name="Google Shape;531;p25"/>
            <p:cNvCxnSpPr/>
            <p:nvPr/>
          </p:nvCxnSpPr>
          <p:spPr>
            <a:xfrm>
              <a:off x="5586668" y="2828670"/>
              <a:ext cx="217328" cy="869725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532" name="Google Shape;532;p25"/>
            <p:cNvCxnSpPr>
              <a:endCxn id="533" idx="3"/>
            </p:cNvCxnSpPr>
            <p:nvPr/>
          </p:nvCxnSpPr>
          <p:spPr>
            <a:xfrm rot="10800000">
              <a:off x="5803500" y="2647412"/>
              <a:ext cx="793500" cy="587100"/>
            </a:xfrm>
            <a:prstGeom prst="straightConnector1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</p:grpSp>
      <p:pic>
        <p:nvPicPr>
          <p:cNvPr descr="documentation.png" id="534" name="Google Shape;534;p25"/>
          <p:cNvPicPr preferRelativeResize="0"/>
          <p:nvPr/>
        </p:nvPicPr>
        <p:blipFill rotWithShape="1">
          <a:blip r:embed="rId4">
            <a:alphaModFix/>
          </a:blip>
          <a:srcRect b="0" l="0" r="14285" t="0"/>
          <a:stretch/>
        </p:blipFill>
        <p:spPr>
          <a:xfrm>
            <a:off x="6065070" y="3528597"/>
            <a:ext cx="1134506" cy="1323593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25"/>
          <p:cNvSpPr/>
          <p:nvPr/>
        </p:nvSpPr>
        <p:spPr>
          <a:xfrm>
            <a:off x="6140210" y="3689231"/>
            <a:ext cx="958467" cy="1098316"/>
          </a:xfrm>
          <a:prstGeom prst="roundRect">
            <a:avLst>
              <a:gd fmla="val 16667" name="adj"/>
            </a:avLst>
          </a:prstGeom>
          <a:solidFill>
            <a:srgbClr val="CFD4D9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1.2/16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Path: {</a:t>
            </a:r>
            <a:r>
              <a:rPr b="1" i="0" lang="en-US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,1</a:t>
            </a:r>
            <a:r>
              <a:rPr b="0" i="0" lang="en-US" sz="16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6" name="Google Shape;536;p25"/>
          <p:cNvCxnSpPr/>
          <p:nvPr/>
        </p:nvCxnSpPr>
        <p:spPr>
          <a:xfrm>
            <a:off x="5586668" y="2647702"/>
            <a:ext cx="1797437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pic>
        <p:nvPicPr>
          <p:cNvPr descr="documentation.png" id="533" name="Google Shape;533;p25"/>
          <p:cNvPicPr preferRelativeResize="0"/>
          <p:nvPr/>
        </p:nvPicPr>
        <p:blipFill rotWithShape="1">
          <a:blip r:embed="rId4">
            <a:alphaModFix/>
          </a:blip>
          <a:srcRect b="0" l="0" r="14285" t="0"/>
          <a:stretch/>
        </p:blipFill>
        <p:spPr>
          <a:xfrm>
            <a:off x="5493766" y="2466734"/>
            <a:ext cx="309734" cy="3613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7" name="Google Shape;537;p25"/>
          <p:cNvCxnSpPr>
            <a:stCxn id="520" idx="3"/>
          </p:cNvCxnSpPr>
          <p:nvPr/>
        </p:nvCxnSpPr>
        <p:spPr>
          <a:xfrm flipH="1" rot="10800000">
            <a:off x="8797983" y="2645736"/>
            <a:ext cx="345900" cy="102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Not Picking Shortest Route</a:t>
            </a:r>
            <a:endParaRPr/>
          </a:p>
        </p:txBody>
      </p:sp>
      <p:sp>
        <p:nvSpPr>
          <p:cNvPr id="543" name="Google Shape;543;p26"/>
          <p:cNvSpPr/>
          <p:nvPr/>
        </p:nvSpPr>
        <p:spPr>
          <a:xfrm>
            <a:off x="706967" y="2302940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6"/>
          <p:cNvSpPr/>
          <p:nvPr/>
        </p:nvSpPr>
        <p:spPr>
          <a:xfrm>
            <a:off x="3780367" y="2302940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6"/>
          <p:cNvSpPr/>
          <p:nvPr/>
        </p:nvSpPr>
        <p:spPr>
          <a:xfrm>
            <a:off x="6811433" y="2302940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6" name="Google Shape;546;p26"/>
          <p:cNvCxnSpPr/>
          <p:nvPr/>
        </p:nvCxnSpPr>
        <p:spPr>
          <a:xfrm>
            <a:off x="2286000" y="2921006"/>
            <a:ext cx="1405467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547" name="Google Shape;547;p26"/>
          <p:cNvCxnSpPr/>
          <p:nvPr/>
        </p:nvCxnSpPr>
        <p:spPr>
          <a:xfrm>
            <a:off x="5346697" y="2921006"/>
            <a:ext cx="1405467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548" name="Google Shape;548;p26"/>
          <p:cNvSpPr/>
          <p:nvPr/>
        </p:nvSpPr>
        <p:spPr>
          <a:xfrm>
            <a:off x="1397000" y="1549404"/>
            <a:ext cx="6172200" cy="685802"/>
          </a:xfrm>
          <a:custGeom>
            <a:rect b="b" l="l" r="r" t="t"/>
            <a:pathLst>
              <a:path extrusionOk="0" h="120000" w="120000">
                <a:moveTo>
                  <a:pt x="0" y="120000"/>
                </a:moveTo>
                <a:cubicBezTo>
                  <a:pt x="20205" y="60123"/>
                  <a:pt x="40411" y="247"/>
                  <a:pt x="60411" y="0"/>
                </a:cubicBezTo>
                <a:cubicBezTo>
                  <a:pt x="80411" y="-246"/>
                  <a:pt x="119999" y="118518"/>
                  <a:pt x="119999" y="118518"/>
                </a:cubicBezTo>
              </a:path>
            </a:pathLst>
          </a:cu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6"/>
          <p:cNvSpPr txBox="1"/>
          <p:nvPr/>
        </p:nvSpPr>
        <p:spPr>
          <a:xfrm>
            <a:off x="1085007" y="2736340"/>
            <a:ext cx="75464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AT&amp;T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6"/>
          <p:cNvSpPr txBox="1"/>
          <p:nvPr/>
        </p:nvSpPr>
        <p:spPr>
          <a:xfrm>
            <a:off x="3933444" y="2736340"/>
            <a:ext cx="12130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Facebook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(2)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6"/>
          <p:cNvSpPr txBox="1"/>
          <p:nvPr/>
        </p:nvSpPr>
        <p:spPr>
          <a:xfrm>
            <a:off x="7096243" y="2736340"/>
            <a:ext cx="94591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Google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(3)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6"/>
          <p:cNvSpPr txBox="1"/>
          <p:nvPr>
            <p:ph idx="1" type="body"/>
          </p:nvPr>
        </p:nvSpPr>
        <p:spPr>
          <a:xfrm>
            <a:off x="457200" y="4013200"/>
            <a:ext cx="8229600" cy="903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AT&amp;T may pick path {1, 2, 3} over {1, 3}</a:t>
            </a:r>
            <a:endParaRPr b="0" i="0" sz="240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Route Aggregation</a:t>
            </a:r>
            <a:endParaRPr/>
          </a:p>
        </p:txBody>
      </p:sp>
      <p:sp>
        <p:nvSpPr>
          <p:cNvPr id="558" name="Google Shape;558;p27"/>
          <p:cNvSpPr txBox="1"/>
          <p:nvPr>
            <p:ph idx="1" type="body"/>
          </p:nvPr>
        </p:nvSpPr>
        <p:spPr>
          <a:xfrm>
            <a:off x="210154" y="1200151"/>
            <a:ext cx="8476646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Combine prefixes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Scalability</a:t>
            </a:r>
            <a:endParaRPr b="0" i="0" sz="200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9" name="Google Shape;559;p27"/>
          <p:cNvSpPr/>
          <p:nvPr/>
        </p:nvSpPr>
        <p:spPr>
          <a:xfrm>
            <a:off x="1304732" y="4297486"/>
            <a:ext cx="1852721" cy="582857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7"/>
          <p:cNvSpPr/>
          <p:nvPr/>
        </p:nvSpPr>
        <p:spPr>
          <a:xfrm>
            <a:off x="3556073" y="2816202"/>
            <a:ext cx="2090930" cy="872329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7"/>
          <p:cNvSpPr txBox="1"/>
          <p:nvPr/>
        </p:nvSpPr>
        <p:spPr>
          <a:xfrm>
            <a:off x="4101131" y="2958561"/>
            <a:ext cx="11136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AT&amp;T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1.0.0.0/8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7"/>
          <p:cNvSpPr txBox="1"/>
          <p:nvPr/>
        </p:nvSpPr>
        <p:spPr>
          <a:xfrm>
            <a:off x="1304732" y="4271943"/>
            <a:ext cx="18527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UC Berkeley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1.2.0.0/16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7"/>
          <p:cNvSpPr/>
          <p:nvPr/>
        </p:nvSpPr>
        <p:spPr>
          <a:xfrm>
            <a:off x="3675177" y="4296932"/>
            <a:ext cx="1852721" cy="582857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7"/>
          <p:cNvSpPr txBox="1"/>
          <p:nvPr/>
        </p:nvSpPr>
        <p:spPr>
          <a:xfrm>
            <a:off x="3675177" y="4271389"/>
            <a:ext cx="18527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Stanford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1.3.0.0/16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7"/>
          <p:cNvSpPr/>
          <p:nvPr/>
        </p:nvSpPr>
        <p:spPr>
          <a:xfrm>
            <a:off x="5976036" y="4276399"/>
            <a:ext cx="1852721" cy="582857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7"/>
          <p:cNvSpPr txBox="1"/>
          <p:nvPr/>
        </p:nvSpPr>
        <p:spPr>
          <a:xfrm>
            <a:off x="5976036" y="4250856"/>
            <a:ext cx="18527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Google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1.4.0.0/16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7" name="Google Shape;567;p27"/>
          <p:cNvCxnSpPr>
            <a:endCxn id="562" idx="0"/>
          </p:cNvCxnSpPr>
          <p:nvPr/>
        </p:nvCxnSpPr>
        <p:spPr>
          <a:xfrm flipH="1">
            <a:off x="2231093" y="3688443"/>
            <a:ext cx="1366500" cy="5835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568" name="Google Shape;568;p27"/>
          <p:cNvCxnSpPr>
            <a:stCxn id="564" idx="0"/>
            <a:endCxn id="560" idx="2"/>
          </p:cNvCxnSpPr>
          <p:nvPr/>
        </p:nvCxnSpPr>
        <p:spPr>
          <a:xfrm rot="10800000">
            <a:off x="4601537" y="3688489"/>
            <a:ext cx="0" cy="5829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569" name="Google Shape;569;p27"/>
          <p:cNvCxnSpPr>
            <a:endCxn id="565" idx="0"/>
          </p:cNvCxnSpPr>
          <p:nvPr/>
        </p:nvCxnSpPr>
        <p:spPr>
          <a:xfrm>
            <a:off x="5646896" y="3688399"/>
            <a:ext cx="1255500" cy="5880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570" name="Google Shape;570;p27"/>
          <p:cNvCxnSpPr>
            <a:endCxn id="560" idx="0"/>
          </p:cNvCxnSpPr>
          <p:nvPr/>
        </p:nvCxnSpPr>
        <p:spPr>
          <a:xfrm flipH="1">
            <a:off x="4601538" y="253302"/>
            <a:ext cx="4542600" cy="25629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med" w="med" type="stealth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grpSp>
        <p:nvGrpSpPr>
          <p:cNvPr id="571" name="Google Shape;571;p27"/>
          <p:cNvGrpSpPr/>
          <p:nvPr/>
        </p:nvGrpSpPr>
        <p:grpSpPr>
          <a:xfrm>
            <a:off x="4391574" y="1431498"/>
            <a:ext cx="1134506" cy="1323593"/>
            <a:chOff x="4391574" y="1431498"/>
            <a:chExt cx="1134506" cy="1323593"/>
          </a:xfrm>
        </p:grpSpPr>
        <p:pic>
          <p:nvPicPr>
            <p:cNvPr descr="documentation.png" id="572" name="Google Shape;572;p27"/>
            <p:cNvPicPr preferRelativeResize="0"/>
            <p:nvPr/>
          </p:nvPicPr>
          <p:blipFill rotWithShape="1">
            <a:blip r:embed="rId3">
              <a:alphaModFix/>
            </a:blip>
            <a:srcRect b="0" l="0" r="14285" t="0"/>
            <a:stretch/>
          </p:blipFill>
          <p:spPr>
            <a:xfrm>
              <a:off x="4391574" y="1431498"/>
              <a:ext cx="1134506" cy="1323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3" name="Google Shape;573;p27"/>
            <p:cNvSpPr/>
            <p:nvPr/>
          </p:nvSpPr>
          <p:spPr>
            <a:xfrm>
              <a:off x="4466714" y="1646086"/>
              <a:ext cx="958467" cy="1044361"/>
            </a:xfrm>
            <a:prstGeom prst="roundRect">
              <a:avLst>
                <a:gd fmla="val 16667" name="adj"/>
              </a:avLst>
            </a:prstGeom>
            <a:solidFill>
              <a:srgbClr val="CFD4D9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1.0.0.0/8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This way!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3959"/>
              <a:buFont typeface="PT Sans Narrow"/>
              <a:buNone/>
            </a:pPr>
            <a:r>
              <a:rPr b="1" i="0" lang="en-US" sz="3959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Selective Route Advertisement</a:t>
            </a:r>
            <a:endParaRPr/>
          </a:p>
        </p:txBody>
      </p:sp>
      <p:sp>
        <p:nvSpPr>
          <p:cNvPr id="579" name="Google Shape;579;p28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AS may </a:t>
            </a:r>
            <a:r>
              <a:rPr b="1" i="0" lang="en-US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advertise</a:t>
            </a:r>
            <a:r>
              <a:rPr b="0" i="0" lang="en-US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i="0" lang="en-US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routes</a:t>
            </a:r>
            <a:r>
              <a:rPr b="0" i="0" lang="en-US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to only </a:t>
            </a:r>
            <a:r>
              <a:rPr b="1" i="0" lang="en-US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some</a:t>
            </a:r>
            <a:r>
              <a:rPr b="0" i="0" lang="en-US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neighbors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Based on policies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0" name="Google Shape;580;p28"/>
          <p:cNvSpPr/>
          <p:nvPr/>
        </p:nvSpPr>
        <p:spPr>
          <a:xfrm>
            <a:off x="706967" y="2816202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8"/>
          <p:cNvSpPr/>
          <p:nvPr/>
        </p:nvSpPr>
        <p:spPr>
          <a:xfrm>
            <a:off x="3780367" y="2816202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8"/>
          <p:cNvSpPr/>
          <p:nvPr/>
        </p:nvSpPr>
        <p:spPr>
          <a:xfrm>
            <a:off x="6811433" y="2816202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3" name="Google Shape;583;p28"/>
          <p:cNvCxnSpPr/>
          <p:nvPr/>
        </p:nvCxnSpPr>
        <p:spPr>
          <a:xfrm>
            <a:off x="2286000" y="3434268"/>
            <a:ext cx="1405467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584" name="Google Shape;584;p28"/>
          <p:cNvCxnSpPr/>
          <p:nvPr/>
        </p:nvCxnSpPr>
        <p:spPr>
          <a:xfrm>
            <a:off x="5346697" y="3434268"/>
            <a:ext cx="1405467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585" name="Google Shape;585;p28"/>
          <p:cNvSpPr txBox="1"/>
          <p:nvPr/>
        </p:nvSpPr>
        <p:spPr>
          <a:xfrm>
            <a:off x="1085007" y="3249602"/>
            <a:ext cx="7546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AT&amp;T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8"/>
          <p:cNvSpPr txBox="1"/>
          <p:nvPr/>
        </p:nvSpPr>
        <p:spPr>
          <a:xfrm>
            <a:off x="3933444" y="3249602"/>
            <a:ext cx="12130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Facebook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8"/>
          <p:cNvSpPr txBox="1"/>
          <p:nvPr/>
        </p:nvSpPr>
        <p:spPr>
          <a:xfrm>
            <a:off x="7096243" y="3249602"/>
            <a:ext cx="9459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Google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3959"/>
              <a:buFont typeface="PT Sans Narrow"/>
              <a:buNone/>
            </a:pPr>
            <a:r>
              <a:rPr b="1" i="0" lang="en-US" sz="3959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Selective Route Advertisement</a:t>
            </a:r>
            <a:endParaRPr/>
          </a:p>
        </p:txBody>
      </p:sp>
      <p:sp>
        <p:nvSpPr>
          <p:cNvPr id="593" name="Google Shape;593;p2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E.g. Facebook might not want to carry traffic between AT&amp;T and Google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Don’t tell AT&amp;T about path to Google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Don’t tell Google about path to AT&amp;T</a:t>
            </a:r>
            <a:endParaRPr/>
          </a:p>
        </p:txBody>
      </p:sp>
      <p:sp>
        <p:nvSpPr>
          <p:cNvPr id="594" name="Google Shape;594;p29"/>
          <p:cNvSpPr/>
          <p:nvPr/>
        </p:nvSpPr>
        <p:spPr>
          <a:xfrm>
            <a:off x="706967" y="2816202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9"/>
          <p:cNvSpPr/>
          <p:nvPr/>
        </p:nvSpPr>
        <p:spPr>
          <a:xfrm>
            <a:off x="3780367" y="2816202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9"/>
          <p:cNvSpPr/>
          <p:nvPr/>
        </p:nvSpPr>
        <p:spPr>
          <a:xfrm>
            <a:off x="6811433" y="2816202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7" name="Google Shape;597;p29"/>
          <p:cNvCxnSpPr/>
          <p:nvPr/>
        </p:nvCxnSpPr>
        <p:spPr>
          <a:xfrm>
            <a:off x="2286000" y="3434268"/>
            <a:ext cx="1405467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598" name="Google Shape;598;p29"/>
          <p:cNvCxnSpPr/>
          <p:nvPr/>
        </p:nvCxnSpPr>
        <p:spPr>
          <a:xfrm>
            <a:off x="5346697" y="3434268"/>
            <a:ext cx="1405467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599" name="Google Shape;599;p29"/>
          <p:cNvSpPr txBox="1"/>
          <p:nvPr/>
        </p:nvSpPr>
        <p:spPr>
          <a:xfrm>
            <a:off x="1085007" y="3249602"/>
            <a:ext cx="75464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AT&amp;T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0" name="Google Shape;600;p29"/>
          <p:cNvSpPr txBox="1"/>
          <p:nvPr/>
        </p:nvSpPr>
        <p:spPr>
          <a:xfrm>
            <a:off x="3933444" y="3249602"/>
            <a:ext cx="12130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Facebook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9"/>
          <p:cNvSpPr txBox="1"/>
          <p:nvPr/>
        </p:nvSpPr>
        <p:spPr>
          <a:xfrm>
            <a:off x="7096243" y="3249602"/>
            <a:ext cx="9459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Google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0"/>
          <p:cNvSpPr txBox="1"/>
          <p:nvPr>
            <p:ph idx="1" type="body"/>
          </p:nvPr>
        </p:nvSpPr>
        <p:spPr>
          <a:xfrm>
            <a:off x="220006" y="2208136"/>
            <a:ext cx="873534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chemeClr val="accent2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Export &amp; Selection</a:t>
            </a:r>
            <a:endParaRPr/>
          </a:p>
        </p:txBody>
      </p:sp>
      <p:sp>
        <p:nvSpPr>
          <p:cNvPr id="612" name="Google Shape;612;p31"/>
          <p:cNvSpPr txBox="1"/>
          <p:nvPr>
            <p:ph idx="1" type="body"/>
          </p:nvPr>
        </p:nvSpPr>
        <p:spPr>
          <a:xfrm>
            <a:off x="457200" y="1063229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If you are an AS: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Route Selection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•"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Where you send your packets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Determine how to choose a valid route to a given IP prefix, when multiple paths through ASes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Route Export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Which ASes will receive your route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Other ASes will </a:t>
            </a:r>
            <a:r>
              <a:rPr b="0" i="1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b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your route and </a:t>
            </a:r>
            <a:r>
              <a:rPr b="1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send traffic to you</a:t>
            </a:r>
            <a:endParaRPr b="1" i="1" sz="200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Export &amp; Selection</a:t>
            </a:r>
            <a:endParaRPr/>
          </a:p>
        </p:txBody>
      </p:sp>
      <p:sp>
        <p:nvSpPr>
          <p:cNvPr id="618" name="Google Shape;618;p32"/>
          <p:cNvSpPr/>
          <p:nvPr/>
        </p:nvSpPr>
        <p:spPr>
          <a:xfrm>
            <a:off x="719191" y="1738294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2"/>
          <p:cNvSpPr/>
          <p:nvPr/>
        </p:nvSpPr>
        <p:spPr>
          <a:xfrm>
            <a:off x="3792591" y="2624352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2"/>
          <p:cNvSpPr/>
          <p:nvPr/>
        </p:nvSpPr>
        <p:spPr>
          <a:xfrm>
            <a:off x="6823657" y="1738294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1" name="Google Shape;621;p32"/>
          <p:cNvCxnSpPr/>
          <p:nvPr/>
        </p:nvCxnSpPr>
        <p:spPr>
          <a:xfrm>
            <a:off x="2229917" y="2233003"/>
            <a:ext cx="1562674" cy="461262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622" name="Google Shape;622;p32"/>
          <p:cNvCxnSpPr/>
          <p:nvPr/>
        </p:nvCxnSpPr>
        <p:spPr>
          <a:xfrm flipH="1" rot="10800000">
            <a:off x="2217791" y="3809666"/>
            <a:ext cx="1574800" cy="382884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23" name="Google Shape;623;p32"/>
          <p:cNvSpPr txBox="1"/>
          <p:nvPr/>
        </p:nvSpPr>
        <p:spPr>
          <a:xfrm>
            <a:off x="731317" y="2171694"/>
            <a:ext cx="14864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UC Berkeley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2"/>
          <p:cNvSpPr txBox="1"/>
          <p:nvPr/>
        </p:nvSpPr>
        <p:spPr>
          <a:xfrm>
            <a:off x="4174867" y="3057752"/>
            <a:ext cx="7546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AT&amp;T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2"/>
          <p:cNvSpPr txBox="1"/>
          <p:nvPr/>
        </p:nvSpPr>
        <p:spPr>
          <a:xfrm>
            <a:off x="7108467" y="2233003"/>
            <a:ext cx="94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Google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2"/>
          <p:cNvSpPr/>
          <p:nvPr/>
        </p:nvSpPr>
        <p:spPr>
          <a:xfrm>
            <a:off x="6828214" y="3535152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2"/>
          <p:cNvSpPr txBox="1"/>
          <p:nvPr/>
        </p:nvSpPr>
        <p:spPr>
          <a:xfrm>
            <a:off x="7028831" y="4029861"/>
            <a:ext cx="11143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Comcast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2"/>
          <p:cNvSpPr/>
          <p:nvPr/>
        </p:nvSpPr>
        <p:spPr>
          <a:xfrm>
            <a:off x="731317" y="3535152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2"/>
          <p:cNvSpPr txBox="1"/>
          <p:nvPr/>
        </p:nvSpPr>
        <p:spPr>
          <a:xfrm>
            <a:off x="880164" y="3968552"/>
            <a:ext cx="12130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Facebook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0" name="Google Shape;630;p32"/>
          <p:cNvCxnSpPr/>
          <p:nvPr/>
        </p:nvCxnSpPr>
        <p:spPr>
          <a:xfrm rot="10800000">
            <a:off x="5291191" y="3809666"/>
            <a:ext cx="1574800" cy="382884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631" name="Google Shape;631;p32"/>
          <p:cNvCxnSpPr/>
          <p:nvPr/>
        </p:nvCxnSpPr>
        <p:spPr>
          <a:xfrm flipH="1">
            <a:off x="5257632" y="2233003"/>
            <a:ext cx="1562674" cy="461262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grpSp>
        <p:nvGrpSpPr>
          <p:cNvPr id="632" name="Google Shape;632;p32"/>
          <p:cNvGrpSpPr/>
          <p:nvPr/>
        </p:nvGrpSpPr>
        <p:grpSpPr>
          <a:xfrm>
            <a:off x="2106115" y="3660884"/>
            <a:ext cx="962423" cy="1037685"/>
            <a:chOff x="2106115" y="3660884"/>
            <a:chExt cx="962423" cy="1037685"/>
          </a:xfrm>
        </p:grpSpPr>
        <p:pic>
          <p:nvPicPr>
            <p:cNvPr descr="documentation.png" id="633" name="Google Shape;633;p32"/>
            <p:cNvPicPr preferRelativeResize="0"/>
            <p:nvPr/>
          </p:nvPicPr>
          <p:blipFill rotWithShape="1">
            <a:blip r:embed="rId3">
              <a:alphaModFix/>
            </a:blip>
            <a:srcRect b="0" l="0" r="14285" t="0"/>
            <a:stretch/>
          </p:blipFill>
          <p:spPr>
            <a:xfrm>
              <a:off x="2106115" y="3660884"/>
              <a:ext cx="962423" cy="10376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4" name="Google Shape;634;p32"/>
            <p:cNvSpPr/>
            <p:nvPr/>
          </p:nvSpPr>
          <p:spPr>
            <a:xfrm>
              <a:off x="2181257" y="3772398"/>
              <a:ext cx="733493" cy="861070"/>
            </a:xfrm>
            <a:prstGeom prst="roundRect">
              <a:avLst>
                <a:gd fmla="val 16667" name="adj"/>
              </a:avLst>
            </a:prstGeom>
            <a:solidFill>
              <a:srgbClr val="CFD4D9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Stanford this way!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5" name="Google Shape;635;p32"/>
          <p:cNvGrpSpPr/>
          <p:nvPr/>
        </p:nvGrpSpPr>
        <p:grpSpPr>
          <a:xfrm>
            <a:off x="2139732" y="1738294"/>
            <a:ext cx="962423" cy="1037685"/>
            <a:chOff x="2139732" y="1738294"/>
            <a:chExt cx="962423" cy="1037685"/>
          </a:xfrm>
        </p:grpSpPr>
        <p:pic>
          <p:nvPicPr>
            <p:cNvPr descr="documentation.png" id="636" name="Google Shape;636;p32"/>
            <p:cNvPicPr preferRelativeResize="0"/>
            <p:nvPr/>
          </p:nvPicPr>
          <p:blipFill rotWithShape="1">
            <a:blip r:embed="rId3">
              <a:alphaModFix/>
            </a:blip>
            <a:srcRect b="0" l="0" r="14285" t="0"/>
            <a:stretch/>
          </p:blipFill>
          <p:spPr>
            <a:xfrm>
              <a:off x="2139732" y="1738294"/>
              <a:ext cx="962423" cy="10376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7" name="Google Shape;637;p32"/>
            <p:cNvSpPr/>
            <p:nvPr/>
          </p:nvSpPr>
          <p:spPr>
            <a:xfrm>
              <a:off x="2214874" y="1849808"/>
              <a:ext cx="733493" cy="861070"/>
            </a:xfrm>
            <a:prstGeom prst="roundRect">
              <a:avLst>
                <a:gd fmla="val 16667" name="adj"/>
              </a:avLst>
            </a:prstGeom>
            <a:solidFill>
              <a:srgbClr val="CFD4D9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Stanford this way!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38" name="Google Shape;638;p32"/>
          <p:cNvCxnSpPr>
            <a:stCxn id="618" idx="1"/>
          </p:cNvCxnSpPr>
          <p:nvPr/>
        </p:nvCxnSpPr>
        <p:spPr>
          <a:xfrm rot="10800000">
            <a:off x="91" y="2393523"/>
            <a:ext cx="719100" cy="45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639" name="Google Shape;639;p32"/>
          <p:cNvCxnSpPr/>
          <p:nvPr/>
        </p:nvCxnSpPr>
        <p:spPr>
          <a:xfrm rot="10800000">
            <a:off x="0" y="4212069"/>
            <a:ext cx="719191" cy="4419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40" name="Google Shape;640;p32"/>
          <p:cNvSpPr txBox="1"/>
          <p:nvPr/>
        </p:nvSpPr>
        <p:spPr>
          <a:xfrm>
            <a:off x="2277513" y="1138616"/>
            <a:ext cx="4830954" cy="3693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UCB and Facebook </a:t>
            </a:r>
            <a:r>
              <a:rPr b="1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export</a:t>
            </a:r>
            <a:r>
              <a:rPr b="0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their route to Stanford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32"/>
          <p:cNvSpPr txBox="1"/>
          <p:nvPr/>
        </p:nvSpPr>
        <p:spPr>
          <a:xfrm>
            <a:off x="2277513" y="1507884"/>
            <a:ext cx="4830954" cy="3693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They agree to </a:t>
            </a:r>
            <a:r>
              <a:rPr b="1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carry</a:t>
            </a:r>
            <a:r>
              <a:rPr b="0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AT&amp;T’s traffic to Stanford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2" name="Google Shape;64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896617"/>
            <a:ext cx="471347" cy="471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720908"/>
            <a:ext cx="471347" cy="471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Export &amp; Selection</a:t>
            </a:r>
            <a:endParaRPr/>
          </a:p>
        </p:txBody>
      </p:sp>
      <p:sp>
        <p:nvSpPr>
          <p:cNvPr id="649" name="Google Shape;649;p33"/>
          <p:cNvSpPr/>
          <p:nvPr/>
        </p:nvSpPr>
        <p:spPr>
          <a:xfrm>
            <a:off x="719191" y="1738294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3"/>
          <p:cNvSpPr/>
          <p:nvPr/>
        </p:nvSpPr>
        <p:spPr>
          <a:xfrm>
            <a:off x="3792591" y="2624352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3"/>
          <p:cNvSpPr/>
          <p:nvPr/>
        </p:nvSpPr>
        <p:spPr>
          <a:xfrm>
            <a:off x="6823657" y="1738294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2" name="Google Shape;652;p33"/>
          <p:cNvCxnSpPr/>
          <p:nvPr/>
        </p:nvCxnSpPr>
        <p:spPr>
          <a:xfrm>
            <a:off x="2229917" y="2233003"/>
            <a:ext cx="1562674" cy="461262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653" name="Google Shape;653;p33"/>
          <p:cNvCxnSpPr/>
          <p:nvPr/>
        </p:nvCxnSpPr>
        <p:spPr>
          <a:xfrm flipH="1" rot="10800000">
            <a:off x="2217791" y="3809666"/>
            <a:ext cx="1574800" cy="382884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54" name="Google Shape;654;p33"/>
          <p:cNvSpPr txBox="1"/>
          <p:nvPr/>
        </p:nvSpPr>
        <p:spPr>
          <a:xfrm>
            <a:off x="731317" y="2171694"/>
            <a:ext cx="14864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UC Berkeley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3"/>
          <p:cNvSpPr txBox="1"/>
          <p:nvPr/>
        </p:nvSpPr>
        <p:spPr>
          <a:xfrm>
            <a:off x="4174867" y="3057752"/>
            <a:ext cx="7546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AT&amp;T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33"/>
          <p:cNvSpPr txBox="1"/>
          <p:nvPr/>
        </p:nvSpPr>
        <p:spPr>
          <a:xfrm>
            <a:off x="7108467" y="2233003"/>
            <a:ext cx="94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Google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3"/>
          <p:cNvSpPr/>
          <p:nvPr/>
        </p:nvSpPr>
        <p:spPr>
          <a:xfrm>
            <a:off x="6828214" y="3535152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3"/>
          <p:cNvSpPr txBox="1"/>
          <p:nvPr/>
        </p:nvSpPr>
        <p:spPr>
          <a:xfrm>
            <a:off x="7028831" y="4029861"/>
            <a:ext cx="11143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Comcast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3"/>
          <p:cNvSpPr/>
          <p:nvPr/>
        </p:nvSpPr>
        <p:spPr>
          <a:xfrm>
            <a:off x="731317" y="3535152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3"/>
          <p:cNvSpPr txBox="1"/>
          <p:nvPr/>
        </p:nvSpPr>
        <p:spPr>
          <a:xfrm>
            <a:off x="880164" y="3968552"/>
            <a:ext cx="12130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Facebook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1" name="Google Shape;661;p33"/>
          <p:cNvCxnSpPr/>
          <p:nvPr/>
        </p:nvCxnSpPr>
        <p:spPr>
          <a:xfrm rot="10800000">
            <a:off x="5291191" y="3809666"/>
            <a:ext cx="1574800" cy="382884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662" name="Google Shape;662;p33"/>
          <p:cNvCxnSpPr/>
          <p:nvPr/>
        </p:nvCxnSpPr>
        <p:spPr>
          <a:xfrm flipH="1">
            <a:off x="5257632" y="2233003"/>
            <a:ext cx="1562674" cy="461262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grpSp>
        <p:nvGrpSpPr>
          <p:cNvPr id="663" name="Google Shape;663;p33"/>
          <p:cNvGrpSpPr/>
          <p:nvPr/>
        </p:nvGrpSpPr>
        <p:grpSpPr>
          <a:xfrm>
            <a:off x="3319745" y="2064389"/>
            <a:ext cx="962423" cy="1037685"/>
            <a:chOff x="2139732" y="1738294"/>
            <a:chExt cx="962423" cy="1037685"/>
          </a:xfrm>
        </p:grpSpPr>
        <p:pic>
          <p:nvPicPr>
            <p:cNvPr descr="documentation.png" id="664" name="Google Shape;664;p33"/>
            <p:cNvPicPr preferRelativeResize="0"/>
            <p:nvPr/>
          </p:nvPicPr>
          <p:blipFill rotWithShape="1">
            <a:blip r:embed="rId3">
              <a:alphaModFix/>
            </a:blip>
            <a:srcRect b="0" l="0" r="14285" t="0"/>
            <a:stretch/>
          </p:blipFill>
          <p:spPr>
            <a:xfrm>
              <a:off x="2139732" y="1738294"/>
              <a:ext cx="962423" cy="10376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5" name="Google Shape;665;p33"/>
            <p:cNvSpPr/>
            <p:nvPr/>
          </p:nvSpPr>
          <p:spPr>
            <a:xfrm>
              <a:off x="2214874" y="1849808"/>
              <a:ext cx="733493" cy="861070"/>
            </a:xfrm>
            <a:prstGeom prst="roundRect">
              <a:avLst>
                <a:gd fmla="val 16667" name="adj"/>
              </a:avLst>
            </a:prstGeom>
            <a:solidFill>
              <a:srgbClr val="CFD4D9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Stanford this way!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66" name="Google Shape;666;p33"/>
          <p:cNvCxnSpPr>
            <a:stCxn id="649" idx="1"/>
          </p:cNvCxnSpPr>
          <p:nvPr/>
        </p:nvCxnSpPr>
        <p:spPr>
          <a:xfrm rot="10800000">
            <a:off x="91" y="2393523"/>
            <a:ext cx="719100" cy="45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667" name="Google Shape;667;p33"/>
          <p:cNvCxnSpPr/>
          <p:nvPr/>
        </p:nvCxnSpPr>
        <p:spPr>
          <a:xfrm rot="10800000">
            <a:off x="0" y="4212069"/>
            <a:ext cx="719191" cy="4419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68" name="Google Shape;668;p33"/>
          <p:cNvSpPr txBox="1"/>
          <p:nvPr/>
        </p:nvSpPr>
        <p:spPr>
          <a:xfrm>
            <a:off x="2277513" y="1138616"/>
            <a:ext cx="4751318" cy="3693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AT&amp;T </a:t>
            </a:r>
            <a:r>
              <a:rPr b="1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selects </a:t>
            </a:r>
            <a:r>
              <a:rPr b="0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route through UC Berkeley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3"/>
          <p:cNvSpPr txBox="1"/>
          <p:nvPr/>
        </p:nvSpPr>
        <p:spPr>
          <a:xfrm>
            <a:off x="2277513" y="1507948"/>
            <a:ext cx="4751318" cy="3693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AT&amp;T might now </a:t>
            </a:r>
            <a:r>
              <a:rPr b="1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send </a:t>
            </a:r>
            <a:r>
              <a:rPr b="0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traffic</a:t>
            </a:r>
            <a:r>
              <a:rPr b="1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to Stanford via</a:t>
            </a:r>
            <a:r>
              <a:rPr b="1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UCB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0" name="Google Shape;67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896617"/>
            <a:ext cx="471347" cy="471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720908"/>
            <a:ext cx="471347" cy="471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6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Export &amp; Selection</a:t>
            </a:r>
            <a:endParaRPr/>
          </a:p>
        </p:txBody>
      </p:sp>
      <p:sp>
        <p:nvSpPr>
          <p:cNvPr id="677" name="Google Shape;677;p34"/>
          <p:cNvSpPr/>
          <p:nvPr/>
        </p:nvSpPr>
        <p:spPr>
          <a:xfrm>
            <a:off x="719191" y="1738294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4"/>
          <p:cNvSpPr/>
          <p:nvPr/>
        </p:nvSpPr>
        <p:spPr>
          <a:xfrm>
            <a:off x="3792591" y="2624352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4"/>
          <p:cNvSpPr/>
          <p:nvPr/>
        </p:nvSpPr>
        <p:spPr>
          <a:xfrm>
            <a:off x="6823657" y="1738294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0" name="Google Shape;680;p34"/>
          <p:cNvCxnSpPr/>
          <p:nvPr/>
        </p:nvCxnSpPr>
        <p:spPr>
          <a:xfrm>
            <a:off x="2229917" y="2233003"/>
            <a:ext cx="1562674" cy="461262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681" name="Google Shape;681;p34"/>
          <p:cNvCxnSpPr/>
          <p:nvPr/>
        </p:nvCxnSpPr>
        <p:spPr>
          <a:xfrm flipH="1" rot="10800000">
            <a:off x="2217791" y="3809666"/>
            <a:ext cx="1574800" cy="382884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82" name="Google Shape;682;p34"/>
          <p:cNvSpPr txBox="1"/>
          <p:nvPr/>
        </p:nvSpPr>
        <p:spPr>
          <a:xfrm>
            <a:off x="731317" y="2171694"/>
            <a:ext cx="14864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UC Berkeley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34"/>
          <p:cNvSpPr txBox="1"/>
          <p:nvPr/>
        </p:nvSpPr>
        <p:spPr>
          <a:xfrm>
            <a:off x="4174867" y="3057752"/>
            <a:ext cx="7546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AT&amp;T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34"/>
          <p:cNvSpPr txBox="1"/>
          <p:nvPr/>
        </p:nvSpPr>
        <p:spPr>
          <a:xfrm>
            <a:off x="7108467" y="2233003"/>
            <a:ext cx="94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Google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34"/>
          <p:cNvSpPr/>
          <p:nvPr/>
        </p:nvSpPr>
        <p:spPr>
          <a:xfrm>
            <a:off x="6828214" y="3535152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4"/>
          <p:cNvSpPr txBox="1"/>
          <p:nvPr/>
        </p:nvSpPr>
        <p:spPr>
          <a:xfrm>
            <a:off x="7028831" y="4029861"/>
            <a:ext cx="11143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Comcast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4"/>
          <p:cNvSpPr/>
          <p:nvPr/>
        </p:nvSpPr>
        <p:spPr>
          <a:xfrm>
            <a:off x="731317" y="3535152"/>
            <a:ext cx="1498600" cy="131945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4"/>
          <p:cNvSpPr txBox="1"/>
          <p:nvPr/>
        </p:nvSpPr>
        <p:spPr>
          <a:xfrm>
            <a:off x="880164" y="3968552"/>
            <a:ext cx="12130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Facebook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9" name="Google Shape;689;p34"/>
          <p:cNvCxnSpPr/>
          <p:nvPr/>
        </p:nvCxnSpPr>
        <p:spPr>
          <a:xfrm rot="10800000">
            <a:off x="5291191" y="3809666"/>
            <a:ext cx="1574800" cy="382884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690" name="Google Shape;690;p34"/>
          <p:cNvCxnSpPr/>
          <p:nvPr/>
        </p:nvCxnSpPr>
        <p:spPr>
          <a:xfrm flipH="1">
            <a:off x="5257632" y="2233003"/>
            <a:ext cx="1562674" cy="461262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grpSp>
        <p:nvGrpSpPr>
          <p:cNvPr id="691" name="Google Shape;691;p34"/>
          <p:cNvGrpSpPr/>
          <p:nvPr/>
        </p:nvGrpSpPr>
        <p:grpSpPr>
          <a:xfrm>
            <a:off x="4809208" y="2064389"/>
            <a:ext cx="962423" cy="1037685"/>
            <a:chOff x="2139732" y="1738294"/>
            <a:chExt cx="962423" cy="1037685"/>
          </a:xfrm>
        </p:grpSpPr>
        <p:pic>
          <p:nvPicPr>
            <p:cNvPr descr="documentation.png" id="692" name="Google Shape;692;p34"/>
            <p:cNvPicPr preferRelativeResize="0"/>
            <p:nvPr/>
          </p:nvPicPr>
          <p:blipFill rotWithShape="1">
            <a:blip r:embed="rId3">
              <a:alphaModFix/>
            </a:blip>
            <a:srcRect b="0" l="0" r="14285" t="0"/>
            <a:stretch/>
          </p:blipFill>
          <p:spPr>
            <a:xfrm>
              <a:off x="2139732" y="1738294"/>
              <a:ext cx="962423" cy="10376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3" name="Google Shape;693;p34"/>
            <p:cNvSpPr/>
            <p:nvPr/>
          </p:nvSpPr>
          <p:spPr>
            <a:xfrm>
              <a:off x="2214874" y="1849808"/>
              <a:ext cx="733493" cy="861070"/>
            </a:xfrm>
            <a:prstGeom prst="roundRect">
              <a:avLst>
                <a:gd fmla="val 16667" name="adj"/>
              </a:avLst>
            </a:prstGeom>
            <a:solidFill>
              <a:srgbClr val="CFD4D9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Stanford this way!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94" name="Google Shape;694;p34"/>
          <p:cNvCxnSpPr>
            <a:stCxn id="677" idx="1"/>
          </p:cNvCxnSpPr>
          <p:nvPr/>
        </p:nvCxnSpPr>
        <p:spPr>
          <a:xfrm rot="10800000">
            <a:off x="91" y="2393523"/>
            <a:ext cx="719100" cy="45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695" name="Google Shape;695;p34"/>
          <p:cNvCxnSpPr/>
          <p:nvPr/>
        </p:nvCxnSpPr>
        <p:spPr>
          <a:xfrm rot="10800000">
            <a:off x="0" y="4212069"/>
            <a:ext cx="719191" cy="4419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96" name="Google Shape;696;p34"/>
          <p:cNvSpPr txBox="1"/>
          <p:nvPr/>
        </p:nvSpPr>
        <p:spPr>
          <a:xfrm>
            <a:off x="2277513" y="1138616"/>
            <a:ext cx="4751318" cy="3693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AT&amp;T </a:t>
            </a:r>
            <a:r>
              <a:rPr b="1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exports </a:t>
            </a:r>
            <a:r>
              <a:rPr b="0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route to Google only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4"/>
          <p:cNvSpPr txBox="1"/>
          <p:nvPr/>
        </p:nvSpPr>
        <p:spPr>
          <a:xfrm>
            <a:off x="2277513" y="1507948"/>
            <a:ext cx="4751318" cy="64633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Agrees to </a:t>
            </a:r>
            <a:r>
              <a:rPr b="1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carry</a:t>
            </a:r>
            <a:r>
              <a:rPr b="0" i="0" lang="en-US" sz="18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Google’s traffic to Stanford, but not Comcast’s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8" name="Google Shape;69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896617"/>
            <a:ext cx="471347" cy="471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720908"/>
            <a:ext cx="471347" cy="471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Basic Messages in BGP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705" name="Google Shape;705;p35"/>
          <p:cNvSpPr txBox="1"/>
          <p:nvPr>
            <p:ph idx="1" type="body"/>
          </p:nvPr>
        </p:nvSpPr>
        <p:spPr>
          <a:xfrm>
            <a:off x="767874" y="1303701"/>
            <a:ext cx="8466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Open</a:t>
            </a:r>
            <a:r>
              <a:rPr b="0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: establishes BGP session</a:t>
            </a:r>
            <a:r>
              <a:rPr b="0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Notification</a:t>
            </a:r>
            <a:r>
              <a:rPr b="0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: report unusual conditions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r>
              <a:rPr b="0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Format &lt;IP prefix: route attributes&gt;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Inform neighbors of new routes (</a:t>
            </a:r>
            <a:r>
              <a:rPr b="1" i="1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announcements</a:t>
            </a: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Inform neighbors of old routes that are no longer active (</a:t>
            </a:r>
            <a:r>
              <a:rPr b="1" i="1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withdrawal</a:t>
            </a: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Keepalive</a:t>
            </a:r>
            <a:r>
              <a:rPr b="0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Inform neighbors that this BGP session is still alive</a:t>
            </a:r>
            <a:endParaRPr/>
          </a:p>
          <a:p>
            <a:pPr indent="-158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5"/>
          <p:cNvSpPr/>
          <p:nvPr/>
        </p:nvSpPr>
        <p:spPr>
          <a:xfrm>
            <a:off x="3168502" y="2583712"/>
            <a:ext cx="1658679" cy="276446"/>
          </a:xfrm>
          <a:prstGeom prst="rect">
            <a:avLst/>
          </a:prstGeom>
          <a:gradFill>
            <a:gsLst>
              <a:gs pos="0">
                <a:srgbClr val="FF6800">
                  <a:alpha val="20000"/>
                </a:srgbClr>
              </a:gs>
              <a:gs pos="100000">
                <a:srgbClr val="FF976D">
                  <a:alpha val="40000"/>
                </a:srgbClr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5"/>
          <p:cNvSpPr/>
          <p:nvPr/>
        </p:nvSpPr>
        <p:spPr>
          <a:xfrm>
            <a:off x="5964865" y="1839433"/>
            <a:ext cx="1892595" cy="893134"/>
          </a:xfrm>
          <a:prstGeom prst="wedgeRoundRectCallout">
            <a:avLst>
              <a:gd fmla="val -110721" name="adj1"/>
              <a:gd fmla="val 33929" name="adj2"/>
              <a:gd fmla="val 16667" name="adj3"/>
            </a:avLst>
          </a:prstGeom>
          <a:gradFill>
            <a:gsLst>
              <a:gs pos="0">
                <a:srgbClr val="FF6800"/>
              </a:gs>
              <a:gs pos="100000">
                <a:srgbClr val="FF976D"/>
              </a:gs>
            </a:gsLst>
            <a:lin ang="16200000" scaled="0"/>
          </a:gradFill>
          <a:ln cap="flat" cmpd="sng" w="9525">
            <a:solidFill>
              <a:srgbClr val="EE68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What’s this?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BGP Route Attributes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713" name="Google Shape;713;p36"/>
          <p:cNvSpPr txBox="1"/>
          <p:nvPr>
            <p:ph idx="1" type="body"/>
          </p:nvPr>
        </p:nvSpPr>
        <p:spPr>
          <a:xfrm>
            <a:off x="457200" y="1063229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Local</a:t>
            </a:r>
            <a:r>
              <a:rPr b="0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attributes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ASes keep them private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Not included in eBGP route announcements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E.g. LOCAL_PREF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Nonlocal</a:t>
            </a:r>
            <a:r>
              <a:rPr b="0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attributes: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propagated with eBGP route announcements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E.g. AS_PATH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Route Selection in Priority Order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graphicFrame>
        <p:nvGraphicFramePr>
          <p:cNvPr id="720" name="Google Shape;720;p37"/>
          <p:cNvGraphicFramePr/>
          <p:nvPr/>
        </p:nvGraphicFramePr>
        <p:xfrm>
          <a:off x="571500" y="12246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{20551163-69D8-41D5-804B-67B62984040B}</a:tableStyleId>
              </a:tblPr>
              <a:tblGrid>
                <a:gridCol w="990600"/>
                <a:gridCol w="2514600"/>
                <a:gridCol w="3505200"/>
              </a:tblGrid>
              <a:tr h="33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Priority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Rule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Remarks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LOCAL PREF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Pick </a:t>
                      </a:r>
                      <a:r>
                        <a:rPr b="1" lang="en-US" sz="1800" u="none" cap="none" strike="noStrike"/>
                        <a:t>highest</a:t>
                      </a:r>
                      <a:r>
                        <a:rPr lang="en-US" sz="1800" u="none" cap="none" strike="noStrike"/>
                        <a:t> LOCAL PREF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ASPATH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Pick </a:t>
                      </a:r>
                      <a:r>
                        <a:rPr b="1" lang="en-US" sz="1800" u="none" cap="none" strike="noStrike"/>
                        <a:t>shortest</a:t>
                      </a:r>
                      <a:r>
                        <a:rPr lang="en-US" sz="1800" u="none" cap="none" strike="noStrike"/>
                        <a:t> ASPATH length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IGP path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Lowest IGP cost to next hop (egress router)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MED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Lowest</a:t>
                      </a: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 MED preferred</a:t>
                      </a:r>
                      <a:r>
                        <a:rPr lang="en-US" sz="1800" u="none" cap="none" strike="noStrike"/>
                        <a:t>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Router ID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Smallest next-hop router’s IP address as tie-breaker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Types of ASes (domains)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726" name="Google Shape;726;p38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120"/>
              <a:buFont typeface="Arial"/>
              <a:buChar char="•"/>
            </a:pPr>
            <a:r>
              <a:rPr b="1" i="0" lang="en-US" sz="212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Stub</a:t>
            </a:r>
            <a:r>
              <a:rPr b="0" i="0" lang="en-US" sz="212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: only sends/receives traffic </a:t>
            </a:r>
            <a:r>
              <a:rPr lang="en-US" sz="2120"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0" i="0" lang="en-US" sz="212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its users</a:t>
            </a:r>
            <a:endParaRPr sz="2300"/>
          </a:p>
          <a:p>
            <a:pPr indent="-279400" lvl="1" marL="74295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750"/>
              <a:buFont typeface="Arial"/>
              <a:buChar char="–"/>
            </a:pPr>
            <a:r>
              <a:rPr b="0" i="0" lang="en-US" sz="17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companies, universities, etc.</a:t>
            </a:r>
            <a:endParaRPr sz="1900"/>
          </a:p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120"/>
              <a:buFont typeface="Arial"/>
              <a:buChar char="•"/>
            </a:pPr>
            <a:r>
              <a:rPr b="1" i="0" lang="en-US" sz="212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Transit</a:t>
            </a:r>
            <a:r>
              <a:rPr b="0" i="0" lang="en-US" sz="212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: carries traffic </a:t>
            </a:r>
            <a:r>
              <a:rPr lang="en-US" sz="2120"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0" i="0" lang="en-US" sz="212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other ASes</a:t>
            </a:r>
            <a:endParaRPr b="0" i="0" sz="212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1" marL="74295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750"/>
              <a:buFont typeface="Arial"/>
              <a:buChar char="–"/>
            </a:pPr>
            <a:r>
              <a:rPr b="0" i="0" lang="en-US" sz="17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Global ISPs</a:t>
            </a:r>
            <a:r>
              <a:rPr b="0" i="0" lang="en-US" sz="17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(Tier 1): </a:t>
            </a:r>
            <a:r>
              <a:rPr lang="en-US" sz="1750"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-US" sz="17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ully connected mesh</a:t>
            </a:r>
            <a:endParaRPr b="0" i="0" sz="175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1" marL="74295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750"/>
              <a:buFont typeface="Arial"/>
              <a:buChar char="–"/>
            </a:pPr>
            <a:r>
              <a:rPr b="0" i="0" lang="en-US" sz="17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Regional ISPs (Tier 2)</a:t>
            </a:r>
            <a:endParaRPr sz="1900"/>
          </a:p>
          <a:p>
            <a:pPr indent="-279400" lvl="1" marL="74295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750"/>
              <a:buFont typeface="Arial"/>
              <a:buChar char="–"/>
            </a:pPr>
            <a:r>
              <a:rPr b="0" i="0" lang="en-US" sz="17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Local ISPs (Tier 3)</a:t>
            </a:r>
            <a:endParaRPr sz="175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"/>
              <a:buChar char="•"/>
            </a:pPr>
            <a:r>
              <a:rPr lang="en-US" sz="2120">
                <a:latin typeface="Calibri"/>
                <a:ea typeface="Calibri"/>
                <a:cs typeface="Calibri"/>
                <a:sym typeface="Calibri"/>
              </a:rPr>
              <a:t>Lower tiers buy service from higher tiers</a:t>
            </a:r>
            <a:endParaRPr sz="212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120"/>
              <a:buFont typeface="Arial"/>
              <a:buChar char="•"/>
            </a:pPr>
            <a:r>
              <a:rPr b="0" i="0" lang="en-US" sz="212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What’s the relationship between AS and ISP?</a:t>
            </a:r>
            <a:endParaRPr sz="2300"/>
          </a:p>
          <a:p>
            <a:pPr indent="-279400" lvl="1" marL="74295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750"/>
              <a:buFont typeface="Arial"/>
              <a:buChar char="–"/>
            </a:pPr>
            <a:r>
              <a:rPr b="0" i="0" lang="en-US" sz="17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All ISPs are ASes, but not all ASes are ISPs</a:t>
            </a:r>
            <a:endParaRPr b="0" i="0" sz="175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1" marL="74295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750"/>
              <a:buFont typeface="Arial"/>
              <a:buChar char="–"/>
            </a:pPr>
            <a:r>
              <a:rPr b="0" i="0" lang="en-US" sz="17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E.g. UC Berkeley is not an ISP but it is an AS</a:t>
            </a:r>
            <a:endParaRPr b="0" i="0" sz="175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Business Relationship among ASes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732" name="Google Shape;732;p39"/>
          <p:cNvSpPr txBox="1"/>
          <p:nvPr>
            <p:ph idx="1" type="body"/>
          </p:nvPr>
        </p:nvSpPr>
        <p:spPr>
          <a:xfrm>
            <a:off x="457200" y="1063229"/>
            <a:ext cx="8466667" cy="3722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220"/>
              <a:buFont typeface="Arial"/>
              <a:buChar char="•"/>
            </a:pPr>
            <a:r>
              <a:rPr b="0" i="0" lang="en-US" sz="222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Two ASes will </a:t>
            </a:r>
            <a:r>
              <a:rPr b="1" i="0" lang="en-US" sz="222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r>
              <a:rPr b="0" i="0" lang="en-US" sz="222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only if they have business relationship:</a:t>
            </a:r>
            <a:endParaRPr b="0" i="0" sz="222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–"/>
            </a:pPr>
            <a:r>
              <a:rPr b="1" i="0" lang="en-US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Customer-Provider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•"/>
            </a:pPr>
            <a:r>
              <a:rPr i="1" lang="en-US" sz="1850">
                <a:latin typeface="Calibri"/>
                <a:ea typeface="Calibri"/>
                <a:cs typeface="Calibri"/>
                <a:sym typeface="Calibri"/>
              </a:rPr>
              <a:t>Provider </a:t>
            </a:r>
            <a:r>
              <a:rPr lang="en-US" sz="1850">
                <a:latin typeface="Calibri"/>
                <a:ea typeface="Calibri"/>
                <a:cs typeface="Calibri"/>
                <a:sym typeface="Calibri"/>
              </a:rPr>
              <a:t>B carries </a:t>
            </a:r>
            <a:r>
              <a:rPr i="1" lang="en-US" sz="1850">
                <a:latin typeface="Calibri"/>
                <a:ea typeface="Calibri"/>
                <a:cs typeface="Calibri"/>
                <a:sym typeface="Calibri"/>
              </a:rPr>
              <a:t>customer </a:t>
            </a:r>
            <a:r>
              <a:rPr lang="en-US" sz="1850">
                <a:latin typeface="Calibri"/>
                <a:ea typeface="Calibri"/>
                <a:cs typeface="Calibri"/>
                <a:sym typeface="Calibri"/>
              </a:rPr>
              <a:t>A’s </a:t>
            </a:r>
            <a:r>
              <a:rPr b="0" i="0" lang="en-US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traffic </a:t>
            </a:r>
            <a:r>
              <a:rPr b="1" i="0" lang="en-US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for a fee</a:t>
            </a:r>
            <a:endParaRPr b="1" i="0" sz="185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–"/>
            </a:pPr>
            <a:r>
              <a:rPr b="1" i="0" lang="en-US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Peers</a:t>
            </a:r>
            <a:endParaRPr b="1" i="0" sz="185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•"/>
            </a:pPr>
            <a:r>
              <a:rPr i="1" lang="en-US" sz="1850">
                <a:latin typeface="Calibri"/>
                <a:ea typeface="Calibri"/>
                <a:cs typeface="Calibri"/>
                <a:sym typeface="Calibri"/>
              </a:rPr>
              <a:t>Peers </a:t>
            </a:r>
            <a:r>
              <a:rPr lang="en-US" sz="1850">
                <a:latin typeface="Calibri"/>
                <a:ea typeface="Calibri"/>
                <a:cs typeface="Calibri"/>
                <a:sym typeface="Calibri"/>
              </a:rPr>
              <a:t>A, B </a:t>
            </a:r>
            <a:r>
              <a:rPr b="0" i="0" lang="en-US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carry each other’s traffic </a:t>
            </a:r>
            <a:r>
              <a:rPr b="1" i="0" lang="en-US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for free</a:t>
            </a:r>
            <a:endParaRPr b="1" i="0" sz="185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rgbClr val="695D46"/>
              </a:buClr>
              <a:buSzPts val="2220"/>
              <a:buFont typeface="Arial"/>
              <a:buChar char="•"/>
            </a:pPr>
            <a:r>
              <a:rPr lang="en-US" sz="2220">
                <a:latin typeface="Calibri"/>
                <a:ea typeface="Calibri"/>
                <a:cs typeface="Calibri"/>
                <a:sym typeface="Calibri"/>
              </a:rPr>
              <a:t>What roles can a </a:t>
            </a:r>
            <a:r>
              <a:rPr b="0" i="0" lang="en-US" sz="222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global ISP (Tier 1) have?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–"/>
            </a:pPr>
            <a:r>
              <a:rPr lang="en-US" sz="1850"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rovider to Tier 2 or Tier 3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–"/>
            </a:pPr>
            <a:r>
              <a:rPr lang="en-US" sz="1850"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eer to other global ISP (tier 1)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–"/>
            </a:pPr>
            <a:r>
              <a:rPr lang="en-US" sz="1850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ot a customer!</a:t>
            </a:r>
            <a:endParaRPr b="1" i="0" sz="185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Business Relationship Restrictions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738" name="Google Shape;738;p40"/>
          <p:cNvSpPr txBox="1"/>
          <p:nvPr>
            <p:ph idx="1" type="body"/>
          </p:nvPr>
        </p:nvSpPr>
        <p:spPr>
          <a:xfrm>
            <a:off x="457200" y="1063229"/>
            <a:ext cx="8466667" cy="3722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The graph of </a:t>
            </a:r>
            <a:r>
              <a:rPr b="1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peering</a:t>
            </a:r>
            <a:r>
              <a:rPr b="0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relations can be </a:t>
            </a:r>
            <a:r>
              <a:rPr b="1" i="1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cyclic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The peer of my peer can also be my peer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For example, global ISPs all peer with each other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The graph of </a:t>
            </a:r>
            <a:r>
              <a:rPr b="1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customer-provider</a:t>
            </a:r>
            <a:r>
              <a:rPr b="0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relations must be </a:t>
            </a:r>
            <a:r>
              <a:rPr b="1" i="1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acyclic</a:t>
            </a:r>
            <a:endParaRPr b="1" i="1" sz="240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9" name="Google Shape;739;p40"/>
          <p:cNvGrpSpPr/>
          <p:nvPr/>
        </p:nvGrpSpPr>
        <p:grpSpPr>
          <a:xfrm>
            <a:off x="3055086" y="2781290"/>
            <a:ext cx="1657221" cy="2003929"/>
            <a:chOff x="1119962" y="2844532"/>
            <a:chExt cx="1657221" cy="2003929"/>
          </a:xfrm>
        </p:grpSpPr>
        <p:pic>
          <p:nvPicPr>
            <p:cNvPr id="740" name="Google Shape;740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22474" y="2844532"/>
              <a:ext cx="1054709" cy="655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1" name="Google Shape;741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19962" y="3536022"/>
              <a:ext cx="1054709" cy="655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2" name="Google Shape;742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47316" y="4192608"/>
              <a:ext cx="1054709" cy="65585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43" name="Google Shape;743;p40"/>
            <p:cNvCxnSpPr/>
            <p:nvPr/>
          </p:nvCxnSpPr>
          <p:spPr>
            <a:xfrm flipH="1">
              <a:off x="1552353" y="3313463"/>
              <a:ext cx="323563" cy="397300"/>
            </a:xfrm>
            <a:prstGeom prst="straightConnector1">
              <a:avLst/>
            </a:prstGeom>
            <a:noFill/>
            <a:ln cap="flat" cmpd="sng" w="50800">
              <a:solidFill>
                <a:schemeClr val="dk1"/>
              </a:solidFill>
              <a:prstDash val="solid"/>
              <a:round/>
              <a:headEnd len="med" w="med" type="diamond"/>
              <a:tailEnd len="med" w="med" type="triangle"/>
            </a:ln>
          </p:spPr>
        </p:cxnSp>
        <p:cxnSp>
          <p:nvCxnSpPr>
            <p:cNvPr id="744" name="Google Shape;744;p40"/>
            <p:cNvCxnSpPr/>
            <p:nvPr/>
          </p:nvCxnSpPr>
          <p:spPr>
            <a:xfrm>
              <a:off x="1780953" y="4003304"/>
              <a:ext cx="393717" cy="364045"/>
            </a:xfrm>
            <a:prstGeom prst="straightConnector1">
              <a:avLst/>
            </a:prstGeom>
            <a:noFill/>
            <a:ln cap="flat" cmpd="sng" w="50800">
              <a:solidFill>
                <a:schemeClr val="dk1"/>
              </a:solidFill>
              <a:prstDash val="solid"/>
              <a:round/>
              <a:headEnd len="med" w="med" type="diamond"/>
              <a:tailEnd len="med" w="med" type="triangle"/>
            </a:ln>
          </p:spPr>
        </p:cxnSp>
        <p:cxnSp>
          <p:nvCxnSpPr>
            <p:cNvPr id="745" name="Google Shape;745;p40"/>
            <p:cNvCxnSpPr/>
            <p:nvPr/>
          </p:nvCxnSpPr>
          <p:spPr>
            <a:xfrm flipH="1" rot="10800000">
              <a:off x="2381693" y="3332412"/>
              <a:ext cx="21577" cy="941876"/>
            </a:xfrm>
            <a:prstGeom prst="straightConnector1">
              <a:avLst/>
            </a:prstGeom>
            <a:noFill/>
            <a:ln cap="flat" cmpd="sng" w="50800">
              <a:solidFill>
                <a:schemeClr val="dk1"/>
              </a:solidFill>
              <a:prstDash val="solid"/>
              <a:round/>
              <a:headEnd len="med" w="med" type="diamond"/>
              <a:tailEnd len="med" w="med" type="triangle"/>
            </a:ln>
          </p:spPr>
        </p:cxnSp>
      </p:grpSp>
      <p:sp>
        <p:nvSpPr>
          <p:cNvPr id="746" name="Google Shape;746;p40"/>
          <p:cNvSpPr/>
          <p:nvPr/>
        </p:nvSpPr>
        <p:spPr>
          <a:xfrm>
            <a:off x="2881422" y="2781290"/>
            <a:ext cx="2232837" cy="2004662"/>
          </a:xfrm>
          <a:prstGeom prst="noSmoking">
            <a:avLst>
              <a:gd fmla="val 18750" name="adj"/>
            </a:avLst>
          </a:prstGeom>
          <a:gradFill>
            <a:gsLst>
              <a:gs pos="0">
                <a:srgbClr val="FF6800">
                  <a:alpha val="29411"/>
                </a:srgbClr>
              </a:gs>
              <a:gs pos="100000">
                <a:srgbClr val="FF976D">
                  <a:alpha val="46274"/>
                </a:srgbClr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BGP Route Attributes Continued …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753" name="Google Shape;753;p41"/>
          <p:cNvSpPr txBox="1"/>
          <p:nvPr>
            <p:ph idx="1" type="body"/>
          </p:nvPr>
        </p:nvSpPr>
        <p:spPr>
          <a:xfrm>
            <a:off x="457200" y="914372"/>
            <a:ext cx="8229600" cy="4080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AS_PATH</a:t>
            </a:r>
            <a:r>
              <a:rPr b="0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(nonlocal attribute, mandatory)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Insert </a:t>
            </a:r>
            <a:r>
              <a:rPr b="1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ASN</a:t>
            </a: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of traversed AS to BGP’s path vector in </a:t>
            </a:r>
            <a:r>
              <a:rPr b="1" i="1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reverse</a:t>
            </a: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order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fewer</a:t>
            </a: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ASes traversed, the better</a:t>
            </a:r>
            <a:endParaRPr/>
          </a:p>
          <a:p>
            <a:pPr indent="-158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4" name="Google Shape;754;p41"/>
          <p:cNvGrpSpPr/>
          <p:nvPr/>
        </p:nvGrpSpPr>
        <p:grpSpPr>
          <a:xfrm>
            <a:off x="457200" y="3405825"/>
            <a:ext cx="4265083" cy="949004"/>
            <a:chOff x="604097" y="2920160"/>
            <a:chExt cx="7603066" cy="1319458"/>
          </a:xfrm>
        </p:grpSpPr>
        <p:sp>
          <p:nvSpPr>
            <p:cNvPr id="755" name="Google Shape;755;p41"/>
            <p:cNvSpPr/>
            <p:nvPr/>
          </p:nvSpPr>
          <p:spPr>
            <a:xfrm>
              <a:off x="604097" y="2920160"/>
              <a:ext cx="1498600" cy="1319458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EF6C00"/>
              </a:solidFill>
              <a:prstDash val="dash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41"/>
            <p:cNvSpPr/>
            <p:nvPr/>
          </p:nvSpPr>
          <p:spPr>
            <a:xfrm>
              <a:off x="3677497" y="2920160"/>
              <a:ext cx="1498600" cy="1319458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EF6C00"/>
              </a:solidFill>
              <a:prstDash val="dash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41"/>
            <p:cNvSpPr/>
            <p:nvPr/>
          </p:nvSpPr>
          <p:spPr>
            <a:xfrm>
              <a:off x="6708563" y="2920160"/>
              <a:ext cx="1498600" cy="1319458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EF6C00"/>
              </a:solidFill>
              <a:prstDash val="dash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58" name="Google Shape;758;p41"/>
            <p:cNvCxnSpPr/>
            <p:nvPr/>
          </p:nvCxnSpPr>
          <p:spPr>
            <a:xfrm>
              <a:off x="2183130" y="3538226"/>
              <a:ext cx="1405467" cy="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759" name="Google Shape;759;p41"/>
            <p:cNvCxnSpPr/>
            <p:nvPr/>
          </p:nvCxnSpPr>
          <p:spPr>
            <a:xfrm>
              <a:off x="5243827" y="3538226"/>
              <a:ext cx="1405467" cy="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sp>
          <p:nvSpPr>
            <p:cNvPr id="760" name="Google Shape;760;p41"/>
            <p:cNvSpPr txBox="1"/>
            <p:nvPr/>
          </p:nvSpPr>
          <p:spPr>
            <a:xfrm>
              <a:off x="639243" y="3353561"/>
              <a:ext cx="1440442" cy="727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rPr>
                <a:t>Comcast</a:t>
              </a:r>
              <a:endParaRPr b="0" i="0" sz="1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rPr>
                <a:t>(16)</a:t>
              </a:r>
              <a:endParaRPr b="0" i="0" sz="1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41"/>
            <p:cNvSpPr txBox="1"/>
            <p:nvPr/>
          </p:nvSpPr>
          <p:spPr>
            <a:xfrm>
              <a:off x="3747224" y="3353561"/>
              <a:ext cx="1379745" cy="727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rPr>
                <a:t>Amazon</a:t>
              </a:r>
              <a:endParaRPr b="0" i="0" sz="1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rPr>
                <a:t>(56)</a:t>
              </a:r>
              <a:endParaRPr b="0" i="0" sz="1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41"/>
            <p:cNvSpPr txBox="1"/>
            <p:nvPr/>
          </p:nvSpPr>
          <p:spPr>
            <a:xfrm>
              <a:off x="6838812" y="3353561"/>
              <a:ext cx="1255041" cy="727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rPr>
                <a:t>Google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rPr>
                <a:t>(10)</a:t>
              </a:r>
              <a:endParaRPr b="0" i="0" sz="1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3" name="Google Shape;763;p41"/>
          <p:cNvGrpSpPr/>
          <p:nvPr/>
        </p:nvGrpSpPr>
        <p:grpSpPr>
          <a:xfrm>
            <a:off x="7703909" y="1687382"/>
            <a:ext cx="901736" cy="949004"/>
            <a:chOff x="7703909" y="1687382"/>
            <a:chExt cx="901736" cy="949004"/>
          </a:xfrm>
        </p:grpSpPr>
        <p:sp>
          <p:nvSpPr>
            <p:cNvPr id="764" name="Google Shape;764;p41"/>
            <p:cNvSpPr/>
            <p:nvPr/>
          </p:nvSpPr>
          <p:spPr>
            <a:xfrm>
              <a:off x="7703909" y="1687382"/>
              <a:ext cx="840668" cy="949004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EF6C00"/>
              </a:solidFill>
              <a:prstDash val="dash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41"/>
            <p:cNvSpPr txBox="1"/>
            <p:nvPr/>
          </p:nvSpPr>
          <p:spPr>
            <a:xfrm>
              <a:off x="7793050" y="1933575"/>
              <a:ext cx="812595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rPr>
                <a:t>Berkeley</a:t>
              </a:r>
              <a:endParaRPr b="0" i="0" sz="1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rPr>
                <a:t>(25)</a:t>
              </a:r>
              <a:endParaRPr b="0" i="0" sz="1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6" name="Google Shape;766;p41"/>
          <p:cNvGrpSpPr/>
          <p:nvPr/>
        </p:nvGrpSpPr>
        <p:grpSpPr>
          <a:xfrm>
            <a:off x="2601615" y="1898307"/>
            <a:ext cx="5191500" cy="1507518"/>
            <a:chOff x="2601615" y="1898307"/>
            <a:chExt cx="5191500" cy="1507518"/>
          </a:xfrm>
        </p:grpSpPr>
        <p:cxnSp>
          <p:nvCxnSpPr>
            <p:cNvPr id="767" name="Google Shape;767;p41"/>
            <p:cNvCxnSpPr>
              <a:stCxn id="756" idx="0"/>
              <a:endCxn id="765" idx="1"/>
            </p:cNvCxnSpPr>
            <p:nvPr/>
          </p:nvCxnSpPr>
          <p:spPr>
            <a:xfrm flipH="1" rot="10800000">
              <a:off x="2601615" y="2195325"/>
              <a:ext cx="5191500" cy="121050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lg" w="lg" type="triangl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sp>
          <p:nvSpPr>
            <p:cNvPr id="768" name="Google Shape;768;p41"/>
            <p:cNvSpPr txBox="1"/>
            <p:nvPr/>
          </p:nvSpPr>
          <p:spPr>
            <a:xfrm rot="-708761">
              <a:off x="3668252" y="2256493"/>
              <a:ext cx="35471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Amazon exports its route using eBGP with attribute AS_PATH </a:t>
              </a:r>
              <a:r>
                <a:rPr b="1" i="0" lang="en-US" sz="1200" u="none" cap="none" strike="noStrike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{16, 56}</a:t>
              </a:r>
              <a:endParaRPr b="1" i="0" sz="12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9" name="Google Shape;769;p41"/>
          <p:cNvGrpSpPr/>
          <p:nvPr/>
        </p:nvGrpSpPr>
        <p:grpSpPr>
          <a:xfrm>
            <a:off x="4301949" y="2636325"/>
            <a:ext cx="4042479" cy="1169539"/>
            <a:chOff x="4301949" y="2636325"/>
            <a:chExt cx="4042479" cy="1169539"/>
          </a:xfrm>
        </p:grpSpPr>
        <p:cxnSp>
          <p:nvCxnSpPr>
            <p:cNvPr id="770" name="Google Shape;770;p41"/>
            <p:cNvCxnSpPr>
              <a:stCxn id="757" idx="0"/>
              <a:endCxn id="764" idx="2"/>
            </p:cNvCxnSpPr>
            <p:nvPr/>
          </p:nvCxnSpPr>
          <p:spPr>
            <a:xfrm flipH="1" rot="10800000">
              <a:off x="4301949" y="2636325"/>
              <a:ext cx="3822300" cy="76950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lg" w="lg" type="triangl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sp>
          <p:nvSpPr>
            <p:cNvPr id="771" name="Google Shape;771;p41"/>
            <p:cNvSpPr txBox="1"/>
            <p:nvPr/>
          </p:nvSpPr>
          <p:spPr>
            <a:xfrm rot="-644087">
              <a:off x="4785312" y="3017886"/>
              <a:ext cx="35471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Google exports its route using eBGP with attribute AS_PATH </a:t>
              </a:r>
              <a:r>
                <a:rPr b="1" i="0" lang="en-US" sz="1200" u="none" cap="none" strike="noStrike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{16, 56, 10}</a:t>
              </a:r>
              <a:endParaRPr b="1" i="0" sz="12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BGP Route Attributes Continued …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778" name="Google Shape;778;p42"/>
          <p:cNvSpPr txBox="1"/>
          <p:nvPr>
            <p:ph idx="1" type="body"/>
          </p:nvPr>
        </p:nvSpPr>
        <p:spPr>
          <a:xfrm>
            <a:off x="457200" y="914372"/>
            <a:ext cx="5715000" cy="4080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LOCAL_PREF</a:t>
            </a:r>
            <a:r>
              <a:rPr b="0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(local attribute)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Propagated through iBGP</a:t>
            </a:r>
            <a:endParaRPr b="0" i="0" sz="200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Used to choose different AS paths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Default preference 100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higher</a:t>
            </a: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the value, the more preferred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1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Highest</a:t>
            </a: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priority among all other attributes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How AS prefer customers to peers to providers</a:t>
            </a:r>
            <a:endParaRPr b="0" i="0" sz="200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79" name="Google Shape;779;p42"/>
          <p:cNvGraphicFramePr/>
          <p:nvPr/>
        </p:nvGraphicFramePr>
        <p:xfrm>
          <a:off x="5955030" y="13669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{20551163-69D8-41D5-804B-67B62984040B}</a:tableStyleId>
              </a:tblPr>
              <a:tblGrid>
                <a:gridCol w="1600200"/>
                <a:gridCol w="1428750"/>
              </a:tblGrid>
              <a:tr h="347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AS_PATH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LOCAL_PREF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31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{16, 56}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31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{16, 56, 10}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31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{16}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31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{16, 56, 10, 5}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80" name="Google Shape;780;p42"/>
          <p:cNvSpPr txBox="1"/>
          <p:nvPr/>
        </p:nvSpPr>
        <p:spPr>
          <a:xfrm>
            <a:off x="2914316" y="4112900"/>
            <a:ext cx="46405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Berkeley kept all paths to some IP prefix in Comcast’s AS (ASN 16)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1" name="Google Shape;781;p42"/>
          <p:cNvGrpSpPr/>
          <p:nvPr/>
        </p:nvGrpSpPr>
        <p:grpSpPr>
          <a:xfrm>
            <a:off x="7578090" y="920453"/>
            <a:ext cx="1405890" cy="1139084"/>
            <a:chOff x="7600950" y="1032616"/>
            <a:chExt cx="1405890" cy="1139084"/>
          </a:xfrm>
        </p:grpSpPr>
        <p:cxnSp>
          <p:nvCxnSpPr>
            <p:cNvPr id="782" name="Google Shape;782;p42"/>
            <p:cNvCxnSpPr/>
            <p:nvPr/>
          </p:nvCxnSpPr>
          <p:spPr>
            <a:xfrm flipH="1">
              <a:off x="7852410" y="1348740"/>
              <a:ext cx="274320" cy="82296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sp>
          <p:nvSpPr>
            <p:cNvPr id="783" name="Google Shape;783;p42"/>
            <p:cNvSpPr txBox="1"/>
            <p:nvPr/>
          </p:nvSpPr>
          <p:spPr>
            <a:xfrm>
              <a:off x="7600950" y="1032616"/>
              <a:ext cx="1405890" cy="369332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388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Default 100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4" name="Google Shape;784;p42"/>
          <p:cNvGrpSpPr/>
          <p:nvPr/>
        </p:nvGrpSpPr>
        <p:grpSpPr>
          <a:xfrm>
            <a:off x="6057900" y="3173043"/>
            <a:ext cx="3543300" cy="761566"/>
            <a:chOff x="5766435" y="3743949"/>
            <a:chExt cx="3909060" cy="979990"/>
          </a:xfrm>
        </p:grpSpPr>
        <p:grpSp>
          <p:nvGrpSpPr>
            <p:cNvPr id="785" name="Google Shape;785;p42"/>
            <p:cNvGrpSpPr/>
            <p:nvPr/>
          </p:nvGrpSpPr>
          <p:grpSpPr>
            <a:xfrm>
              <a:off x="7389495" y="3743949"/>
              <a:ext cx="2286000" cy="979990"/>
              <a:chOff x="7389495" y="3743949"/>
              <a:chExt cx="2286000" cy="979990"/>
            </a:xfrm>
          </p:grpSpPr>
          <p:sp>
            <p:nvSpPr>
              <p:cNvPr id="786" name="Google Shape;786;p42"/>
              <p:cNvSpPr/>
              <p:nvPr/>
            </p:nvSpPr>
            <p:spPr>
              <a:xfrm>
                <a:off x="7742756" y="3743949"/>
                <a:ext cx="914400" cy="731520"/>
              </a:xfrm>
              <a:prstGeom prst="irregularSeal1">
                <a:avLst/>
              </a:prstGeom>
              <a:gradFill>
                <a:gsLst>
                  <a:gs pos="0">
                    <a:srgbClr val="FF6800">
                      <a:alpha val="20000"/>
                    </a:srgbClr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42"/>
              <p:cNvSpPr txBox="1"/>
              <p:nvPr/>
            </p:nvSpPr>
            <p:spPr>
              <a:xfrm>
                <a:off x="7389495" y="4354607"/>
                <a:ext cx="2286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accent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Pick Highest</a:t>
                </a:r>
                <a:endParaRPr b="0" i="0" sz="1800" u="none" cap="none" strike="noStrike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88" name="Google Shape;788;p42"/>
            <p:cNvSpPr/>
            <p:nvPr/>
          </p:nvSpPr>
          <p:spPr>
            <a:xfrm>
              <a:off x="5766435" y="3814204"/>
              <a:ext cx="3246120" cy="591012"/>
            </a:xfrm>
            <a:prstGeom prst="frame">
              <a:avLst>
                <a:gd fmla="val 12500" name="adj1"/>
              </a:avLst>
            </a:prstGeom>
            <a:solidFill>
              <a:schemeClr val="accent2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BGP Route Attributes Continued …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795" name="Google Shape;795;p43"/>
          <p:cNvSpPr txBox="1"/>
          <p:nvPr>
            <p:ph idx="1" type="body"/>
          </p:nvPr>
        </p:nvSpPr>
        <p:spPr>
          <a:xfrm>
            <a:off x="457200" y="914372"/>
            <a:ext cx="8229600" cy="4080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r>
              <a:rPr b="0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(nonlocal attribute)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Used when ASes are connected via 2 or more links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Allows AS to inform its </a:t>
            </a:r>
            <a:r>
              <a:rPr b="1" i="1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immediate neighbors </a:t>
            </a: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of its preferred entry points</a:t>
            </a:r>
            <a:endParaRPr b="0" i="0" sz="200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lower</a:t>
            </a: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the value, the more preferred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96" name="Google Shape;796;p43"/>
          <p:cNvGraphicFramePr/>
          <p:nvPr/>
        </p:nvGraphicFramePr>
        <p:xfrm>
          <a:off x="5715000" y="29545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{20551163-69D8-41D5-804B-67B62984040B}</a:tableStyleId>
              </a:tblPr>
              <a:tblGrid>
                <a:gridCol w="903225"/>
                <a:gridCol w="1160025"/>
                <a:gridCol w="1160025"/>
              </a:tblGrid>
              <a:tr h="30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AS_PATH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LOCAL_PREF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MED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61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{16, 56}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61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{16, 10}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61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{16, 35}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797" name="Google Shape;797;p43"/>
          <p:cNvGrpSpPr/>
          <p:nvPr/>
        </p:nvGrpSpPr>
        <p:grpSpPr>
          <a:xfrm>
            <a:off x="5800725" y="2384966"/>
            <a:ext cx="1405890" cy="1077725"/>
            <a:chOff x="7600950" y="1032616"/>
            <a:chExt cx="1405890" cy="1077725"/>
          </a:xfrm>
        </p:grpSpPr>
        <p:cxnSp>
          <p:nvCxnSpPr>
            <p:cNvPr id="798" name="Google Shape;798;p43"/>
            <p:cNvCxnSpPr/>
            <p:nvPr/>
          </p:nvCxnSpPr>
          <p:spPr>
            <a:xfrm>
              <a:off x="8126730" y="1348740"/>
              <a:ext cx="748665" cy="761601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sp>
          <p:nvSpPr>
            <p:cNvPr id="799" name="Google Shape;799;p43"/>
            <p:cNvSpPr txBox="1"/>
            <p:nvPr/>
          </p:nvSpPr>
          <p:spPr>
            <a:xfrm>
              <a:off x="7600950" y="1032616"/>
              <a:ext cx="1405890" cy="369332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388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Default 100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0" name="Google Shape;800;p43"/>
          <p:cNvGrpSpPr/>
          <p:nvPr/>
        </p:nvGrpSpPr>
        <p:grpSpPr>
          <a:xfrm>
            <a:off x="2795283" y="3348990"/>
            <a:ext cx="3005442" cy="798850"/>
            <a:chOff x="2795283" y="3348990"/>
            <a:chExt cx="3005442" cy="798850"/>
          </a:xfrm>
        </p:grpSpPr>
        <p:sp>
          <p:nvSpPr>
            <p:cNvPr id="801" name="Google Shape;801;p43"/>
            <p:cNvSpPr/>
            <p:nvPr/>
          </p:nvSpPr>
          <p:spPr>
            <a:xfrm>
              <a:off x="5360670" y="3348990"/>
              <a:ext cx="440055" cy="674370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43"/>
            <p:cNvSpPr txBox="1"/>
            <p:nvPr/>
          </p:nvSpPr>
          <p:spPr>
            <a:xfrm>
              <a:off x="2795283" y="3501509"/>
              <a:ext cx="27425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Same local preferences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Same # of ASes traversed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3" name="Google Shape;803;p43"/>
          <p:cNvGrpSpPr/>
          <p:nvPr/>
        </p:nvGrpSpPr>
        <p:grpSpPr>
          <a:xfrm>
            <a:off x="5714999" y="3642577"/>
            <a:ext cx="4178802" cy="568476"/>
            <a:chOff x="5766435" y="3743949"/>
            <a:chExt cx="4100862" cy="731520"/>
          </a:xfrm>
        </p:grpSpPr>
        <p:grpSp>
          <p:nvGrpSpPr>
            <p:cNvPr id="804" name="Google Shape;804;p43"/>
            <p:cNvGrpSpPr/>
            <p:nvPr/>
          </p:nvGrpSpPr>
          <p:grpSpPr>
            <a:xfrm>
              <a:off x="7581297" y="3743949"/>
              <a:ext cx="2286000" cy="731520"/>
              <a:chOff x="7581297" y="3743949"/>
              <a:chExt cx="2286000" cy="731520"/>
            </a:xfrm>
          </p:grpSpPr>
          <p:sp>
            <p:nvSpPr>
              <p:cNvPr id="805" name="Google Shape;805;p43"/>
              <p:cNvSpPr/>
              <p:nvPr/>
            </p:nvSpPr>
            <p:spPr>
              <a:xfrm>
                <a:off x="8021015" y="3743949"/>
                <a:ext cx="636142" cy="731520"/>
              </a:xfrm>
              <a:prstGeom prst="irregularSeal1">
                <a:avLst/>
              </a:prstGeom>
              <a:gradFill>
                <a:gsLst>
                  <a:gs pos="0">
                    <a:srgbClr val="FF6800">
                      <a:alpha val="20000"/>
                    </a:srgbClr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43"/>
              <p:cNvSpPr txBox="1"/>
              <p:nvPr/>
            </p:nvSpPr>
            <p:spPr>
              <a:xfrm>
                <a:off x="7581297" y="3929956"/>
                <a:ext cx="2286000" cy="4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accent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Pick Lowest</a:t>
                </a:r>
                <a:endParaRPr b="0" i="0" sz="1800" u="none" cap="none" strike="noStrike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07" name="Google Shape;807;p43"/>
            <p:cNvSpPr/>
            <p:nvPr/>
          </p:nvSpPr>
          <p:spPr>
            <a:xfrm>
              <a:off x="5766435" y="3814204"/>
              <a:ext cx="3246120" cy="591012"/>
            </a:xfrm>
            <a:prstGeom prst="frame">
              <a:avLst>
                <a:gd fmla="val 12500" name="adj1"/>
              </a:avLst>
            </a:prstGeom>
            <a:solidFill>
              <a:schemeClr val="accent2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4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BGP Route Attributes Continued …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814" name="Google Shape;814;p44"/>
          <p:cNvSpPr txBox="1"/>
          <p:nvPr>
            <p:ph idx="1" type="body"/>
          </p:nvPr>
        </p:nvSpPr>
        <p:spPr>
          <a:xfrm>
            <a:off x="457200" y="914372"/>
            <a:ext cx="8229600" cy="4080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IGP cost </a:t>
            </a:r>
            <a:r>
              <a:rPr b="0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(local attribute)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Used for </a:t>
            </a:r>
            <a:r>
              <a:rPr b="1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hot-potato routing </a:t>
            </a: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(AS wants to get rid of the packet ASAP)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minimize use of my network bandwidth (“hot potato”)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may conflict with MED (the route may not be preferred)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5"/>
          <p:cNvSpPr txBox="1"/>
          <p:nvPr>
            <p:ph type="title"/>
          </p:nvPr>
        </p:nvSpPr>
        <p:spPr>
          <a:xfrm>
            <a:off x="457200" y="204620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3959"/>
              <a:buFont typeface="PT Sans Narrow"/>
              <a:buNone/>
            </a:pPr>
            <a:r>
              <a:rPr lang="en-US" sz="3959"/>
              <a:t>Policy Oscillation</a:t>
            </a:r>
            <a:endParaRPr b="1" i="0" sz="3959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Policy Oscillation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grpSp>
        <p:nvGrpSpPr>
          <p:cNvPr id="827" name="Google Shape;827;p46"/>
          <p:cNvGrpSpPr/>
          <p:nvPr/>
        </p:nvGrpSpPr>
        <p:grpSpPr>
          <a:xfrm>
            <a:off x="2539282" y="1054217"/>
            <a:ext cx="3906789" cy="3269641"/>
            <a:chOff x="2539282" y="1054217"/>
            <a:chExt cx="3906789" cy="3269641"/>
          </a:xfrm>
        </p:grpSpPr>
        <p:grpSp>
          <p:nvGrpSpPr>
            <p:cNvPr id="828" name="Google Shape;828;p46"/>
            <p:cNvGrpSpPr/>
            <p:nvPr/>
          </p:nvGrpSpPr>
          <p:grpSpPr>
            <a:xfrm>
              <a:off x="5554531" y="3512566"/>
              <a:ext cx="891540" cy="811291"/>
              <a:chOff x="6464705" y="3644584"/>
              <a:chExt cx="891540" cy="811291"/>
            </a:xfrm>
          </p:grpSpPr>
          <p:sp>
            <p:nvSpPr>
              <p:cNvPr id="829" name="Google Shape;829;p46"/>
              <p:cNvSpPr/>
              <p:nvPr/>
            </p:nvSpPr>
            <p:spPr>
              <a:xfrm>
                <a:off x="6464705" y="3644584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46"/>
              <p:cNvSpPr txBox="1"/>
              <p:nvPr/>
            </p:nvSpPr>
            <p:spPr>
              <a:xfrm>
                <a:off x="6692259" y="3856366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31" name="Google Shape;831;p46"/>
            <p:cNvCxnSpPr/>
            <p:nvPr/>
          </p:nvCxnSpPr>
          <p:spPr>
            <a:xfrm>
              <a:off x="3430822" y="3899884"/>
              <a:ext cx="2123709" cy="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832" name="Google Shape;832;p46"/>
            <p:cNvCxnSpPr>
              <a:stCxn id="833" idx="3"/>
              <a:endCxn id="834" idx="0"/>
            </p:cNvCxnSpPr>
            <p:nvPr/>
          </p:nvCxnSpPr>
          <p:spPr>
            <a:xfrm flipH="1">
              <a:off x="2985087" y="1746697"/>
              <a:ext cx="1222500" cy="17658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835" name="Google Shape;835;p46"/>
            <p:cNvCxnSpPr>
              <a:stCxn id="833" idx="5"/>
              <a:endCxn id="829" idx="0"/>
            </p:cNvCxnSpPr>
            <p:nvPr/>
          </p:nvCxnSpPr>
          <p:spPr>
            <a:xfrm>
              <a:off x="4838001" y="1746697"/>
              <a:ext cx="1162200" cy="17658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grpSp>
          <p:nvGrpSpPr>
            <p:cNvPr id="836" name="Google Shape;836;p46"/>
            <p:cNvGrpSpPr/>
            <p:nvPr/>
          </p:nvGrpSpPr>
          <p:grpSpPr>
            <a:xfrm>
              <a:off x="4085175" y="2553571"/>
              <a:ext cx="891540" cy="811291"/>
              <a:chOff x="4130895" y="2553571"/>
              <a:chExt cx="891540" cy="811291"/>
            </a:xfrm>
          </p:grpSpPr>
          <p:sp>
            <p:nvSpPr>
              <p:cNvPr id="837" name="Google Shape;837;p46"/>
              <p:cNvSpPr/>
              <p:nvPr/>
            </p:nvSpPr>
            <p:spPr>
              <a:xfrm>
                <a:off x="4130895" y="2553571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46"/>
              <p:cNvSpPr txBox="1"/>
              <p:nvPr/>
            </p:nvSpPr>
            <p:spPr>
              <a:xfrm>
                <a:off x="4377806" y="2774550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9" name="Google Shape;839;p46"/>
            <p:cNvGrpSpPr/>
            <p:nvPr/>
          </p:nvGrpSpPr>
          <p:grpSpPr>
            <a:xfrm>
              <a:off x="4077024" y="1054217"/>
              <a:ext cx="891540" cy="811291"/>
              <a:chOff x="4077024" y="1054217"/>
              <a:chExt cx="891540" cy="811291"/>
            </a:xfrm>
          </p:grpSpPr>
          <p:sp>
            <p:nvSpPr>
              <p:cNvPr id="833" name="Google Shape;833;p46"/>
              <p:cNvSpPr/>
              <p:nvPr/>
            </p:nvSpPr>
            <p:spPr>
              <a:xfrm>
                <a:off x="4077024" y="1054217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46"/>
              <p:cNvSpPr txBox="1"/>
              <p:nvPr/>
            </p:nvSpPr>
            <p:spPr>
              <a:xfrm>
                <a:off x="4319494" y="1275197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1" name="Google Shape;841;p46"/>
            <p:cNvGrpSpPr/>
            <p:nvPr/>
          </p:nvGrpSpPr>
          <p:grpSpPr>
            <a:xfrm>
              <a:off x="2539282" y="3512567"/>
              <a:ext cx="891540" cy="811291"/>
              <a:chOff x="1622041" y="3653715"/>
              <a:chExt cx="891540" cy="811291"/>
            </a:xfrm>
          </p:grpSpPr>
          <p:sp>
            <p:nvSpPr>
              <p:cNvPr id="834" name="Google Shape;834;p46"/>
              <p:cNvSpPr/>
              <p:nvPr/>
            </p:nvSpPr>
            <p:spPr>
              <a:xfrm>
                <a:off x="1622041" y="3653715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46"/>
              <p:cNvSpPr txBox="1"/>
              <p:nvPr/>
            </p:nvSpPr>
            <p:spPr>
              <a:xfrm>
                <a:off x="1849595" y="3856366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43" name="Google Shape;843;p46"/>
            <p:cNvCxnSpPr>
              <a:stCxn id="833" idx="4"/>
              <a:endCxn id="837" idx="0"/>
            </p:cNvCxnSpPr>
            <p:nvPr/>
          </p:nvCxnSpPr>
          <p:spPr>
            <a:xfrm>
              <a:off x="4522794" y="1865508"/>
              <a:ext cx="8100" cy="6882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844" name="Google Shape;844;p46"/>
            <p:cNvCxnSpPr>
              <a:stCxn id="837" idx="5"/>
              <a:endCxn id="829" idx="1"/>
            </p:cNvCxnSpPr>
            <p:nvPr/>
          </p:nvCxnSpPr>
          <p:spPr>
            <a:xfrm>
              <a:off x="4846152" y="3246051"/>
              <a:ext cx="838800" cy="3852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lg" w="lg" type="triangl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845" name="Google Shape;845;p46"/>
            <p:cNvCxnSpPr>
              <a:stCxn id="834" idx="7"/>
              <a:endCxn id="837" idx="3"/>
            </p:cNvCxnSpPr>
            <p:nvPr/>
          </p:nvCxnSpPr>
          <p:spPr>
            <a:xfrm flipH="1" rot="10800000">
              <a:off x="3300259" y="3246178"/>
              <a:ext cx="915600" cy="38520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</p:grpSp>
      <p:sp>
        <p:nvSpPr>
          <p:cNvPr id="846" name="Google Shape;846;p46"/>
          <p:cNvSpPr txBox="1"/>
          <p:nvPr/>
        </p:nvSpPr>
        <p:spPr>
          <a:xfrm>
            <a:off x="5685094" y="669220"/>
            <a:ext cx="307821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Each node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prefers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route through neighbor over direct route.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6"/>
          <p:cNvSpPr txBox="1"/>
          <p:nvPr/>
        </p:nvSpPr>
        <p:spPr>
          <a:xfrm>
            <a:off x="5685094" y="1827161"/>
            <a:ext cx="344017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 prefers reaching 0 through 2 or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 prefers reaching 0 through 1 or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 prefers reaching 0 through 1 or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6"/>
          <p:cNvSpPr txBox="1"/>
          <p:nvPr/>
        </p:nvSpPr>
        <p:spPr>
          <a:xfrm>
            <a:off x="352603" y="1865837"/>
            <a:ext cx="307821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Suppose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initially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each node only knows the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shortest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path to 0 (</a:t>
            </a:r>
            <a:r>
              <a:rPr b="0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green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arrow).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6"/>
          <p:cNvSpPr txBox="1"/>
          <p:nvPr/>
        </p:nvSpPr>
        <p:spPr>
          <a:xfrm>
            <a:off x="352603" y="3031212"/>
            <a:ext cx="14677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 knows 1→0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 knows 2→0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 knows 3→0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0" name="Google Shape;850;p46"/>
          <p:cNvCxnSpPr/>
          <p:nvPr/>
        </p:nvCxnSpPr>
        <p:spPr>
          <a:xfrm flipH="1" rot="10800000">
            <a:off x="3253125" y="3176485"/>
            <a:ext cx="915479" cy="385327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851" name="Google Shape;851;p46"/>
          <p:cNvCxnSpPr/>
          <p:nvPr/>
        </p:nvCxnSpPr>
        <p:spPr>
          <a:xfrm>
            <a:off x="4645206" y="1856727"/>
            <a:ext cx="8151" cy="688063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852" name="Google Shape;852;p46"/>
          <p:cNvCxnSpPr/>
          <p:nvPr/>
        </p:nvCxnSpPr>
        <p:spPr>
          <a:xfrm>
            <a:off x="4896390" y="3172199"/>
            <a:ext cx="838942" cy="385326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lg" w="lg" type="triangl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8" name="Google Shape;858;p47"/>
          <p:cNvGrpSpPr/>
          <p:nvPr/>
        </p:nvGrpSpPr>
        <p:grpSpPr>
          <a:xfrm>
            <a:off x="2539282" y="1054217"/>
            <a:ext cx="3906789" cy="3269641"/>
            <a:chOff x="2539282" y="1054217"/>
            <a:chExt cx="3906789" cy="3269641"/>
          </a:xfrm>
        </p:grpSpPr>
        <p:grpSp>
          <p:nvGrpSpPr>
            <p:cNvPr id="859" name="Google Shape;859;p47"/>
            <p:cNvGrpSpPr/>
            <p:nvPr/>
          </p:nvGrpSpPr>
          <p:grpSpPr>
            <a:xfrm>
              <a:off x="5554531" y="3512566"/>
              <a:ext cx="891540" cy="811291"/>
              <a:chOff x="6464705" y="3644584"/>
              <a:chExt cx="891540" cy="811291"/>
            </a:xfrm>
          </p:grpSpPr>
          <p:sp>
            <p:nvSpPr>
              <p:cNvPr id="860" name="Google Shape;860;p47"/>
              <p:cNvSpPr/>
              <p:nvPr/>
            </p:nvSpPr>
            <p:spPr>
              <a:xfrm>
                <a:off x="6464705" y="3644584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47"/>
              <p:cNvSpPr txBox="1"/>
              <p:nvPr/>
            </p:nvSpPr>
            <p:spPr>
              <a:xfrm>
                <a:off x="6692259" y="3856366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62" name="Google Shape;862;p47"/>
            <p:cNvCxnSpPr/>
            <p:nvPr/>
          </p:nvCxnSpPr>
          <p:spPr>
            <a:xfrm>
              <a:off x="3430822" y="3899884"/>
              <a:ext cx="2123709" cy="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863" name="Google Shape;863;p47"/>
            <p:cNvCxnSpPr/>
            <p:nvPr/>
          </p:nvCxnSpPr>
          <p:spPr>
            <a:xfrm flipH="1">
              <a:off x="2985052" y="1746697"/>
              <a:ext cx="1222535" cy="176587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864" name="Google Shape;864;p47"/>
            <p:cNvCxnSpPr/>
            <p:nvPr/>
          </p:nvCxnSpPr>
          <p:spPr>
            <a:xfrm>
              <a:off x="4838001" y="1746697"/>
              <a:ext cx="1162300" cy="1765869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grpSp>
          <p:nvGrpSpPr>
            <p:cNvPr id="865" name="Google Shape;865;p47"/>
            <p:cNvGrpSpPr/>
            <p:nvPr/>
          </p:nvGrpSpPr>
          <p:grpSpPr>
            <a:xfrm>
              <a:off x="4085175" y="2553571"/>
              <a:ext cx="891540" cy="811291"/>
              <a:chOff x="4130895" y="2553571"/>
              <a:chExt cx="891540" cy="811291"/>
            </a:xfrm>
          </p:grpSpPr>
          <p:sp>
            <p:nvSpPr>
              <p:cNvPr id="866" name="Google Shape;866;p47"/>
              <p:cNvSpPr/>
              <p:nvPr/>
            </p:nvSpPr>
            <p:spPr>
              <a:xfrm>
                <a:off x="4130895" y="2553571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47"/>
              <p:cNvSpPr txBox="1"/>
              <p:nvPr/>
            </p:nvSpPr>
            <p:spPr>
              <a:xfrm>
                <a:off x="4377806" y="2774550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8" name="Google Shape;868;p47"/>
            <p:cNvGrpSpPr/>
            <p:nvPr/>
          </p:nvGrpSpPr>
          <p:grpSpPr>
            <a:xfrm>
              <a:off x="4077024" y="1054217"/>
              <a:ext cx="891540" cy="811291"/>
              <a:chOff x="4077024" y="1054217"/>
              <a:chExt cx="891540" cy="811291"/>
            </a:xfrm>
          </p:grpSpPr>
          <p:sp>
            <p:nvSpPr>
              <p:cNvPr id="869" name="Google Shape;869;p47"/>
              <p:cNvSpPr/>
              <p:nvPr/>
            </p:nvSpPr>
            <p:spPr>
              <a:xfrm>
                <a:off x="4077024" y="1054217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47"/>
              <p:cNvSpPr txBox="1"/>
              <p:nvPr/>
            </p:nvSpPr>
            <p:spPr>
              <a:xfrm>
                <a:off x="4319494" y="1275197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1" name="Google Shape;871;p47"/>
            <p:cNvGrpSpPr/>
            <p:nvPr/>
          </p:nvGrpSpPr>
          <p:grpSpPr>
            <a:xfrm>
              <a:off x="2539282" y="3512567"/>
              <a:ext cx="891540" cy="811291"/>
              <a:chOff x="1622041" y="3653715"/>
              <a:chExt cx="891540" cy="811291"/>
            </a:xfrm>
          </p:grpSpPr>
          <p:sp>
            <p:nvSpPr>
              <p:cNvPr id="872" name="Google Shape;872;p47"/>
              <p:cNvSpPr/>
              <p:nvPr/>
            </p:nvSpPr>
            <p:spPr>
              <a:xfrm>
                <a:off x="1622041" y="3653715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47"/>
              <p:cNvSpPr txBox="1"/>
              <p:nvPr/>
            </p:nvSpPr>
            <p:spPr>
              <a:xfrm>
                <a:off x="1849595" y="3856366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74" name="Google Shape;874;p47"/>
            <p:cNvCxnSpPr/>
            <p:nvPr/>
          </p:nvCxnSpPr>
          <p:spPr>
            <a:xfrm>
              <a:off x="4522794" y="1865508"/>
              <a:ext cx="8151" cy="688063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875" name="Google Shape;875;p47"/>
            <p:cNvCxnSpPr/>
            <p:nvPr/>
          </p:nvCxnSpPr>
          <p:spPr>
            <a:xfrm>
              <a:off x="4846152" y="3246051"/>
              <a:ext cx="838942" cy="385326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lg" w="lg" type="triangl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876" name="Google Shape;876;p47"/>
            <p:cNvCxnSpPr/>
            <p:nvPr/>
          </p:nvCxnSpPr>
          <p:spPr>
            <a:xfrm flipH="1" rot="10800000">
              <a:off x="3300259" y="3246051"/>
              <a:ext cx="915479" cy="385327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</p:grpSp>
      <p:sp>
        <p:nvSpPr>
          <p:cNvPr id="877" name="Google Shape;877;p4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Policy Oscillation 1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878" name="Google Shape;878;p47"/>
          <p:cNvSpPr txBox="1"/>
          <p:nvPr/>
        </p:nvSpPr>
        <p:spPr>
          <a:xfrm>
            <a:off x="5685094" y="669220"/>
            <a:ext cx="307821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Each node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prefers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route through neighbor over direct route.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47"/>
          <p:cNvSpPr txBox="1"/>
          <p:nvPr/>
        </p:nvSpPr>
        <p:spPr>
          <a:xfrm>
            <a:off x="5685094" y="1827161"/>
            <a:ext cx="344017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 prefers reaching 0 through 2 or 3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 prefers reaching 0 through 1 or 3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 prefers reaching 0 through 1 or 2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47"/>
          <p:cNvSpPr txBox="1"/>
          <p:nvPr/>
        </p:nvSpPr>
        <p:spPr>
          <a:xfrm>
            <a:off x="352603" y="1865837"/>
            <a:ext cx="307821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Suppose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initially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each node only knows the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shortest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path to 0 (</a:t>
            </a:r>
            <a:r>
              <a:rPr b="0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green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arrow).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47"/>
          <p:cNvSpPr txBox="1"/>
          <p:nvPr/>
        </p:nvSpPr>
        <p:spPr>
          <a:xfrm>
            <a:off x="352603" y="3031212"/>
            <a:ext cx="14677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 knows 1→0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 knows 2→0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 knows 3→0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47"/>
          <p:cNvSpPr txBox="1"/>
          <p:nvPr/>
        </p:nvSpPr>
        <p:spPr>
          <a:xfrm>
            <a:off x="2674470" y="45903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47"/>
          <p:cNvSpPr txBox="1"/>
          <p:nvPr/>
        </p:nvSpPr>
        <p:spPr>
          <a:xfrm>
            <a:off x="2766835" y="4434906"/>
            <a:ext cx="38872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 advertises its path to 0 to 2: 1-&gt;0</a:t>
            </a:r>
            <a:endParaRPr b="1" i="0" sz="2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4" name="Google Shape;884;p47"/>
          <p:cNvCxnSpPr/>
          <p:nvPr/>
        </p:nvCxnSpPr>
        <p:spPr>
          <a:xfrm flipH="1" rot="10800000">
            <a:off x="3253125" y="3176485"/>
            <a:ext cx="915479" cy="385327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885" name="Google Shape;885;p47"/>
          <p:cNvCxnSpPr/>
          <p:nvPr/>
        </p:nvCxnSpPr>
        <p:spPr>
          <a:xfrm>
            <a:off x="4645206" y="1856727"/>
            <a:ext cx="8151" cy="688063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886" name="Google Shape;886;p47"/>
          <p:cNvCxnSpPr/>
          <p:nvPr/>
        </p:nvCxnSpPr>
        <p:spPr>
          <a:xfrm>
            <a:off x="4896390" y="3172199"/>
            <a:ext cx="838942" cy="385326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lg" w="lg" type="triangl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887" name="Google Shape;887;p47"/>
          <p:cNvSpPr/>
          <p:nvPr/>
        </p:nvSpPr>
        <p:spPr>
          <a:xfrm>
            <a:off x="3120390" y="1786629"/>
            <a:ext cx="1352166" cy="1710951"/>
          </a:xfrm>
          <a:custGeom>
            <a:rect b="b" l="l" r="r" t="t"/>
            <a:pathLst>
              <a:path extrusionOk="0" h="120000" w="120000">
                <a:moveTo>
                  <a:pt x="0" y="119999"/>
                </a:moveTo>
                <a:cubicBezTo>
                  <a:pt x="45393" y="65969"/>
                  <a:pt x="90786" y="11939"/>
                  <a:pt x="109981" y="1228"/>
                </a:cubicBezTo>
                <a:cubicBezTo>
                  <a:pt x="129175" y="-9482"/>
                  <a:pt x="114823" y="53292"/>
                  <a:pt x="115168" y="55733"/>
                </a:cubicBezTo>
              </a:path>
            </a:pathLst>
          </a:cu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3" name="Google Shape;893;p48"/>
          <p:cNvGrpSpPr/>
          <p:nvPr/>
        </p:nvGrpSpPr>
        <p:grpSpPr>
          <a:xfrm>
            <a:off x="2539282" y="1054217"/>
            <a:ext cx="3906789" cy="3269641"/>
            <a:chOff x="2539282" y="1054217"/>
            <a:chExt cx="3906789" cy="3269641"/>
          </a:xfrm>
        </p:grpSpPr>
        <p:grpSp>
          <p:nvGrpSpPr>
            <p:cNvPr id="894" name="Google Shape;894;p48"/>
            <p:cNvGrpSpPr/>
            <p:nvPr/>
          </p:nvGrpSpPr>
          <p:grpSpPr>
            <a:xfrm>
              <a:off x="5554531" y="3512566"/>
              <a:ext cx="891540" cy="811291"/>
              <a:chOff x="6464705" y="3644584"/>
              <a:chExt cx="891540" cy="811291"/>
            </a:xfrm>
          </p:grpSpPr>
          <p:sp>
            <p:nvSpPr>
              <p:cNvPr id="895" name="Google Shape;895;p48"/>
              <p:cNvSpPr/>
              <p:nvPr/>
            </p:nvSpPr>
            <p:spPr>
              <a:xfrm>
                <a:off x="6464705" y="3644584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6" name="Google Shape;896;p48"/>
              <p:cNvSpPr txBox="1"/>
              <p:nvPr/>
            </p:nvSpPr>
            <p:spPr>
              <a:xfrm>
                <a:off x="6692259" y="3856366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97" name="Google Shape;897;p48"/>
            <p:cNvCxnSpPr/>
            <p:nvPr/>
          </p:nvCxnSpPr>
          <p:spPr>
            <a:xfrm>
              <a:off x="3430822" y="3899884"/>
              <a:ext cx="2123709" cy="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898" name="Google Shape;898;p48"/>
            <p:cNvCxnSpPr/>
            <p:nvPr/>
          </p:nvCxnSpPr>
          <p:spPr>
            <a:xfrm flipH="1">
              <a:off x="2985052" y="1746697"/>
              <a:ext cx="1222535" cy="176587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899" name="Google Shape;899;p48"/>
            <p:cNvCxnSpPr/>
            <p:nvPr/>
          </p:nvCxnSpPr>
          <p:spPr>
            <a:xfrm>
              <a:off x="4838001" y="1746697"/>
              <a:ext cx="1162300" cy="1765869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grpSp>
          <p:nvGrpSpPr>
            <p:cNvPr id="900" name="Google Shape;900;p48"/>
            <p:cNvGrpSpPr/>
            <p:nvPr/>
          </p:nvGrpSpPr>
          <p:grpSpPr>
            <a:xfrm>
              <a:off x="4085175" y="2553571"/>
              <a:ext cx="891540" cy="811291"/>
              <a:chOff x="4130895" y="2553571"/>
              <a:chExt cx="891540" cy="811291"/>
            </a:xfrm>
          </p:grpSpPr>
          <p:sp>
            <p:nvSpPr>
              <p:cNvPr id="901" name="Google Shape;901;p48"/>
              <p:cNvSpPr/>
              <p:nvPr/>
            </p:nvSpPr>
            <p:spPr>
              <a:xfrm>
                <a:off x="4130895" y="2553571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48"/>
              <p:cNvSpPr txBox="1"/>
              <p:nvPr/>
            </p:nvSpPr>
            <p:spPr>
              <a:xfrm>
                <a:off x="4377806" y="2774550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3" name="Google Shape;903;p48"/>
            <p:cNvGrpSpPr/>
            <p:nvPr/>
          </p:nvGrpSpPr>
          <p:grpSpPr>
            <a:xfrm>
              <a:off x="4077024" y="1054217"/>
              <a:ext cx="891540" cy="811291"/>
              <a:chOff x="4077024" y="1054217"/>
              <a:chExt cx="891540" cy="811291"/>
            </a:xfrm>
          </p:grpSpPr>
          <p:sp>
            <p:nvSpPr>
              <p:cNvPr id="904" name="Google Shape;904;p48"/>
              <p:cNvSpPr/>
              <p:nvPr/>
            </p:nvSpPr>
            <p:spPr>
              <a:xfrm>
                <a:off x="4077024" y="1054217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48"/>
              <p:cNvSpPr txBox="1"/>
              <p:nvPr/>
            </p:nvSpPr>
            <p:spPr>
              <a:xfrm>
                <a:off x="4319494" y="1275197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6" name="Google Shape;906;p48"/>
            <p:cNvGrpSpPr/>
            <p:nvPr/>
          </p:nvGrpSpPr>
          <p:grpSpPr>
            <a:xfrm>
              <a:off x="2539282" y="3512567"/>
              <a:ext cx="891540" cy="811291"/>
              <a:chOff x="1622041" y="3653715"/>
              <a:chExt cx="891540" cy="811291"/>
            </a:xfrm>
          </p:grpSpPr>
          <p:sp>
            <p:nvSpPr>
              <p:cNvPr id="907" name="Google Shape;907;p48"/>
              <p:cNvSpPr/>
              <p:nvPr/>
            </p:nvSpPr>
            <p:spPr>
              <a:xfrm>
                <a:off x="1622041" y="3653715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48"/>
              <p:cNvSpPr txBox="1"/>
              <p:nvPr/>
            </p:nvSpPr>
            <p:spPr>
              <a:xfrm>
                <a:off x="1849595" y="3856366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09" name="Google Shape;909;p48"/>
            <p:cNvCxnSpPr/>
            <p:nvPr/>
          </p:nvCxnSpPr>
          <p:spPr>
            <a:xfrm>
              <a:off x="4522794" y="1865508"/>
              <a:ext cx="8151" cy="688063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910" name="Google Shape;910;p48"/>
            <p:cNvCxnSpPr/>
            <p:nvPr/>
          </p:nvCxnSpPr>
          <p:spPr>
            <a:xfrm>
              <a:off x="4846152" y="3246051"/>
              <a:ext cx="838942" cy="385326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lg" w="lg" type="triangl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911" name="Google Shape;911;p48"/>
            <p:cNvCxnSpPr/>
            <p:nvPr/>
          </p:nvCxnSpPr>
          <p:spPr>
            <a:xfrm flipH="1" rot="10800000">
              <a:off x="3300259" y="3246051"/>
              <a:ext cx="915479" cy="385327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</p:grpSp>
      <p:sp>
        <p:nvSpPr>
          <p:cNvPr id="912" name="Google Shape;912;p4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Policy Oscillation 2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913" name="Google Shape;913;p48"/>
          <p:cNvSpPr txBox="1"/>
          <p:nvPr/>
        </p:nvSpPr>
        <p:spPr>
          <a:xfrm>
            <a:off x="5685094" y="669220"/>
            <a:ext cx="307821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Each node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prefers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route through neighbor over direct route.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48"/>
          <p:cNvSpPr txBox="1"/>
          <p:nvPr/>
        </p:nvSpPr>
        <p:spPr>
          <a:xfrm>
            <a:off x="5685094" y="1827161"/>
            <a:ext cx="344017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 prefers reaching 0 through 2 or 3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 prefers reaching 0 through 1 or 3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 prefers reaching 0 through 1 or 2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48"/>
          <p:cNvSpPr txBox="1"/>
          <p:nvPr/>
        </p:nvSpPr>
        <p:spPr>
          <a:xfrm>
            <a:off x="352603" y="1865837"/>
            <a:ext cx="307821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Suppose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initially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each node only knows the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shortest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path to 0 (</a:t>
            </a:r>
            <a:r>
              <a:rPr b="0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green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arrow).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48"/>
          <p:cNvSpPr txBox="1"/>
          <p:nvPr/>
        </p:nvSpPr>
        <p:spPr>
          <a:xfrm>
            <a:off x="352603" y="3031212"/>
            <a:ext cx="14677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 knows 1→0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 knows 2→0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 knows 3→0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48"/>
          <p:cNvSpPr txBox="1"/>
          <p:nvPr/>
        </p:nvSpPr>
        <p:spPr>
          <a:xfrm>
            <a:off x="2674470" y="45903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48"/>
          <p:cNvSpPr txBox="1"/>
          <p:nvPr/>
        </p:nvSpPr>
        <p:spPr>
          <a:xfrm>
            <a:off x="2766835" y="4434906"/>
            <a:ext cx="38872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3 advertises its path of 0 to 1: 3-&gt;0</a:t>
            </a:r>
            <a:endParaRPr b="1" i="0" sz="2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9" name="Google Shape;919;p48"/>
          <p:cNvCxnSpPr/>
          <p:nvPr/>
        </p:nvCxnSpPr>
        <p:spPr>
          <a:xfrm>
            <a:off x="4645206" y="1856727"/>
            <a:ext cx="8151" cy="688063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920" name="Google Shape;920;p48"/>
          <p:cNvCxnSpPr/>
          <p:nvPr/>
        </p:nvCxnSpPr>
        <p:spPr>
          <a:xfrm>
            <a:off x="4896390" y="3172199"/>
            <a:ext cx="838942" cy="385326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lg" w="lg" type="triangl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921" name="Google Shape;921;p48"/>
          <p:cNvSpPr/>
          <p:nvPr/>
        </p:nvSpPr>
        <p:spPr>
          <a:xfrm>
            <a:off x="3120390" y="1786629"/>
            <a:ext cx="1352166" cy="1710951"/>
          </a:xfrm>
          <a:custGeom>
            <a:rect b="b" l="l" r="r" t="t"/>
            <a:pathLst>
              <a:path extrusionOk="0" h="120000" w="120000">
                <a:moveTo>
                  <a:pt x="0" y="119999"/>
                </a:moveTo>
                <a:cubicBezTo>
                  <a:pt x="45393" y="65969"/>
                  <a:pt x="90786" y="11939"/>
                  <a:pt x="109981" y="1228"/>
                </a:cubicBezTo>
                <a:cubicBezTo>
                  <a:pt x="129175" y="-9482"/>
                  <a:pt x="114823" y="53292"/>
                  <a:pt x="115168" y="55733"/>
                </a:cubicBezTo>
              </a:path>
            </a:pathLst>
          </a:cu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48"/>
          <p:cNvSpPr/>
          <p:nvPr/>
        </p:nvSpPr>
        <p:spPr>
          <a:xfrm>
            <a:off x="4766310" y="1874520"/>
            <a:ext cx="1108754" cy="176039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cubicBezTo>
                  <a:pt x="59585" y="48501"/>
                  <a:pt x="119170" y="97003"/>
                  <a:pt x="119995" y="113755"/>
                </a:cubicBezTo>
                <a:cubicBezTo>
                  <a:pt x="120819" y="130506"/>
                  <a:pt x="16494" y="109210"/>
                  <a:pt x="4948" y="100509"/>
                </a:cubicBezTo>
              </a:path>
            </a:pathLst>
          </a:cu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8" name="Google Shape;928;p49"/>
          <p:cNvGrpSpPr/>
          <p:nvPr/>
        </p:nvGrpSpPr>
        <p:grpSpPr>
          <a:xfrm>
            <a:off x="2539282" y="1054217"/>
            <a:ext cx="3906789" cy="3269641"/>
            <a:chOff x="2539282" y="1054217"/>
            <a:chExt cx="3906789" cy="3269641"/>
          </a:xfrm>
        </p:grpSpPr>
        <p:grpSp>
          <p:nvGrpSpPr>
            <p:cNvPr id="929" name="Google Shape;929;p49"/>
            <p:cNvGrpSpPr/>
            <p:nvPr/>
          </p:nvGrpSpPr>
          <p:grpSpPr>
            <a:xfrm>
              <a:off x="5554531" y="3512566"/>
              <a:ext cx="891540" cy="811291"/>
              <a:chOff x="6464705" y="3644584"/>
              <a:chExt cx="891540" cy="811291"/>
            </a:xfrm>
          </p:grpSpPr>
          <p:sp>
            <p:nvSpPr>
              <p:cNvPr id="930" name="Google Shape;930;p49"/>
              <p:cNvSpPr/>
              <p:nvPr/>
            </p:nvSpPr>
            <p:spPr>
              <a:xfrm>
                <a:off x="6464705" y="3644584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49"/>
              <p:cNvSpPr txBox="1"/>
              <p:nvPr/>
            </p:nvSpPr>
            <p:spPr>
              <a:xfrm>
                <a:off x="6692259" y="3856366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32" name="Google Shape;932;p49"/>
            <p:cNvCxnSpPr/>
            <p:nvPr/>
          </p:nvCxnSpPr>
          <p:spPr>
            <a:xfrm>
              <a:off x="3430822" y="3899884"/>
              <a:ext cx="2123709" cy="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933" name="Google Shape;933;p49"/>
            <p:cNvCxnSpPr/>
            <p:nvPr/>
          </p:nvCxnSpPr>
          <p:spPr>
            <a:xfrm flipH="1">
              <a:off x="2985052" y="1746697"/>
              <a:ext cx="1222535" cy="176587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934" name="Google Shape;934;p49"/>
            <p:cNvCxnSpPr/>
            <p:nvPr/>
          </p:nvCxnSpPr>
          <p:spPr>
            <a:xfrm>
              <a:off x="4838001" y="1746697"/>
              <a:ext cx="1162300" cy="1765869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grpSp>
          <p:nvGrpSpPr>
            <p:cNvPr id="935" name="Google Shape;935;p49"/>
            <p:cNvGrpSpPr/>
            <p:nvPr/>
          </p:nvGrpSpPr>
          <p:grpSpPr>
            <a:xfrm>
              <a:off x="4085175" y="2553571"/>
              <a:ext cx="891540" cy="811291"/>
              <a:chOff x="4130895" y="2553571"/>
              <a:chExt cx="891540" cy="811291"/>
            </a:xfrm>
          </p:grpSpPr>
          <p:sp>
            <p:nvSpPr>
              <p:cNvPr id="936" name="Google Shape;936;p49"/>
              <p:cNvSpPr/>
              <p:nvPr/>
            </p:nvSpPr>
            <p:spPr>
              <a:xfrm>
                <a:off x="4130895" y="2553571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49"/>
              <p:cNvSpPr txBox="1"/>
              <p:nvPr/>
            </p:nvSpPr>
            <p:spPr>
              <a:xfrm>
                <a:off x="4377806" y="2774550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8" name="Google Shape;938;p49"/>
            <p:cNvGrpSpPr/>
            <p:nvPr/>
          </p:nvGrpSpPr>
          <p:grpSpPr>
            <a:xfrm>
              <a:off x="4077024" y="1054217"/>
              <a:ext cx="891540" cy="811291"/>
              <a:chOff x="4077024" y="1054217"/>
              <a:chExt cx="891540" cy="811291"/>
            </a:xfrm>
          </p:grpSpPr>
          <p:sp>
            <p:nvSpPr>
              <p:cNvPr id="939" name="Google Shape;939;p49"/>
              <p:cNvSpPr/>
              <p:nvPr/>
            </p:nvSpPr>
            <p:spPr>
              <a:xfrm>
                <a:off x="4077024" y="1054217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49"/>
              <p:cNvSpPr txBox="1"/>
              <p:nvPr/>
            </p:nvSpPr>
            <p:spPr>
              <a:xfrm>
                <a:off x="4319494" y="1275197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1" name="Google Shape;941;p49"/>
            <p:cNvGrpSpPr/>
            <p:nvPr/>
          </p:nvGrpSpPr>
          <p:grpSpPr>
            <a:xfrm>
              <a:off x="2539282" y="3512567"/>
              <a:ext cx="891540" cy="811291"/>
              <a:chOff x="1622041" y="3653715"/>
              <a:chExt cx="891540" cy="811291"/>
            </a:xfrm>
          </p:grpSpPr>
          <p:sp>
            <p:nvSpPr>
              <p:cNvPr id="942" name="Google Shape;942;p49"/>
              <p:cNvSpPr/>
              <p:nvPr/>
            </p:nvSpPr>
            <p:spPr>
              <a:xfrm>
                <a:off x="1622041" y="3653715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49"/>
              <p:cNvSpPr txBox="1"/>
              <p:nvPr/>
            </p:nvSpPr>
            <p:spPr>
              <a:xfrm>
                <a:off x="1849595" y="3856366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44" name="Google Shape;944;p49"/>
            <p:cNvCxnSpPr/>
            <p:nvPr/>
          </p:nvCxnSpPr>
          <p:spPr>
            <a:xfrm>
              <a:off x="4522794" y="1865508"/>
              <a:ext cx="8151" cy="688063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945" name="Google Shape;945;p49"/>
            <p:cNvCxnSpPr/>
            <p:nvPr/>
          </p:nvCxnSpPr>
          <p:spPr>
            <a:xfrm>
              <a:off x="4846152" y="3246051"/>
              <a:ext cx="838942" cy="385326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lg" w="lg" type="triangl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946" name="Google Shape;946;p49"/>
            <p:cNvCxnSpPr/>
            <p:nvPr/>
          </p:nvCxnSpPr>
          <p:spPr>
            <a:xfrm flipH="1" rot="10800000">
              <a:off x="3300259" y="3246051"/>
              <a:ext cx="915479" cy="385327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</p:grpSp>
      <p:sp>
        <p:nvSpPr>
          <p:cNvPr id="947" name="Google Shape;947;p4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Policy Oscillation 3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948" name="Google Shape;948;p49"/>
          <p:cNvSpPr txBox="1"/>
          <p:nvPr/>
        </p:nvSpPr>
        <p:spPr>
          <a:xfrm>
            <a:off x="5685094" y="669220"/>
            <a:ext cx="307821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Each node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prefers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route through neighbor over direct route.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49"/>
          <p:cNvSpPr txBox="1"/>
          <p:nvPr/>
        </p:nvSpPr>
        <p:spPr>
          <a:xfrm>
            <a:off x="5685094" y="1827161"/>
            <a:ext cx="344017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 prefers reaching 0 through 2 or 3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 prefers reaching 0 through 1 or 3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 prefers reaching 0 through 1 or 2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49"/>
          <p:cNvSpPr txBox="1"/>
          <p:nvPr/>
        </p:nvSpPr>
        <p:spPr>
          <a:xfrm>
            <a:off x="352603" y="1865837"/>
            <a:ext cx="307821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Suppose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initially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each node only knows the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shortest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path to 0 (</a:t>
            </a:r>
            <a:r>
              <a:rPr b="0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green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arrow).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49"/>
          <p:cNvSpPr txBox="1"/>
          <p:nvPr/>
        </p:nvSpPr>
        <p:spPr>
          <a:xfrm>
            <a:off x="352603" y="3031212"/>
            <a:ext cx="14677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 knows 1→0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 knows 2→0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 knows 3→0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49"/>
          <p:cNvSpPr txBox="1"/>
          <p:nvPr/>
        </p:nvSpPr>
        <p:spPr>
          <a:xfrm>
            <a:off x="2674470" y="45903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49"/>
          <p:cNvSpPr txBox="1"/>
          <p:nvPr/>
        </p:nvSpPr>
        <p:spPr>
          <a:xfrm>
            <a:off x="2066875" y="4323850"/>
            <a:ext cx="485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 withdraws its path of 0 to 2: 1-&gt;0 (because 1 now takes 1-&gt;3-&gt;0)</a:t>
            </a:r>
            <a:endParaRPr b="1" i="0" sz="2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4" name="Google Shape;954;p49"/>
          <p:cNvCxnSpPr/>
          <p:nvPr/>
        </p:nvCxnSpPr>
        <p:spPr>
          <a:xfrm>
            <a:off x="4896390" y="3172199"/>
            <a:ext cx="838942" cy="385326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lg" w="lg" type="triangl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955" name="Google Shape;955;p49"/>
          <p:cNvSpPr/>
          <p:nvPr/>
        </p:nvSpPr>
        <p:spPr>
          <a:xfrm>
            <a:off x="3120390" y="1786629"/>
            <a:ext cx="1352166" cy="1710951"/>
          </a:xfrm>
          <a:custGeom>
            <a:rect b="b" l="l" r="r" t="t"/>
            <a:pathLst>
              <a:path extrusionOk="0" h="120000" w="120000">
                <a:moveTo>
                  <a:pt x="0" y="119999"/>
                </a:moveTo>
                <a:cubicBezTo>
                  <a:pt x="45393" y="65969"/>
                  <a:pt x="90786" y="11939"/>
                  <a:pt x="109981" y="1228"/>
                </a:cubicBezTo>
                <a:cubicBezTo>
                  <a:pt x="129175" y="-9482"/>
                  <a:pt x="114823" y="53292"/>
                  <a:pt x="115168" y="55733"/>
                </a:cubicBezTo>
              </a:path>
            </a:pathLst>
          </a:cu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49"/>
          <p:cNvSpPr/>
          <p:nvPr/>
        </p:nvSpPr>
        <p:spPr>
          <a:xfrm>
            <a:off x="4766310" y="1874520"/>
            <a:ext cx="1108754" cy="176039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cubicBezTo>
                  <a:pt x="59585" y="48501"/>
                  <a:pt x="119170" y="97003"/>
                  <a:pt x="119995" y="113755"/>
                </a:cubicBezTo>
                <a:cubicBezTo>
                  <a:pt x="120819" y="130506"/>
                  <a:pt x="16494" y="109210"/>
                  <a:pt x="4948" y="100509"/>
                </a:cubicBezTo>
              </a:path>
            </a:pathLst>
          </a:cu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7" name="Google Shape;957;p49"/>
          <p:cNvCxnSpPr/>
          <p:nvPr/>
        </p:nvCxnSpPr>
        <p:spPr>
          <a:xfrm flipH="1" rot="10800000">
            <a:off x="3253125" y="3176485"/>
            <a:ext cx="915479" cy="385327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3" name="Google Shape;963;p50"/>
          <p:cNvGrpSpPr/>
          <p:nvPr/>
        </p:nvGrpSpPr>
        <p:grpSpPr>
          <a:xfrm>
            <a:off x="2539282" y="1054217"/>
            <a:ext cx="3906789" cy="3269641"/>
            <a:chOff x="2539282" y="1054217"/>
            <a:chExt cx="3906789" cy="3269641"/>
          </a:xfrm>
        </p:grpSpPr>
        <p:grpSp>
          <p:nvGrpSpPr>
            <p:cNvPr id="964" name="Google Shape;964;p50"/>
            <p:cNvGrpSpPr/>
            <p:nvPr/>
          </p:nvGrpSpPr>
          <p:grpSpPr>
            <a:xfrm>
              <a:off x="5554531" y="3512566"/>
              <a:ext cx="891540" cy="811291"/>
              <a:chOff x="6464705" y="3644584"/>
              <a:chExt cx="891540" cy="811291"/>
            </a:xfrm>
          </p:grpSpPr>
          <p:sp>
            <p:nvSpPr>
              <p:cNvPr id="965" name="Google Shape;965;p50"/>
              <p:cNvSpPr/>
              <p:nvPr/>
            </p:nvSpPr>
            <p:spPr>
              <a:xfrm>
                <a:off x="6464705" y="3644584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6" name="Google Shape;966;p50"/>
              <p:cNvSpPr txBox="1"/>
              <p:nvPr/>
            </p:nvSpPr>
            <p:spPr>
              <a:xfrm>
                <a:off x="6692259" y="3856366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67" name="Google Shape;967;p50"/>
            <p:cNvCxnSpPr/>
            <p:nvPr/>
          </p:nvCxnSpPr>
          <p:spPr>
            <a:xfrm>
              <a:off x="3430822" y="3899884"/>
              <a:ext cx="2123709" cy="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968" name="Google Shape;968;p50"/>
            <p:cNvCxnSpPr/>
            <p:nvPr/>
          </p:nvCxnSpPr>
          <p:spPr>
            <a:xfrm flipH="1">
              <a:off x="2985052" y="1746697"/>
              <a:ext cx="1222535" cy="176587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969" name="Google Shape;969;p50"/>
            <p:cNvCxnSpPr/>
            <p:nvPr/>
          </p:nvCxnSpPr>
          <p:spPr>
            <a:xfrm>
              <a:off x="4838001" y="1746697"/>
              <a:ext cx="1162300" cy="1765869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grpSp>
          <p:nvGrpSpPr>
            <p:cNvPr id="970" name="Google Shape;970;p50"/>
            <p:cNvGrpSpPr/>
            <p:nvPr/>
          </p:nvGrpSpPr>
          <p:grpSpPr>
            <a:xfrm>
              <a:off x="4085175" y="2553571"/>
              <a:ext cx="891540" cy="811291"/>
              <a:chOff x="4130895" y="2553571"/>
              <a:chExt cx="891540" cy="811291"/>
            </a:xfrm>
          </p:grpSpPr>
          <p:sp>
            <p:nvSpPr>
              <p:cNvPr id="971" name="Google Shape;971;p50"/>
              <p:cNvSpPr/>
              <p:nvPr/>
            </p:nvSpPr>
            <p:spPr>
              <a:xfrm>
                <a:off x="4130895" y="2553571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50"/>
              <p:cNvSpPr txBox="1"/>
              <p:nvPr/>
            </p:nvSpPr>
            <p:spPr>
              <a:xfrm>
                <a:off x="4377806" y="2774550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3" name="Google Shape;973;p50"/>
            <p:cNvGrpSpPr/>
            <p:nvPr/>
          </p:nvGrpSpPr>
          <p:grpSpPr>
            <a:xfrm>
              <a:off x="4077024" y="1054217"/>
              <a:ext cx="891540" cy="811291"/>
              <a:chOff x="4077024" y="1054217"/>
              <a:chExt cx="891540" cy="811291"/>
            </a:xfrm>
          </p:grpSpPr>
          <p:sp>
            <p:nvSpPr>
              <p:cNvPr id="974" name="Google Shape;974;p50"/>
              <p:cNvSpPr/>
              <p:nvPr/>
            </p:nvSpPr>
            <p:spPr>
              <a:xfrm>
                <a:off x="4077024" y="1054217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50"/>
              <p:cNvSpPr txBox="1"/>
              <p:nvPr/>
            </p:nvSpPr>
            <p:spPr>
              <a:xfrm>
                <a:off x="4319494" y="1275197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6" name="Google Shape;976;p50"/>
            <p:cNvGrpSpPr/>
            <p:nvPr/>
          </p:nvGrpSpPr>
          <p:grpSpPr>
            <a:xfrm>
              <a:off x="2539282" y="3512567"/>
              <a:ext cx="891540" cy="811291"/>
              <a:chOff x="1622041" y="3653715"/>
              <a:chExt cx="891540" cy="811291"/>
            </a:xfrm>
          </p:grpSpPr>
          <p:sp>
            <p:nvSpPr>
              <p:cNvPr id="977" name="Google Shape;977;p50"/>
              <p:cNvSpPr/>
              <p:nvPr/>
            </p:nvSpPr>
            <p:spPr>
              <a:xfrm>
                <a:off x="1622041" y="3653715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50"/>
              <p:cNvSpPr txBox="1"/>
              <p:nvPr/>
            </p:nvSpPr>
            <p:spPr>
              <a:xfrm>
                <a:off x="1849595" y="3856366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79" name="Google Shape;979;p50"/>
            <p:cNvCxnSpPr/>
            <p:nvPr/>
          </p:nvCxnSpPr>
          <p:spPr>
            <a:xfrm>
              <a:off x="4522794" y="1865508"/>
              <a:ext cx="8151" cy="688063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980" name="Google Shape;980;p50"/>
            <p:cNvCxnSpPr/>
            <p:nvPr/>
          </p:nvCxnSpPr>
          <p:spPr>
            <a:xfrm>
              <a:off x="4846152" y="3246051"/>
              <a:ext cx="838942" cy="385326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lg" w="lg" type="triangl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981" name="Google Shape;981;p50"/>
            <p:cNvCxnSpPr/>
            <p:nvPr/>
          </p:nvCxnSpPr>
          <p:spPr>
            <a:xfrm flipH="1" rot="10800000">
              <a:off x="3300259" y="3246051"/>
              <a:ext cx="915479" cy="385327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</p:grpSp>
      <p:sp>
        <p:nvSpPr>
          <p:cNvPr id="982" name="Google Shape;982;p5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Policy Oscillation 4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983" name="Google Shape;983;p50"/>
          <p:cNvSpPr txBox="1"/>
          <p:nvPr/>
        </p:nvSpPr>
        <p:spPr>
          <a:xfrm>
            <a:off x="5685094" y="669220"/>
            <a:ext cx="307821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Each node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prefers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route through neighbor over direct route.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50"/>
          <p:cNvSpPr txBox="1"/>
          <p:nvPr/>
        </p:nvSpPr>
        <p:spPr>
          <a:xfrm>
            <a:off x="5685094" y="1827161"/>
            <a:ext cx="344017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 prefers reaching 0 through 2 or 3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 prefers reaching 0 through 1 or 3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 prefers reaching 0 through 1 or 2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50"/>
          <p:cNvSpPr txBox="1"/>
          <p:nvPr/>
        </p:nvSpPr>
        <p:spPr>
          <a:xfrm>
            <a:off x="352603" y="1865837"/>
            <a:ext cx="307821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Suppose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initially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each node only knows the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shortest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path to 0 (</a:t>
            </a:r>
            <a:r>
              <a:rPr b="0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green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arrow).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50"/>
          <p:cNvSpPr txBox="1"/>
          <p:nvPr/>
        </p:nvSpPr>
        <p:spPr>
          <a:xfrm>
            <a:off x="352603" y="3031212"/>
            <a:ext cx="14677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 knows 1→0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 knows 2→0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 knows 3→0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50"/>
          <p:cNvSpPr txBox="1"/>
          <p:nvPr/>
        </p:nvSpPr>
        <p:spPr>
          <a:xfrm>
            <a:off x="2674470" y="45903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50"/>
          <p:cNvSpPr txBox="1"/>
          <p:nvPr/>
        </p:nvSpPr>
        <p:spPr>
          <a:xfrm>
            <a:off x="2766834" y="4434906"/>
            <a:ext cx="48112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2 now advertises its path of 0 to 3: 2-&gt;0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(3 would take it as it favors its neighbor)</a:t>
            </a:r>
            <a:endParaRPr b="1" i="0" sz="2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9" name="Google Shape;989;p50"/>
          <p:cNvCxnSpPr/>
          <p:nvPr/>
        </p:nvCxnSpPr>
        <p:spPr>
          <a:xfrm>
            <a:off x="4896390" y="3172199"/>
            <a:ext cx="838942" cy="385326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lg" w="lg" type="triangl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990" name="Google Shape;990;p50"/>
          <p:cNvSpPr/>
          <p:nvPr/>
        </p:nvSpPr>
        <p:spPr>
          <a:xfrm>
            <a:off x="4766310" y="1874520"/>
            <a:ext cx="1108754" cy="176039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cubicBezTo>
                  <a:pt x="59585" y="48501"/>
                  <a:pt x="119170" y="97003"/>
                  <a:pt x="119995" y="113755"/>
                </a:cubicBezTo>
                <a:cubicBezTo>
                  <a:pt x="120819" y="130506"/>
                  <a:pt x="16494" y="109210"/>
                  <a:pt x="4948" y="100509"/>
                </a:cubicBezTo>
              </a:path>
            </a:pathLst>
          </a:cu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1" name="Google Shape;991;p50"/>
          <p:cNvCxnSpPr/>
          <p:nvPr/>
        </p:nvCxnSpPr>
        <p:spPr>
          <a:xfrm flipH="1" rot="10800000">
            <a:off x="3253125" y="3176485"/>
            <a:ext cx="915479" cy="385327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992" name="Google Shape;992;p50"/>
          <p:cNvSpPr/>
          <p:nvPr/>
        </p:nvSpPr>
        <p:spPr>
          <a:xfrm>
            <a:off x="3433778" y="3314700"/>
            <a:ext cx="2117448" cy="549848"/>
          </a:xfrm>
          <a:custGeom>
            <a:rect b="b" l="l" r="r" t="t"/>
            <a:pathLst>
              <a:path extrusionOk="0" h="120000" w="120000">
                <a:moveTo>
                  <a:pt x="120000" y="107545"/>
                </a:moveTo>
                <a:cubicBezTo>
                  <a:pt x="66907" y="117851"/>
                  <a:pt x="13814" y="128158"/>
                  <a:pt x="1678" y="110234"/>
                </a:cubicBezTo>
                <a:cubicBezTo>
                  <a:pt x="-10456" y="92309"/>
                  <a:pt x="47186" y="0"/>
                  <a:pt x="47186" y="0"/>
                </a:cubicBezTo>
              </a:path>
            </a:pathLst>
          </a:cu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8" name="Google Shape;998;p51"/>
          <p:cNvGrpSpPr/>
          <p:nvPr/>
        </p:nvGrpSpPr>
        <p:grpSpPr>
          <a:xfrm>
            <a:off x="2539282" y="1054217"/>
            <a:ext cx="3906789" cy="3269641"/>
            <a:chOff x="2539282" y="1054217"/>
            <a:chExt cx="3906789" cy="3269641"/>
          </a:xfrm>
        </p:grpSpPr>
        <p:grpSp>
          <p:nvGrpSpPr>
            <p:cNvPr id="999" name="Google Shape;999;p51"/>
            <p:cNvGrpSpPr/>
            <p:nvPr/>
          </p:nvGrpSpPr>
          <p:grpSpPr>
            <a:xfrm>
              <a:off x="5554531" y="3512566"/>
              <a:ext cx="891540" cy="811291"/>
              <a:chOff x="6464705" y="3644584"/>
              <a:chExt cx="891540" cy="811291"/>
            </a:xfrm>
          </p:grpSpPr>
          <p:sp>
            <p:nvSpPr>
              <p:cNvPr id="1000" name="Google Shape;1000;p51"/>
              <p:cNvSpPr/>
              <p:nvPr/>
            </p:nvSpPr>
            <p:spPr>
              <a:xfrm>
                <a:off x="6464705" y="3644584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51"/>
              <p:cNvSpPr txBox="1"/>
              <p:nvPr/>
            </p:nvSpPr>
            <p:spPr>
              <a:xfrm>
                <a:off x="6692259" y="3856366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02" name="Google Shape;1002;p51"/>
            <p:cNvCxnSpPr/>
            <p:nvPr/>
          </p:nvCxnSpPr>
          <p:spPr>
            <a:xfrm>
              <a:off x="3430822" y="3899884"/>
              <a:ext cx="2123709" cy="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1003" name="Google Shape;1003;p51"/>
            <p:cNvCxnSpPr/>
            <p:nvPr/>
          </p:nvCxnSpPr>
          <p:spPr>
            <a:xfrm flipH="1">
              <a:off x="2985052" y="1746697"/>
              <a:ext cx="1222535" cy="176587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1004" name="Google Shape;1004;p51"/>
            <p:cNvCxnSpPr/>
            <p:nvPr/>
          </p:nvCxnSpPr>
          <p:spPr>
            <a:xfrm>
              <a:off x="4838001" y="1746697"/>
              <a:ext cx="1162300" cy="1765869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grpSp>
          <p:nvGrpSpPr>
            <p:cNvPr id="1005" name="Google Shape;1005;p51"/>
            <p:cNvGrpSpPr/>
            <p:nvPr/>
          </p:nvGrpSpPr>
          <p:grpSpPr>
            <a:xfrm>
              <a:off x="4085175" y="2553571"/>
              <a:ext cx="891540" cy="811291"/>
              <a:chOff x="4130895" y="2553571"/>
              <a:chExt cx="891540" cy="811291"/>
            </a:xfrm>
          </p:grpSpPr>
          <p:sp>
            <p:nvSpPr>
              <p:cNvPr id="1006" name="Google Shape;1006;p51"/>
              <p:cNvSpPr/>
              <p:nvPr/>
            </p:nvSpPr>
            <p:spPr>
              <a:xfrm>
                <a:off x="4130895" y="2553571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51"/>
              <p:cNvSpPr txBox="1"/>
              <p:nvPr/>
            </p:nvSpPr>
            <p:spPr>
              <a:xfrm>
                <a:off x="4377806" y="2774550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8" name="Google Shape;1008;p51"/>
            <p:cNvGrpSpPr/>
            <p:nvPr/>
          </p:nvGrpSpPr>
          <p:grpSpPr>
            <a:xfrm>
              <a:off x="4077024" y="1054217"/>
              <a:ext cx="891540" cy="811291"/>
              <a:chOff x="4077024" y="1054217"/>
              <a:chExt cx="891540" cy="811291"/>
            </a:xfrm>
          </p:grpSpPr>
          <p:sp>
            <p:nvSpPr>
              <p:cNvPr id="1009" name="Google Shape;1009;p51"/>
              <p:cNvSpPr/>
              <p:nvPr/>
            </p:nvSpPr>
            <p:spPr>
              <a:xfrm>
                <a:off x="4077024" y="1054217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51"/>
              <p:cNvSpPr txBox="1"/>
              <p:nvPr/>
            </p:nvSpPr>
            <p:spPr>
              <a:xfrm>
                <a:off x="4319494" y="1275197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1" name="Google Shape;1011;p51"/>
            <p:cNvGrpSpPr/>
            <p:nvPr/>
          </p:nvGrpSpPr>
          <p:grpSpPr>
            <a:xfrm>
              <a:off x="2539282" y="3512567"/>
              <a:ext cx="891540" cy="811291"/>
              <a:chOff x="1622041" y="3653715"/>
              <a:chExt cx="891540" cy="811291"/>
            </a:xfrm>
          </p:grpSpPr>
          <p:sp>
            <p:nvSpPr>
              <p:cNvPr id="1012" name="Google Shape;1012;p51"/>
              <p:cNvSpPr/>
              <p:nvPr/>
            </p:nvSpPr>
            <p:spPr>
              <a:xfrm>
                <a:off x="1622041" y="3653715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51"/>
              <p:cNvSpPr txBox="1"/>
              <p:nvPr/>
            </p:nvSpPr>
            <p:spPr>
              <a:xfrm>
                <a:off x="1849595" y="3856366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14" name="Google Shape;1014;p51"/>
            <p:cNvCxnSpPr/>
            <p:nvPr/>
          </p:nvCxnSpPr>
          <p:spPr>
            <a:xfrm>
              <a:off x="4522794" y="1865508"/>
              <a:ext cx="8151" cy="688063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1015" name="Google Shape;1015;p51"/>
            <p:cNvCxnSpPr/>
            <p:nvPr/>
          </p:nvCxnSpPr>
          <p:spPr>
            <a:xfrm>
              <a:off x="4846152" y="3246051"/>
              <a:ext cx="838942" cy="385326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lg" w="lg" type="triangl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1016" name="Google Shape;1016;p51"/>
            <p:cNvCxnSpPr/>
            <p:nvPr/>
          </p:nvCxnSpPr>
          <p:spPr>
            <a:xfrm flipH="1" rot="10800000">
              <a:off x="3300259" y="3246051"/>
              <a:ext cx="915479" cy="385327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</p:grpSp>
      <p:sp>
        <p:nvSpPr>
          <p:cNvPr id="1017" name="Google Shape;1017;p5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Policy Oscillation 5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018" name="Google Shape;1018;p51"/>
          <p:cNvSpPr txBox="1"/>
          <p:nvPr/>
        </p:nvSpPr>
        <p:spPr>
          <a:xfrm>
            <a:off x="5685094" y="669220"/>
            <a:ext cx="307821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Each node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prefers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route through neighbor over direct route.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51"/>
          <p:cNvSpPr txBox="1"/>
          <p:nvPr/>
        </p:nvSpPr>
        <p:spPr>
          <a:xfrm>
            <a:off x="5685094" y="1827161"/>
            <a:ext cx="344017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 prefers reaching 0 through 2 or 3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 prefers reaching 0 through 1 or 3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 prefers reaching 0 through 1 or 2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51"/>
          <p:cNvSpPr txBox="1"/>
          <p:nvPr/>
        </p:nvSpPr>
        <p:spPr>
          <a:xfrm>
            <a:off x="352603" y="1865837"/>
            <a:ext cx="307821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Suppose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initially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each node only knows the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shortest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path to 0 (</a:t>
            </a:r>
            <a:r>
              <a:rPr b="0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green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arrow).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51"/>
          <p:cNvSpPr txBox="1"/>
          <p:nvPr/>
        </p:nvSpPr>
        <p:spPr>
          <a:xfrm>
            <a:off x="352603" y="3031212"/>
            <a:ext cx="14677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 knows 1→0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 knows 2→0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 knows 3→0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51"/>
          <p:cNvSpPr txBox="1"/>
          <p:nvPr/>
        </p:nvSpPr>
        <p:spPr>
          <a:xfrm>
            <a:off x="2674470" y="45903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51"/>
          <p:cNvSpPr txBox="1"/>
          <p:nvPr/>
        </p:nvSpPr>
        <p:spPr>
          <a:xfrm>
            <a:off x="2766834" y="4434906"/>
            <a:ext cx="481125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3 now withdraws its path of 0 to 1: 3-&gt;0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51"/>
          <p:cNvSpPr/>
          <p:nvPr/>
        </p:nvSpPr>
        <p:spPr>
          <a:xfrm>
            <a:off x="4766310" y="1874520"/>
            <a:ext cx="1108754" cy="176039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cubicBezTo>
                  <a:pt x="59585" y="48501"/>
                  <a:pt x="119170" y="97003"/>
                  <a:pt x="119995" y="113755"/>
                </a:cubicBezTo>
                <a:cubicBezTo>
                  <a:pt x="120819" y="130506"/>
                  <a:pt x="16494" y="109210"/>
                  <a:pt x="4948" y="100509"/>
                </a:cubicBezTo>
              </a:path>
            </a:pathLst>
          </a:cu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5" name="Google Shape;1025;p51"/>
          <p:cNvCxnSpPr/>
          <p:nvPr/>
        </p:nvCxnSpPr>
        <p:spPr>
          <a:xfrm flipH="1" rot="10800000">
            <a:off x="3253125" y="3176485"/>
            <a:ext cx="915479" cy="385327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1026" name="Google Shape;1026;p51"/>
          <p:cNvSpPr/>
          <p:nvPr/>
        </p:nvSpPr>
        <p:spPr>
          <a:xfrm>
            <a:off x="3433778" y="3314700"/>
            <a:ext cx="2117448" cy="549848"/>
          </a:xfrm>
          <a:custGeom>
            <a:rect b="b" l="l" r="r" t="t"/>
            <a:pathLst>
              <a:path extrusionOk="0" h="120000" w="120000">
                <a:moveTo>
                  <a:pt x="120000" y="107545"/>
                </a:moveTo>
                <a:cubicBezTo>
                  <a:pt x="66907" y="117851"/>
                  <a:pt x="13814" y="128158"/>
                  <a:pt x="1678" y="110234"/>
                </a:cubicBezTo>
                <a:cubicBezTo>
                  <a:pt x="-10456" y="92309"/>
                  <a:pt x="47186" y="0"/>
                  <a:pt x="47186" y="0"/>
                </a:cubicBezTo>
              </a:path>
            </a:pathLst>
          </a:cu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7" name="Google Shape;1027;p51"/>
          <p:cNvCxnSpPr/>
          <p:nvPr/>
        </p:nvCxnSpPr>
        <p:spPr>
          <a:xfrm>
            <a:off x="4645206" y="1856727"/>
            <a:ext cx="8151" cy="688063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oogle Shape;1033;p52"/>
          <p:cNvGrpSpPr/>
          <p:nvPr/>
        </p:nvGrpSpPr>
        <p:grpSpPr>
          <a:xfrm>
            <a:off x="2539282" y="1054217"/>
            <a:ext cx="3906789" cy="3269641"/>
            <a:chOff x="2539282" y="1054217"/>
            <a:chExt cx="3906789" cy="3269641"/>
          </a:xfrm>
        </p:grpSpPr>
        <p:grpSp>
          <p:nvGrpSpPr>
            <p:cNvPr id="1034" name="Google Shape;1034;p52"/>
            <p:cNvGrpSpPr/>
            <p:nvPr/>
          </p:nvGrpSpPr>
          <p:grpSpPr>
            <a:xfrm>
              <a:off x="5554531" y="3512566"/>
              <a:ext cx="891540" cy="811291"/>
              <a:chOff x="6464705" y="3644584"/>
              <a:chExt cx="891540" cy="811291"/>
            </a:xfrm>
          </p:grpSpPr>
          <p:sp>
            <p:nvSpPr>
              <p:cNvPr id="1035" name="Google Shape;1035;p52"/>
              <p:cNvSpPr/>
              <p:nvPr/>
            </p:nvSpPr>
            <p:spPr>
              <a:xfrm>
                <a:off x="6464705" y="3644584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52"/>
              <p:cNvSpPr txBox="1"/>
              <p:nvPr/>
            </p:nvSpPr>
            <p:spPr>
              <a:xfrm>
                <a:off x="6692259" y="3856366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37" name="Google Shape;1037;p52"/>
            <p:cNvCxnSpPr/>
            <p:nvPr/>
          </p:nvCxnSpPr>
          <p:spPr>
            <a:xfrm>
              <a:off x="3430822" y="3899884"/>
              <a:ext cx="2123709" cy="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1038" name="Google Shape;1038;p52"/>
            <p:cNvCxnSpPr/>
            <p:nvPr/>
          </p:nvCxnSpPr>
          <p:spPr>
            <a:xfrm flipH="1">
              <a:off x="2985052" y="1746697"/>
              <a:ext cx="1222535" cy="176587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1039" name="Google Shape;1039;p52"/>
            <p:cNvCxnSpPr/>
            <p:nvPr/>
          </p:nvCxnSpPr>
          <p:spPr>
            <a:xfrm>
              <a:off x="4838001" y="1746697"/>
              <a:ext cx="1162300" cy="1765869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grpSp>
          <p:nvGrpSpPr>
            <p:cNvPr id="1040" name="Google Shape;1040;p52"/>
            <p:cNvGrpSpPr/>
            <p:nvPr/>
          </p:nvGrpSpPr>
          <p:grpSpPr>
            <a:xfrm>
              <a:off x="4085175" y="2553571"/>
              <a:ext cx="891540" cy="811291"/>
              <a:chOff x="4130895" y="2553571"/>
              <a:chExt cx="891540" cy="811291"/>
            </a:xfrm>
          </p:grpSpPr>
          <p:sp>
            <p:nvSpPr>
              <p:cNvPr id="1041" name="Google Shape;1041;p52"/>
              <p:cNvSpPr/>
              <p:nvPr/>
            </p:nvSpPr>
            <p:spPr>
              <a:xfrm>
                <a:off x="4130895" y="2553571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1042;p52"/>
              <p:cNvSpPr txBox="1"/>
              <p:nvPr/>
            </p:nvSpPr>
            <p:spPr>
              <a:xfrm>
                <a:off x="4377806" y="2774550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3" name="Google Shape;1043;p52"/>
            <p:cNvGrpSpPr/>
            <p:nvPr/>
          </p:nvGrpSpPr>
          <p:grpSpPr>
            <a:xfrm>
              <a:off x="4077024" y="1054217"/>
              <a:ext cx="891540" cy="811291"/>
              <a:chOff x="4077024" y="1054217"/>
              <a:chExt cx="891540" cy="811291"/>
            </a:xfrm>
          </p:grpSpPr>
          <p:sp>
            <p:nvSpPr>
              <p:cNvPr id="1044" name="Google Shape;1044;p52"/>
              <p:cNvSpPr/>
              <p:nvPr/>
            </p:nvSpPr>
            <p:spPr>
              <a:xfrm>
                <a:off x="4077024" y="1054217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" name="Google Shape;1045;p52"/>
              <p:cNvSpPr txBox="1"/>
              <p:nvPr/>
            </p:nvSpPr>
            <p:spPr>
              <a:xfrm>
                <a:off x="4319494" y="1275197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6" name="Google Shape;1046;p52"/>
            <p:cNvGrpSpPr/>
            <p:nvPr/>
          </p:nvGrpSpPr>
          <p:grpSpPr>
            <a:xfrm>
              <a:off x="2539282" y="3512567"/>
              <a:ext cx="891540" cy="811291"/>
              <a:chOff x="1622041" y="3653715"/>
              <a:chExt cx="891540" cy="811291"/>
            </a:xfrm>
          </p:grpSpPr>
          <p:sp>
            <p:nvSpPr>
              <p:cNvPr id="1047" name="Google Shape;1047;p52"/>
              <p:cNvSpPr/>
              <p:nvPr/>
            </p:nvSpPr>
            <p:spPr>
              <a:xfrm>
                <a:off x="1622041" y="3653715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" name="Google Shape;1048;p52"/>
              <p:cNvSpPr txBox="1"/>
              <p:nvPr/>
            </p:nvSpPr>
            <p:spPr>
              <a:xfrm>
                <a:off x="1849595" y="3856366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49" name="Google Shape;1049;p52"/>
            <p:cNvCxnSpPr/>
            <p:nvPr/>
          </p:nvCxnSpPr>
          <p:spPr>
            <a:xfrm>
              <a:off x="4522794" y="1865508"/>
              <a:ext cx="8151" cy="688063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1050" name="Google Shape;1050;p52"/>
            <p:cNvCxnSpPr/>
            <p:nvPr/>
          </p:nvCxnSpPr>
          <p:spPr>
            <a:xfrm>
              <a:off x="4846152" y="3246051"/>
              <a:ext cx="838942" cy="385326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lg" w="lg" type="triangl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1051" name="Google Shape;1051;p52"/>
            <p:cNvCxnSpPr/>
            <p:nvPr/>
          </p:nvCxnSpPr>
          <p:spPr>
            <a:xfrm flipH="1" rot="10800000">
              <a:off x="3300259" y="3246051"/>
              <a:ext cx="915479" cy="385327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</p:grpSp>
      <p:sp>
        <p:nvSpPr>
          <p:cNvPr id="1052" name="Google Shape;1052;p5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Policy Oscillation 6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053" name="Google Shape;1053;p52"/>
          <p:cNvSpPr txBox="1"/>
          <p:nvPr/>
        </p:nvSpPr>
        <p:spPr>
          <a:xfrm>
            <a:off x="5685094" y="669220"/>
            <a:ext cx="307821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Each node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prefers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route through neighbor over direct route.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52"/>
          <p:cNvSpPr txBox="1"/>
          <p:nvPr/>
        </p:nvSpPr>
        <p:spPr>
          <a:xfrm>
            <a:off x="5685094" y="1827161"/>
            <a:ext cx="344017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 prefers reaching 0 through 2 or 3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 prefers reaching 0 through 1 or 3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 prefers reaching 0 through 1 or 2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52"/>
          <p:cNvSpPr txBox="1"/>
          <p:nvPr/>
        </p:nvSpPr>
        <p:spPr>
          <a:xfrm>
            <a:off x="352603" y="1865837"/>
            <a:ext cx="307821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Suppose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initially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each node only knows the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shortest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path to 0 (</a:t>
            </a:r>
            <a:r>
              <a:rPr b="0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green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arrow).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52"/>
          <p:cNvSpPr txBox="1"/>
          <p:nvPr/>
        </p:nvSpPr>
        <p:spPr>
          <a:xfrm>
            <a:off x="352603" y="3031212"/>
            <a:ext cx="14677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 knows 1→0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 knows 2→0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 knows 3→0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52"/>
          <p:cNvSpPr txBox="1"/>
          <p:nvPr/>
        </p:nvSpPr>
        <p:spPr>
          <a:xfrm>
            <a:off x="2674470" y="45903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52"/>
          <p:cNvSpPr txBox="1"/>
          <p:nvPr/>
        </p:nvSpPr>
        <p:spPr>
          <a:xfrm>
            <a:off x="2766834" y="4434906"/>
            <a:ext cx="481125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1" i="1" lang="en-U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again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advertises its path of 0 to 2: 1-&gt;0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9" name="Google Shape;1059;p52"/>
          <p:cNvCxnSpPr/>
          <p:nvPr/>
        </p:nvCxnSpPr>
        <p:spPr>
          <a:xfrm flipH="1" rot="10800000">
            <a:off x="3253125" y="3176485"/>
            <a:ext cx="915479" cy="385327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1060" name="Google Shape;1060;p52"/>
          <p:cNvSpPr/>
          <p:nvPr/>
        </p:nvSpPr>
        <p:spPr>
          <a:xfrm>
            <a:off x="3433778" y="3314700"/>
            <a:ext cx="2117448" cy="549848"/>
          </a:xfrm>
          <a:custGeom>
            <a:rect b="b" l="l" r="r" t="t"/>
            <a:pathLst>
              <a:path extrusionOk="0" h="120000" w="120000">
                <a:moveTo>
                  <a:pt x="120000" y="107545"/>
                </a:moveTo>
                <a:cubicBezTo>
                  <a:pt x="66907" y="117851"/>
                  <a:pt x="13814" y="128158"/>
                  <a:pt x="1678" y="110234"/>
                </a:cubicBezTo>
                <a:cubicBezTo>
                  <a:pt x="-10456" y="92309"/>
                  <a:pt x="47186" y="0"/>
                  <a:pt x="47186" y="0"/>
                </a:cubicBezTo>
              </a:path>
            </a:pathLst>
          </a:cu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1" name="Google Shape;1061;p52"/>
          <p:cNvCxnSpPr/>
          <p:nvPr/>
        </p:nvCxnSpPr>
        <p:spPr>
          <a:xfrm>
            <a:off x="4645206" y="1856727"/>
            <a:ext cx="8151" cy="688063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1062" name="Google Shape;1062;p52"/>
          <p:cNvSpPr/>
          <p:nvPr/>
        </p:nvSpPr>
        <p:spPr>
          <a:xfrm>
            <a:off x="3120390" y="1786629"/>
            <a:ext cx="1352166" cy="1710951"/>
          </a:xfrm>
          <a:custGeom>
            <a:rect b="b" l="l" r="r" t="t"/>
            <a:pathLst>
              <a:path extrusionOk="0" h="120000" w="120000">
                <a:moveTo>
                  <a:pt x="0" y="119999"/>
                </a:moveTo>
                <a:cubicBezTo>
                  <a:pt x="45393" y="65969"/>
                  <a:pt x="90786" y="11939"/>
                  <a:pt x="109981" y="1228"/>
                </a:cubicBezTo>
                <a:cubicBezTo>
                  <a:pt x="129175" y="-9482"/>
                  <a:pt x="114823" y="53292"/>
                  <a:pt x="115168" y="55733"/>
                </a:cubicBezTo>
              </a:path>
            </a:pathLst>
          </a:cu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8" name="Google Shape;1068;p53"/>
          <p:cNvGrpSpPr/>
          <p:nvPr/>
        </p:nvGrpSpPr>
        <p:grpSpPr>
          <a:xfrm>
            <a:off x="2539282" y="1054217"/>
            <a:ext cx="3906789" cy="3269641"/>
            <a:chOff x="2539282" y="1054217"/>
            <a:chExt cx="3906789" cy="3269641"/>
          </a:xfrm>
        </p:grpSpPr>
        <p:grpSp>
          <p:nvGrpSpPr>
            <p:cNvPr id="1069" name="Google Shape;1069;p53"/>
            <p:cNvGrpSpPr/>
            <p:nvPr/>
          </p:nvGrpSpPr>
          <p:grpSpPr>
            <a:xfrm>
              <a:off x="5554531" y="3512566"/>
              <a:ext cx="891540" cy="811291"/>
              <a:chOff x="6464705" y="3644584"/>
              <a:chExt cx="891540" cy="811291"/>
            </a:xfrm>
          </p:grpSpPr>
          <p:sp>
            <p:nvSpPr>
              <p:cNvPr id="1070" name="Google Shape;1070;p53"/>
              <p:cNvSpPr/>
              <p:nvPr/>
            </p:nvSpPr>
            <p:spPr>
              <a:xfrm>
                <a:off x="6464705" y="3644584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" name="Google Shape;1071;p53"/>
              <p:cNvSpPr txBox="1"/>
              <p:nvPr/>
            </p:nvSpPr>
            <p:spPr>
              <a:xfrm>
                <a:off x="6692259" y="3856366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72" name="Google Shape;1072;p53"/>
            <p:cNvCxnSpPr/>
            <p:nvPr/>
          </p:nvCxnSpPr>
          <p:spPr>
            <a:xfrm>
              <a:off x="3430822" y="3899884"/>
              <a:ext cx="2123709" cy="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1073" name="Google Shape;1073;p53"/>
            <p:cNvCxnSpPr/>
            <p:nvPr/>
          </p:nvCxnSpPr>
          <p:spPr>
            <a:xfrm flipH="1">
              <a:off x="2985052" y="1746697"/>
              <a:ext cx="1222535" cy="176587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1074" name="Google Shape;1074;p53"/>
            <p:cNvCxnSpPr/>
            <p:nvPr/>
          </p:nvCxnSpPr>
          <p:spPr>
            <a:xfrm>
              <a:off x="4838001" y="1746697"/>
              <a:ext cx="1162300" cy="1765869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grpSp>
          <p:nvGrpSpPr>
            <p:cNvPr id="1075" name="Google Shape;1075;p53"/>
            <p:cNvGrpSpPr/>
            <p:nvPr/>
          </p:nvGrpSpPr>
          <p:grpSpPr>
            <a:xfrm>
              <a:off x="4085175" y="2553571"/>
              <a:ext cx="891540" cy="811291"/>
              <a:chOff x="4130895" y="2553571"/>
              <a:chExt cx="891540" cy="811291"/>
            </a:xfrm>
          </p:grpSpPr>
          <p:sp>
            <p:nvSpPr>
              <p:cNvPr id="1076" name="Google Shape;1076;p53"/>
              <p:cNvSpPr/>
              <p:nvPr/>
            </p:nvSpPr>
            <p:spPr>
              <a:xfrm>
                <a:off x="4130895" y="2553571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53"/>
              <p:cNvSpPr txBox="1"/>
              <p:nvPr/>
            </p:nvSpPr>
            <p:spPr>
              <a:xfrm>
                <a:off x="4377806" y="2774550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8" name="Google Shape;1078;p53"/>
            <p:cNvGrpSpPr/>
            <p:nvPr/>
          </p:nvGrpSpPr>
          <p:grpSpPr>
            <a:xfrm>
              <a:off x="4077024" y="1054217"/>
              <a:ext cx="891540" cy="811291"/>
              <a:chOff x="4077024" y="1054217"/>
              <a:chExt cx="891540" cy="811291"/>
            </a:xfrm>
          </p:grpSpPr>
          <p:sp>
            <p:nvSpPr>
              <p:cNvPr id="1079" name="Google Shape;1079;p53"/>
              <p:cNvSpPr/>
              <p:nvPr/>
            </p:nvSpPr>
            <p:spPr>
              <a:xfrm>
                <a:off x="4077024" y="1054217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0" name="Google Shape;1080;p53"/>
              <p:cNvSpPr txBox="1"/>
              <p:nvPr/>
            </p:nvSpPr>
            <p:spPr>
              <a:xfrm>
                <a:off x="4319494" y="1275197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1" name="Google Shape;1081;p53"/>
            <p:cNvGrpSpPr/>
            <p:nvPr/>
          </p:nvGrpSpPr>
          <p:grpSpPr>
            <a:xfrm>
              <a:off x="2539282" y="3512567"/>
              <a:ext cx="891540" cy="811291"/>
              <a:chOff x="1622041" y="3653715"/>
              <a:chExt cx="891540" cy="811291"/>
            </a:xfrm>
          </p:grpSpPr>
          <p:sp>
            <p:nvSpPr>
              <p:cNvPr id="1082" name="Google Shape;1082;p53"/>
              <p:cNvSpPr/>
              <p:nvPr/>
            </p:nvSpPr>
            <p:spPr>
              <a:xfrm>
                <a:off x="1622041" y="3653715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53"/>
              <p:cNvSpPr txBox="1"/>
              <p:nvPr/>
            </p:nvSpPr>
            <p:spPr>
              <a:xfrm>
                <a:off x="1849595" y="3856366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84" name="Google Shape;1084;p53"/>
            <p:cNvCxnSpPr/>
            <p:nvPr/>
          </p:nvCxnSpPr>
          <p:spPr>
            <a:xfrm>
              <a:off x="4522794" y="1865508"/>
              <a:ext cx="8151" cy="688063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1085" name="Google Shape;1085;p53"/>
            <p:cNvCxnSpPr/>
            <p:nvPr/>
          </p:nvCxnSpPr>
          <p:spPr>
            <a:xfrm>
              <a:off x="4846152" y="3246051"/>
              <a:ext cx="838942" cy="385326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lg" w="lg" type="triangl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1086" name="Google Shape;1086;p53"/>
            <p:cNvCxnSpPr/>
            <p:nvPr/>
          </p:nvCxnSpPr>
          <p:spPr>
            <a:xfrm flipH="1" rot="10800000">
              <a:off x="3300259" y="3246051"/>
              <a:ext cx="915479" cy="385327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</p:grpSp>
      <p:sp>
        <p:nvSpPr>
          <p:cNvPr id="1087" name="Google Shape;1087;p5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Policy Oscillation 7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088" name="Google Shape;1088;p53"/>
          <p:cNvSpPr txBox="1"/>
          <p:nvPr/>
        </p:nvSpPr>
        <p:spPr>
          <a:xfrm>
            <a:off x="5685094" y="669220"/>
            <a:ext cx="307821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Each node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prefers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route through neighbor over direct route.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53"/>
          <p:cNvSpPr txBox="1"/>
          <p:nvPr/>
        </p:nvSpPr>
        <p:spPr>
          <a:xfrm>
            <a:off x="5685094" y="1827161"/>
            <a:ext cx="344017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 prefers reaching 0 through 2 or 3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 prefers reaching 0 through 1 or 3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 prefers reaching 0 through 1 or 2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53"/>
          <p:cNvSpPr txBox="1"/>
          <p:nvPr/>
        </p:nvSpPr>
        <p:spPr>
          <a:xfrm>
            <a:off x="352603" y="1865837"/>
            <a:ext cx="307821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Suppose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initially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each node only knows the </a:t>
            </a: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shortest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path to 0 (</a:t>
            </a:r>
            <a:r>
              <a:rPr b="0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green</a:t>
            </a: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arrow).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53"/>
          <p:cNvSpPr txBox="1"/>
          <p:nvPr/>
        </p:nvSpPr>
        <p:spPr>
          <a:xfrm>
            <a:off x="352603" y="3031212"/>
            <a:ext cx="14677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 knows 1→0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 knows 2→0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 knows 3→0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53"/>
          <p:cNvSpPr txBox="1"/>
          <p:nvPr/>
        </p:nvSpPr>
        <p:spPr>
          <a:xfrm>
            <a:off x="2674470" y="45903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53"/>
          <p:cNvSpPr txBox="1"/>
          <p:nvPr/>
        </p:nvSpPr>
        <p:spPr>
          <a:xfrm>
            <a:off x="2766834" y="4434906"/>
            <a:ext cx="481125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2 withdraws its path of 0 to 3: 2-&gt;0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53"/>
          <p:cNvSpPr/>
          <p:nvPr/>
        </p:nvSpPr>
        <p:spPr>
          <a:xfrm>
            <a:off x="3433778" y="3314700"/>
            <a:ext cx="2117448" cy="549848"/>
          </a:xfrm>
          <a:custGeom>
            <a:rect b="b" l="l" r="r" t="t"/>
            <a:pathLst>
              <a:path extrusionOk="0" h="120000" w="120000">
                <a:moveTo>
                  <a:pt x="120000" y="107545"/>
                </a:moveTo>
                <a:cubicBezTo>
                  <a:pt x="66907" y="117851"/>
                  <a:pt x="13814" y="128158"/>
                  <a:pt x="1678" y="110234"/>
                </a:cubicBezTo>
                <a:cubicBezTo>
                  <a:pt x="-10456" y="92309"/>
                  <a:pt x="47186" y="0"/>
                  <a:pt x="47186" y="0"/>
                </a:cubicBezTo>
              </a:path>
            </a:pathLst>
          </a:cu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5" name="Google Shape;1095;p53"/>
          <p:cNvCxnSpPr/>
          <p:nvPr/>
        </p:nvCxnSpPr>
        <p:spPr>
          <a:xfrm>
            <a:off x="4645206" y="1856727"/>
            <a:ext cx="8151" cy="688063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1096" name="Google Shape;1096;p53"/>
          <p:cNvSpPr/>
          <p:nvPr/>
        </p:nvSpPr>
        <p:spPr>
          <a:xfrm>
            <a:off x="3120390" y="1786629"/>
            <a:ext cx="1352166" cy="1710951"/>
          </a:xfrm>
          <a:custGeom>
            <a:rect b="b" l="l" r="r" t="t"/>
            <a:pathLst>
              <a:path extrusionOk="0" h="120000" w="120000">
                <a:moveTo>
                  <a:pt x="0" y="119999"/>
                </a:moveTo>
                <a:cubicBezTo>
                  <a:pt x="45393" y="65969"/>
                  <a:pt x="90786" y="11939"/>
                  <a:pt x="109981" y="1228"/>
                </a:cubicBezTo>
                <a:cubicBezTo>
                  <a:pt x="129175" y="-9482"/>
                  <a:pt x="114823" y="53292"/>
                  <a:pt x="115168" y="55733"/>
                </a:cubicBezTo>
              </a:path>
            </a:pathLst>
          </a:cu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7" name="Google Shape;1097;p53"/>
          <p:cNvCxnSpPr/>
          <p:nvPr/>
        </p:nvCxnSpPr>
        <p:spPr>
          <a:xfrm>
            <a:off x="4896390" y="3172199"/>
            <a:ext cx="838942" cy="385326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lg" w="lg" type="triangl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1098" name="Google Shape;1098;p53"/>
          <p:cNvSpPr txBox="1"/>
          <p:nvPr/>
        </p:nvSpPr>
        <p:spPr>
          <a:xfrm rot="1451762">
            <a:off x="6454321" y="3554165"/>
            <a:ext cx="209680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Back to where we started!</a:t>
            </a:r>
            <a:endParaRPr b="1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54"/>
          <p:cNvSpPr txBox="1"/>
          <p:nvPr/>
        </p:nvSpPr>
        <p:spPr>
          <a:xfrm>
            <a:off x="480679" y="19662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Why doesn’t this happen in reality?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104" name="Google Shape;1104;p54"/>
          <p:cNvSpPr txBox="1"/>
          <p:nvPr/>
        </p:nvSpPr>
        <p:spPr>
          <a:xfrm rot="-235344">
            <a:off x="5171298" y="3429941"/>
            <a:ext cx="311654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Gao-Rexford</a:t>
            </a:r>
            <a:endParaRPr b="1" i="0" sz="4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5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Gao-Rexford Policy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graphicFrame>
        <p:nvGraphicFramePr>
          <p:cNvPr id="1111" name="Google Shape;1111;p55"/>
          <p:cNvGraphicFramePr/>
          <p:nvPr/>
        </p:nvGraphicFramePr>
        <p:xfrm>
          <a:off x="1371600" y="1310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{20551163-69D8-41D5-804B-67B62984040B}</a:tableStyleId>
              </a:tblPr>
              <a:tblGrid>
                <a:gridCol w="2950375"/>
                <a:gridCol w="2950375"/>
              </a:tblGrid>
              <a:tr h="5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0000"/>
                          </a:solidFill>
                        </a:rPr>
                        <a:t>Destination prefix advertised by…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6800">
                            <a:alpha val="20000"/>
                          </a:srgbClr>
                        </a:gs>
                        <a:gs pos="100000">
                          <a:srgbClr val="FF976D">
                            <a:alpha val="40000"/>
                          </a:srgb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0000"/>
                          </a:solidFill>
                        </a:rPr>
                        <a:t>Export route to…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6800">
                            <a:alpha val="20000"/>
                          </a:srgbClr>
                        </a:gs>
                        <a:gs pos="100000">
                          <a:srgbClr val="FF976D">
                            <a:alpha val="40000"/>
                          </a:srgbClr>
                        </a:gs>
                      </a:gsLst>
                      <a:lin ang="16200000" scaled="0"/>
                    </a:gradFill>
                  </a:tcPr>
                </a:tc>
              </a:tr>
              <a:tr h="77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Customer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6800">
                            <a:alpha val="20000"/>
                          </a:srgbClr>
                        </a:gs>
                        <a:gs pos="100000">
                          <a:srgbClr val="FF976D">
                            <a:alpha val="40000"/>
                          </a:srgb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Everyone</a:t>
                      </a:r>
                      <a:br>
                        <a:rPr lang="en-US" sz="2400" u="none" cap="none" strike="noStrike"/>
                      </a:br>
                      <a:r>
                        <a:rPr lang="en-US" sz="2400" u="none" cap="none" strike="noStrike"/>
                        <a:t> (providers, peers, other customers)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6800">
                            <a:alpha val="20000"/>
                          </a:srgbClr>
                        </a:gs>
                        <a:gs pos="100000">
                          <a:srgbClr val="FF976D">
                            <a:alpha val="40000"/>
                          </a:srgbClr>
                        </a:gs>
                      </a:gsLst>
                      <a:lin ang="16200000" scaled="0"/>
                    </a:gradFill>
                  </a:tcPr>
                </a:tc>
              </a:tr>
              <a:tr h="51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Peer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6800">
                            <a:alpha val="20000"/>
                          </a:srgbClr>
                        </a:gs>
                        <a:gs pos="100000">
                          <a:srgbClr val="FF976D">
                            <a:alpha val="40000"/>
                          </a:srgb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Customers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6800">
                            <a:alpha val="20000"/>
                          </a:srgbClr>
                        </a:gs>
                        <a:gs pos="100000">
                          <a:srgbClr val="FF976D">
                            <a:alpha val="40000"/>
                          </a:srgbClr>
                        </a:gs>
                      </a:gsLst>
                      <a:lin ang="16200000" scaled="0"/>
                    </a:gradFill>
                  </a:tcPr>
                </a:tc>
              </a:tr>
              <a:tr h="51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Provider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6800">
                            <a:alpha val="20000"/>
                          </a:srgbClr>
                        </a:gs>
                        <a:gs pos="100000">
                          <a:srgbClr val="FF976D">
                            <a:alpha val="40000"/>
                          </a:srgb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Customers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6800">
                            <a:alpha val="20000"/>
                          </a:srgbClr>
                        </a:gs>
                        <a:gs pos="100000">
                          <a:srgbClr val="FF976D">
                            <a:alpha val="40000"/>
                          </a:srgbClr>
                        </a:gs>
                      </a:gsLst>
                      <a:lin ang="16200000" scaled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5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Gao-Rexford Policy Continued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118" name="Google Shape;1118;p56"/>
          <p:cNvSpPr txBox="1"/>
          <p:nvPr>
            <p:ph idx="1" type="body"/>
          </p:nvPr>
        </p:nvSpPr>
        <p:spPr>
          <a:xfrm>
            <a:off x="457200" y="914372"/>
            <a:ext cx="8229600" cy="4080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8275" lvl="1" marL="742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None/>
            </a:pPr>
            <a:r>
              <a:t/>
            </a:r>
            <a:endParaRPr b="0" i="0" sz="185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1930" lvl="0" marL="342900" marR="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695D46"/>
              </a:buClr>
              <a:buSzPts val="2220"/>
              <a:buFont typeface="Arial"/>
              <a:buNone/>
            </a:pPr>
            <a:r>
              <a:t/>
            </a:r>
            <a:endParaRPr b="0" i="0" sz="222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1" marL="742950" marR="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None/>
            </a:pPr>
            <a:r>
              <a:t/>
            </a:r>
            <a:endParaRPr b="0" i="0" sz="185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1" marL="742950" marR="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None/>
            </a:pPr>
            <a:r>
              <a:t/>
            </a:r>
            <a:endParaRPr b="0" i="0" sz="185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1" marL="742950" marR="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None/>
            </a:pPr>
            <a:r>
              <a:t/>
            </a:r>
            <a:endParaRPr b="0" i="0" sz="185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1" marL="742950" marR="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None/>
            </a:pPr>
            <a:r>
              <a:t/>
            </a:r>
            <a:endParaRPr b="0" i="0" sz="185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None/>
            </a:pPr>
            <a:r>
              <a:t/>
            </a:r>
            <a:endParaRPr b="0" i="0" sz="185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accent6"/>
              </a:buClr>
              <a:buSzPts val="1850"/>
              <a:buFont typeface="Arial"/>
              <a:buChar char="–"/>
            </a:pPr>
            <a:r>
              <a:rPr b="1" i="0" lang="en-US" sz="18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Green</a:t>
            </a:r>
            <a:r>
              <a:rPr b="0" i="0" lang="en-US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arrow is where you learn the route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ts val="1850"/>
              <a:buFont typeface="Arial"/>
              <a:buChar char="–"/>
            </a:pPr>
            <a:r>
              <a:rPr b="1" i="0" lang="en-US" sz="185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Orange</a:t>
            </a:r>
            <a:r>
              <a:rPr b="0" i="0" lang="en-US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arrows are where you export the route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–"/>
            </a:pPr>
            <a:r>
              <a:rPr b="0" i="0" lang="en-US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With Gao-Rexford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•"/>
            </a:pPr>
            <a:r>
              <a:rPr b="0" i="0" lang="en-US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The AS policy graph is a DAG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695D46"/>
              </a:buClr>
              <a:buSzPts val="1850"/>
              <a:buFont typeface="Arial"/>
              <a:buChar char="•"/>
            </a:pPr>
            <a:r>
              <a:rPr b="0" i="0" lang="en-US" sz="185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Routes are “valley free”/”single-peaked”</a:t>
            </a:r>
            <a:endParaRPr/>
          </a:p>
        </p:txBody>
      </p:sp>
      <p:sp>
        <p:nvSpPr>
          <p:cNvPr id="1119" name="Google Shape;1119;p56"/>
          <p:cNvSpPr/>
          <p:nvPr/>
        </p:nvSpPr>
        <p:spPr>
          <a:xfrm>
            <a:off x="2397861" y="1787174"/>
            <a:ext cx="491685" cy="437073"/>
          </a:xfrm>
          <a:prstGeom prst="ellipse">
            <a:avLst/>
          </a:prstGeom>
          <a:noFill/>
          <a:ln cap="flat" cmpd="sng" w="41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0" name="Google Shape;1120;p56"/>
          <p:cNvCxnSpPr/>
          <p:nvPr/>
        </p:nvCxnSpPr>
        <p:spPr>
          <a:xfrm flipH="1">
            <a:off x="2135628" y="2169613"/>
            <a:ext cx="393349" cy="546341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121" name="Google Shape;1121;p56"/>
          <p:cNvSpPr/>
          <p:nvPr/>
        </p:nvSpPr>
        <p:spPr>
          <a:xfrm>
            <a:off x="560933" y="1841808"/>
            <a:ext cx="1083010" cy="274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2" name="Google Shape;1122;p56"/>
          <p:cNvCxnSpPr/>
          <p:nvPr/>
        </p:nvCxnSpPr>
        <p:spPr>
          <a:xfrm>
            <a:off x="2660093" y="1186199"/>
            <a:ext cx="0" cy="600975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123" name="Google Shape;1123;p56"/>
          <p:cNvCxnSpPr/>
          <p:nvPr/>
        </p:nvCxnSpPr>
        <p:spPr>
          <a:xfrm>
            <a:off x="2856766" y="2169613"/>
            <a:ext cx="393349" cy="546343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24" name="Google Shape;1124;p56"/>
          <p:cNvSpPr/>
          <p:nvPr/>
        </p:nvSpPr>
        <p:spPr>
          <a:xfrm>
            <a:off x="522757" y="1131564"/>
            <a:ext cx="1612869" cy="206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providers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56"/>
          <p:cNvSpPr/>
          <p:nvPr/>
        </p:nvSpPr>
        <p:spPr>
          <a:xfrm>
            <a:off x="457200" y="2552052"/>
            <a:ext cx="1503680" cy="206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customers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6" name="Google Shape;1126;p56"/>
          <p:cNvCxnSpPr/>
          <p:nvPr/>
        </p:nvCxnSpPr>
        <p:spPr>
          <a:xfrm rot="10800000">
            <a:off x="2922325" y="2005711"/>
            <a:ext cx="721138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127" name="Google Shape;1127;p56"/>
          <p:cNvSpPr/>
          <p:nvPr/>
        </p:nvSpPr>
        <p:spPr>
          <a:xfrm>
            <a:off x="4561276" y="1787174"/>
            <a:ext cx="491685" cy="437073"/>
          </a:xfrm>
          <a:prstGeom prst="ellipse">
            <a:avLst/>
          </a:prstGeom>
          <a:noFill/>
          <a:ln cap="flat" cmpd="sng" w="41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8" name="Google Shape;1128;p56"/>
          <p:cNvCxnSpPr/>
          <p:nvPr/>
        </p:nvCxnSpPr>
        <p:spPr>
          <a:xfrm>
            <a:off x="5020182" y="2005711"/>
            <a:ext cx="655580" cy="0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129" name="Google Shape;1129;p56"/>
          <p:cNvCxnSpPr/>
          <p:nvPr/>
        </p:nvCxnSpPr>
        <p:spPr>
          <a:xfrm>
            <a:off x="4954623" y="2169613"/>
            <a:ext cx="393349" cy="546343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0" name="Google Shape;1130;p56"/>
          <p:cNvCxnSpPr/>
          <p:nvPr/>
        </p:nvCxnSpPr>
        <p:spPr>
          <a:xfrm flipH="1" rot="10800000">
            <a:off x="4233485" y="2169613"/>
            <a:ext cx="393349" cy="546341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131" name="Google Shape;1131;p56"/>
          <p:cNvSpPr/>
          <p:nvPr/>
        </p:nvSpPr>
        <p:spPr>
          <a:xfrm>
            <a:off x="6659133" y="1787174"/>
            <a:ext cx="491685" cy="437073"/>
          </a:xfrm>
          <a:prstGeom prst="ellipse">
            <a:avLst/>
          </a:prstGeom>
          <a:noFill/>
          <a:ln cap="flat" cmpd="sng" w="41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2" name="Google Shape;1132;p56"/>
          <p:cNvCxnSpPr/>
          <p:nvPr/>
        </p:nvCxnSpPr>
        <p:spPr>
          <a:xfrm rot="10800000">
            <a:off x="6921365" y="1131565"/>
            <a:ext cx="0" cy="655610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133" name="Google Shape;1133;p56"/>
          <p:cNvCxnSpPr/>
          <p:nvPr/>
        </p:nvCxnSpPr>
        <p:spPr>
          <a:xfrm>
            <a:off x="7052480" y="2169613"/>
            <a:ext cx="393349" cy="546343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4" name="Google Shape;1134;p56"/>
          <p:cNvCxnSpPr/>
          <p:nvPr/>
        </p:nvCxnSpPr>
        <p:spPr>
          <a:xfrm flipH="1" rot="10800000">
            <a:off x="6331342" y="2169613"/>
            <a:ext cx="393349" cy="546341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triangl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5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Gao-Rexford avoids Policy Oscillation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140" name="Google Shape;1140;p57"/>
          <p:cNvSpPr txBox="1"/>
          <p:nvPr>
            <p:ph idx="1" type="body"/>
          </p:nvPr>
        </p:nvSpPr>
        <p:spPr>
          <a:xfrm>
            <a:off x="457200" y="1063228"/>
            <a:ext cx="5222787" cy="3629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Example shown before did not use Gao-Rexford (why?)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1, 2, and 3 are </a:t>
            </a:r>
            <a:r>
              <a:rPr b="1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peers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0 is the </a:t>
            </a:r>
            <a:r>
              <a:rPr b="1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provider</a:t>
            </a: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to 1, 2, and 3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Peers </a:t>
            </a:r>
            <a:r>
              <a:rPr b="1" i="1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don’t</a:t>
            </a: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 advertise route learned from providers to each other</a:t>
            </a:r>
            <a:endParaRPr/>
          </a:p>
          <a:p>
            <a:pPr indent="-228600" lvl="3" marL="1600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i.e. 1 would never advertise 1-&gt;0 (learned from 1’s provider 0) to 2 (1’s peer)</a:t>
            </a:r>
            <a:endParaRPr b="0" i="0" sz="200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1" name="Google Shape;1141;p57"/>
          <p:cNvGrpSpPr/>
          <p:nvPr/>
        </p:nvGrpSpPr>
        <p:grpSpPr>
          <a:xfrm>
            <a:off x="6252149" y="1063228"/>
            <a:ext cx="2434651" cy="2213704"/>
            <a:chOff x="2539282" y="1054217"/>
            <a:chExt cx="3906789" cy="3269641"/>
          </a:xfrm>
        </p:grpSpPr>
        <p:grpSp>
          <p:nvGrpSpPr>
            <p:cNvPr id="1142" name="Google Shape;1142;p57"/>
            <p:cNvGrpSpPr/>
            <p:nvPr/>
          </p:nvGrpSpPr>
          <p:grpSpPr>
            <a:xfrm>
              <a:off x="5554531" y="3512566"/>
              <a:ext cx="891540" cy="811291"/>
              <a:chOff x="6464705" y="3644584"/>
              <a:chExt cx="891540" cy="811291"/>
            </a:xfrm>
          </p:grpSpPr>
          <p:sp>
            <p:nvSpPr>
              <p:cNvPr id="1143" name="Google Shape;1143;p57"/>
              <p:cNvSpPr/>
              <p:nvPr/>
            </p:nvSpPr>
            <p:spPr>
              <a:xfrm>
                <a:off x="6464705" y="3644584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57"/>
              <p:cNvSpPr txBox="1"/>
              <p:nvPr/>
            </p:nvSpPr>
            <p:spPr>
              <a:xfrm>
                <a:off x="6692259" y="3856366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145" name="Google Shape;1145;p57"/>
            <p:cNvCxnSpPr/>
            <p:nvPr/>
          </p:nvCxnSpPr>
          <p:spPr>
            <a:xfrm>
              <a:off x="3430822" y="3899884"/>
              <a:ext cx="2123709" cy="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1146" name="Google Shape;1146;p57"/>
            <p:cNvCxnSpPr/>
            <p:nvPr/>
          </p:nvCxnSpPr>
          <p:spPr>
            <a:xfrm flipH="1">
              <a:off x="2985052" y="1746697"/>
              <a:ext cx="1222535" cy="1765870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1147" name="Google Shape;1147;p57"/>
            <p:cNvCxnSpPr/>
            <p:nvPr/>
          </p:nvCxnSpPr>
          <p:spPr>
            <a:xfrm>
              <a:off x="4838001" y="1746697"/>
              <a:ext cx="1162300" cy="1765869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grpSp>
          <p:nvGrpSpPr>
            <p:cNvPr id="1148" name="Google Shape;1148;p57"/>
            <p:cNvGrpSpPr/>
            <p:nvPr/>
          </p:nvGrpSpPr>
          <p:grpSpPr>
            <a:xfrm>
              <a:off x="4085175" y="2553571"/>
              <a:ext cx="891540" cy="811291"/>
              <a:chOff x="4130895" y="2553571"/>
              <a:chExt cx="891540" cy="811291"/>
            </a:xfrm>
          </p:grpSpPr>
          <p:sp>
            <p:nvSpPr>
              <p:cNvPr id="1149" name="Google Shape;1149;p57"/>
              <p:cNvSpPr/>
              <p:nvPr/>
            </p:nvSpPr>
            <p:spPr>
              <a:xfrm>
                <a:off x="4130895" y="2553571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0" name="Google Shape;1150;p57"/>
              <p:cNvSpPr txBox="1"/>
              <p:nvPr/>
            </p:nvSpPr>
            <p:spPr>
              <a:xfrm>
                <a:off x="4377806" y="2774550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51" name="Google Shape;1151;p57"/>
            <p:cNvGrpSpPr/>
            <p:nvPr/>
          </p:nvGrpSpPr>
          <p:grpSpPr>
            <a:xfrm>
              <a:off x="4077024" y="1054217"/>
              <a:ext cx="891540" cy="811291"/>
              <a:chOff x="4077024" y="1054217"/>
              <a:chExt cx="891540" cy="811291"/>
            </a:xfrm>
          </p:grpSpPr>
          <p:sp>
            <p:nvSpPr>
              <p:cNvPr id="1152" name="Google Shape;1152;p57"/>
              <p:cNvSpPr/>
              <p:nvPr/>
            </p:nvSpPr>
            <p:spPr>
              <a:xfrm>
                <a:off x="4077024" y="1054217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3" name="Google Shape;1153;p57"/>
              <p:cNvSpPr txBox="1"/>
              <p:nvPr/>
            </p:nvSpPr>
            <p:spPr>
              <a:xfrm>
                <a:off x="4319494" y="1275197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54" name="Google Shape;1154;p57"/>
            <p:cNvGrpSpPr/>
            <p:nvPr/>
          </p:nvGrpSpPr>
          <p:grpSpPr>
            <a:xfrm>
              <a:off x="2539282" y="3512567"/>
              <a:ext cx="891540" cy="811291"/>
              <a:chOff x="1622041" y="3653715"/>
              <a:chExt cx="891540" cy="811291"/>
            </a:xfrm>
          </p:grpSpPr>
          <p:sp>
            <p:nvSpPr>
              <p:cNvPr id="1155" name="Google Shape;1155;p57"/>
              <p:cNvSpPr/>
              <p:nvPr/>
            </p:nvSpPr>
            <p:spPr>
              <a:xfrm>
                <a:off x="1622041" y="3653715"/>
                <a:ext cx="891540" cy="811291"/>
              </a:xfrm>
              <a:prstGeom prst="ellipse">
                <a:avLst/>
              </a:prstGeom>
              <a:gradFill>
                <a:gsLst>
                  <a:gs pos="0">
                    <a:srgbClr val="FF6800"/>
                  </a:gs>
                  <a:gs pos="100000">
                    <a:srgbClr val="FF976D"/>
                  </a:gs>
                </a:gsLst>
                <a:lin ang="16200000" scaled="0"/>
              </a:gradFill>
              <a:ln cap="flat" cmpd="sng" w="9525">
                <a:solidFill>
                  <a:srgbClr val="EE68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50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6" name="Google Shape;1156;p57"/>
              <p:cNvSpPr txBox="1"/>
              <p:nvPr/>
            </p:nvSpPr>
            <p:spPr>
              <a:xfrm>
                <a:off x="1849595" y="3856366"/>
                <a:ext cx="43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695D4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18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157" name="Google Shape;1157;p57"/>
            <p:cNvCxnSpPr/>
            <p:nvPr/>
          </p:nvCxnSpPr>
          <p:spPr>
            <a:xfrm>
              <a:off x="4522794" y="1865508"/>
              <a:ext cx="8151" cy="688063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1158" name="Google Shape;1158;p57"/>
            <p:cNvCxnSpPr/>
            <p:nvPr/>
          </p:nvCxnSpPr>
          <p:spPr>
            <a:xfrm>
              <a:off x="4846152" y="3246051"/>
              <a:ext cx="838942" cy="385326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sm" w="sm" type="none"/>
              <a:tailEnd len="lg" w="lg" type="triangl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  <p:cxnSp>
          <p:nvCxnSpPr>
            <p:cNvPr id="1159" name="Google Shape;1159;p57"/>
            <p:cNvCxnSpPr/>
            <p:nvPr/>
          </p:nvCxnSpPr>
          <p:spPr>
            <a:xfrm flipH="1" rot="10800000">
              <a:off x="3300259" y="3246051"/>
              <a:ext cx="915479" cy="385327"/>
            </a:xfrm>
            <a:prstGeom prst="straightConnector1">
              <a:avLst/>
            </a:prstGeom>
            <a:noFill/>
            <a:ln cap="flat" cmpd="sng" w="25400">
              <a:solidFill>
                <a:srgbClr val="FEF7F0"/>
              </a:solidFill>
              <a:prstDash val="solid"/>
              <a:round/>
              <a:headEnd len="lg" w="lg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</p:cxnSp>
      </p:grpSp>
      <p:graphicFrame>
        <p:nvGraphicFramePr>
          <p:cNvPr id="1160" name="Google Shape;1160;p57"/>
          <p:cNvGraphicFramePr/>
          <p:nvPr/>
        </p:nvGraphicFramePr>
        <p:xfrm>
          <a:off x="5988520" y="36391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{20551163-69D8-41D5-804B-67B62984040B}</a:tableStyleId>
              </a:tblPr>
              <a:tblGrid>
                <a:gridCol w="1480950"/>
                <a:gridCol w="1480950"/>
              </a:tblGrid>
              <a:tr h="54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0000"/>
                          </a:solidFill>
                        </a:rPr>
                        <a:t>Destination prefix advertised by…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6800">
                            <a:alpha val="20000"/>
                          </a:srgbClr>
                        </a:gs>
                        <a:gs pos="100000">
                          <a:srgbClr val="FF976D">
                            <a:alpha val="40000"/>
                          </a:srgb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0000"/>
                          </a:solidFill>
                        </a:rPr>
                        <a:t>Export route to…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6800">
                            <a:alpha val="20000"/>
                          </a:srgbClr>
                        </a:gs>
                        <a:gs pos="100000">
                          <a:srgbClr val="FF976D">
                            <a:alpha val="40000"/>
                          </a:srgbClr>
                        </a:gs>
                      </a:gsLst>
                      <a:lin ang="16200000" scaled="0"/>
                    </a:gradFill>
                  </a:tcPr>
                </a:tc>
              </a:tr>
              <a:tr h="342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Peer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6800">
                            <a:alpha val="20000"/>
                          </a:srgbClr>
                        </a:gs>
                        <a:gs pos="100000">
                          <a:srgbClr val="FF976D">
                            <a:alpha val="40000"/>
                          </a:srgb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Customers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6800">
                            <a:alpha val="20000"/>
                          </a:srgbClr>
                        </a:gs>
                        <a:gs pos="100000">
                          <a:srgbClr val="FF976D">
                            <a:alpha val="40000"/>
                          </a:srgbClr>
                        </a:gs>
                      </a:gsLst>
                      <a:lin ang="16200000" scaled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58"/>
          <p:cNvSpPr txBox="1"/>
          <p:nvPr>
            <p:ph idx="1" type="body"/>
          </p:nvPr>
        </p:nvSpPr>
        <p:spPr>
          <a:xfrm>
            <a:off x="220006" y="2208136"/>
            <a:ext cx="873534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chemeClr val="accent2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59"/>
          <p:cNvSpPr txBox="1"/>
          <p:nvPr>
            <p:ph idx="1" type="body"/>
          </p:nvPr>
        </p:nvSpPr>
        <p:spPr>
          <a:xfrm>
            <a:off x="220006" y="2208136"/>
            <a:ext cx="873534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chemeClr val="accent2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Worksheet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6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lang="en-US"/>
              <a:t>Question 1</a:t>
            </a:r>
            <a:endParaRPr/>
          </a:p>
        </p:txBody>
      </p:sp>
      <p:sp>
        <p:nvSpPr>
          <p:cNvPr id="1176" name="Google Shape;1176;p60"/>
          <p:cNvSpPr txBox="1"/>
          <p:nvPr>
            <p:ph idx="1" type="body"/>
          </p:nvPr>
        </p:nvSpPr>
        <p:spPr>
          <a:xfrm>
            <a:off x="294640" y="1200151"/>
            <a:ext cx="86868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lang="en-US"/>
              <a:t>iBGP is used for Intradomain Routing.</a:t>
            </a:r>
            <a:endParaRPr/>
          </a:p>
          <a:p>
            <a:pPr indent="0" lvl="0" marL="76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/>
              <a:t>	</a:t>
            </a:r>
            <a:r>
              <a:rPr b="1" i="1" lang="en-US"/>
              <a:t>False: </a:t>
            </a:r>
            <a:r>
              <a:rPr i="1" lang="en-US">
                <a:solidFill>
                  <a:schemeClr val="accent1"/>
                </a:solidFill>
              </a:rPr>
              <a:t>IGP (OSPF or RIP) are used for Intradomain</a:t>
            </a:r>
            <a:endParaRPr>
              <a:solidFill>
                <a:schemeClr val="accent1"/>
              </a:solidFill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lang="en-US"/>
              <a:t>Avoiding loops is one reason why BGP uses path vector.</a:t>
            </a:r>
            <a:endParaRPr/>
          </a:p>
          <a:p>
            <a:pPr indent="0" lvl="0" marL="76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/>
              <a:t>	</a:t>
            </a:r>
            <a:r>
              <a:rPr b="1" i="1" lang="en-US"/>
              <a:t>True: </a:t>
            </a:r>
            <a:r>
              <a:rPr i="1" lang="en-US">
                <a:solidFill>
                  <a:schemeClr val="accent1"/>
                </a:solidFill>
              </a:rPr>
              <a:t>Also helps ASes adopt certain policies</a:t>
            </a:r>
            <a:endParaRPr/>
          </a:p>
          <a:p>
            <a: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lang="en-US"/>
              <a:t>BGP always advertises a shortest path.</a:t>
            </a:r>
            <a:endParaRPr/>
          </a:p>
          <a:p>
            <a:pPr indent="0" lvl="0" marL="76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/>
              <a:t>	</a:t>
            </a:r>
            <a:r>
              <a:rPr b="1" i="1" lang="en-US"/>
              <a:t>False: </a:t>
            </a:r>
            <a:r>
              <a:rPr i="1" lang="en-US">
                <a:solidFill>
                  <a:schemeClr val="accent1"/>
                </a:solidFill>
              </a:rPr>
              <a:t>The path relies on various other metrics</a:t>
            </a:r>
            <a:endParaRPr/>
          </a:p>
          <a:p>
            <a: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</a:pPr>
            <a:r>
              <a:rPr lang="en-US"/>
              <a:t>BGP route advertisements use classless addressing.</a:t>
            </a:r>
            <a:endParaRPr/>
          </a:p>
          <a:p>
            <a:pPr indent="0" lvl="0" marL="76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b="1" i="1" lang="en-US"/>
              <a:t>	True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6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lang="en-US"/>
              <a:t>Question 3</a:t>
            </a:r>
            <a:endParaRPr/>
          </a:p>
        </p:txBody>
      </p:sp>
      <p:pic>
        <p:nvPicPr>
          <p:cNvPr id="1182" name="Google Shape;1182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425" y="1063229"/>
            <a:ext cx="7677150" cy="35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6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lang="en-US"/>
              <a:t>Question 3</a:t>
            </a:r>
            <a:endParaRPr/>
          </a:p>
        </p:txBody>
      </p:sp>
      <p:pic>
        <p:nvPicPr>
          <p:cNvPr id="1188" name="Google Shape;118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487" y="959724"/>
            <a:ext cx="8048625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Tropic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EF6C00"/>
      </a:accent1>
      <a:accent2>
        <a:srgbClr val="4DB6AC"/>
      </a:accent2>
      <a:accent3>
        <a:srgbClr val="B3A77D"/>
      </a:accent3>
      <a:accent4>
        <a:srgbClr val="A1E8D9"/>
      </a:accent4>
      <a:accent5>
        <a:srgbClr val="695D46"/>
      </a:accent5>
      <a:accent6>
        <a:srgbClr val="009668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85B0D2F0D7DC4489CFF991C602C9121" ma:contentTypeVersion="2" ma:contentTypeDescription="Utwórz nowy dokument." ma:contentTypeScope="" ma:versionID="55ebc71843e560559cd9789fe8f55ebe">
  <xsd:schema xmlns:xsd="http://www.w3.org/2001/XMLSchema" xmlns:xs="http://www.w3.org/2001/XMLSchema" xmlns:p="http://schemas.microsoft.com/office/2006/metadata/properties" xmlns:ns2="21e05157-672d-4edf-bcb1-53d9c4ace537" targetNamespace="http://schemas.microsoft.com/office/2006/metadata/properties" ma:root="true" ma:fieldsID="99c65d363eb84fdbef69a636906df0cd" ns2:_="">
    <xsd:import namespace="21e05157-672d-4edf-bcb1-53d9c4ace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e05157-672d-4edf-bcb1-53d9c4ace5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301E349-B34C-4764-A481-2B1FF504DA2E}"/>
</file>

<file path=customXml/itemProps2.xml><?xml version="1.0" encoding="utf-8"?>
<ds:datastoreItem xmlns:ds="http://schemas.openxmlformats.org/officeDocument/2006/customXml" ds:itemID="{728966F2-C2FA-450B-BFDC-5FBD6E0E5C78}"/>
</file>

<file path=customXml/itemProps3.xml><?xml version="1.0" encoding="utf-8"?>
<ds:datastoreItem xmlns:ds="http://schemas.openxmlformats.org/officeDocument/2006/customXml" ds:itemID="{09238AFD-429A-4824-970A-692FF72B91B2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0x010100185B0D2F0D7DC4489CFF991C602C9121</vt:lpwstr>
  </property>
</Properties>
</file>