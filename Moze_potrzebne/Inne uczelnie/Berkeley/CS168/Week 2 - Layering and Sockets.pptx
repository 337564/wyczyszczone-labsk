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</p:sldIdLst>
  <p:sldSz cy="5143500" cx="9144000"/>
  <p:notesSz cx="6858000" cy="9144000"/>
  <p:embeddedFontLst>
    <p:embeddedFont>
      <p:font typeface="Source Sans Pro Light"/>
      <p:regular r:id="rId52"/>
      <p:bold r:id="rId53"/>
      <p:italic r:id="rId54"/>
      <p:boldItalic r:id="rId55"/>
    </p:embeddedFont>
    <p:embeddedFont>
      <p:font typeface="PT Sans Narrow"/>
      <p:regular r:id="rId56"/>
      <p:bold r:id="rId57"/>
    </p:embeddedFont>
    <p:embeddedFont>
      <p:font typeface="Francois One"/>
      <p:regular r:id="rId58"/>
    </p:embeddedFont>
    <p:embeddedFont>
      <p:font typeface="Roboto Mono"/>
      <p:regular r:id="rId59"/>
      <p:bold r:id="rId60"/>
      <p:italic r:id="rId61"/>
      <p:boldItalic r:id="rId62"/>
    </p:embeddedFont>
    <p:embeddedFont>
      <p:font typeface="Source Sans Pro"/>
      <p:regular r:id="rId63"/>
      <p:bold r:id="rId64"/>
      <p:italic r:id="rId65"/>
      <p:boldItalic r:id="rId66"/>
    </p:embeddedFont>
    <p:embeddedFont>
      <p:font typeface="Open Sans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SourceSansPro-regular.fntdata"/><Relationship Id="rId21" Type="http://schemas.openxmlformats.org/officeDocument/2006/relationships/slide" Target="slides/slide17.xml"/><Relationship Id="rId68" Type="http://schemas.openxmlformats.org/officeDocument/2006/relationships/font" Target="fonts/OpenSans-bold.fntdata"/><Relationship Id="rId2" Type="http://schemas.openxmlformats.org/officeDocument/2006/relationships/presProps" Target="presProps.xml"/><Relationship Id="rId29" Type="http://schemas.openxmlformats.org/officeDocument/2006/relationships/slide" Target="slides/slide25.xml"/><Relationship Id="rId16" Type="http://schemas.openxmlformats.org/officeDocument/2006/relationships/slide" Target="slides/slide12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66" Type="http://schemas.openxmlformats.org/officeDocument/2006/relationships/font" Target="fonts/SourceSansPro-boldItalic.fntdata"/><Relationship Id="rId24" Type="http://schemas.openxmlformats.org/officeDocument/2006/relationships/slide" Target="slides/slide20.xml"/><Relationship Id="rId53" Type="http://schemas.openxmlformats.org/officeDocument/2006/relationships/font" Target="fonts/SourceSansProLight-bold.fntdata"/><Relationship Id="rId11" Type="http://schemas.openxmlformats.org/officeDocument/2006/relationships/slide" Target="slides/slide7.xml"/><Relationship Id="rId58" Type="http://schemas.openxmlformats.org/officeDocument/2006/relationships/font" Target="fonts/FrancoisOne-regular.fntdata"/><Relationship Id="rId5" Type="http://schemas.openxmlformats.org/officeDocument/2006/relationships/slide" Target="slides/slide1.xml"/><Relationship Id="rId61" Type="http://schemas.openxmlformats.org/officeDocument/2006/relationships/font" Target="fonts/RobotoMono-italic.fntdata"/><Relationship Id="rId19" Type="http://schemas.openxmlformats.org/officeDocument/2006/relationships/slide" Target="slides/slide15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64" Type="http://schemas.openxmlformats.org/officeDocument/2006/relationships/font" Target="fonts/SourceSansPro-bold.fntdata"/><Relationship Id="rId22" Type="http://schemas.openxmlformats.org/officeDocument/2006/relationships/slide" Target="slides/slide18.xml"/><Relationship Id="rId69" Type="http://schemas.openxmlformats.org/officeDocument/2006/relationships/font" Target="fonts/OpenSans-italic.fntdata"/><Relationship Id="rId27" Type="http://schemas.openxmlformats.org/officeDocument/2006/relationships/slide" Target="slides/slide23.xml"/><Relationship Id="rId56" Type="http://schemas.openxmlformats.org/officeDocument/2006/relationships/font" Target="fonts/PTSansNarrow-regular.fntdata"/><Relationship Id="rId14" Type="http://schemas.openxmlformats.org/officeDocument/2006/relationships/slide" Target="slides/slide10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6" Type="http://schemas.openxmlformats.org/officeDocument/2006/relationships/slide" Target="slides/slide42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67" Type="http://schemas.openxmlformats.org/officeDocument/2006/relationships/font" Target="fonts/OpenSans-regular.fntdata"/><Relationship Id="rId25" Type="http://schemas.openxmlformats.org/officeDocument/2006/relationships/slide" Target="slides/slide21.xml"/><Relationship Id="rId12" Type="http://schemas.openxmlformats.org/officeDocument/2006/relationships/slide" Target="slides/slide8.xml"/><Relationship Id="rId59" Type="http://schemas.openxmlformats.org/officeDocument/2006/relationships/font" Target="fonts/RobotoMono-regular.fntdata"/><Relationship Id="rId17" Type="http://schemas.openxmlformats.org/officeDocument/2006/relationships/slide" Target="slides/slide13.xml"/><Relationship Id="rId41" Type="http://schemas.openxmlformats.org/officeDocument/2006/relationships/slide" Target="slides/slide37.xml"/><Relationship Id="rId70" Type="http://schemas.openxmlformats.org/officeDocument/2006/relationships/font" Target="fonts/OpenSans-boldItalic.fntdata"/><Relationship Id="rId62" Type="http://schemas.openxmlformats.org/officeDocument/2006/relationships/font" Target="fonts/RobotoMono-boldItalic.fntdata"/><Relationship Id="rId20" Type="http://schemas.openxmlformats.org/officeDocument/2006/relationships/slide" Target="slides/slide16.xml"/><Relationship Id="rId54" Type="http://schemas.openxmlformats.org/officeDocument/2006/relationships/font" Target="fonts/SourceSansProLight-italic.fntdata"/><Relationship Id="rId1" Type="http://schemas.openxmlformats.org/officeDocument/2006/relationships/theme" Target="theme/theme1.xml"/><Relationship Id="rId6" Type="http://schemas.openxmlformats.org/officeDocument/2006/relationships/slide" Target="slides/slide2.xml"/><Relationship Id="rId49" Type="http://schemas.openxmlformats.org/officeDocument/2006/relationships/slide" Target="slides/slide45.xml"/><Relationship Id="rId36" Type="http://schemas.openxmlformats.org/officeDocument/2006/relationships/slide" Target="slides/slide3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57" Type="http://schemas.openxmlformats.org/officeDocument/2006/relationships/font" Target="fonts/PTSansNarrow-bold.fntdata"/><Relationship Id="rId15" Type="http://schemas.openxmlformats.org/officeDocument/2006/relationships/slide" Target="slides/slide11.xml"/><Relationship Id="rId44" Type="http://schemas.openxmlformats.org/officeDocument/2006/relationships/slide" Target="slides/slide40.xml"/><Relationship Id="rId31" Type="http://schemas.openxmlformats.org/officeDocument/2006/relationships/slide" Target="slides/slide27.xml"/><Relationship Id="rId65" Type="http://schemas.openxmlformats.org/officeDocument/2006/relationships/font" Target="fonts/SourceSansPro-italic.fntdata"/><Relationship Id="rId60" Type="http://schemas.openxmlformats.org/officeDocument/2006/relationships/font" Target="fonts/RobotoMono-bold.fntdata"/><Relationship Id="rId52" Type="http://schemas.openxmlformats.org/officeDocument/2006/relationships/font" Target="fonts/SourceSansProLight-regular.fntdata"/><Relationship Id="rId10" Type="http://schemas.openxmlformats.org/officeDocument/2006/relationships/slide" Target="slides/slide6.xml"/><Relationship Id="rId73" Type="http://schemas.openxmlformats.org/officeDocument/2006/relationships/customXml" Target="../customXml/item3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39" Type="http://schemas.openxmlformats.org/officeDocument/2006/relationships/slide" Target="slides/slide3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font" Target="fonts/SourceSansProLight-boldItalic.fntdata"/><Relationship Id="rId7" Type="http://schemas.openxmlformats.org/officeDocument/2006/relationships/slide" Target="slides/slide3.xml"/><Relationship Id="rId71" Type="http://schemas.openxmlformats.org/officeDocument/2006/relationships/customXml" Target="../customXml/item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vutbr.cz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76addff6a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76addff6a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76addff6ad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76addff6a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FEEL FREE TO CUSTOMIZE THESE TWO SLIDES IN YOUR OWN VERSION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Network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Routers/Switches and links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Network Stack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Networking SW on host. It replicates some routers/switch functionality then adds some additional network functionality before giving packet to application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Packets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bags of bits. Consists of: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Header w/meaningful info for network and network stack to make decisions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Body containing a payload. Ex. A file, imagine, an application header, etc.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Routers/Switches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devices that take a packet arriving on one of its incoming communication links and forwards said packet on one of its outgoing links. We make no distinction between routers/switches at this point because the difference is subtle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Application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Most high level part of network connection, responsible for sending and receiving data as well as understanding the content of the data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Port: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In routing context in the network, this refers to a physical port, which is responsible for providing a connection between routers/switches.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In network stack and application context, this could be a logical port which is a means of which an application can connect to the network stack. (More on ports later in the semester)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Socket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OS mechanism that connects processes to network stack via (logical) ports. More on this later..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Naming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Network address: where host is located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Network name: which host it is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When you move a server to a new building, it’s name does not change but it’s address does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Internet Service Provider (ISP)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Essentially an ISP is in itself a network of packet switches and communication links providing network access to end systems/links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Autonomous Systems (ASes)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A group of routers that are under the same administrative control.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Often routers in an ISP and the links that interconnect them constitute a single AS; however, some ISPs partition their network into multiple ASes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Routers within the same AS will run the same routing algorithm and have information about each other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Routing table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Table used by routers/switches to determine which outgoing link (port) to send a packet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Control plane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mechanisms used to computer touting tables. i.e. concerned with determining/creating routing decisions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Data plane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Using said tables to actually forward packets. i.e. concerned with the actual semantics/performance of forwarding packets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Circuit Switching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method of data transfer in which an end system reserves BW along a path - sets up a circuit - for communication. No need for packets.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Packet Switching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method of data transfer in which routers/switches service each packet they receive independently by inspecting its header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40a144bd5a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40a144bd5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Network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Routers/Switches and links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Network Stack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Networking SW on host. It replicates some routers/switch functionality then adds some additional network functionality before giving packet to application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Packets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bags of bits. Consists of: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Header w/meaningful info for network and network stack to make decisions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Body containing a payload. Ex. A file, imagine, an application header, etc.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Routers/Switches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devices that take a packet arriving on one of its incoming communication links and forwards said packet on one of its outgoing links. We make no distinction between routers/switches at this point because the difference is subtle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Application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Most high level part of network connection, responsible for sending and receiving data as well as understanding the content of the data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Port: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In routing context in the network, this refers to a physical port, which is responsible for providing a connection between routers/switches.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In network stack and application context, this could be a logical port which is a means of which an application can connect to the network stack. (More on ports later in the semester)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Socket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OS mechanism that connects processes to network stack via (logical) ports. More on this later..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Naming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Network address: where host is located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Network name: which host it is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When you move a server to a new building, it’s name does not change but it’s address does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Internet Service Provider (ISP)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Essentially an ISP is in itself a network of packet switches and communication links providing network access to end systems/links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Autonomous Systems (ASes)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A group of routers that are under the same administrative control.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Often routers in an ISP and the links that interconnect them constitute a single AS; however, some ISPs partition their network into multiple ASes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Routers within the same AS will run the same routing algorithm and have information about each other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Routing table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Table used by routers/switches to determine which outgoing link (port) to send a packet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Control plane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mechanisms used to computer touting tables. i.e. concerned with determining/creating routing decisions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Data plane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Using said tables to actually forward packets. i.e. concerned with the actual semantics/performance of forwarding packets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Circuit Switching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method of data transfer in which an end system reserves BW along a path - sets up a circuit - for communication. No need for packets.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Packet Switching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</a:rPr>
              <a:t>- method of data transfer in which routers/switches service each packet they receive independently by inspecting its header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Instructions on Next slide!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Command: ping &lt;website&gt;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	If you add  “-4” in windows, it will force IPv4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Websites: Berkeley (berkeley.edu), Google, Github, Microsoft (no response), zu.ac.tz (Zanzibar University Login), </a:t>
            </a:r>
            <a:r>
              <a:rPr b="0" i="0" lang="en" sz="1200" u="none" cap="none" strike="noStrike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allspice.lcs.mit.edu, www.vutbr.cz (Brno University, Czech Republic)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Ping google.co.uk at the end</a:t>
            </a:r>
            <a:endParaRPr b="0" i="0" sz="1200" u="none" cap="none" strike="noStrike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It should take about the same time to ping google.co.uk as google.com =&gt; google is smart enough to configure their DNS entries to allow anycast to work well across TLDs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It also has a CDN, the ping for google.com and google.co.uk goes into the same POP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“How?” section moved to bonus slides, can discuss at end of section if students are curious.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Command(linux, macOS): traceroute &lt;website&gt;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Command(Windows) tracert &lt;website&gt;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Websites: Berkeley, Google, Github, Microsoft (no response), zu.ac.tz, </a:t>
            </a:r>
            <a:r>
              <a:rPr b="0" i="0" lang="en" sz="1200" u="none" cap="none" strike="noStrike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allspice.lcs.mit.edu, </a:t>
            </a:r>
            <a:r>
              <a:rPr b="0" i="0" lang="en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2"/>
              </a:rPr>
              <a:t>www.vutbr.cz</a:t>
            </a:r>
            <a:endParaRPr b="0" i="0" sz="1200" u="none" cap="none" strike="noStrike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4292E"/>
                </a:solidFill>
                <a:highlight>
                  <a:srgbClr val="FFFFFF"/>
                </a:highlight>
              </a:rPr>
              <a:t>	-Feel free to also try eecs.berkeley.edu (it has a much different traceroute)</a:t>
            </a: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4292E"/>
                </a:solidFill>
                <a:highlight>
                  <a:srgbClr val="FFFFFF"/>
                </a:highlight>
              </a:rPr>
              <a:t>NOTE: CENIC = Corporation for Education Network Initiatives in California (Powerful networks for CA Univerisites)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Stars may also mean that it timed out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76addff6ad_1_14:notes"/>
          <p:cNvSpPr txBox="1"/>
          <p:nvPr>
            <p:ph idx="1" type="body"/>
          </p:nvPr>
        </p:nvSpPr>
        <p:spPr>
          <a:xfrm>
            <a:off x="686098" y="4343703"/>
            <a:ext cx="5485800" cy="41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76addff6ad_1_14:notes"/>
          <p:cNvSpPr/>
          <p:nvPr>
            <p:ph idx="2" type="sldImg"/>
          </p:nvPr>
        </p:nvSpPr>
        <p:spPr>
          <a:xfrm>
            <a:off x="428625" y="686405"/>
            <a:ext cx="60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6ea5de0d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6ea5de0d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6ea5de0d3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6ea5de0d3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76addff6a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76addff6a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info into two slides (and add picture)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6ea5de0d3e_0_1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6ea5de0d3e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6ea5de0d3e_0_2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6ea5de0d3e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*** security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Spoiler alert: it depends.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4120e6e12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4120e6e12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 socket, sys, threading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###If it doesn't work because it's been run recently, update the port number below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 = 12345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####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 client():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client_socket = socket.socket()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client_socket.connect(("127.0.0.1", port))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while True: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client_socket.send("hello")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 server():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server_socket = socket.socket()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server_socket.bind(("0.0.0.0", port))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server_socket.listen(5)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while True: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(new_socket, _) = server_socket.accept()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new_socket.send("Hello")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 main():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clientThread = threading.Thread(target=client).start()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serverThread = threading.Thread(target=server).start()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while True: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try: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pass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except KeyboardInterrupt: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clientThread.exit()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serverThread.exit()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sys.exit(0)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##Close window!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412b59e693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412b59e69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This is in case Latencies and similar are really weird OR the internet (Airbears )breaks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Also useful to know what to look for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412b59e6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412b59e6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are Berkeley, Google, Microsoft and Zanzibar University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that Berkeley and google have relatively low RTTs, while Zanzibar has a really long RTT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I pinged from OUTSIDE Berkeley’s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Microsoft.com does not respond to pings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Google.co.uk is on the NEXT page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412b59e69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412b59e69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that the RTT is similar to google.com on the previous slide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412b59e69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412b59e69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Hosted at different places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412b59e69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412b59e69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Zanzibar is geographically farther than microsoft, but has less routers in-between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412b59e69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412b59e69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Notice that both google traceroutes resolve to the same end location in SF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Paths differ a little bit (exact routers and IP addresses)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412b59e69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412b59e69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 for google </a:t>
            </a:r>
            <a:r>
              <a:rPr lang="en"/>
              <a:t>and</a:t>
            </a:r>
            <a:r>
              <a:rPr lang="en"/>
              <a:t> microsoft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412b59e69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412b59e69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Zanzibar </a:t>
            </a:r>
            <a:r>
              <a:rPr lang="en"/>
              <a:t>and</a:t>
            </a:r>
            <a:r>
              <a:rPr lang="en"/>
              <a:t> berkeley 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412b59e69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412b59e69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Netstat (with some explanations)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--and some nice highlights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--and removing some entries (I removed all UDP entries that are below)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BTW: My computer’s hostname is “BusinessBlack”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few are MS-Windows related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0.0.0.0:12345 is the python server listening for incoming connections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LISTENING = These ports are listening for an incoming connection (acting more like a server)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127.0.0.1:12345 to BusinessBlack:56683 (and vice versa) are the active connections from client to and from the server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connections to 52.109.2.32 https are connections for Office.com (probably my onenote notebook)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412b59e69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412b59e69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Msnbot is the notification services for various windows apps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40.97.80.2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ESTABLISHED = Ongoing connection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CLOSE_WAIT = Other side closed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TIME_WAIT = This side closed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//Details of TCP that come up later :)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0" y="91678"/>
            <a:ext cx="9144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457200" y="971550"/>
            <a:ext cx="8534400" cy="3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rtl="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08610" lvl="1" marL="914400" rtl="0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2pPr>
            <a:lvl3pPr indent="-308610" lvl="2" marL="1371600" rtl="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14325" lvl="3" marL="1828800" rtl="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4pPr>
            <a:lvl5pPr indent="-320039" lvl="4" marL="2286000" rtl="0" algn="l">
              <a:spcBef>
                <a:spcPts val="360"/>
              </a:spcBef>
              <a:spcAft>
                <a:spcPts val="0"/>
              </a:spcAft>
              <a:buSzPts val="1440"/>
              <a:buChar char="○"/>
              <a:defRPr/>
            </a:lvl5pPr>
            <a:lvl6pPr indent="-320039" lvl="5" marL="2743200" rtl="0" algn="l">
              <a:spcBef>
                <a:spcPts val="360"/>
              </a:spcBef>
              <a:spcAft>
                <a:spcPts val="0"/>
              </a:spcAft>
              <a:buSzPts val="1440"/>
              <a:buChar char="■"/>
              <a:defRPr/>
            </a:lvl6pPr>
            <a:lvl7pPr indent="-320039" lvl="6" marL="3200400" rtl="0" algn="l">
              <a:spcBef>
                <a:spcPts val="360"/>
              </a:spcBef>
              <a:spcAft>
                <a:spcPts val="0"/>
              </a:spcAft>
              <a:buSzPts val="1440"/>
              <a:buChar char="●"/>
              <a:defRPr/>
            </a:lvl7pPr>
            <a:lvl8pPr indent="-320040" lvl="7" marL="3657600" rtl="0" algn="l">
              <a:spcBef>
                <a:spcPts val="360"/>
              </a:spcBef>
              <a:spcAft>
                <a:spcPts val="0"/>
              </a:spcAft>
              <a:buSzPts val="1440"/>
              <a:buChar char="○"/>
              <a:defRPr/>
            </a:lvl8pPr>
            <a:lvl9pPr indent="-320040" lvl="8" marL="4114800" rtl="0" algn="l">
              <a:spcBef>
                <a:spcPts val="360"/>
              </a:spcBef>
              <a:spcAft>
                <a:spcPts val="0"/>
              </a:spcAft>
              <a:buSzPts val="1440"/>
              <a:buChar char="■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ocs.python.org/2/howto/sockets.html" TargetMode="External"/><Relationship Id="rId4" Type="http://schemas.openxmlformats.org/officeDocument/2006/relationships/hyperlink" Target="https://docs.python.org/2/howto/sockets.html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Layering and Sockets</a:t>
            </a:r>
            <a:endParaRPr/>
          </a:p>
        </p:txBody>
      </p:sp>
      <p:sp>
        <p:nvSpPr>
          <p:cNvPr id="73" name="Google Shape;73;p14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168 - Spring 2020 - Dis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Agenda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100"/>
              <a:buFont typeface="Source Sans Pro"/>
              <a:buChar char="●"/>
            </a:pPr>
            <a:r>
              <a:rPr i="0" lang="en" sz="21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Terms</a:t>
            </a:r>
            <a:endParaRPr i="0" sz="21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100"/>
              <a:buFont typeface="Source Sans Pro"/>
              <a:buChar char="●"/>
            </a:pPr>
            <a:r>
              <a:rPr lang="en" sz="2100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Poking the Internet</a:t>
            </a:r>
            <a:endParaRPr sz="2100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100"/>
              <a:buFont typeface="Source Sans Pro"/>
              <a:buChar char="●"/>
            </a:pPr>
            <a:r>
              <a:rPr lang="en" sz="2100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Layering</a:t>
            </a:r>
            <a:endParaRPr sz="2100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100"/>
              <a:buFont typeface="Source Sans Pro"/>
              <a:buChar char="●"/>
            </a:pPr>
            <a:r>
              <a:rPr i="0" lang="en" sz="21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Sockets</a:t>
            </a:r>
            <a:endParaRPr i="0" sz="21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100"/>
              <a:buFont typeface="Source Sans Pro"/>
              <a:buChar char="○"/>
            </a:pPr>
            <a:r>
              <a:rPr i="0" lang="en" sz="21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Establishing connections</a:t>
            </a:r>
            <a:endParaRPr i="0" sz="21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100"/>
              <a:buFont typeface="Source Sans Pro"/>
              <a:buChar char="○"/>
            </a:pPr>
            <a:r>
              <a:rPr i="0" lang="en" sz="21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Send and receive</a:t>
            </a:r>
            <a:endParaRPr i="0" sz="21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latin typeface="Francois One"/>
                <a:ea typeface="Francois One"/>
                <a:cs typeface="Francois One"/>
                <a:sym typeface="Francois One"/>
              </a:rPr>
              <a:t>Terms</a:t>
            </a:r>
            <a:endParaRPr b="0" i="0" sz="3000" u="none" cap="none" strike="noStrike"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Source Sans Pro"/>
              <a:buChar char="●"/>
            </a:pPr>
            <a:r>
              <a:rPr b="1"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Network Stack</a:t>
            </a: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</a:t>
            </a: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</a:t>
            </a: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etworking </a:t>
            </a: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software</a:t>
            </a: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on host.</a:t>
            </a:r>
            <a:endParaRPr sz="16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○"/>
            </a:pP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Some router/switch functions</a:t>
            </a:r>
            <a:endParaRPr sz="16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○"/>
            </a:pP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+ extra processing before passing packets to applications</a:t>
            </a:r>
            <a:endParaRPr sz="16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Source Sans Pro"/>
              <a:buChar char="●"/>
            </a:pPr>
            <a:r>
              <a:rPr b="1"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Packets</a:t>
            </a: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</a:t>
            </a: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 grouping </a:t>
            </a: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of bits:</a:t>
            </a:r>
            <a:endParaRPr sz="16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○"/>
            </a:pP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Header: useful info for network and network stack decisions</a:t>
            </a:r>
            <a:endParaRPr sz="16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○"/>
            </a:pP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Body / payload: data to transfer (file, image, application header, ...)</a:t>
            </a:r>
            <a:endParaRPr sz="16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Source Sans Pro"/>
              <a:buChar char="■"/>
            </a:pP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Not useful to network </a:t>
            </a:r>
            <a:endParaRPr sz="16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Source Sans Pro"/>
              <a:buChar char="●"/>
            </a:pPr>
            <a:r>
              <a:rPr b="1"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Routers / Switches</a:t>
            </a: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</a:t>
            </a:r>
            <a:endParaRPr sz="16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Source Sans Pro"/>
              <a:buChar char="○"/>
            </a:pP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Devices that forward packets (between links)</a:t>
            </a:r>
            <a:endParaRPr sz="16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○"/>
            </a:pP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We make no distinction between routers/switches at this point</a:t>
            </a:r>
            <a:endParaRPr sz="16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Source Sans Pro"/>
              <a:buChar char="●"/>
            </a:pPr>
            <a:r>
              <a:rPr b="1"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Naming</a:t>
            </a: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</a:t>
            </a:r>
            <a:endParaRPr sz="16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○"/>
            </a:pP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Network address: where host is located</a:t>
            </a:r>
            <a:endParaRPr sz="16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○"/>
            </a:pP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Network name: which host it is</a:t>
            </a:r>
            <a:endParaRPr sz="16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○"/>
            </a:pPr>
            <a:r>
              <a:rPr lang="en" sz="16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When you move a server to a new building, its name does not change but its address does</a:t>
            </a:r>
            <a:endParaRPr sz="16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lang="en" sz="3000">
                <a:latin typeface="Francois One"/>
                <a:ea typeface="Francois One"/>
                <a:cs typeface="Francois One"/>
                <a:sym typeface="Francois One"/>
              </a:rPr>
              <a:t>Terms (cont’d)</a:t>
            </a:r>
            <a:endParaRPr b="0" i="0" sz="3000" u="none" cap="none" strike="noStrike"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"/>
              <a:buChar char="●"/>
            </a:pPr>
            <a:r>
              <a:rPr b="1" lang="en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Routing Table</a:t>
            </a:r>
            <a:r>
              <a:rPr b="1" lang="en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</a:t>
            </a:r>
            <a:r>
              <a:rPr lang="en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used by routers/switches to determine which outgoing link (port) to send a packet</a:t>
            </a:r>
            <a:endParaRPr sz="18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"/>
              <a:buChar char="●"/>
            </a:pPr>
            <a:r>
              <a:rPr b="1" lang="en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Control Plane: </a:t>
            </a:r>
            <a:r>
              <a:rPr lang="en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system that </a:t>
            </a:r>
            <a:r>
              <a:rPr lang="en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compute</a:t>
            </a:r>
            <a:r>
              <a:rPr lang="en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 </a:t>
            </a:r>
            <a:r>
              <a:rPr lang="en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routing tables</a:t>
            </a:r>
            <a:r>
              <a:rPr lang="en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(decides </a:t>
            </a:r>
            <a:r>
              <a:rPr lang="en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routing)</a:t>
            </a:r>
            <a:endParaRPr sz="18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Data Plane: </a:t>
            </a:r>
            <a:r>
              <a:rPr lang="en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system that actually forwards packets (using routing tables)</a:t>
            </a:r>
            <a:endParaRPr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Source Sans Pro"/>
              <a:buChar char="○"/>
            </a:pPr>
            <a:r>
              <a:rPr lang="en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Concerned with actual semantics/performance of forwarding packets</a:t>
            </a:r>
            <a:endParaRPr sz="18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"/>
              <a:buChar char="●"/>
            </a:pPr>
            <a:r>
              <a:rPr b="1" lang="en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ISP (Internet Service Provider): </a:t>
            </a:r>
            <a:r>
              <a:rPr lang="en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 org / company that provides network access to end users </a:t>
            </a:r>
            <a:r>
              <a:rPr lang="en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(i.e. Comcast, Sonic)</a:t>
            </a:r>
            <a:endParaRPr sz="18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ASes (Autonomous Systems):</a:t>
            </a:r>
            <a:r>
              <a:rPr lang="en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</a:t>
            </a:r>
            <a:r>
              <a:rPr lang="en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roups of routers under the same control</a:t>
            </a:r>
            <a:endParaRPr sz="18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Source Sans Pro"/>
              <a:buChar char="○"/>
            </a:pPr>
            <a:r>
              <a:rPr lang="en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Usually each ISP has an AS, but may have multiple ASes</a:t>
            </a:r>
            <a:endParaRPr sz="18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Source Sans Pro"/>
              <a:buChar char="○"/>
            </a:pPr>
            <a:r>
              <a:rPr lang="en" sz="1800">
                <a:solidFill>
                  <a:srgbClr val="22222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Routers within the same AS will have information about each other</a:t>
            </a:r>
            <a:endParaRPr sz="1800">
              <a:solidFill>
                <a:srgbClr val="22222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</a:pPr>
            <a:r>
              <a:rPr b="0" i="0" lang="en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Poking the Internet</a:t>
            </a:r>
            <a:endParaRPr b="0" i="0" sz="36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Ping, Traceroute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These tools can give some insight into what is going on inside and across the internet.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We’re going to play around with them a little bit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Ping</a:t>
            </a:r>
            <a:r>
              <a:rPr b="0" i="0" lang="en" sz="3000" u="none" cap="none" strike="noStrike">
                <a:solidFill>
                  <a:srgbClr val="EFEFEF"/>
                </a:solidFill>
                <a:latin typeface="Francois One"/>
                <a:ea typeface="Francois One"/>
                <a:cs typeface="Francois One"/>
                <a:sym typeface="Francois One"/>
              </a:rPr>
              <a:t>, Traceroute</a:t>
            </a:r>
            <a:endParaRPr b="0" i="0" sz="3000" u="none" cap="none" strike="noStrike">
              <a:solidFill>
                <a:srgbClr val="EFEFEF"/>
              </a:solidFill>
              <a:latin typeface="Francois One"/>
              <a:ea typeface="Francois One"/>
              <a:cs typeface="Francois One"/>
              <a:sym typeface="Francois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t/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Ping is a simple utility that basically lets you poke a website and see if it moves (spoiler: most do!)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You say hi and see if the server says hi back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○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This by itself is not super interesting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Ping also tells you </a:t>
            </a:r>
            <a:r>
              <a:rPr b="0" i="0" lang="en" sz="2000" u="sng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how long</a:t>
            </a: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 the reply took to come back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○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This is more interesting!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Let’s try out a few websites.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Ping: A prediction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We’ve pinged a couple websites and seen pretty significant differences in </a:t>
            </a:r>
            <a:r>
              <a:rPr b="0" i="1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latency</a:t>
            </a: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.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○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Latency is the time between when a request is sent and when the response is heard.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What about differences in latency for the same website, but in different regions?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We’ve pinged google.com and seen its latency.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○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How many times longer will it take for a ping to google.co.uk to come back?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EFEFEF"/>
                </a:solidFill>
                <a:latin typeface="Francois One"/>
                <a:ea typeface="Francois One"/>
                <a:cs typeface="Francois One"/>
                <a:sym typeface="Francois One"/>
              </a:rPr>
              <a:t>Ping, </a:t>
            </a: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Traceroute</a:t>
            </a:r>
            <a:endParaRPr b="0" i="0" sz="3000" u="none" cap="none" strike="noStrike">
              <a:solidFill>
                <a:srgbClr val="EFEFEF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Does what its name implies: it allows you to trace the route that packets take from your computer to the destination.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Specifically lets you see the routers/switches that are forwarding your packets.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Packets have a limit to how many times they can be forwarded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Dropped when the limit is exceeded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■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Prevents a packet from looping and other issues. We will come back to this later.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Most routers will notify the sender when the packet is dropped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Traceroute sets the limit to 1,2,3,… for the same destination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Allows sender to trace the path of the packet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Demo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Traceroute: Notice anything?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Traceroute gives us a lot more interesting feedback than ping.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○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Latency to </a:t>
            </a:r>
            <a:r>
              <a:rPr b="0" i="1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every </a:t>
            </a: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step along the way.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■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Can see a breakdown of latencies!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○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Router names.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■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Often have locations in them (i.e. city name)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■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Can roughly trace packet path on a map!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○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Multiple routers at a given step!?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■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Traffic engineering, load balancing, route changes!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○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Weird stars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■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Some routers just don’t respond ⁻\_(ツ)_/⁻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457200" y="262950"/>
            <a:ext cx="86868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Layering</a:t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857250"/>
            <a:ext cx="3048000" cy="4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4"/>
          <p:cNvSpPr txBox="1"/>
          <p:nvPr/>
        </p:nvSpPr>
        <p:spPr>
          <a:xfrm>
            <a:off x="-304800" y="954914"/>
            <a:ext cx="6172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r>
              <a:rPr b="1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4" name="Google Shape;134;p24"/>
          <p:cNvSpPr txBox="1"/>
          <p:nvPr/>
        </p:nvSpPr>
        <p:spPr>
          <a:xfrm>
            <a:off x="1943100" y="2930351"/>
            <a:ext cx="1917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…built on…</a:t>
            </a:r>
            <a:endParaRPr b="1" sz="24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5" name="Google Shape;135;p24"/>
          <p:cNvSpPr txBox="1"/>
          <p:nvPr/>
        </p:nvSpPr>
        <p:spPr>
          <a:xfrm>
            <a:off x="2044700" y="2117917"/>
            <a:ext cx="1917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…built on…</a:t>
            </a:r>
            <a:endParaRPr b="1" sz="24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6" name="Google Shape;136;p24"/>
          <p:cNvSpPr txBox="1"/>
          <p:nvPr/>
        </p:nvSpPr>
        <p:spPr>
          <a:xfrm>
            <a:off x="2044700" y="1347329"/>
            <a:ext cx="1917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…built on…</a:t>
            </a:r>
            <a:endParaRPr b="1" sz="24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1943100" y="3789275"/>
            <a:ext cx="1917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…built on…</a:t>
            </a:r>
            <a:endParaRPr b="1" sz="24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-259500" y="1709525"/>
            <a:ext cx="6691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Reliable (or unreliable) transport</a:t>
            </a:r>
            <a:endParaRPr b="1" sz="2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-139325" y="2473700"/>
            <a:ext cx="654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Best-effort global packet delivery</a:t>
            </a:r>
            <a:endParaRPr b="1" sz="2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-184200" y="3336713"/>
            <a:ext cx="6172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Best-effort local packet delivery</a:t>
            </a:r>
            <a:endParaRPr b="1" sz="2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-441200" y="4195624"/>
            <a:ext cx="6172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transfer of bits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2" name="Google Shape;142;p24"/>
          <p:cNvCxnSpPr/>
          <p:nvPr/>
        </p:nvCxnSpPr>
        <p:spPr>
          <a:xfrm>
            <a:off x="4267200" y="1200150"/>
            <a:ext cx="1905000" cy="62850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3" name="Google Shape;143;p24"/>
          <p:cNvCxnSpPr/>
          <p:nvPr/>
        </p:nvCxnSpPr>
        <p:spPr>
          <a:xfrm flipH="1" rot="10800000">
            <a:off x="5181600" y="4000350"/>
            <a:ext cx="990600" cy="40020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4" name="Google Shape;144;p24"/>
          <p:cNvCxnSpPr/>
          <p:nvPr/>
        </p:nvCxnSpPr>
        <p:spPr>
          <a:xfrm>
            <a:off x="5791200" y="3543300"/>
            <a:ext cx="533400" cy="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5" name="Google Shape;145;p24"/>
          <p:cNvCxnSpPr/>
          <p:nvPr/>
        </p:nvCxnSpPr>
        <p:spPr>
          <a:xfrm>
            <a:off x="6083950" y="2781475"/>
            <a:ext cx="1078800" cy="13320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6" name="Google Shape;146;p24"/>
          <p:cNvCxnSpPr/>
          <p:nvPr/>
        </p:nvCxnSpPr>
        <p:spPr>
          <a:xfrm>
            <a:off x="5105400" y="2114550"/>
            <a:ext cx="1524000" cy="28590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Layering</a:t>
            </a:r>
            <a:endParaRPr/>
          </a:p>
        </p:txBody>
      </p:sp>
      <p:grpSp>
        <p:nvGrpSpPr>
          <p:cNvPr id="152" name="Google Shape;152;p25"/>
          <p:cNvGrpSpPr/>
          <p:nvPr/>
        </p:nvGrpSpPr>
        <p:grpSpPr>
          <a:xfrm>
            <a:off x="1951198" y="1106025"/>
            <a:ext cx="5364723" cy="496200"/>
            <a:chOff x="1951198" y="1106025"/>
            <a:chExt cx="5364723" cy="496200"/>
          </a:xfrm>
        </p:grpSpPr>
        <p:sp>
          <p:nvSpPr>
            <p:cNvPr id="153" name="Google Shape;153;p25"/>
            <p:cNvSpPr/>
            <p:nvPr/>
          </p:nvSpPr>
          <p:spPr>
            <a:xfrm>
              <a:off x="1951198" y="1106025"/>
              <a:ext cx="1565100" cy="4962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L7: Application</a:t>
              </a:r>
              <a:endParaRPr b="1"/>
            </a:p>
          </p:txBody>
        </p:sp>
        <p:sp>
          <p:nvSpPr>
            <p:cNvPr id="154" name="Google Shape;154;p25"/>
            <p:cNvSpPr/>
            <p:nvPr/>
          </p:nvSpPr>
          <p:spPr>
            <a:xfrm>
              <a:off x="3516121" y="1106025"/>
              <a:ext cx="3799800" cy="496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do the thing</a:t>
              </a:r>
              <a:endParaRPr/>
            </a:p>
          </p:txBody>
        </p:sp>
      </p:grpSp>
      <p:grpSp>
        <p:nvGrpSpPr>
          <p:cNvPr id="155" name="Google Shape;155;p25"/>
          <p:cNvGrpSpPr/>
          <p:nvPr/>
        </p:nvGrpSpPr>
        <p:grpSpPr>
          <a:xfrm>
            <a:off x="1951198" y="1602225"/>
            <a:ext cx="5364723" cy="496200"/>
            <a:chOff x="1951198" y="1602225"/>
            <a:chExt cx="5364723" cy="496200"/>
          </a:xfrm>
        </p:grpSpPr>
        <p:sp>
          <p:nvSpPr>
            <p:cNvPr id="156" name="Google Shape;156;p25"/>
            <p:cNvSpPr/>
            <p:nvPr/>
          </p:nvSpPr>
          <p:spPr>
            <a:xfrm>
              <a:off x="1951198" y="1602225"/>
              <a:ext cx="1565100" cy="496200"/>
            </a:xfrm>
            <a:prstGeom prst="rec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66666"/>
                  </a:solidFill>
                </a:rPr>
                <a:t>L6: Presentation</a:t>
              </a:r>
              <a:endParaRPr>
                <a:solidFill>
                  <a:srgbClr val="666666"/>
                </a:solidFill>
              </a:endParaRPr>
            </a:p>
          </p:txBody>
        </p:sp>
        <p:sp>
          <p:nvSpPr>
            <p:cNvPr id="157" name="Google Shape;157;p25"/>
            <p:cNvSpPr/>
            <p:nvPr/>
          </p:nvSpPr>
          <p:spPr>
            <a:xfrm>
              <a:off x="3516121" y="1602225"/>
              <a:ext cx="3799800" cy="496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66666"/>
                  </a:solidFill>
                </a:rPr>
                <a:t>(ignored here)</a:t>
              </a:r>
              <a:endParaRPr>
                <a:solidFill>
                  <a:srgbClr val="666666"/>
                </a:solidFill>
              </a:endParaRPr>
            </a:p>
          </p:txBody>
        </p:sp>
      </p:grpSp>
      <p:grpSp>
        <p:nvGrpSpPr>
          <p:cNvPr id="158" name="Google Shape;158;p25"/>
          <p:cNvGrpSpPr/>
          <p:nvPr/>
        </p:nvGrpSpPr>
        <p:grpSpPr>
          <a:xfrm>
            <a:off x="1951198" y="2098425"/>
            <a:ext cx="5364723" cy="496200"/>
            <a:chOff x="1951198" y="2098425"/>
            <a:chExt cx="5364723" cy="496200"/>
          </a:xfrm>
        </p:grpSpPr>
        <p:sp>
          <p:nvSpPr>
            <p:cNvPr id="159" name="Google Shape;159;p25"/>
            <p:cNvSpPr/>
            <p:nvPr/>
          </p:nvSpPr>
          <p:spPr>
            <a:xfrm>
              <a:off x="1951198" y="2098425"/>
              <a:ext cx="1565100" cy="4962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66666"/>
                  </a:solidFill>
                </a:rPr>
                <a:t>L5: Session</a:t>
              </a:r>
              <a:endParaRPr>
                <a:solidFill>
                  <a:srgbClr val="666666"/>
                </a:solidFill>
              </a:endParaRPr>
            </a:p>
          </p:txBody>
        </p:sp>
        <p:sp>
          <p:nvSpPr>
            <p:cNvPr id="160" name="Google Shape;160;p25"/>
            <p:cNvSpPr/>
            <p:nvPr/>
          </p:nvSpPr>
          <p:spPr>
            <a:xfrm>
              <a:off x="3516121" y="2098425"/>
              <a:ext cx="3799800" cy="496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66666"/>
                  </a:solidFill>
                </a:rPr>
                <a:t>(ignored here)</a:t>
              </a:r>
              <a:endParaRPr>
                <a:solidFill>
                  <a:srgbClr val="666666"/>
                </a:solidFill>
              </a:endParaRPr>
            </a:p>
          </p:txBody>
        </p:sp>
      </p:grpSp>
      <p:grpSp>
        <p:nvGrpSpPr>
          <p:cNvPr id="161" name="Google Shape;161;p25"/>
          <p:cNvGrpSpPr/>
          <p:nvPr/>
        </p:nvGrpSpPr>
        <p:grpSpPr>
          <a:xfrm>
            <a:off x="1951198" y="2594625"/>
            <a:ext cx="5364723" cy="496200"/>
            <a:chOff x="1951198" y="2594625"/>
            <a:chExt cx="5364723" cy="496200"/>
          </a:xfrm>
        </p:grpSpPr>
        <p:sp>
          <p:nvSpPr>
            <p:cNvPr id="162" name="Google Shape;162;p25"/>
            <p:cNvSpPr/>
            <p:nvPr/>
          </p:nvSpPr>
          <p:spPr>
            <a:xfrm>
              <a:off x="1951198" y="2594625"/>
              <a:ext cx="1565100" cy="4962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L4: Transport</a:t>
              </a:r>
              <a:endParaRPr b="1"/>
            </a:p>
          </p:txBody>
        </p:sp>
        <p:sp>
          <p:nvSpPr>
            <p:cNvPr id="163" name="Google Shape;163;p25"/>
            <p:cNvSpPr/>
            <p:nvPr/>
          </p:nvSpPr>
          <p:spPr>
            <a:xfrm>
              <a:off x="3516121" y="2594625"/>
              <a:ext cx="3799800" cy="496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beyond </a:t>
              </a:r>
              <a:r>
                <a:rPr lang="en"/>
                <a:t>delivery: (un)reliability, packet assembly, congestion control, ...</a:t>
              </a:r>
              <a:endParaRPr/>
            </a:p>
          </p:txBody>
        </p:sp>
      </p:grpSp>
      <p:grpSp>
        <p:nvGrpSpPr>
          <p:cNvPr id="164" name="Google Shape;164;p25"/>
          <p:cNvGrpSpPr/>
          <p:nvPr/>
        </p:nvGrpSpPr>
        <p:grpSpPr>
          <a:xfrm>
            <a:off x="1951198" y="3090825"/>
            <a:ext cx="5364723" cy="496200"/>
            <a:chOff x="1951198" y="3090825"/>
            <a:chExt cx="5364723" cy="496200"/>
          </a:xfrm>
        </p:grpSpPr>
        <p:sp>
          <p:nvSpPr>
            <p:cNvPr id="165" name="Google Shape;165;p25"/>
            <p:cNvSpPr/>
            <p:nvPr/>
          </p:nvSpPr>
          <p:spPr>
            <a:xfrm>
              <a:off x="1951198" y="3090825"/>
              <a:ext cx="1565100" cy="4962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L3: Network</a:t>
              </a:r>
              <a:endParaRPr b="1"/>
            </a:p>
          </p:txBody>
        </p:sp>
        <p:sp>
          <p:nvSpPr>
            <p:cNvPr id="166" name="Google Shape;166;p25"/>
            <p:cNvSpPr/>
            <p:nvPr/>
          </p:nvSpPr>
          <p:spPr>
            <a:xfrm>
              <a:off x="3516121" y="3090825"/>
              <a:ext cx="3799800" cy="496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global </a:t>
              </a:r>
              <a:r>
                <a:rPr lang="en"/>
                <a:t>delivery, best-effort</a:t>
              </a:r>
              <a:endParaRPr/>
            </a:p>
          </p:txBody>
        </p:sp>
      </p:grpSp>
      <p:grpSp>
        <p:nvGrpSpPr>
          <p:cNvPr id="167" name="Google Shape;167;p25"/>
          <p:cNvGrpSpPr/>
          <p:nvPr/>
        </p:nvGrpSpPr>
        <p:grpSpPr>
          <a:xfrm>
            <a:off x="1951198" y="3587025"/>
            <a:ext cx="5364723" cy="496200"/>
            <a:chOff x="1951198" y="3587025"/>
            <a:chExt cx="5364723" cy="496200"/>
          </a:xfrm>
        </p:grpSpPr>
        <p:sp>
          <p:nvSpPr>
            <p:cNvPr id="168" name="Google Shape;168;p25"/>
            <p:cNvSpPr/>
            <p:nvPr/>
          </p:nvSpPr>
          <p:spPr>
            <a:xfrm>
              <a:off x="1951198" y="3587025"/>
              <a:ext cx="1565100" cy="496200"/>
            </a:xfrm>
            <a:prstGeom prst="rect">
              <a:avLst/>
            </a:prstGeom>
            <a:solidFill>
              <a:srgbClr val="FCE5C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L2: Data link</a:t>
              </a:r>
              <a:endParaRPr b="1"/>
            </a:p>
          </p:txBody>
        </p:sp>
        <p:sp>
          <p:nvSpPr>
            <p:cNvPr id="169" name="Google Shape;169;p25"/>
            <p:cNvSpPr/>
            <p:nvPr/>
          </p:nvSpPr>
          <p:spPr>
            <a:xfrm>
              <a:off x="3516121" y="3587025"/>
              <a:ext cx="3799800" cy="496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local</a:t>
              </a:r>
              <a:r>
                <a:rPr lang="en"/>
                <a:t> delivery, best-effort</a:t>
              </a:r>
              <a:endParaRPr/>
            </a:p>
          </p:txBody>
        </p:sp>
      </p:grpSp>
      <p:grpSp>
        <p:nvGrpSpPr>
          <p:cNvPr id="170" name="Google Shape;170;p25"/>
          <p:cNvGrpSpPr/>
          <p:nvPr/>
        </p:nvGrpSpPr>
        <p:grpSpPr>
          <a:xfrm>
            <a:off x="1951198" y="4083225"/>
            <a:ext cx="5364723" cy="496200"/>
            <a:chOff x="1951198" y="4083225"/>
            <a:chExt cx="5364723" cy="496200"/>
          </a:xfrm>
        </p:grpSpPr>
        <p:sp>
          <p:nvSpPr>
            <p:cNvPr id="171" name="Google Shape;171;p25"/>
            <p:cNvSpPr/>
            <p:nvPr/>
          </p:nvSpPr>
          <p:spPr>
            <a:xfrm>
              <a:off x="1951198" y="4083225"/>
              <a:ext cx="1565100" cy="4962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L1: Physical</a:t>
              </a:r>
              <a:endParaRPr b="1"/>
            </a:p>
          </p:txBody>
        </p:sp>
        <p:sp>
          <p:nvSpPr>
            <p:cNvPr id="172" name="Google Shape;172;p25"/>
            <p:cNvSpPr/>
            <p:nvPr/>
          </p:nvSpPr>
          <p:spPr>
            <a:xfrm>
              <a:off x="3516121" y="4083225"/>
              <a:ext cx="3799800" cy="496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physical transfer of bits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Layering in practice</a:t>
            </a:r>
            <a:endParaRPr/>
          </a:p>
        </p:txBody>
      </p:sp>
      <p:sp>
        <p:nvSpPr>
          <p:cNvPr id="178" name="Google Shape;178;p26"/>
          <p:cNvSpPr/>
          <p:nvPr/>
        </p:nvSpPr>
        <p:spPr>
          <a:xfrm>
            <a:off x="2224350" y="1152425"/>
            <a:ext cx="1565100" cy="14886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HTTP(S)</a:t>
            </a:r>
            <a:endParaRPr/>
          </a:p>
        </p:txBody>
      </p:sp>
      <p:sp>
        <p:nvSpPr>
          <p:cNvPr id="179" name="Google Shape;179;p26"/>
          <p:cNvSpPr/>
          <p:nvPr/>
        </p:nvSpPr>
        <p:spPr>
          <a:xfrm>
            <a:off x="2224348" y="2641025"/>
            <a:ext cx="1565100" cy="496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180" name="Google Shape;180;p26"/>
          <p:cNvSpPr/>
          <p:nvPr/>
        </p:nvSpPr>
        <p:spPr>
          <a:xfrm>
            <a:off x="2224348" y="3137225"/>
            <a:ext cx="1565100" cy="496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181" name="Google Shape;181;p26"/>
          <p:cNvSpPr/>
          <p:nvPr/>
        </p:nvSpPr>
        <p:spPr>
          <a:xfrm>
            <a:off x="2224350" y="3633425"/>
            <a:ext cx="1565100" cy="999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182" name="Google Shape;182;p26"/>
          <p:cNvSpPr/>
          <p:nvPr/>
        </p:nvSpPr>
        <p:spPr>
          <a:xfrm>
            <a:off x="3789448" y="3633425"/>
            <a:ext cx="1565100" cy="999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802.11 Wi-Fi</a:t>
            </a:r>
            <a:endParaRPr/>
          </a:p>
        </p:txBody>
      </p:sp>
      <p:sp>
        <p:nvSpPr>
          <p:cNvPr id="183" name="Google Shape;183;p26"/>
          <p:cNvSpPr/>
          <p:nvPr/>
        </p:nvSpPr>
        <p:spPr>
          <a:xfrm>
            <a:off x="5354551" y="3633425"/>
            <a:ext cx="1565100" cy="999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bus</a:t>
            </a:r>
            <a:endParaRPr/>
          </a:p>
        </p:txBody>
      </p:sp>
      <p:sp>
        <p:nvSpPr>
          <p:cNvPr id="184" name="Google Shape;184;p26"/>
          <p:cNvSpPr/>
          <p:nvPr/>
        </p:nvSpPr>
        <p:spPr>
          <a:xfrm>
            <a:off x="3789448" y="2641025"/>
            <a:ext cx="1565100" cy="496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UDP</a:t>
            </a:r>
            <a:endParaRPr/>
          </a:p>
        </p:txBody>
      </p:sp>
      <p:sp>
        <p:nvSpPr>
          <p:cNvPr id="185" name="Google Shape;185;p26"/>
          <p:cNvSpPr/>
          <p:nvPr/>
        </p:nvSpPr>
        <p:spPr>
          <a:xfrm>
            <a:off x="6919649" y="3633425"/>
            <a:ext cx="1565100" cy="999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USB</a:t>
            </a:r>
            <a:endParaRPr/>
          </a:p>
        </p:txBody>
      </p:sp>
      <p:sp>
        <p:nvSpPr>
          <p:cNvPr id="186" name="Google Shape;186;p26"/>
          <p:cNvSpPr/>
          <p:nvPr/>
        </p:nvSpPr>
        <p:spPr>
          <a:xfrm>
            <a:off x="3789450" y="1152425"/>
            <a:ext cx="1565100" cy="14886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SSH</a:t>
            </a:r>
            <a:endParaRPr/>
          </a:p>
        </p:txBody>
      </p:sp>
      <p:sp>
        <p:nvSpPr>
          <p:cNvPr id="187" name="Google Shape;187;p26"/>
          <p:cNvSpPr/>
          <p:nvPr/>
        </p:nvSpPr>
        <p:spPr>
          <a:xfrm>
            <a:off x="5354550" y="1152425"/>
            <a:ext cx="1565100" cy="14886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 (IMAP/POP)</a:t>
            </a:r>
            <a:endParaRPr/>
          </a:p>
        </p:txBody>
      </p:sp>
      <p:sp>
        <p:nvSpPr>
          <p:cNvPr id="188" name="Google Shape;188;p26"/>
          <p:cNvSpPr/>
          <p:nvPr/>
        </p:nvSpPr>
        <p:spPr>
          <a:xfrm>
            <a:off x="6919650" y="1152425"/>
            <a:ext cx="1565100" cy="14886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...</a:t>
            </a:r>
            <a:endParaRPr/>
          </a:p>
        </p:txBody>
      </p:sp>
      <p:grpSp>
        <p:nvGrpSpPr>
          <p:cNvPr id="189" name="Google Shape;189;p26"/>
          <p:cNvGrpSpPr/>
          <p:nvPr/>
        </p:nvGrpSpPr>
        <p:grpSpPr>
          <a:xfrm>
            <a:off x="659248" y="1156025"/>
            <a:ext cx="1565100" cy="3473400"/>
            <a:chOff x="1187123" y="1152425"/>
            <a:chExt cx="1565100" cy="3473400"/>
          </a:xfrm>
        </p:grpSpPr>
        <p:sp>
          <p:nvSpPr>
            <p:cNvPr id="190" name="Google Shape;190;p26"/>
            <p:cNvSpPr/>
            <p:nvPr/>
          </p:nvSpPr>
          <p:spPr>
            <a:xfrm>
              <a:off x="1187123" y="1152425"/>
              <a:ext cx="1565100" cy="4962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L7: Application</a:t>
              </a:r>
              <a:endParaRPr b="1"/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1187123" y="1648625"/>
              <a:ext cx="1565100" cy="496200"/>
            </a:xfrm>
            <a:prstGeom prst="rec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66666"/>
                  </a:solidFill>
                </a:rPr>
                <a:t>L6: Presentation</a:t>
              </a:r>
              <a:endParaRPr>
                <a:solidFill>
                  <a:srgbClr val="666666"/>
                </a:solidFill>
              </a:endParaRPr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1187123" y="2144825"/>
              <a:ext cx="1565100" cy="4962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66666"/>
                  </a:solidFill>
                </a:rPr>
                <a:t>L5: Session</a:t>
              </a:r>
              <a:endParaRPr>
                <a:solidFill>
                  <a:srgbClr val="666666"/>
                </a:solidFill>
              </a:endParaRPr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1187123" y="2641025"/>
              <a:ext cx="1565100" cy="4962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L4: Transport</a:t>
              </a:r>
              <a:endParaRPr b="1"/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1187123" y="3137225"/>
              <a:ext cx="1565100" cy="4962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L3: Network</a:t>
              </a:r>
              <a:endParaRPr b="1"/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1187123" y="3633425"/>
              <a:ext cx="1565100" cy="496200"/>
            </a:xfrm>
            <a:prstGeom prst="rect">
              <a:avLst/>
            </a:prstGeom>
            <a:solidFill>
              <a:srgbClr val="FCE5C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L2: Data link</a:t>
              </a:r>
              <a:endParaRPr b="1"/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1187123" y="4129625"/>
              <a:ext cx="1565100" cy="4962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L1: Physical</a:t>
              </a:r>
              <a:endParaRPr b="1"/>
            </a:p>
          </p:txBody>
        </p:sp>
      </p:grpSp>
      <p:sp>
        <p:nvSpPr>
          <p:cNvPr id="197" name="Google Shape;197;p26"/>
          <p:cNvSpPr/>
          <p:nvPr/>
        </p:nvSpPr>
        <p:spPr>
          <a:xfrm>
            <a:off x="866225" y="3393400"/>
            <a:ext cx="2745900" cy="496200"/>
          </a:xfrm>
          <a:prstGeom prst="diamond">
            <a:avLst/>
          </a:prstGeom>
          <a:solidFill>
            <a:srgbClr val="FFE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L2.5: MPLS</a:t>
            </a:r>
            <a:endParaRPr/>
          </a:p>
        </p:txBody>
      </p:sp>
      <p:sp>
        <p:nvSpPr>
          <p:cNvPr id="198" name="Google Shape;198;p26"/>
          <p:cNvSpPr/>
          <p:nvPr/>
        </p:nvSpPr>
        <p:spPr>
          <a:xfrm>
            <a:off x="866300" y="2892725"/>
            <a:ext cx="2745900" cy="496200"/>
          </a:xfrm>
          <a:prstGeom prst="diamond">
            <a:avLst/>
          </a:prstGeom>
          <a:solidFill>
            <a:srgbClr val="FDFF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L3.5: research!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Sockets</a:t>
            </a:r>
            <a:endParaRPr/>
          </a:p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200"/>
              <a:buFont typeface="Source Sans Pro Light"/>
              <a:buChar char="●"/>
            </a:pPr>
            <a:r>
              <a:rPr lang="en" sz="2000">
                <a:solidFill>
                  <a:srgbClr val="000000"/>
                </a:solidFill>
              </a:rPr>
              <a:t>Developed here, at UC Berkeley!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OS abstraction for </a:t>
            </a:r>
            <a:r>
              <a:rPr b="1" lang="en" sz="2000">
                <a:solidFill>
                  <a:srgbClr val="000000"/>
                </a:solidFill>
              </a:rPr>
              <a:t>connections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Allow L7 applications to operate on data streams (not packets)</a:t>
            </a:r>
            <a:endParaRPr sz="2000">
              <a:solidFill>
                <a:srgbClr val="00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>
                <a:solidFill>
                  <a:srgbClr val="000000"/>
                </a:solidFill>
              </a:rPr>
              <a:t>Connect, listen, accept, send, receive</a:t>
            </a:r>
            <a:endParaRPr sz="16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Open a socket between:</a:t>
            </a:r>
            <a:endParaRPr sz="2000">
              <a:solidFill>
                <a:srgbClr val="00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>
                <a:solidFill>
                  <a:srgbClr val="000000"/>
                </a:solidFill>
              </a:rPr>
              <a:t>Source IP address : </a:t>
            </a:r>
            <a:r>
              <a:rPr i="1" lang="en" sz="1600">
                <a:solidFill>
                  <a:srgbClr val="000000"/>
                </a:solidFill>
              </a:rPr>
              <a:t>port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>
                <a:solidFill>
                  <a:srgbClr val="000000"/>
                </a:solidFill>
              </a:rPr>
              <a:t>Destination IP address : </a:t>
            </a:r>
            <a:r>
              <a:rPr i="1" lang="en" sz="1600">
                <a:solidFill>
                  <a:srgbClr val="000000"/>
                </a:solidFill>
              </a:rPr>
              <a:t>port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Connection (the basic abstraction)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210" name="Google Shape;210;p2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Open Sans"/>
              <a:buChar char="●"/>
            </a:pPr>
            <a:r>
              <a:rPr lang="en">
                <a:solidFill>
                  <a:srgbClr val="0C343D"/>
                </a:solidFill>
              </a:rPr>
              <a:t>Pi</a:t>
            </a:r>
            <a:r>
              <a:rPr i="0" lang="en" u="none" cap="none" strike="noStrike">
                <a:solidFill>
                  <a:srgbClr val="0C343D"/>
                </a:solidFill>
              </a:rPr>
              <a:t>pe</a:t>
            </a:r>
            <a:r>
              <a:rPr lang="en">
                <a:solidFill>
                  <a:srgbClr val="0C343D"/>
                </a:solidFill>
              </a:rPr>
              <a:t>s data </a:t>
            </a:r>
            <a:r>
              <a:rPr i="0" lang="en" u="none" cap="none" strike="noStrike">
                <a:solidFill>
                  <a:srgbClr val="0C343D"/>
                </a:solidFill>
              </a:rPr>
              <a:t>between two processes (on different hosts)</a:t>
            </a:r>
            <a:endParaRPr i="0" u="none" cap="none" strike="noStrike">
              <a:solidFill>
                <a:srgbClr val="0C343D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Open Sans"/>
              <a:buChar char="●"/>
            </a:pPr>
            <a:r>
              <a:rPr i="0" lang="en" u="none" cap="none" strike="noStrike">
                <a:solidFill>
                  <a:srgbClr val="0C343D"/>
                </a:solidFill>
              </a:rPr>
              <a:t>Data flows both ways!</a:t>
            </a:r>
            <a:endParaRPr i="0" u="none" cap="none" strike="noStrike">
              <a:solidFill>
                <a:srgbClr val="0C343D"/>
              </a:solidFill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2943825" y="2779400"/>
            <a:ext cx="3585276" cy="1858356"/>
          </a:xfrm>
          <a:prstGeom prst="cloud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Internet</a:t>
            </a:r>
            <a:endParaRPr b="1" i="0" sz="1400" u="none" cap="none" strike="noStrike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2495775" y="3914175"/>
            <a:ext cx="4481400" cy="572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Connection</a:t>
            </a:r>
            <a:endParaRPr b="0" i="0" sz="14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1463775" y="3666075"/>
            <a:ext cx="1032000" cy="10689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</a:t>
            </a:r>
            <a:endParaRPr b="0" i="0" sz="14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6977150" y="3666075"/>
            <a:ext cx="1032000" cy="10689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</a:t>
            </a:r>
            <a:endParaRPr b="0" i="0" sz="14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Connection (the basic abstraction)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220" name="Google Shape;220;p2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>
                <a:solidFill>
                  <a:srgbClr val="0C343D"/>
                </a:solidFill>
              </a:rPr>
              <a:t>Data is sent simply as a stream of bits</a:t>
            </a:r>
            <a:endParaRPr>
              <a:solidFill>
                <a:srgbClr val="0C343D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>
                <a:solidFill>
                  <a:srgbClr val="0C343D"/>
                </a:solidFill>
              </a:rPr>
              <a:t>Reconstruction of bits only at the endpoints</a:t>
            </a:r>
            <a:endParaRPr>
              <a:solidFill>
                <a:srgbClr val="0C343D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>
                <a:solidFill>
                  <a:srgbClr val="0C343D"/>
                </a:solidFill>
              </a:rPr>
              <a:t>The Internet knows nothing* about what it’s transmitting!</a:t>
            </a:r>
            <a:endParaRPr>
              <a:solidFill>
                <a:srgbClr val="0C343D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C343D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C343D"/>
                </a:solidFill>
              </a:rPr>
              <a:t>* </a:t>
            </a:r>
            <a:r>
              <a:rPr lang="en" sz="1400">
                <a:solidFill>
                  <a:srgbClr val="0C343D"/>
                </a:solidFill>
              </a:rPr>
              <a:t>(unless you’re implementing security)</a:t>
            </a:r>
            <a:endParaRPr sz="1400">
              <a:solidFill>
                <a:srgbClr val="0C343D"/>
              </a:solidFill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2943825" y="2779400"/>
            <a:ext cx="3585276" cy="1858356"/>
          </a:xfrm>
          <a:prstGeom prst="cloud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Internet</a:t>
            </a:r>
            <a:endParaRPr b="1" i="0" sz="1400" u="none" cap="none" strike="noStrike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2" name="Google Shape;222;p29"/>
          <p:cNvSpPr/>
          <p:nvPr/>
        </p:nvSpPr>
        <p:spPr>
          <a:xfrm>
            <a:off x="2495775" y="3914175"/>
            <a:ext cx="4481400" cy="572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Connection</a:t>
            </a:r>
            <a:endParaRPr b="0" i="0" sz="14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3" name="Google Shape;223;p29"/>
          <p:cNvSpPr/>
          <p:nvPr/>
        </p:nvSpPr>
        <p:spPr>
          <a:xfrm>
            <a:off x="1463775" y="3666075"/>
            <a:ext cx="1032000" cy="10689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</a:t>
            </a:r>
            <a:endParaRPr b="0" i="0" sz="14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6977150" y="3666075"/>
            <a:ext cx="1032000" cy="10689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</a:t>
            </a:r>
            <a:endParaRPr b="0" i="0" sz="14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Socket API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230" name="Google Shape;230;p3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Establish Connection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Sending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Receiving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2943825" y="2779400"/>
            <a:ext cx="3585276" cy="1858356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Internet</a:t>
            </a:r>
            <a:endParaRPr b="1" i="0" sz="1400" u="none" cap="none" strike="noStrike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2495775" y="3914175"/>
            <a:ext cx="4481400" cy="572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Connection</a:t>
            </a:r>
            <a:endParaRPr b="0" i="0" sz="14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1463775" y="3666075"/>
            <a:ext cx="1032000" cy="10689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</a:t>
            </a:r>
            <a:endParaRPr b="0" i="0" sz="14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6977150" y="3666075"/>
            <a:ext cx="1032000" cy="10689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</a:t>
            </a:r>
            <a:endParaRPr b="0" i="0" sz="14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Connections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240" name="Google Shape;240;p31"/>
          <p:cNvSpPr txBox="1"/>
          <p:nvPr>
            <p:ph idx="1" type="body"/>
          </p:nvPr>
        </p:nvSpPr>
        <p:spPr>
          <a:xfrm>
            <a:off x="311700" y="1152475"/>
            <a:ext cx="4581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Two types of sockets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Server and Client 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Servers </a:t>
            </a:r>
            <a:r>
              <a:rPr b="0" i="1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listen</a:t>
            </a: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 for clients to connect to them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Wait until a connection is attempted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■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Accept and dispatch connection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Usually serving many clients at once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Clients </a:t>
            </a:r>
            <a:r>
              <a:rPr b="0" i="1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initiate</a:t>
            </a: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 new connections to servers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Example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Server: berkeley.edu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Client: Your internet browser </a:t>
            </a:r>
            <a:endParaRPr b="0" i="1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grpSp>
        <p:nvGrpSpPr>
          <p:cNvPr id="241" name="Google Shape;241;p31"/>
          <p:cNvGrpSpPr/>
          <p:nvPr/>
        </p:nvGrpSpPr>
        <p:grpSpPr>
          <a:xfrm>
            <a:off x="4760075" y="1018725"/>
            <a:ext cx="4197438" cy="3683900"/>
            <a:chOff x="4634850" y="1018725"/>
            <a:chExt cx="4197438" cy="3683900"/>
          </a:xfrm>
        </p:grpSpPr>
        <p:sp>
          <p:nvSpPr>
            <p:cNvPr id="242" name="Google Shape;242;p31"/>
            <p:cNvSpPr/>
            <p:nvPr/>
          </p:nvSpPr>
          <p:spPr>
            <a:xfrm>
              <a:off x="4634850" y="1018725"/>
              <a:ext cx="985800" cy="9858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1C45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Client</a:t>
              </a:r>
              <a:endParaRPr b="0" i="0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43" name="Google Shape;243;p31"/>
            <p:cNvSpPr/>
            <p:nvPr/>
          </p:nvSpPr>
          <p:spPr>
            <a:xfrm>
              <a:off x="7846488" y="1018725"/>
              <a:ext cx="985800" cy="9858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1C45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Client</a:t>
              </a:r>
              <a:endParaRPr b="0" i="0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44" name="Google Shape;244;p31"/>
            <p:cNvSpPr/>
            <p:nvPr/>
          </p:nvSpPr>
          <p:spPr>
            <a:xfrm>
              <a:off x="4639625" y="3716825"/>
              <a:ext cx="985800" cy="9858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1C45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Client</a:t>
              </a:r>
              <a:endParaRPr b="0" i="0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45" name="Google Shape;245;p31"/>
            <p:cNvSpPr/>
            <p:nvPr/>
          </p:nvSpPr>
          <p:spPr>
            <a:xfrm>
              <a:off x="7841725" y="3716825"/>
              <a:ext cx="985800" cy="9858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1C45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Client</a:t>
              </a:r>
              <a:endParaRPr b="0" i="0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46" name="Google Shape;246;p31"/>
            <p:cNvSpPr/>
            <p:nvPr/>
          </p:nvSpPr>
          <p:spPr>
            <a:xfrm>
              <a:off x="5944125" y="2243875"/>
              <a:ext cx="1578900" cy="1233600"/>
            </a:xfrm>
            <a:prstGeom prst="ellipse">
              <a:avLst/>
            </a:prstGeom>
            <a:solidFill>
              <a:srgbClr val="E69138"/>
            </a:solidFill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Server</a:t>
              </a:r>
              <a:endParaRPr b="0" i="0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247" name="Google Shape;247;p31"/>
            <p:cNvCxnSpPr>
              <a:stCxn id="242" idx="5"/>
              <a:endCxn id="246" idx="1"/>
            </p:cNvCxnSpPr>
            <p:nvPr/>
          </p:nvCxnSpPr>
          <p:spPr>
            <a:xfrm>
              <a:off x="5476283" y="1860158"/>
              <a:ext cx="699000" cy="564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8" name="Google Shape;248;p31"/>
            <p:cNvCxnSpPr>
              <a:stCxn id="243" idx="3"/>
              <a:endCxn id="246" idx="7"/>
            </p:cNvCxnSpPr>
            <p:nvPr/>
          </p:nvCxnSpPr>
          <p:spPr>
            <a:xfrm flipH="1">
              <a:off x="7291855" y="1860158"/>
              <a:ext cx="699000" cy="564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9" name="Google Shape;249;p31"/>
            <p:cNvCxnSpPr>
              <a:stCxn id="245" idx="1"/>
              <a:endCxn id="246" idx="5"/>
            </p:cNvCxnSpPr>
            <p:nvPr/>
          </p:nvCxnSpPr>
          <p:spPr>
            <a:xfrm rot="10800000">
              <a:off x="7291892" y="3296892"/>
              <a:ext cx="694200" cy="564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50" name="Google Shape;250;p31"/>
            <p:cNvCxnSpPr>
              <a:stCxn id="244" idx="7"/>
              <a:endCxn id="246" idx="3"/>
            </p:cNvCxnSpPr>
            <p:nvPr/>
          </p:nvCxnSpPr>
          <p:spPr>
            <a:xfrm flipH="1" rot="10800000">
              <a:off x="5481058" y="3296892"/>
              <a:ext cx="694200" cy="564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Connections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256" name="Google Shape;256;p32"/>
          <p:cNvSpPr txBox="1"/>
          <p:nvPr>
            <p:ph idx="1" type="body"/>
          </p:nvPr>
        </p:nvSpPr>
        <p:spPr>
          <a:xfrm>
            <a:off x="311700" y="1152475"/>
            <a:ext cx="4581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Average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Hosts have addresses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Unique identifier (just like a street address)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Clients (different users) find servers with their addresses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Servers send data back with the client address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Example addresses ➔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grpSp>
        <p:nvGrpSpPr>
          <p:cNvPr id="257" name="Google Shape;257;p32"/>
          <p:cNvGrpSpPr/>
          <p:nvPr/>
        </p:nvGrpSpPr>
        <p:grpSpPr>
          <a:xfrm>
            <a:off x="4760075" y="1018725"/>
            <a:ext cx="4197438" cy="3683900"/>
            <a:chOff x="4634850" y="1018725"/>
            <a:chExt cx="4197438" cy="3683900"/>
          </a:xfrm>
        </p:grpSpPr>
        <p:sp>
          <p:nvSpPr>
            <p:cNvPr id="258" name="Google Shape;258;p32"/>
            <p:cNvSpPr/>
            <p:nvPr/>
          </p:nvSpPr>
          <p:spPr>
            <a:xfrm>
              <a:off x="4634850" y="1018725"/>
              <a:ext cx="985800" cy="9858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1C45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Client</a:t>
              </a:r>
              <a:endParaRPr b="0" i="0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59" name="Google Shape;259;p32"/>
            <p:cNvSpPr/>
            <p:nvPr/>
          </p:nvSpPr>
          <p:spPr>
            <a:xfrm>
              <a:off x="7846488" y="1018725"/>
              <a:ext cx="985800" cy="9858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1C45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Client</a:t>
              </a:r>
              <a:endParaRPr b="0" i="0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60" name="Google Shape;260;p32"/>
            <p:cNvSpPr/>
            <p:nvPr/>
          </p:nvSpPr>
          <p:spPr>
            <a:xfrm>
              <a:off x="4639625" y="3716825"/>
              <a:ext cx="985800" cy="9858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1C45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Client</a:t>
              </a:r>
              <a:endParaRPr b="0" i="0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61" name="Google Shape;261;p32"/>
            <p:cNvSpPr/>
            <p:nvPr/>
          </p:nvSpPr>
          <p:spPr>
            <a:xfrm>
              <a:off x="7841725" y="3716825"/>
              <a:ext cx="985800" cy="985800"/>
            </a:xfrm>
            <a:prstGeom prst="ellipse">
              <a:avLst/>
            </a:prstGeom>
            <a:solidFill>
              <a:srgbClr val="4A86E8"/>
            </a:solidFill>
            <a:ln cap="flat" cmpd="sng" w="9525">
              <a:solidFill>
                <a:srgbClr val="1C45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Client</a:t>
              </a:r>
              <a:endParaRPr b="0" i="0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62" name="Google Shape;262;p32"/>
            <p:cNvSpPr/>
            <p:nvPr/>
          </p:nvSpPr>
          <p:spPr>
            <a:xfrm>
              <a:off x="5944125" y="2243875"/>
              <a:ext cx="1578900" cy="1233600"/>
            </a:xfrm>
            <a:prstGeom prst="ellipse">
              <a:avLst/>
            </a:prstGeom>
            <a:solidFill>
              <a:srgbClr val="E69138"/>
            </a:solidFill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Server</a:t>
              </a:r>
              <a:endParaRPr b="0" i="0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263" name="Google Shape;263;p32"/>
            <p:cNvCxnSpPr>
              <a:stCxn id="258" idx="5"/>
              <a:endCxn id="262" idx="1"/>
            </p:cNvCxnSpPr>
            <p:nvPr/>
          </p:nvCxnSpPr>
          <p:spPr>
            <a:xfrm>
              <a:off x="5476283" y="1860158"/>
              <a:ext cx="699000" cy="564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4" name="Google Shape;264;p32"/>
            <p:cNvCxnSpPr>
              <a:stCxn id="259" idx="3"/>
              <a:endCxn id="262" idx="7"/>
            </p:cNvCxnSpPr>
            <p:nvPr/>
          </p:nvCxnSpPr>
          <p:spPr>
            <a:xfrm flipH="1">
              <a:off x="7291855" y="1860158"/>
              <a:ext cx="699000" cy="564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5" name="Google Shape;265;p32"/>
            <p:cNvCxnSpPr>
              <a:stCxn id="261" idx="1"/>
              <a:endCxn id="262" idx="5"/>
            </p:cNvCxnSpPr>
            <p:nvPr/>
          </p:nvCxnSpPr>
          <p:spPr>
            <a:xfrm rot="10800000">
              <a:off x="7291892" y="3296892"/>
              <a:ext cx="694200" cy="564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6" name="Google Shape;266;p32"/>
            <p:cNvCxnSpPr>
              <a:stCxn id="260" idx="7"/>
              <a:endCxn id="262" idx="3"/>
            </p:cNvCxnSpPr>
            <p:nvPr/>
          </p:nvCxnSpPr>
          <p:spPr>
            <a:xfrm flipH="1" rot="10800000">
              <a:off x="5481058" y="3296892"/>
              <a:ext cx="694200" cy="564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67" name="Google Shape;267;p32"/>
          <p:cNvSpPr txBox="1"/>
          <p:nvPr/>
        </p:nvSpPr>
        <p:spPr>
          <a:xfrm>
            <a:off x="311700" y="3554275"/>
            <a:ext cx="35715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Are addresses enough to make this work?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268" name="Google Shape;268;p32"/>
          <p:cNvSpPr txBox="1"/>
          <p:nvPr/>
        </p:nvSpPr>
        <p:spPr>
          <a:xfrm>
            <a:off x="4835200" y="713400"/>
            <a:ext cx="89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1.2.3.4</a:t>
            </a:r>
            <a:endParaRPr b="0" i="0" sz="15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9" name="Google Shape;269;p32"/>
          <p:cNvSpPr txBox="1"/>
          <p:nvPr/>
        </p:nvSpPr>
        <p:spPr>
          <a:xfrm>
            <a:off x="6310100" y="1935313"/>
            <a:ext cx="21609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10.20.30.40</a:t>
            </a:r>
            <a:endParaRPr b="0" i="0" sz="15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0" name="Google Shape;270;p32"/>
          <p:cNvSpPr txBox="1"/>
          <p:nvPr/>
        </p:nvSpPr>
        <p:spPr>
          <a:xfrm>
            <a:off x="8130700" y="713400"/>
            <a:ext cx="8268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5.6.7.8</a:t>
            </a:r>
            <a:endParaRPr b="0" i="0" sz="15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1" name="Google Shape;271;p32"/>
          <p:cNvSpPr txBox="1"/>
          <p:nvPr/>
        </p:nvSpPr>
        <p:spPr>
          <a:xfrm>
            <a:off x="7995725" y="3417221"/>
            <a:ext cx="1158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13.14.15.16</a:t>
            </a:r>
            <a:endParaRPr b="0" i="0" sz="15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2" name="Google Shape;272;p32"/>
          <p:cNvSpPr txBox="1"/>
          <p:nvPr/>
        </p:nvSpPr>
        <p:spPr>
          <a:xfrm>
            <a:off x="4700500" y="3417222"/>
            <a:ext cx="10287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9.10.11.12</a:t>
            </a:r>
            <a:endParaRPr b="0" i="0" sz="15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Address aren’t enough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278" name="Google Shape;278;p33"/>
          <p:cNvSpPr/>
          <p:nvPr/>
        </p:nvSpPr>
        <p:spPr>
          <a:xfrm>
            <a:off x="5962950" y="1494151"/>
            <a:ext cx="3072900" cy="21552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rgbClr val="783F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Server</a:t>
            </a:r>
            <a:endParaRPr b="0" i="0" sz="18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9" name="Google Shape;279;p33"/>
          <p:cNvSpPr/>
          <p:nvPr/>
        </p:nvSpPr>
        <p:spPr>
          <a:xfrm>
            <a:off x="1221300" y="1471800"/>
            <a:ext cx="2771400" cy="333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Client Machine (1.2.3.4)</a:t>
            </a:r>
            <a:endParaRPr b="1" i="0" sz="15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0" name="Google Shape;280;p33"/>
          <p:cNvSpPr/>
          <p:nvPr/>
        </p:nvSpPr>
        <p:spPr>
          <a:xfrm>
            <a:off x="2043300" y="2301650"/>
            <a:ext cx="1127400" cy="8769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 1</a:t>
            </a:r>
            <a:endParaRPr b="0" i="0" sz="15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1" name="Google Shape;281;p33"/>
          <p:cNvSpPr/>
          <p:nvPr/>
        </p:nvSpPr>
        <p:spPr>
          <a:xfrm>
            <a:off x="2043300" y="3649350"/>
            <a:ext cx="1127400" cy="8769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 2</a:t>
            </a:r>
            <a:endParaRPr b="0" i="0" sz="15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282" name="Google Shape;282;p33"/>
          <p:cNvCxnSpPr>
            <a:stCxn id="280" idx="3"/>
            <a:endCxn id="278" idx="2"/>
          </p:cNvCxnSpPr>
          <p:nvPr/>
        </p:nvCxnSpPr>
        <p:spPr>
          <a:xfrm flipH="1" rot="10800000">
            <a:off x="3170700" y="2571800"/>
            <a:ext cx="2792400" cy="168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3" name="Google Shape;283;p33"/>
          <p:cNvCxnSpPr>
            <a:stCxn id="281" idx="3"/>
            <a:endCxn id="278" idx="3"/>
          </p:cNvCxnSpPr>
          <p:nvPr/>
        </p:nvCxnSpPr>
        <p:spPr>
          <a:xfrm flipH="1" rot="10800000">
            <a:off x="3170700" y="3333600"/>
            <a:ext cx="3242400" cy="754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4" name="Google Shape;284;p33"/>
          <p:cNvSpPr txBox="1"/>
          <p:nvPr/>
        </p:nvSpPr>
        <p:spPr>
          <a:xfrm>
            <a:off x="4435366" y="615300"/>
            <a:ext cx="4467600" cy="8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How does the client computer know which process (i.e. web browser) to deliver data to?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Ports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290" name="Google Shape;290;p34"/>
          <p:cNvSpPr/>
          <p:nvPr/>
        </p:nvSpPr>
        <p:spPr>
          <a:xfrm>
            <a:off x="6566472" y="339552"/>
            <a:ext cx="2469300" cy="20034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rgbClr val="783F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Server Machine</a:t>
            </a:r>
            <a:endParaRPr b="0" i="0" sz="18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1" name="Google Shape;291;p34"/>
          <p:cNvSpPr/>
          <p:nvPr/>
        </p:nvSpPr>
        <p:spPr>
          <a:xfrm>
            <a:off x="3616875" y="445025"/>
            <a:ext cx="2227200" cy="31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Client Machine (1.2.3.4)</a:t>
            </a:r>
            <a:endParaRPr b="1" i="0" sz="15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2" name="Google Shape;292;p34"/>
          <p:cNvSpPr/>
          <p:nvPr/>
        </p:nvSpPr>
        <p:spPr>
          <a:xfrm>
            <a:off x="3695172" y="1216425"/>
            <a:ext cx="1488300" cy="8151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 1</a:t>
            </a:r>
            <a:endParaRPr b="0" i="0" sz="15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(Port 10000)</a:t>
            </a:r>
            <a:endParaRPr b="0" i="0" sz="15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3695173" y="2469200"/>
            <a:ext cx="1488300" cy="8151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 2</a:t>
            </a:r>
            <a:endParaRPr b="0" i="0" sz="15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(Port 20000)</a:t>
            </a:r>
            <a:endParaRPr b="0" i="0" sz="15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294" name="Google Shape;294;p34"/>
          <p:cNvCxnSpPr>
            <a:stCxn id="292" idx="3"/>
            <a:endCxn id="295" idx="1"/>
          </p:cNvCxnSpPr>
          <p:nvPr/>
        </p:nvCxnSpPr>
        <p:spPr>
          <a:xfrm flipH="1" rot="10800000">
            <a:off x="5183472" y="1446675"/>
            <a:ext cx="1979400" cy="177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6" name="Google Shape;296;p34"/>
          <p:cNvSpPr txBox="1"/>
          <p:nvPr/>
        </p:nvSpPr>
        <p:spPr>
          <a:xfrm>
            <a:off x="311700" y="1368675"/>
            <a:ext cx="3288000" cy="3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Sockets are identified by unique IP:port pairs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A port is a number that the OS associates with a </a:t>
            </a:r>
            <a:r>
              <a:rPr lang="en" sz="1800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socket</a:t>
            </a: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 when it is created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Used in the address to tell which port socket is listening on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i.e. sending to address “1.2.3.4:10000” would send data to the socket owned by Process 1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295" name="Google Shape;295;p34"/>
          <p:cNvSpPr/>
          <p:nvPr/>
        </p:nvSpPr>
        <p:spPr>
          <a:xfrm>
            <a:off x="7162875" y="1039175"/>
            <a:ext cx="1276500" cy="8151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 1</a:t>
            </a:r>
            <a:endParaRPr b="0" i="0" sz="15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(Port 80)</a:t>
            </a:r>
            <a:endParaRPr b="0" i="0" sz="15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297" name="Google Shape;297;p34"/>
          <p:cNvCxnSpPr>
            <a:endCxn id="295" idx="2"/>
          </p:cNvCxnSpPr>
          <p:nvPr/>
        </p:nvCxnSpPr>
        <p:spPr>
          <a:xfrm flipH="1" rot="10800000">
            <a:off x="5183325" y="1854275"/>
            <a:ext cx="2617800" cy="10224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Ports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303" name="Google Shape;303;p35"/>
          <p:cNvSpPr/>
          <p:nvPr/>
        </p:nvSpPr>
        <p:spPr>
          <a:xfrm>
            <a:off x="6566472" y="339552"/>
            <a:ext cx="2469300" cy="20034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rgbClr val="783F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Server Machine</a:t>
            </a:r>
            <a:endParaRPr b="0" i="0" sz="18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04" name="Google Shape;304;p35"/>
          <p:cNvSpPr/>
          <p:nvPr/>
        </p:nvSpPr>
        <p:spPr>
          <a:xfrm>
            <a:off x="3616875" y="445025"/>
            <a:ext cx="2227200" cy="31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Client Machine (1.2.3.4)</a:t>
            </a:r>
            <a:endParaRPr b="1" i="0" sz="15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05" name="Google Shape;305;p35"/>
          <p:cNvSpPr/>
          <p:nvPr/>
        </p:nvSpPr>
        <p:spPr>
          <a:xfrm>
            <a:off x="3695172" y="1216425"/>
            <a:ext cx="1488300" cy="8151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 1</a:t>
            </a:r>
            <a:endParaRPr b="0" i="0" sz="15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(Port 10000)</a:t>
            </a:r>
            <a:endParaRPr b="0" i="0" sz="15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06" name="Google Shape;306;p35"/>
          <p:cNvSpPr/>
          <p:nvPr/>
        </p:nvSpPr>
        <p:spPr>
          <a:xfrm>
            <a:off x="3695173" y="2469200"/>
            <a:ext cx="1488300" cy="8151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 2</a:t>
            </a:r>
            <a:endParaRPr b="0" i="0" sz="15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(Port 20000)</a:t>
            </a:r>
            <a:endParaRPr b="0" i="0" sz="15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307" name="Google Shape;307;p35"/>
          <p:cNvCxnSpPr>
            <a:stCxn id="305" idx="3"/>
            <a:endCxn id="308" idx="1"/>
          </p:cNvCxnSpPr>
          <p:nvPr/>
        </p:nvCxnSpPr>
        <p:spPr>
          <a:xfrm flipH="1" rot="10800000">
            <a:off x="5183472" y="1446675"/>
            <a:ext cx="1979400" cy="177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9" name="Google Shape;309;p35"/>
          <p:cNvSpPr txBox="1"/>
          <p:nvPr/>
        </p:nvSpPr>
        <p:spPr>
          <a:xfrm>
            <a:off x="328800" y="1393525"/>
            <a:ext cx="3601200" cy="3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Packets carry port number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Servers listen on a port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Which one depends on application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HTTP: 80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SSH: 22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Client process connects to 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 	well known port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Client also has a port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Randomly assigned by OS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Used by OS to send data to correct process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308" name="Google Shape;308;p35"/>
          <p:cNvSpPr/>
          <p:nvPr/>
        </p:nvSpPr>
        <p:spPr>
          <a:xfrm>
            <a:off x="7162875" y="1039175"/>
            <a:ext cx="1276500" cy="8151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 1</a:t>
            </a:r>
            <a:endParaRPr b="0" i="0" sz="15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(Port 80)</a:t>
            </a:r>
            <a:endParaRPr b="0" i="0" sz="15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310" name="Google Shape;310;p35"/>
          <p:cNvCxnSpPr>
            <a:endCxn id="308" idx="2"/>
          </p:cNvCxnSpPr>
          <p:nvPr/>
        </p:nvCxnSpPr>
        <p:spPr>
          <a:xfrm flipH="1" rot="10800000">
            <a:off x="5183325" y="1854275"/>
            <a:ext cx="2617800" cy="10224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400"/>
              <a:buFont typeface="Francois One"/>
              <a:buNone/>
            </a:pPr>
            <a:r>
              <a:rPr b="0" i="0" lang="en" sz="24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Socket Mechanics</a:t>
            </a:r>
            <a:endParaRPr b="0" i="0" sz="24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316" name="Google Shape;316;p36"/>
          <p:cNvSpPr txBox="1"/>
          <p:nvPr>
            <p:ph idx="1" type="body"/>
          </p:nvPr>
        </p:nvSpPr>
        <p:spPr>
          <a:xfrm>
            <a:off x="311700" y="1389600"/>
            <a:ext cx="40566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Send buffer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Filled by process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Drained by network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Bits wait to be transmitted by network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Receive buffer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Filled by network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Drained by process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Bits wait to be read by process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Why two buffers?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317" name="Google Shape;317;p36"/>
          <p:cNvSpPr/>
          <p:nvPr/>
        </p:nvSpPr>
        <p:spPr>
          <a:xfrm>
            <a:off x="5007700" y="391450"/>
            <a:ext cx="2808000" cy="75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</a:t>
            </a:r>
            <a:endParaRPr b="1" i="0" sz="15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8" name="Google Shape;318;p36"/>
          <p:cNvSpPr/>
          <p:nvPr/>
        </p:nvSpPr>
        <p:spPr>
          <a:xfrm>
            <a:off x="5292250" y="1503125"/>
            <a:ext cx="2238900" cy="228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6"/>
          <p:cNvSpPr/>
          <p:nvPr/>
        </p:nvSpPr>
        <p:spPr>
          <a:xfrm>
            <a:off x="5480125" y="4039650"/>
            <a:ext cx="1972836" cy="829872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Network</a:t>
            </a:r>
            <a:endParaRPr b="1" i="0" sz="15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0" name="Google Shape;320;p36"/>
          <p:cNvSpPr/>
          <p:nvPr/>
        </p:nvSpPr>
        <p:spPr>
          <a:xfrm>
            <a:off x="5489925" y="1691075"/>
            <a:ext cx="861300" cy="1910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6"/>
          <p:cNvSpPr/>
          <p:nvPr/>
        </p:nvSpPr>
        <p:spPr>
          <a:xfrm>
            <a:off x="6472175" y="1691075"/>
            <a:ext cx="861300" cy="1910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6"/>
          <p:cNvSpPr/>
          <p:nvPr/>
        </p:nvSpPr>
        <p:spPr>
          <a:xfrm>
            <a:off x="5561775" y="2782825"/>
            <a:ext cx="717600" cy="7557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6"/>
          <p:cNvSpPr/>
          <p:nvPr/>
        </p:nvSpPr>
        <p:spPr>
          <a:xfrm>
            <a:off x="6544025" y="1765700"/>
            <a:ext cx="717600" cy="15966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4" name="Google Shape;324;p36"/>
          <p:cNvCxnSpPr>
            <a:stCxn id="322" idx="0"/>
          </p:cNvCxnSpPr>
          <p:nvPr/>
        </p:nvCxnSpPr>
        <p:spPr>
          <a:xfrm rot="10800000">
            <a:off x="5920575" y="1158625"/>
            <a:ext cx="0" cy="1624200"/>
          </a:xfrm>
          <a:prstGeom prst="straightConnector1">
            <a:avLst/>
          </a:prstGeom>
          <a:noFill/>
          <a:ln cap="flat" cmpd="sng" w="76200">
            <a:solidFill>
              <a:srgbClr val="7F6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25" name="Google Shape;325;p36"/>
          <p:cNvCxnSpPr>
            <a:stCxn id="323" idx="0"/>
          </p:cNvCxnSpPr>
          <p:nvPr/>
        </p:nvCxnSpPr>
        <p:spPr>
          <a:xfrm rot="10800000">
            <a:off x="6902825" y="1158500"/>
            <a:ext cx="0" cy="607200"/>
          </a:xfrm>
          <a:prstGeom prst="straightConnector1">
            <a:avLst/>
          </a:prstGeom>
          <a:noFill/>
          <a:ln cap="flat" cmpd="sng" w="76200">
            <a:solidFill>
              <a:srgbClr val="7F6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6" name="Google Shape;326;p36"/>
          <p:cNvCxnSpPr>
            <a:endCxn id="323" idx="2"/>
          </p:cNvCxnSpPr>
          <p:nvPr/>
        </p:nvCxnSpPr>
        <p:spPr>
          <a:xfrm rot="10800000">
            <a:off x="6902825" y="3362300"/>
            <a:ext cx="17700" cy="880800"/>
          </a:xfrm>
          <a:prstGeom prst="straightConnector1">
            <a:avLst/>
          </a:prstGeom>
          <a:noFill/>
          <a:ln cap="flat" cmpd="sng" w="76200">
            <a:solidFill>
              <a:srgbClr val="7F6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7" name="Google Shape;327;p36"/>
          <p:cNvCxnSpPr>
            <a:endCxn id="322" idx="2"/>
          </p:cNvCxnSpPr>
          <p:nvPr/>
        </p:nvCxnSpPr>
        <p:spPr>
          <a:xfrm rot="10800000">
            <a:off x="5920575" y="3538525"/>
            <a:ext cx="0" cy="939600"/>
          </a:xfrm>
          <a:prstGeom prst="straightConnector1">
            <a:avLst/>
          </a:prstGeom>
          <a:noFill/>
          <a:ln cap="flat" cmpd="sng" w="76200">
            <a:solidFill>
              <a:srgbClr val="7F6000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7"/>
          <p:cNvSpPr txBox="1"/>
          <p:nvPr>
            <p:ph type="title"/>
          </p:nvPr>
        </p:nvSpPr>
        <p:spPr>
          <a:xfrm>
            <a:off x="311700" y="555600"/>
            <a:ext cx="38532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400"/>
              <a:buFont typeface="Francois One"/>
              <a:buNone/>
            </a:pPr>
            <a:r>
              <a:rPr b="0" i="0" lang="en" sz="24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Socket Mechanics: Full or Empty</a:t>
            </a:r>
            <a:endParaRPr b="0" i="0" sz="24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333" name="Google Shape;333;p37"/>
          <p:cNvSpPr txBox="1"/>
          <p:nvPr>
            <p:ph idx="1" type="body"/>
          </p:nvPr>
        </p:nvSpPr>
        <p:spPr>
          <a:xfrm>
            <a:off x="311700" y="1420900"/>
            <a:ext cx="4233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Average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What if you write to a full socket buffer or read from an empty one?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Two solutions: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Blocking (wait)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Non-blocking (return error)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We’ll talk about blocking briefly.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334" name="Google Shape;334;p37"/>
          <p:cNvSpPr/>
          <p:nvPr/>
        </p:nvSpPr>
        <p:spPr>
          <a:xfrm>
            <a:off x="5007700" y="391450"/>
            <a:ext cx="2808000" cy="75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</a:t>
            </a:r>
            <a:endParaRPr b="1" i="0" sz="15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35" name="Google Shape;335;p37"/>
          <p:cNvSpPr/>
          <p:nvPr/>
        </p:nvSpPr>
        <p:spPr>
          <a:xfrm>
            <a:off x="5292250" y="1503125"/>
            <a:ext cx="2238900" cy="228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7"/>
          <p:cNvSpPr/>
          <p:nvPr/>
        </p:nvSpPr>
        <p:spPr>
          <a:xfrm>
            <a:off x="5480125" y="4039650"/>
            <a:ext cx="1972836" cy="829872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Network</a:t>
            </a:r>
            <a:endParaRPr b="1" i="0" sz="15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37" name="Google Shape;337;p37"/>
          <p:cNvSpPr/>
          <p:nvPr/>
        </p:nvSpPr>
        <p:spPr>
          <a:xfrm>
            <a:off x="5489925" y="1691075"/>
            <a:ext cx="861300" cy="1910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7"/>
          <p:cNvSpPr/>
          <p:nvPr/>
        </p:nvSpPr>
        <p:spPr>
          <a:xfrm>
            <a:off x="6472175" y="1691075"/>
            <a:ext cx="861300" cy="1910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7"/>
          <p:cNvSpPr/>
          <p:nvPr/>
        </p:nvSpPr>
        <p:spPr>
          <a:xfrm>
            <a:off x="6544025" y="1765700"/>
            <a:ext cx="717600" cy="17727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37"/>
          <p:cNvCxnSpPr>
            <a:endCxn id="339" idx="2"/>
          </p:cNvCxnSpPr>
          <p:nvPr/>
        </p:nvCxnSpPr>
        <p:spPr>
          <a:xfrm rot="10800000">
            <a:off x="6902825" y="3538400"/>
            <a:ext cx="17700" cy="880800"/>
          </a:xfrm>
          <a:prstGeom prst="straightConnector1">
            <a:avLst/>
          </a:prstGeom>
          <a:noFill/>
          <a:ln cap="flat" cmpd="sng" w="76200">
            <a:solidFill>
              <a:srgbClr val="7F6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1" name="Google Shape;341;p37"/>
          <p:cNvCxnSpPr>
            <a:endCxn id="337" idx="2"/>
          </p:cNvCxnSpPr>
          <p:nvPr/>
        </p:nvCxnSpPr>
        <p:spPr>
          <a:xfrm rot="10800000">
            <a:off x="5920575" y="3601175"/>
            <a:ext cx="0" cy="876900"/>
          </a:xfrm>
          <a:prstGeom prst="straightConnector1">
            <a:avLst/>
          </a:prstGeom>
          <a:noFill/>
          <a:ln cap="flat" cmpd="sng" w="76200">
            <a:solidFill>
              <a:srgbClr val="7F6000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8"/>
          <p:cNvSpPr txBox="1"/>
          <p:nvPr>
            <p:ph type="title"/>
          </p:nvPr>
        </p:nvSpPr>
        <p:spPr>
          <a:xfrm>
            <a:off x="311700" y="555600"/>
            <a:ext cx="39471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400"/>
              <a:buFont typeface="Francois One"/>
              <a:buNone/>
            </a:pPr>
            <a:r>
              <a:rPr b="0" i="0" lang="en" sz="24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Socket Mechanics: Blocking Write</a:t>
            </a:r>
            <a:endParaRPr b="0" i="0" sz="24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347" name="Google Shape;347;p38"/>
          <p:cNvSpPr txBox="1"/>
          <p:nvPr>
            <p:ph idx="1" type="body"/>
          </p:nvPr>
        </p:nvSpPr>
        <p:spPr>
          <a:xfrm>
            <a:off x="311700" y="1389600"/>
            <a:ext cx="42291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Average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Try to write, but buffer is full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Block (wait) until there is enough room in the buffer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Write the data and return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348" name="Google Shape;348;p38"/>
          <p:cNvSpPr/>
          <p:nvPr/>
        </p:nvSpPr>
        <p:spPr>
          <a:xfrm>
            <a:off x="5007700" y="391450"/>
            <a:ext cx="2808000" cy="75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</a:t>
            </a:r>
            <a:endParaRPr b="1" i="0" sz="15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49" name="Google Shape;349;p38"/>
          <p:cNvSpPr/>
          <p:nvPr/>
        </p:nvSpPr>
        <p:spPr>
          <a:xfrm>
            <a:off x="5292250" y="1503125"/>
            <a:ext cx="2238900" cy="228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8"/>
          <p:cNvSpPr/>
          <p:nvPr/>
        </p:nvSpPr>
        <p:spPr>
          <a:xfrm>
            <a:off x="5480125" y="4039650"/>
            <a:ext cx="1972836" cy="829872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Network</a:t>
            </a:r>
            <a:endParaRPr b="1" i="0" sz="15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51" name="Google Shape;351;p38"/>
          <p:cNvSpPr/>
          <p:nvPr/>
        </p:nvSpPr>
        <p:spPr>
          <a:xfrm>
            <a:off x="5489925" y="1691075"/>
            <a:ext cx="861300" cy="1910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8"/>
          <p:cNvSpPr/>
          <p:nvPr/>
        </p:nvSpPr>
        <p:spPr>
          <a:xfrm>
            <a:off x="6472175" y="1691075"/>
            <a:ext cx="861300" cy="1910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8"/>
          <p:cNvSpPr/>
          <p:nvPr/>
        </p:nvSpPr>
        <p:spPr>
          <a:xfrm>
            <a:off x="6544025" y="1765700"/>
            <a:ext cx="717600" cy="17727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38"/>
          <p:cNvCxnSpPr>
            <a:endCxn id="353" idx="2"/>
          </p:cNvCxnSpPr>
          <p:nvPr/>
        </p:nvCxnSpPr>
        <p:spPr>
          <a:xfrm rot="10800000">
            <a:off x="6902825" y="3538400"/>
            <a:ext cx="17700" cy="880800"/>
          </a:xfrm>
          <a:prstGeom prst="straightConnector1">
            <a:avLst/>
          </a:prstGeom>
          <a:noFill/>
          <a:ln cap="flat" cmpd="sng" w="76200">
            <a:solidFill>
              <a:srgbClr val="7F6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9"/>
          <p:cNvSpPr txBox="1"/>
          <p:nvPr>
            <p:ph type="title"/>
          </p:nvPr>
        </p:nvSpPr>
        <p:spPr>
          <a:xfrm>
            <a:off x="311700" y="555600"/>
            <a:ext cx="39471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400"/>
              <a:buFont typeface="Francois One"/>
              <a:buNone/>
            </a:pPr>
            <a:r>
              <a:rPr b="0" i="0" lang="en" sz="24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Socket Mechanics: Blocking Read</a:t>
            </a:r>
            <a:endParaRPr b="0" i="0" sz="24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360" name="Google Shape;360;p39"/>
          <p:cNvSpPr txBox="1"/>
          <p:nvPr>
            <p:ph idx="1" type="body"/>
          </p:nvPr>
        </p:nvSpPr>
        <p:spPr>
          <a:xfrm>
            <a:off x="311700" y="1389600"/>
            <a:ext cx="39141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Average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Try to read, but buffer is empty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Block (wait) until some bits appear in the buffer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ource Sans Pro Light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Read the bits and return them</a:t>
            </a:r>
            <a:endParaRPr b="0" i="0" sz="18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361" name="Google Shape;361;p39"/>
          <p:cNvSpPr/>
          <p:nvPr/>
        </p:nvSpPr>
        <p:spPr>
          <a:xfrm>
            <a:off x="5007700" y="391450"/>
            <a:ext cx="2808000" cy="75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</a:t>
            </a:r>
            <a:endParaRPr b="1" i="0" sz="15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62" name="Google Shape;362;p39"/>
          <p:cNvSpPr/>
          <p:nvPr/>
        </p:nvSpPr>
        <p:spPr>
          <a:xfrm>
            <a:off x="5292250" y="1503125"/>
            <a:ext cx="2238900" cy="228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9"/>
          <p:cNvSpPr/>
          <p:nvPr/>
        </p:nvSpPr>
        <p:spPr>
          <a:xfrm>
            <a:off x="5480125" y="4039650"/>
            <a:ext cx="1972836" cy="829872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Network</a:t>
            </a:r>
            <a:endParaRPr b="1" i="0" sz="1500" u="none" cap="none" strike="noStrike">
              <a:solidFill>
                <a:srgbClr val="0C343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64" name="Google Shape;364;p39"/>
          <p:cNvSpPr/>
          <p:nvPr/>
        </p:nvSpPr>
        <p:spPr>
          <a:xfrm>
            <a:off x="5489925" y="1691075"/>
            <a:ext cx="861300" cy="1910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9"/>
          <p:cNvSpPr/>
          <p:nvPr/>
        </p:nvSpPr>
        <p:spPr>
          <a:xfrm>
            <a:off x="6472175" y="1691075"/>
            <a:ext cx="861300" cy="1910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9"/>
          <p:cNvSpPr/>
          <p:nvPr/>
        </p:nvSpPr>
        <p:spPr>
          <a:xfrm>
            <a:off x="6544025" y="1765700"/>
            <a:ext cx="717600" cy="17727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" name="Google Shape;367;p39"/>
          <p:cNvCxnSpPr>
            <a:endCxn id="364" idx="2"/>
          </p:cNvCxnSpPr>
          <p:nvPr/>
        </p:nvCxnSpPr>
        <p:spPr>
          <a:xfrm rot="10800000">
            <a:off x="5920575" y="3601175"/>
            <a:ext cx="0" cy="892500"/>
          </a:xfrm>
          <a:prstGeom prst="straightConnector1">
            <a:avLst/>
          </a:prstGeom>
          <a:noFill/>
          <a:ln cap="flat" cmpd="sng" w="76200">
            <a:solidFill>
              <a:srgbClr val="7F6000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24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Socket Mechanics: Non Blocking 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373" name="Google Shape;373;p4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Non blocking reads and writes behave differently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If the buffer isn’t ready for the operation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○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Just return an error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The user must try again later 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Discussion: Which is better, blocking or non-blocking?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2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</a:pPr>
            <a:r>
              <a:rPr b="0" i="0" lang="en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Sockets: Python API</a:t>
            </a:r>
            <a:endParaRPr b="0" i="0" sz="36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384" name="Google Shape;384;p42"/>
          <p:cNvSpPr txBox="1"/>
          <p:nvPr/>
        </p:nvSpPr>
        <p:spPr>
          <a:xfrm>
            <a:off x="927150" y="1814975"/>
            <a:ext cx="7340400" cy="8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https://docs.python.org/2/howto/sockets.html</a:t>
            </a:r>
            <a:endParaRPr b="0" i="0" sz="2400" u="sng" cap="none" strike="noStrike">
              <a:solidFill>
                <a:schemeClr val="hlink"/>
              </a:solidFill>
              <a:latin typeface="Open Sans"/>
              <a:ea typeface="Open Sans"/>
              <a:cs typeface="Open Sans"/>
              <a:sym typeface="Open Sans"/>
              <a:hlinkClick r:id="rId4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Connection Establishment: Server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390" name="Google Shape;390;p43"/>
          <p:cNvSpPr txBox="1"/>
          <p:nvPr>
            <p:ph idx="1" type="body"/>
          </p:nvPr>
        </p:nvSpPr>
        <p:spPr>
          <a:xfrm>
            <a:off x="311700" y="1013100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Create a socket: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Roboto Mono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Roboto Mono"/>
                <a:ea typeface="Roboto Mono"/>
                <a:cs typeface="Roboto Mono"/>
                <a:sym typeface="Roboto Mono"/>
              </a:rPr>
              <a:t>server_socket = socket.socket()</a:t>
            </a:r>
            <a:endParaRPr b="0" i="0" sz="1800" u="none" cap="none" strike="noStrike">
              <a:solidFill>
                <a:srgbClr val="0C343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Bind the socket to listen on an IP:port address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Roboto Mono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Roboto Mono"/>
                <a:ea typeface="Roboto Mono"/>
                <a:cs typeface="Roboto Mono"/>
                <a:sym typeface="Roboto Mono"/>
              </a:rPr>
              <a:t>server_socket.bind((“0.0.0.0”, 12345))</a:t>
            </a:r>
            <a:endParaRPr b="0" i="0" sz="1800" u="none" cap="none" strike="noStrike">
              <a:solidFill>
                <a:srgbClr val="0C343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○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Usually use “127.0.0.1” (“loopback”: only on local machine) or “0.0.0.0” (all host addresses)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Listen for new connections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Roboto Mono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Roboto Mono"/>
                <a:ea typeface="Roboto Mono"/>
                <a:cs typeface="Roboto Mono"/>
                <a:sym typeface="Roboto Mono"/>
              </a:rPr>
              <a:t>server_socket.listen(5)</a:t>
            </a: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; up to 5 connections may wait in queue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Process incoming connection request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Roboto Mono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Roboto Mono"/>
                <a:ea typeface="Roboto Mono"/>
                <a:cs typeface="Roboto Mono"/>
                <a:sym typeface="Roboto Mono"/>
              </a:rPr>
              <a:t>(new_socket, address) = server_socket.accept()</a:t>
            </a:r>
            <a:endParaRPr b="0" i="0" sz="1800" u="none" cap="none" strike="noStrike">
              <a:solidFill>
                <a:srgbClr val="0C343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Roboto Mono"/>
                <a:ea typeface="Roboto Mono"/>
                <a:cs typeface="Roboto Mono"/>
                <a:sym typeface="Roboto Mono"/>
              </a:rPr>
              <a:t>new_socket</a:t>
            </a: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 now can send to and receive from the client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Connection Establishment: Client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396" name="Google Shape;396;p4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Create a socket: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Roboto Mono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Roboto Mono"/>
                <a:ea typeface="Roboto Mono"/>
                <a:cs typeface="Roboto Mono"/>
                <a:sym typeface="Roboto Mono"/>
              </a:rPr>
              <a:t>client_socket = socket.socket()</a:t>
            </a:r>
            <a:endParaRPr b="0" i="0" sz="1800" u="none" cap="none" strike="noStrike">
              <a:solidFill>
                <a:srgbClr val="0C343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Connect to server IP “1.2.3.4” on port 80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Roboto Mono"/>
              <a:buChar char="○"/>
            </a:pPr>
            <a:r>
              <a:rPr b="0" i="0" lang="en" sz="1800" u="none" cap="none" strike="noStrike">
                <a:solidFill>
                  <a:srgbClr val="0C343D"/>
                </a:solidFill>
                <a:latin typeface="Roboto Mono"/>
                <a:ea typeface="Roboto Mono"/>
                <a:cs typeface="Roboto Mono"/>
                <a:sym typeface="Roboto Mono"/>
              </a:rPr>
              <a:t>client_socket.connect((“1.2.3.4”, </a:t>
            </a:r>
            <a:r>
              <a:rPr lang="en" sz="1800">
                <a:latin typeface="Roboto Mono"/>
                <a:ea typeface="Roboto Mono"/>
                <a:cs typeface="Roboto Mono"/>
                <a:sym typeface="Roboto Mono"/>
              </a:rPr>
              <a:t>80</a:t>
            </a:r>
            <a:r>
              <a:rPr b="0" i="0" lang="en" sz="1800" u="none" cap="none" strike="noStrike">
                <a:solidFill>
                  <a:srgbClr val="0C343D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b="0" i="0" sz="1800" u="none" cap="none" strike="noStrike">
              <a:solidFill>
                <a:srgbClr val="0C343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Average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Socket is now ready to send and receive.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You can find more socket methods here: https://docs.python.org/2/library/socket.html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C343D"/>
              </a:buClr>
              <a:buSzPts val="2000"/>
              <a:buFont typeface="Source Sans Pro Light"/>
              <a:buNone/>
            </a:pPr>
            <a:r>
              <a:t/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Send and Receive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402" name="Google Shape;402;p4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Roboto Mono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Roboto Mono"/>
                <a:ea typeface="Roboto Mono"/>
                <a:cs typeface="Roboto Mono"/>
                <a:sym typeface="Roboto Mono"/>
              </a:rPr>
              <a:t>send(str)</a:t>
            </a:r>
            <a:endParaRPr b="0" i="0" sz="1800" u="none" cap="none" strike="noStrike">
              <a:solidFill>
                <a:srgbClr val="0C343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○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Take some bits in as an argument, and add them to the send buffer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Roboto Mono"/>
              <a:buChar char="●"/>
            </a:pPr>
            <a:r>
              <a:rPr b="0" i="0" lang="en" sz="1800" u="none" cap="none" strike="noStrike">
                <a:solidFill>
                  <a:srgbClr val="0C343D"/>
                </a:solidFill>
                <a:latin typeface="Roboto Mono"/>
                <a:ea typeface="Roboto Mono"/>
                <a:cs typeface="Roboto Mono"/>
                <a:sym typeface="Roboto Mono"/>
              </a:rPr>
              <a:t>recv(size)</a:t>
            </a:r>
            <a:endParaRPr b="0" i="0" sz="1800" u="none" cap="none" strike="noStrike">
              <a:solidFill>
                <a:srgbClr val="0C343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○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Read at most size bytes from the receive buffer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6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</a:pPr>
            <a:r>
              <a:rPr b="0" i="0" lang="en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Bonus Slides</a:t>
            </a:r>
            <a:endParaRPr b="0" i="0" sz="36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EFEFEF"/>
                </a:solidFill>
                <a:latin typeface="Francois One"/>
                <a:ea typeface="Francois One"/>
                <a:cs typeface="Francois One"/>
                <a:sym typeface="Francois One"/>
              </a:rPr>
              <a:t>Ping, </a:t>
            </a: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Traceroute</a:t>
            </a:r>
            <a:r>
              <a:rPr b="0" i="0" lang="en" sz="3000" u="none" cap="none" strike="noStrike">
                <a:solidFill>
                  <a:srgbClr val="EFEFEF"/>
                </a:solidFill>
                <a:latin typeface="Francois One"/>
                <a:ea typeface="Francois One"/>
                <a:cs typeface="Francois One"/>
                <a:sym typeface="Francois One"/>
              </a:rPr>
              <a:t>, Dig</a:t>
            </a:r>
            <a:endParaRPr b="0" i="0" sz="3000" u="none" cap="none" strike="noStrike">
              <a:solidFill>
                <a:srgbClr val="EFEFEF"/>
              </a:solidFill>
              <a:latin typeface="Francois One"/>
              <a:ea typeface="Francois One"/>
              <a:cs typeface="Francois One"/>
              <a:sym typeface="Francois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t/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413" name="Google Shape;413;p4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Source Sans Pro Light"/>
              <a:buChar char="●"/>
            </a:pPr>
            <a:r>
              <a:rPr b="0" i="0" lang="en" sz="16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Traceroute gives you the path of routers and switches your packets take.</a:t>
            </a:r>
            <a:endParaRPr b="0" i="0" sz="16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Source Sans Pro Light"/>
              <a:buChar char="●"/>
            </a:pPr>
            <a:r>
              <a:rPr b="0" i="0" lang="en" sz="16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How?</a:t>
            </a:r>
            <a:endParaRPr b="0" i="0" sz="16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Source Sans Pro Light"/>
              <a:buChar char="○"/>
            </a:pPr>
            <a:r>
              <a:rPr b="0" i="0" lang="en" sz="16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Takes advantage of something called a </a:t>
            </a:r>
            <a:r>
              <a:rPr b="1" i="0" lang="en" sz="1600" u="none" cap="none" strike="noStrike">
                <a:solidFill>
                  <a:srgbClr val="0C343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TTL</a:t>
            </a:r>
            <a:r>
              <a:rPr b="0" i="0" lang="en" sz="16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 in the packet IP header.</a:t>
            </a:r>
            <a:endParaRPr b="0" i="0" sz="16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Source Sans Pro Light"/>
              <a:buChar char="○"/>
            </a:pPr>
            <a:r>
              <a:rPr b="0" i="0" lang="en" sz="16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TTL denotes how many times a packet should be forwarded before it is discarded.</a:t>
            </a:r>
            <a:endParaRPr b="0" i="0" sz="16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302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Source Sans Pro Light"/>
              <a:buChar char="■"/>
            </a:pPr>
            <a:r>
              <a:rPr b="0" i="0" lang="en" sz="16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Why does this exist?</a:t>
            </a:r>
            <a:endParaRPr b="0" i="0" sz="16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302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Source Sans Pro Light"/>
              <a:buChar char="●"/>
            </a:pPr>
            <a:r>
              <a:rPr b="0" i="0" lang="en" sz="16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To stop the internet from collapsing! (We’ll cover this when we get to routing)</a:t>
            </a:r>
            <a:endParaRPr b="0" i="0" sz="16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Source Sans Pro Light"/>
              <a:buChar char="○"/>
            </a:pPr>
            <a:r>
              <a:rPr b="0" i="0" lang="en" sz="16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Sets the TTL to 1, 2, 3, etc</a:t>
            </a:r>
            <a:endParaRPr b="0" i="0" sz="16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Source Sans Pro Light"/>
              <a:buChar char="○"/>
            </a:pPr>
            <a:r>
              <a:rPr b="0" i="0" lang="en" sz="16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When packets are dropped because of TTL expiring, most routers send back a message telling us.</a:t>
            </a:r>
            <a:endParaRPr b="0" i="0" sz="16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Source Sans Pro Light"/>
              <a:buChar char="○"/>
            </a:pPr>
            <a:r>
              <a:rPr b="0" i="0" lang="en" sz="16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Use the source of this notification to identify the routers along the packet’s path.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</a:pPr>
            <a:r>
              <a:rPr b="0" i="0" lang="en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Old slides</a:t>
            </a:r>
            <a:endParaRPr b="0" i="0" sz="36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000"/>
              <a:buFont typeface="Francois One"/>
              <a:buNone/>
            </a:pPr>
            <a:r>
              <a:rPr b="0" i="0" lang="en" sz="30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rPr>
              <a:t>Dig: A breakdown</a:t>
            </a:r>
            <a:endParaRPr b="0" i="0" sz="30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424" name="Google Shape;424;p4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When using the +trace option, there was a lot more information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We could see the steps that were taken when resolving the names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○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First, the ‘root’ servers were queried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○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Then, the TLD (top level domain) server was queried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○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After that, successive servers were asked until the IP was found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2000"/>
              <a:buFont typeface="Source Sans Pro Light"/>
              <a:buChar char="●"/>
            </a:pPr>
            <a:r>
              <a:rPr b="0" i="0" lang="en" sz="2000" u="none" cap="none" strike="noStrike">
                <a:solidFill>
                  <a:srgbClr val="0C343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More on how this works when we discuss DNS</a:t>
            </a:r>
            <a:endParaRPr b="0" i="0" sz="2000" u="none" cap="none" strike="noStrike">
              <a:solidFill>
                <a:srgbClr val="0C343D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Script for socket connection</a:t>
            </a:r>
            <a:endParaRPr/>
          </a:p>
        </p:txBody>
      </p:sp>
      <p:sp>
        <p:nvSpPr>
          <p:cNvPr id="430" name="Google Shape;430;p5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 on localhost:12345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Run in python2.7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Copy </a:t>
            </a:r>
            <a:r>
              <a:rPr lang="en"/>
              <a:t>and</a:t>
            </a:r>
            <a:r>
              <a:rPr lang="en"/>
              <a:t> Paste the entire Speakers note section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1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</a:pPr>
            <a:r>
              <a:rPr lang="en"/>
              <a:t>Emergency Screenshots</a:t>
            </a:r>
            <a:endParaRPr b="0" i="0" sz="3600" u="none" cap="none" strike="noStrike">
              <a:solidFill>
                <a:srgbClr val="0C343D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346750" cy="225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4825" y="286125"/>
            <a:ext cx="4346750" cy="1988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766625"/>
            <a:ext cx="4346750" cy="16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9818" y="2729052"/>
            <a:ext cx="3636769" cy="175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7775" y="1357300"/>
            <a:ext cx="6448425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9813" y="21700"/>
            <a:ext cx="4464374" cy="2762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1346" y="2860146"/>
            <a:ext cx="5801301" cy="226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749" y="1274750"/>
            <a:ext cx="4222426" cy="259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2300" y="589450"/>
            <a:ext cx="4168150" cy="3964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4663" y="2471501"/>
            <a:ext cx="6234675" cy="26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9400" y="193525"/>
            <a:ext cx="5145230" cy="216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526717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517" y="152400"/>
            <a:ext cx="395846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42550"/>
            <a:ext cx="4778350" cy="4058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0076" y="779402"/>
            <a:ext cx="3544450" cy="358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59"/>
          <p:cNvPicPr preferRelativeResize="0"/>
          <p:nvPr/>
        </p:nvPicPr>
        <p:blipFill rotWithShape="1">
          <a:blip r:embed="rId3">
            <a:alphaModFix/>
          </a:blip>
          <a:srcRect b="30069" l="0" r="25144" t="0"/>
          <a:stretch/>
        </p:blipFill>
        <p:spPr>
          <a:xfrm>
            <a:off x="1263775" y="220975"/>
            <a:ext cx="6616449" cy="235077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59"/>
          <p:cNvSpPr/>
          <p:nvPr/>
        </p:nvSpPr>
        <p:spPr>
          <a:xfrm>
            <a:off x="1872625" y="2077975"/>
            <a:ext cx="1137600" cy="144000"/>
          </a:xfrm>
          <a:prstGeom prst="rect">
            <a:avLst/>
          </a:prstGeom>
          <a:solidFill>
            <a:srgbClr val="FFFF00">
              <a:alpha val="3154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5" name="Google Shape;485;p59"/>
          <p:cNvPicPr preferRelativeResize="0"/>
          <p:nvPr/>
        </p:nvPicPr>
        <p:blipFill rotWithShape="1">
          <a:blip r:embed="rId4">
            <a:alphaModFix/>
          </a:blip>
          <a:srcRect b="63504" l="0" r="35885" t="0"/>
          <a:stretch/>
        </p:blipFill>
        <p:spPr>
          <a:xfrm>
            <a:off x="1263775" y="2571750"/>
            <a:ext cx="6616449" cy="2350776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59"/>
          <p:cNvSpPr/>
          <p:nvPr/>
        </p:nvSpPr>
        <p:spPr>
          <a:xfrm>
            <a:off x="1948825" y="3068575"/>
            <a:ext cx="1137600" cy="144000"/>
          </a:xfrm>
          <a:prstGeom prst="rect">
            <a:avLst/>
          </a:prstGeom>
          <a:solidFill>
            <a:srgbClr val="FFFF00">
              <a:alpha val="3154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9"/>
          <p:cNvSpPr/>
          <p:nvPr/>
        </p:nvSpPr>
        <p:spPr>
          <a:xfrm>
            <a:off x="3701425" y="3068575"/>
            <a:ext cx="1359900" cy="144000"/>
          </a:xfrm>
          <a:prstGeom prst="rect">
            <a:avLst/>
          </a:prstGeom>
          <a:solidFill>
            <a:srgbClr val="FFFF00">
              <a:alpha val="3154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59"/>
          <p:cNvSpPr/>
          <p:nvPr/>
        </p:nvSpPr>
        <p:spPr>
          <a:xfrm>
            <a:off x="3715903" y="3393949"/>
            <a:ext cx="1359900" cy="144000"/>
          </a:xfrm>
          <a:prstGeom prst="rect">
            <a:avLst/>
          </a:prstGeom>
          <a:solidFill>
            <a:srgbClr val="FFFF00">
              <a:alpha val="3154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59"/>
          <p:cNvSpPr/>
          <p:nvPr/>
        </p:nvSpPr>
        <p:spPr>
          <a:xfrm>
            <a:off x="1948825" y="3393949"/>
            <a:ext cx="1137600" cy="144000"/>
          </a:xfrm>
          <a:prstGeom prst="rect">
            <a:avLst/>
          </a:prstGeom>
          <a:solidFill>
            <a:srgbClr val="FFFF00">
              <a:alpha val="3154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60"/>
          <p:cNvPicPr preferRelativeResize="0"/>
          <p:nvPr/>
        </p:nvPicPr>
        <p:blipFill rotWithShape="1">
          <a:blip r:embed="rId3">
            <a:alphaModFix/>
          </a:blip>
          <a:srcRect b="0" l="0" r="35885" t="45675"/>
          <a:stretch/>
        </p:blipFill>
        <p:spPr>
          <a:xfrm>
            <a:off x="1263775" y="822150"/>
            <a:ext cx="6616449" cy="349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85B0D2F0D7DC4489CFF991C602C9121" ma:contentTypeVersion="2" ma:contentTypeDescription="Utwórz nowy dokument." ma:contentTypeScope="" ma:versionID="55ebc71843e560559cd9789fe8f55ebe">
  <xsd:schema xmlns:xsd="http://www.w3.org/2001/XMLSchema" xmlns:xs="http://www.w3.org/2001/XMLSchema" xmlns:p="http://schemas.microsoft.com/office/2006/metadata/properties" xmlns:ns2="21e05157-672d-4edf-bcb1-53d9c4ace537" targetNamespace="http://schemas.microsoft.com/office/2006/metadata/properties" ma:root="true" ma:fieldsID="99c65d363eb84fdbef69a636906df0cd" ns2:_="">
    <xsd:import namespace="21e05157-672d-4edf-bcb1-53d9c4ace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e05157-672d-4edf-bcb1-53d9c4ace5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1A2B330-E7D6-4BE2-AEE1-98DF32376F75}"/>
</file>

<file path=customXml/itemProps2.xml><?xml version="1.0" encoding="utf-8"?>
<ds:datastoreItem xmlns:ds="http://schemas.openxmlformats.org/officeDocument/2006/customXml" ds:itemID="{03092DBA-87F1-4AFE-B45A-1E9C0B18C765}"/>
</file>

<file path=customXml/itemProps3.xml><?xml version="1.0" encoding="utf-8"?>
<ds:datastoreItem xmlns:ds="http://schemas.openxmlformats.org/officeDocument/2006/customXml" ds:itemID="{255AF79A-633D-4D5C-ABDC-66A6C99639CF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0x010100185B0D2F0D7DC4489CFF991C602C9121</vt:lpwstr>
  </property>
</Properties>
</file>