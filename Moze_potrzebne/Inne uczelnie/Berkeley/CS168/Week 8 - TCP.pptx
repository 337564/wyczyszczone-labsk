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Default Extension="gif" ContentType="image/gif"/>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Lst>
  <p:sldSz cy="5143500" cx="9144000"/>
  <p:notesSz cx="6858000" cy="9144000"/>
  <p:embeddedFontLst>
    <p:embeddedFont>
      <p:font typeface="PT Sans Narrow"/>
      <p:regular r:id="rId49"/>
      <p:bold r:id="rId50"/>
    </p:embeddedFont>
    <p:embeddedFont>
      <p:font typeface="Lato"/>
      <p:regular r:id="rId51"/>
      <p:bold r:id="rId52"/>
      <p:italic r:id="rId53"/>
      <p:boldItalic r:id="rId54"/>
    </p:embeddedFont>
    <p:embeddedFont>
      <p:font typeface="Helvetica Neue"/>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42" Type="http://schemas.openxmlformats.org/officeDocument/2006/relationships/slide" Target="slides/slide38.xml"/><Relationship Id="rId47" Type="http://schemas.openxmlformats.org/officeDocument/2006/relationships/slide" Target="slides/slide43.xml"/><Relationship Id="rId34" Type="http://schemas.openxmlformats.org/officeDocument/2006/relationships/slide" Target="slides/slide30.xml"/><Relationship Id="rId21" Type="http://schemas.openxmlformats.org/officeDocument/2006/relationships/slide" Target="slides/slide17.xml"/><Relationship Id="rId50" Type="http://schemas.openxmlformats.org/officeDocument/2006/relationships/font" Target="fonts/PTSansNarrow-bold.fntdata"/><Relationship Id="rId55" Type="http://schemas.openxmlformats.org/officeDocument/2006/relationships/font" Target="fonts/HelveticaNeue-regular.fntdata"/><Relationship Id="rId63" Type="http://schemas.openxmlformats.org/officeDocument/2006/relationships/customXml" Target="../customXml/item1.xml"/><Relationship Id="rId7" Type="http://schemas.openxmlformats.org/officeDocument/2006/relationships/slide" Target="slides/slide3.xml"/><Relationship Id="rId2" Type="http://schemas.openxmlformats.org/officeDocument/2006/relationships/presProps" Target="presProps.xml"/><Relationship Id="rId29" Type="http://schemas.openxmlformats.org/officeDocument/2006/relationships/slide" Target="slides/slide25.xml"/><Relationship Id="rId16" Type="http://schemas.openxmlformats.org/officeDocument/2006/relationships/slide" Target="slides/slide12.xml"/><Relationship Id="rId40" Type="http://schemas.openxmlformats.org/officeDocument/2006/relationships/slide" Target="slides/slide36.xml"/><Relationship Id="rId45" Type="http://schemas.openxmlformats.org/officeDocument/2006/relationships/slide" Target="slides/slide41.xml"/><Relationship Id="rId32" Type="http://schemas.openxmlformats.org/officeDocument/2006/relationships/slide" Target="slides/slide28.xml"/><Relationship Id="rId37" Type="http://schemas.openxmlformats.org/officeDocument/2006/relationships/slide" Target="slides/slide33.xml"/><Relationship Id="rId24" Type="http://schemas.openxmlformats.org/officeDocument/2006/relationships/slide" Target="slides/slide20.xml"/><Relationship Id="rId53" Type="http://schemas.openxmlformats.org/officeDocument/2006/relationships/font" Target="fonts/Lato-italic.fntdata"/><Relationship Id="rId11" Type="http://schemas.openxmlformats.org/officeDocument/2006/relationships/slide" Target="slides/slide7.xml"/><Relationship Id="rId58" Type="http://schemas.openxmlformats.org/officeDocument/2006/relationships/font" Target="fonts/HelveticaNeue-boldItalic.fntdata"/><Relationship Id="rId5" Type="http://schemas.openxmlformats.org/officeDocument/2006/relationships/slide" Target="slides/slide1.xml"/><Relationship Id="rId61" Type="http://schemas.openxmlformats.org/officeDocument/2006/relationships/font" Target="fonts/OpenSans-italic.fntdata"/><Relationship Id="rId19" Type="http://schemas.openxmlformats.org/officeDocument/2006/relationships/slide" Target="slides/slide15.xml"/><Relationship Id="rId43" Type="http://schemas.openxmlformats.org/officeDocument/2006/relationships/slide" Target="slides/slide39.xml"/><Relationship Id="rId48" Type="http://schemas.openxmlformats.org/officeDocument/2006/relationships/slide" Target="slides/slide44.xml"/><Relationship Id="rId30" Type="http://schemas.openxmlformats.org/officeDocument/2006/relationships/slide" Target="slides/slide26.xml"/><Relationship Id="rId35" Type="http://schemas.openxmlformats.org/officeDocument/2006/relationships/slide" Target="slides/slide31.xml"/><Relationship Id="rId22" Type="http://schemas.openxmlformats.org/officeDocument/2006/relationships/slide" Target="slides/slide18.xml"/><Relationship Id="rId27" Type="http://schemas.openxmlformats.org/officeDocument/2006/relationships/slide" Target="slides/slide23.xml"/><Relationship Id="rId56" Type="http://schemas.openxmlformats.org/officeDocument/2006/relationships/font" Target="fonts/HelveticaNeue-bold.fntdata"/><Relationship Id="rId14" Type="http://schemas.openxmlformats.org/officeDocument/2006/relationships/slide" Target="slides/slide10.xml"/><Relationship Id="rId64" Type="http://schemas.openxmlformats.org/officeDocument/2006/relationships/customXml" Target="../customXml/item2.xml"/><Relationship Id="rId8" Type="http://schemas.openxmlformats.org/officeDocument/2006/relationships/slide" Target="slides/slide4.xml"/><Relationship Id="rId51" Type="http://schemas.openxmlformats.org/officeDocument/2006/relationships/font" Target="fonts/Lato-regular.fntdata"/><Relationship Id="rId3" Type="http://schemas.openxmlformats.org/officeDocument/2006/relationships/slideMaster" Target="slideMasters/slideMaster1.xml"/><Relationship Id="rId46" Type="http://schemas.openxmlformats.org/officeDocument/2006/relationships/slide" Target="slides/slide42.xml"/><Relationship Id="rId33" Type="http://schemas.openxmlformats.org/officeDocument/2006/relationships/slide" Target="slides/slide29.xml"/><Relationship Id="rId38" Type="http://schemas.openxmlformats.org/officeDocument/2006/relationships/slide" Target="slides/slide34.xml"/><Relationship Id="rId25" Type="http://schemas.openxmlformats.org/officeDocument/2006/relationships/slide" Target="slides/slide21.xml"/><Relationship Id="rId12" Type="http://schemas.openxmlformats.org/officeDocument/2006/relationships/slide" Target="slides/slide8.xml"/><Relationship Id="rId59" Type="http://schemas.openxmlformats.org/officeDocument/2006/relationships/font" Target="fonts/OpenSans-regular.fntdata"/><Relationship Id="rId17" Type="http://schemas.openxmlformats.org/officeDocument/2006/relationships/slide" Target="slides/slide13.xml"/><Relationship Id="rId41" Type="http://schemas.openxmlformats.org/officeDocument/2006/relationships/slide" Target="slides/slide37.xml"/><Relationship Id="rId62" Type="http://schemas.openxmlformats.org/officeDocument/2006/relationships/font" Target="fonts/OpenSans-boldItalic.fntdata"/><Relationship Id="rId20" Type="http://schemas.openxmlformats.org/officeDocument/2006/relationships/slide" Target="slides/slide16.xml"/><Relationship Id="rId54" Type="http://schemas.openxmlformats.org/officeDocument/2006/relationships/font" Target="fonts/Lato-boldItalic.fntdata"/><Relationship Id="rId1" Type="http://schemas.openxmlformats.org/officeDocument/2006/relationships/theme" Target="theme/theme1.xml"/><Relationship Id="rId6" Type="http://schemas.openxmlformats.org/officeDocument/2006/relationships/slide" Target="slides/slide2.xml"/><Relationship Id="rId49" Type="http://schemas.openxmlformats.org/officeDocument/2006/relationships/font" Target="fonts/PTSansNarrow-regular.fntdata"/><Relationship Id="rId36" Type="http://schemas.openxmlformats.org/officeDocument/2006/relationships/slide" Target="slides/slide32.xml"/><Relationship Id="rId23" Type="http://schemas.openxmlformats.org/officeDocument/2006/relationships/slide" Target="slides/slide19.xml"/><Relationship Id="rId28" Type="http://schemas.openxmlformats.org/officeDocument/2006/relationships/slide" Target="slides/slide24.xml"/><Relationship Id="rId57" Type="http://schemas.openxmlformats.org/officeDocument/2006/relationships/font" Target="fonts/HelveticaNeue-italic.fntdata"/><Relationship Id="rId15" Type="http://schemas.openxmlformats.org/officeDocument/2006/relationships/slide" Target="slides/slide11.xml"/><Relationship Id="rId44" Type="http://schemas.openxmlformats.org/officeDocument/2006/relationships/slide" Target="slides/slide40.xml"/><Relationship Id="rId31" Type="http://schemas.openxmlformats.org/officeDocument/2006/relationships/slide" Target="slides/slide27.xml"/><Relationship Id="rId60" Type="http://schemas.openxmlformats.org/officeDocument/2006/relationships/font" Target="fonts/OpenSans-bold.fntdata"/><Relationship Id="rId52" Type="http://schemas.openxmlformats.org/officeDocument/2006/relationships/font" Target="fonts/Lato-bold.fntdata"/><Relationship Id="rId10" Type="http://schemas.openxmlformats.org/officeDocument/2006/relationships/slide" Target="slides/slide6.xml"/><Relationship Id="rId65" Type="http://schemas.openxmlformats.org/officeDocument/2006/relationships/customXml" Target="../customXml/item3.xml"/><Relationship Id="rId4" Type="http://schemas.openxmlformats.org/officeDocument/2006/relationships/notesMaster" Target="notesMasters/notesMaster1.xml"/><Relationship Id="rId9" Type="http://schemas.openxmlformats.org/officeDocument/2006/relationships/slide" Target="slides/slide5.xml"/><Relationship Id="rId39" Type="http://schemas.openxmlformats.org/officeDocument/2006/relationships/slide" Target="slides/slide35.xml"/><Relationship Id="rId13" Type="http://schemas.openxmlformats.org/officeDocument/2006/relationships/slide" Target="slides/slide9.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92" name="Google Shape;9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98" name="Google Shape;9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2" name="Shape 102"/>
        <p:cNvGrpSpPr/>
        <p:nvPr/>
      </p:nvGrpSpPr>
      <p:grpSpPr>
        <a:xfrm>
          <a:off x="0" y="0"/>
          <a:ext cx="0" cy="0"/>
          <a:chOff x="0" y="0"/>
          <a:chExt cx="0" cy="0"/>
        </a:xfrm>
      </p:grpSpPr>
      <p:sp>
        <p:nvSpPr>
          <p:cNvPr id="103" name="Google Shape;10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04" name="Google Shape;10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05" name="Google Shape;105;p3: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UDP is message-oriented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Message Oriented protocols send data in distinct chunks or groups. Stream protocols send a continuous flow of data.</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35" name="Google Shape;13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36" name="Google Shape;136;p4: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7" name="Google Shape;16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68" name="Google Shape;168;p5: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If the SYN flag is set (1), then this is the initial sequence number. The sequence number of the actual first data byte and the acknowledged number in the corresponding ACK are then this sequence number plus 1.</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If the SYN flag is clear (0), then this is the accumulated sequence number of the first data byte of this segment for the current session.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Bytes rather than packets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00" name="Google Shape;2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01" name="Google Shape;201;p6: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0" name="Shape 230"/>
        <p:cNvGrpSpPr/>
        <p:nvPr/>
      </p:nvGrpSpPr>
      <p:grpSpPr>
        <a:xfrm>
          <a:off x="0" y="0"/>
          <a:ext cx="0" cy="0"/>
          <a:chOff x="0" y="0"/>
          <a:chExt cx="0" cy="0"/>
        </a:xfrm>
      </p:grpSpPr>
      <p:sp>
        <p:nvSpPr>
          <p:cNvPr id="231" name="Google Shape;231;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32" name="Google Shape;23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33" name="Google Shape;233;p7: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Only 4 bits, so max is 2^4 – 1 = 15 words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lang="en-US"/>
              <a:t>varying header length for options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65" name="Google Shape;26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66" name="Google Shape;266;p8: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9 bits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FIN says "i finished talking to you, but i'll still listen to everything you have to say until you're done"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RST says "there is no conversation. i won't say anything and i won't listen to anything you say</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If the SYN flag is set (1), then this is the initial sequence number. The sequence number of the actual first data byte and the acknowledged number in the corresponding ACK are then this sequence number plus 1.</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If the SYN flag is clear (0), then this is the accumulated sequence number of the first data byte of this segment for the current session.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5" name="Shape 295"/>
        <p:cNvGrpSpPr/>
        <p:nvPr/>
      </p:nvGrpSpPr>
      <p:grpSpPr>
        <a:xfrm>
          <a:off x="0" y="0"/>
          <a:ext cx="0" cy="0"/>
          <a:chOff x="0" y="0"/>
          <a:chExt cx="0" cy="0"/>
        </a:xfrm>
      </p:grpSpPr>
      <p:sp>
        <p:nvSpPr>
          <p:cNvPr id="296" name="Google Shape;29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297" name="Google Shape;29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98" name="Google Shape;298;p9: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unit: byte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limited to between 2 and 65,535 bytes.</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329" name="Google Shape;32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30" name="Google Shape;330;p10:notes"/>
          <p:cNvSpPr txBox="1"/>
          <p:nvPr>
            <p:ph idx="1" type="body"/>
          </p:nvPr>
        </p:nvSpPr>
        <p:spPr>
          <a:xfrm>
            <a:off x="685800" y="4343400"/>
            <a:ext cx="5486400" cy="4114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0" name="Shape 360"/>
        <p:cNvGrpSpPr/>
        <p:nvPr/>
      </p:nvGrpSpPr>
      <p:grpSpPr>
        <a:xfrm>
          <a:off x="0" y="0"/>
          <a:ext cx="0" cy="0"/>
          <a:chOff x="0" y="0"/>
          <a:chExt cx="0" cy="0"/>
        </a:xfrm>
      </p:grpSpPr>
      <p:sp>
        <p:nvSpPr>
          <p:cNvPr id="361" name="Google Shape;36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362" name="Google Shape;36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5" name="Shape 365"/>
        <p:cNvGrpSpPr/>
        <p:nvPr/>
      </p:nvGrpSpPr>
      <p:grpSpPr>
        <a:xfrm>
          <a:off x="0" y="0"/>
          <a:ext cx="0" cy="0"/>
          <a:chOff x="0" y="0"/>
          <a:chExt cx="0" cy="0"/>
        </a:xfrm>
      </p:grpSpPr>
      <p:sp>
        <p:nvSpPr>
          <p:cNvPr id="366" name="Google Shape;36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Connection spoofing, connection resetting, and data injection</a:t>
            </a:r>
            <a:endParaRPr b="0" i="0" sz="1200" u="none" cap="none" strike="noStrike">
              <a:solidFill>
                <a:schemeClr val="dk1"/>
              </a:solidFill>
              <a:latin typeface="Calibri"/>
              <a:ea typeface="Calibri"/>
              <a:cs typeface="Calibri"/>
              <a:sym typeface="Calibri"/>
            </a:endParaRPr>
          </a:p>
        </p:txBody>
      </p:sp>
      <p:sp>
        <p:nvSpPr>
          <p:cNvPr id="368" name="Google Shape;36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2" name="Shape 372"/>
        <p:cNvGrpSpPr/>
        <p:nvPr/>
      </p:nvGrpSpPr>
      <p:grpSpPr>
        <a:xfrm>
          <a:off x="0" y="0"/>
          <a:ext cx="0" cy="0"/>
          <a:chOff x="0" y="0"/>
          <a:chExt cx="0" cy="0"/>
        </a:xfrm>
      </p:grpSpPr>
      <p:sp>
        <p:nvSpPr>
          <p:cNvPr id="373" name="Google Shape;37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example about TCP options: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 Maximum Segment Size (MSS)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 Selective Acknowledgements (SACK)</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375" name="Google Shape;37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9" name="Shape 379"/>
        <p:cNvGrpSpPr/>
        <p:nvPr/>
      </p:nvGrpSpPr>
      <p:grpSpPr>
        <a:xfrm>
          <a:off x="0" y="0"/>
          <a:ext cx="0" cy="0"/>
          <a:chOff x="0" y="0"/>
          <a:chExt cx="0" cy="0"/>
        </a:xfrm>
      </p:grpSpPr>
      <p:sp>
        <p:nvSpPr>
          <p:cNvPr id="380" name="Google Shape;38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382" name="Google Shape;38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8" name="Shape 388"/>
        <p:cNvGrpSpPr/>
        <p:nvPr/>
      </p:nvGrpSpPr>
      <p:grpSpPr>
        <a:xfrm>
          <a:off x="0" y="0"/>
          <a:ext cx="0" cy="0"/>
          <a:chOff x="0" y="0"/>
          <a:chExt cx="0" cy="0"/>
        </a:xfrm>
      </p:grpSpPr>
      <p:sp>
        <p:nvSpPr>
          <p:cNvPr id="389" name="Google Shape;3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390" name="Google Shape;39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6" name="Shape 396"/>
        <p:cNvGrpSpPr/>
        <p:nvPr/>
      </p:nvGrpSpPr>
      <p:grpSpPr>
        <a:xfrm>
          <a:off x="0" y="0"/>
          <a:ext cx="0" cy="0"/>
          <a:chOff x="0" y="0"/>
          <a:chExt cx="0" cy="0"/>
        </a:xfrm>
      </p:grpSpPr>
      <p:sp>
        <p:nvSpPr>
          <p:cNvPr id="397" name="Google Shape;39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399" name="Google Shape;399;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5" name="Shape 405"/>
        <p:cNvGrpSpPr/>
        <p:nvPr/>
      </p:nvGrpSpPr>
      <p:grpSpPr>
        <a:xfrm>
          <a:off x="0" y="0"/>
          <a:ext cx="0" cy="0"/>
          <a:chOff x="0" y="0"/>
          <a:chExt cx="0" cy="0"/>
        </a:xfrm>
      </p:grpSpPr>
      <p:sp>
        <p:nvSpPr>
          <p:cNvPr id="406" name="Google Shape;4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07" name="Google Shape;40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0" name="Shape 410"/>
        <p:cNvGrpSpPr/>
        <p:nvPr/>
      </p:nvGrpSpPr>
      <p:grpSpPr>
        <a:xfrm>
          <a:off x="0" y="0"/>
          <a:ext cx="0" cy="0"/>
          <a:chOff x="0" y="0"/>
          <a:chExt cx="0" cy="0"/>
        </a:xfrm>
      </p:grpSpPr>
      <p:sp>
        <p:nvSpPr>
          <p:cNvPr id="411" name="Google Shape;41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12" name="Google Shape;41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6" name="Shape 416"/>
        <p:cNvGrpSpPr/>
        <p:nvPr/>
      </p:nvGrpSpPr>
      <p:grpSpPr>
        <a:xfrm>
          <a:off x="0" y="0"/>
          <a:ext cx="0" cy="0"/>
          <a:chOff x="0" y="0"/>
          <a:chExt cx="0" cy="0"/>
        </a:xfrm>
      </p:grpSpPr>
      <p:sp>
        <p:nvSpPr>
          <p:cNvPr id="417" name="Google Shape;41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could combine into three-way handshake</a:t>
            </a:r>
            <a:endParaRPr b="0" i="0" sz="1200" u="none" cap="none" strike="noStrike">
              <a:solidFill>
                <a:schemeClr val="dk1"/>
              </a:solidFill>
              <a:latin typeface="Calibri"/>
              <a:ea typeface="Calibri"/>
              <a:cs typeface="Calibri"/>
              <a:sym typeface="Calibri"/>
            </a:endParaRPr>
          </a:p>
        </p:txBody>
      </p:sp>
      <p:sp>
        <p:nvSpPr>
          <p:cNvPr id="419" name="Google Shape;419;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4" name="Shape 424"/>
        <p:cNvGrpSpPr/>
        <p:nvPr/>
      </p:nvGrpSpPr>
      <p:grpSpPr>
        <a:xfrm>
          <a:off x="0" y="0"/>
          <a:ext cx="0" cy="0"/>
          <a:chOff x="0" y="0"/>
          <a:chExt cx="0" cy="0"/>
        </a:xfrm>
      </p:grpSpPr>
      <p:sp>
        <p:nvSpPr>
          <p:cNvPr id="425" name="Google Shape;42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If side that sent RST receives more packets, will resend the RST</a:t>
            </a:r>
            <a:endParaRPr b="0" i="0" sz="1200" u="none" cap="none" strike="noStrike">
              <a:solidFill>
                <a:schemeClr val="dk1"/>
              </a:solidFill>
              <a:latin typeface="Calibri"/>
              <a:ea typeface="Calibri"/>
              <a:cs typeface="Calibri"/>
              <a:sym typeface="Calibri"/>
            </a:endParaRPr>
          </a:p>
          <a:p>
            <a:pPr indent="-317500" lvl="0" marL="457200" marR="0" rtl="0" algn="l">
              <a:lnSpc>
                <a:spcPct val="100000"/>
              </a:lnSpc>
              <a:spcBef>
                <a:spcPts val="0"/>
              </a:spcBef>
              <a:spcAft>
                <a:spcPts val="0"/>
              </a:spcAft>
              <a:buSzPts val="1400"/>
              <a:buChar char="-"/>
            </a:pPr>
            <a:r>
              <a:rPr lang="en-US"/>
              <a:t>what if receiving process dies? (eg segfault)</a:t>
            </a:r>
            <a:endParaRPr/>
          </a:p>
        </p:txBody>
      </p:sp>
      <p:sp>
        <p:nvSpPr>
          <p:cNvPr id="427" name="Google Shape;42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1" name="Shape 431"/>
        <p:cNvGrpSpPr/>
        <p:nvPr/>
      </p:nvGrpSpPr>
      <p:grpSpPr>
        <a:xfrm>
          <a:off x="0" y="0"/>
          <a:ext cx="0" cy="0"/>
          <a:chOff x="0" y="0"/>
          <a:chExt cx="0" cy="0"/>
        </a:xfrm>
      </p:grpSpPr>
      <p:sp>
        <p:nvSpPr>
          <p:cNvPr id="432" name="Google Shape;43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33" name="Google Shape;43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6" name="Shape 436"/>
        <p:cNvGrpSpPr/>
        <p:nvPr/>
      </p:nvGrpSpPr>
      <p:grpSpPr>
        <a:xfrm>
          <a:off x="0" y="0"/>
          <a:ext cx="0" cy="0"/>
          <a:chOff x="0" y="0"/>
          <a:chExt cx="0" cy="0"/>
        </a:xfrm>
      </p:grpSpPr>
      <p:sp>
        <p:nvSpPr>
          <p:cNvPr id="437" name="Google Shape;43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38" name="Google Shape;43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2" name="Shape 442"/>
        <p:cNvGrpSpPr/>
        <p:nvPr/>
      </p:nvGrpSpPr>
      <p:grpSpPr>
        <a:xfrm>
          <a:off x="0" y="0"/>
          <a:ext cx="0" cy="0"/>
          <a:chOff x="0" y="0"/>
          <a:chExt cx="0" cy="0"/>
        </a:xfrm>
      </p:grpSpPr>
      <p:sp>
        <p:nvSpPr>
          <p:cNvPr id="443" name="Google Shape;44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exponential weighted moving average</a:t>
            </a:r>
            <a:endParaRPr b="0" i="0" sz="1200" u="none" cap="none" strike="noStrike">
              <a:solidFill>
                <a:schemeClr val="dk1"/>
              </a:solidFill>
              <a:latin typeface="Calibri"/>
              <a:ea typeface="Calibri"/>
              <a:cs typeface="Calibri"/>
              <a:sym typeface="Calibri"/>
            </a:endParaRPr>
          </a:p>
        </p:txBody>
      </p:sp>
      <p:sp>
        <p:nvSpPr>
          <p:cNvPr id="445" name="Google Shape;44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9" name="Shape 449"/>
        <p:cNvGrpSpPr/>
        <p:nvPr/>
      </p:nvGrpSpPr>
      <p:grpSpPr>
        <a:xfrm>
          <a:off x="0" y="0"/>
          <a:ext cx="0" cy="0"/>
          <a:chOff x="0" y="0"/>
          <a:chExt cx="0" cy="0"/>
        </a:xfrm>
      </p:grpSpPr>
      <p:sp>
        <p:nvSpPr>
          <p:cNvPr id="450" name="Google Shape;450;g815a78f293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815a78f293_2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exponential weighted moving average</a:t>
            </a:r>
            <a:endParaRPr b="0" i="0" sz="1200" u="none" cap="none" strike="noStrike">
              <a:solidFill>
                <a:schemeClr val="dk1"/>
              </a:solidFill>
              <a:latin typeface="Calibri"/>
              <a:ea typeface="Calibri"/>
              <a:cs typeface="Calibri"/>
              <a:sym typeface="Calibri"/>
            </a:endParaRPr>
          </a:p>
        </p:txBody>
      </p:sp>
      <p:sp>
        <p:nvSpPr>
          <p:cNvPr id="452" name="Google Shape;452;g815a78f293_2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6" name="Shape 456"/>
        <p:cNvGrpSpPr/>
        <p:nvPr/>
      </p:nvGrpSpPr>
      <p:grpSpPr>
        <a:xfrm>
          <a:off x="0" y="0"/>
          <a:ext cx="0" cy="0"/>
          <a:chOff x="0" y="0"/>
          <a:chExt cx="0" cy="0"/>
        </a:xfrm>
      </p:grpSpPr>
      <p:sp>
        <p:nvSpPr>
          <p:cNvPr id="457" name="Google Shape;457;g815a78f293_2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g815a78f293_2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exponential weighted moving average</a:t>
            </a:r>
            <a:endParaRPr b="0" i="0" sz="1200" u="none" cap="none" strike="noStrike">
              <a:solidFill>
                <a:schemeClr val="dk1"/>
              </a:solidFill>
              <a:latin typeface="Calibri"/>
              <a:ea typeface="Calibri"/>
              <a:cs typeface="Calibri"/>
              <a:sym typeface="Calibri"/>
            </a:endParaRPr>
          </a:p>
        </p:txBody>
      </p:sp>
      <p:sp>
        <p:nvSpPr>
          <p:cNvPr id="459" name="Google Shape;459;g815a78f293_2_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3" name="Shape 463"/>
        <p:cNvGrpSpPr/>
        <p:nvPr/>
      </p:nvGrpSpPr>
      <p:grpSpPr>
        <a:xfrm>
          <a:off x="0" y="0"/>
          <a:ext cx="0" cy="0"/>
          <a:chOff x="0" y="0"/>
          <a:chExt cx="0" cy="0"/>
        </a:xfrm>
      </p:grpSpPr>
      <p:sp>
        <p:nvSpPr>
          <p:cNvPr id="464" name="Google Shape;46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9" name="Shape 469"/>
        <p:cNvGrpSpPr/>
        <p:nvPr/>
      </p:nvGrpSpPr>
      <p:grpSpPr>
        <a:xfrm>
          <a:off x="0" y="0"/>
          <a:ext cx="0" cy="0"/>
          <a:chOff x="0" y="0"/>
          <a:chExt cx="0" cy="0"/>
        </a:xfrm>
      </p:grpSpPr>
      <p:sp>
        <p:nvSpPr>
          <p:cNvPr id="470" name="Google Shape;47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71" name="Google Shape;47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6" name="Shape 476"/>
        <p:cNvGrpSpPr/>
        <p:nvPr/>
      </p:nvGrpSpPr>
      <p:grpSpPr>
        <a:xfrm>
          <a:off x="0" y="0"/>
          <a:ext cx="0" cy="0"/>
          <a:chOff x="0" y="0"/>
          <a:chExt cx="0" cy="0"/>
        </a:xfrm>
      </p:grpSpPr>
      <p:sp>
        <p:nvSpPr>
          <p:cNvPr id="477" name="Google Shape;477;g817a4365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p:txBody>
      </p:sp>
      <p:sp>
        <p:nvSpPr>
          <p:cNvPr id="478" name="Google Shape;478;g817a43656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1" name="Shape 481"/>
        <p:cNvGrpSpPr/>
        <p:nvPr/>
      </p:nvGrpSpPr>
      <p:grpSpPr>
        <a:xfrm>
          <a:off x="0" y="0"/>
          <a:ext cx="0" cy="0"/>
          <a:chOff x="0" y="0"/>
          <a:chExt cx="0" cy="0"/>
        </a:xfrm>
      </p:grpSpPr>
      <p:sp>
        <p:nvSpPr>
          <p:cNvPr id="482" name="Google Shape;482;g817a436564_0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817a43656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817a436564_0_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8" name="Shape 488"/>
        <p:cNvGrpSpPr/>
        <p:nvPr/>
      </p:nvGrpSpPr>
      <p:grpSpPr>
        <a:xfrm>
          <a:off x="0" y="0"/>
          <a:ext cx="0" cy="0"/>
          <a:chOff x="0" y="0"/>
          <a:chExt cx="0" cy="0"/>
        </a:xfrm>
      </p:grpSpPr>
      <p:sp>
        <p:nvSpPr>
          <p:cNvPr id="489" name="Google Shape;489;g817a436564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817a43656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817a436564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95" name="Shape 495"/>
        <p:cNvGrpSpPr/>
        <p:nvPr/>
      </p:nvGrpSpPr>
      <p:grpSpPr>
        <a:xfrm>
          <a:off x="0" y="0"/>
          <a:ext cx="0" cy="0"/>
          <a:chOff x="0" y="0"/>
          <a:chExt cx="0" cy="0"/>
        </a:xfrm>
      </p:grpSpPr>
      <p:sp>
        <p:nvSpPr>
          <p:cNvPr id="496" name="Google Shape;496;g817a436564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817a43656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817a436564_0_1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2" name="Shape 502"/>
        <p:cNvGrpSpPr/>
        <p:nvPr/>
      </p:nvGrpSpPr>
      <p:grpSpPr>
        <a:xfrm>
          <a:off x="0" y="0"/>
          <a:ext cx="0" cy="0"/>
          <a:chOff x="0" y="0"/>
          <a:chExt cx="0" cy="0"/>
        </a:xfrm>
      </p:grpSpPr>
      <p:sp>
        <p:nvSpPr>
          <p:cNvPr id="503" name="Google Shape;503;g817a436564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817a43656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817a436564_0_2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9" name="Shape 509"/>
        <p:cNvGrpSpPr/>
        <p:nvPr/>
      </p:nvGrpSpPr>
      <p:grpSpPr>
        <a:xfrm>
          <a:off x="0" y="0"/>
          <a:ext cx="0" cy="0"/>
          <a:chOff x="0" y="0"/>
          <a:chExt cx="0" cy="0"/>
        </a:xfrm>
      </p:grpSpPr>
      <p:sp>
        <p:nvSpPr>
          <p:cNvPr id="510" name="Google Shape;510;g817a436564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817a43656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817a436564_0_3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6" name="Shape 516"/>
        <p:cNvGrpSpPr/>
        <p:nvPr/>
      </p:nvGrpSpPr>
      <p:grpSpPr>
        <a:xfrm>
          <a:off x="0" y="0"/>
          <a:ext cx="0" cy="0"/>
          <a:chOff x="0" y="0"/>
          <a:chExt cx="0" cy="0"/>
        </a:xfrm>
      </p:grpSpPr>
      <p:sp>
        <p:nvSpPr>
          <p:cNvPr id="517" name="Google Shape;517;g817a436564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817a43656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g817a436564_0_3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3" name="Shape 523"/>
        <p:cNvGrpSpPr/>
        <p:nvPr/>
      </p:nvGrpSpPr>
      <p:grpSpPr>
        <a:xfrm>
          <a:off x="0" y="0"/>
          <a:ext cx="0" cy="0"/>
          <a:chOff x="0" y="0"/>
          <a:chExt cx="0" cy="0"/>
        </a:xfrm>
      </p:grpSpPr>
      <p:sp>
        <p:nvSpPr>
          <p:cNvPr id="524" name="Google Shape;524;g817a436564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817a436564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817a436564_0_5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0" name="Shape 530"/>
        <p:cNvGrpSpPr/>
        <p:nvPr/>
      </p:nvGrpSpPr>
      <p:grpSpPr>
        <a:xfrm>
          <a:off x="0" y="0"/>
          <a:ext cx="0" cy="0"/>
          <a:chOff x="0" y="0"/>
          <a:chExt cx="0" cy="0"/>
        </a:xfrm>
      </p:grpSpPr>
      <p:sp>
        <p:nvSpPr>
          <p:cNvPr id="531" name="Google Shape;531;g817a436564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817a43656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817a436564_0_4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7" name="Shape 537"/>
        <p:cNvGrpSpPr/>
        <p:nvPr/>
      </p:nvGrpSpPr>
      <p:grpSpPr>
        <a:xfrm>
          <a:off x="0" y="0"/>
          <a:ext cx="0" cy="0"/>
          <a:chOff x="0" y="0"/>
          <a:chExt cx="0" cy="0"/>
        </a:xfrm>
      </p:grpSpPr>
      <p:sp>
        <p:nvSpPr>
          <p:cNvPr id="538" name="Google Shape;538;g817a436564_0_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817a43656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817a436564_0_6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4" name="Shape 544"/>
        <p:cNvGrpSpPr/>
        <p:nvPr/>
      </p:nvGrpSpPr>
      <p:grpSpPr>
        <a:xfrm>
          <a:off x="0" y="0"/>
          <a:ext cx="0" cy="0"/>
          <a:chOff x="0" y="0"/>
          <a:chExt cx="0" cy="0"/>
        </a:xfrm>
      </p:grpSpPr>
      <p:sp>
        <p:nvSpPr>
          <p:cNvPr id="545" name="Google Shape;545;g817a436564_0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817a43656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817a436564_0_6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1" name="Shape 551"/>
        <p:cNvGrpSpPr/>
        <p:nvPr/>
      </p:nvGrpSpPr>
      <p:grpSpPr>
        <a:xfrm>
          <a:off x="0" y="0"/>
          <a:ext cx="0" cy="0"/>
          <a:chOff x="0" y="0"/>
          <a:chExt cx="0" cy="0"/>
        </a:xfrm>
      </p:grpSpPr>
      <p:sp>
        <p:nvSpPr>
          <p:cNvPr id="552" name="Google Shape;552;g817a436564_0_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817a43656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g817a436564_0_7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8" name="Shape 558"/>
        <p:cNvGrpSpPr/>
        <p:nvPr/>
      </p:nvGrpSpPr>
      <p:grpSpPr>
        <a:xfrm>
          <a:off x="0" y="0"/>
          <a:ext cx="0" cy="0"/>
          <a:chOff x="0" y="0"/>
          <a:chExt cx="0" cy="0"/>
        </a:xfrm>
      </p:grpSpPr>
      <p:sp>
        <p:nvSpPr>
          <p:cNvPr id="559" name="Google Shape;559;g817a436564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817a43656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g817a436564_0_8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6" name="Shape 566"/>
        <p:cNvGrpSpPr/>
        <p:nvPr/>
      </p:nvGrpSpPr>
      <p:grpSpPr>
        <a:xfrm>
          <a:off x="0" y="0"/>
          <a:ext cx="0" cy="0"/>
          <a:chOff x="0" y="0"/>
          <a:chExt cx="0" cy="0"/>
        </a:xfrm>
      </p:grpSpPr>
      <p:sp>
        <p:nvSpPr>
          <p:cNvPr id="567" name="Google Shape;567;g817a436564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817a436564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817a436564_0_9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3" name="Shape 593"/>
        <p:cNvGrpSpPr/>
        <p:nvPr/>
      </p:nvGrpSpPr>
      <p:grpSpPr>
        <a:xfrm>
          <a:off x="0" y="0"/>
          <a:ext cx="0" cy="0"/>
          <a:chOff x="0" y="0"/>
          <a:chExt cx="0" cy="0"/>
        </a:xfrm>
      </p:grpSpPr>
      <p:sp>
        <p:nvSpPr>
          <p:cNvPr id="594" name="Google Shape;594;g817a436564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817a436564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Note: there is no transmission delay, so D100, 200, 300 are sent at the same time. We just separated them here to follow convention of previous diagrams. That’s why it only takes 1 RTT for both A200s to get back, and the timer starts when they both get back.</a:t>
            </a:r>
            <a:endParaRPr/>
          </a:p>
          <a:p>
            <a:pPr indent="0" lvl="0" marL="0" rtl="0" algn="l">
              <a:spcBef>
                <a:spcPts val="0"/>
              </a:spcBef>
              <a:spcAft>
                <a:spcPts val="0"/>
              </a:spcAft>
              <a:buNone/>
            </a:pPr>
            <a:r>
              <a:rPr lang="en-US"/>
              <a:t>Note: timer starts on every new ACK received.</a:t>
            </a:r>
            <a:endParaRPr/>
          </a:p>
        </p:txBody>
      </p:sp>
      <p:sp>
        <p:nvSpPr>
          <p:cNvPr id="596" name="Google Shape;596;g817a436564_0_12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1" name="Shape 631"/>
        <p:cNvGrpSpPr/>
        <p:nvPr/>
      </p:nvGrpSpPr>
      <p:grpSpPr>
        <a:xfrm>
          <a:off x="0" y="0"/>
          <a:ext cx="0" cy="0"/>
          <a:chOff x="0" y="0"/>
          <a:chExt cx="0" cy="0"/>
        </a:xfrm>
      </p:grpSpPr>
      <p:sp>
        <p:nvSpPr>
          <p:cNvPr id="632" name="Google Shape;632;g817a436564_0_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817a436564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g817a436564_0_18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73" name="Shape 673"/>
        <p:cNvGrpSpPr/>
        <p:nvPr/>
      </p:nvGrpSpPr>
      <p:grpSpPr>
        <a:xfrm>
          <a:off x="0" y="0"/>
          <a:ext cx="0" cy="0"/>
          <a:chOff x="0" y="0"/>
          <a:chExt cx="0" cy="0"/>
        </a:xfrm>
      </p:grpSpPr>
      <p:sp>
        <p:nvSpPr>
          <p:cNvPr id="674" name="Google Shape;674;g817a436564_0_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817a436564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g817a436564_0_23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1954346"/>
            <a:ext cx="7772400" cy="745992"/>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EF6C00"/>
              </a:buClr>
              <a:buSzPts val="5400"/>
              <a:buFont typeface="PT Sans Narrow"/>
              <a:buNone/>
              <a:defRPr b="1" i="0" sz="5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 name="Google Shape;17;p2"/>
          <p:cNvSpPr txBox="1"/>
          <p:nvPr>
            <p:ph idx="1" type="subTitle"/>
          </p:nvPr>
        </p:nvSpPr>
        <p:spPr>
          <a:xfrm>
            <a:off x="1664038" y="2711450"/>
            <a:ext cx="5813188" cy="395692"/>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480"/>
              </a:spcBef>
              <a:spcAft>
                <a:spcPts val="0"/>
              </a:spcAft>
              <a:buClr>
                <a:srgbClr val="888888"/>
              </a:buClr>
              <a:buSzPts val="2400"/>
              <a:buFont typeface="Arial"/>
              <a:buNone/>
              <a:defRPr b="0" i="0" sz="2400" u="none" cap="none" strike="noStrike">
                <a:solidFill>
                  <a:srgbClr val="888888"/>
                </a:solidFill>
                <a:latin typeface="Open Sans"/>
                <a:ea typeface="Open Sans"/>
                <a:cs typeface="Open Sans"/>
                <a:sym typeface="Open Sans"/>
              </a:defRPr>
            </a:lvl1pPr>
            <a:lvl2pPr lvl="1"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2pPr>
            <a:lvl3pPr lvl="2"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3pPr>
            <a:lvl4pPr lvl="3"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4pPr>
            <a:lvl5pPr lvl="4"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Open Sans"/>
                <a:ea typeface="Open Sans"/>
                <a:cs typeface="Open Sans"/>
                <a:sym typeface="Open Sans"/>
              </a:defRPr>
            </a:lvl5pPr>
            <a:lvl6pPr lvl="5"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8" name="Google Shape;18;p2"/>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1" name="Google Shape;21;p2"/>
          <p:cNvCxnSpPr/>
          <p:nvPr/>
        </p:nvCxnSpPr>
        <p:spPr>
          <a:xfrm>
            <a:off x="457200" y="3722904"/>
            <a:ext cx="82296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254"/>
              </a:srgbClr>
            </a:outerShdw>
          </a:effectLst>
        </p:spPr>
      </p:cxnSp>
      <p:cxnSp>
        <p:nvCxnSpPr>
          <p:cNvPr id="22" name="Google Shape;22;p2"/>
          <p:cNvCxnSpPr/>
          <p:nvPr/>
        </p:nvCxnSpPr>
        <p:spPr>
          <a:xfrm>
            <a:off x="457200" y="1488704"/>
            <a:ext cx="82296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254"/>
              </a:srgbClr>
            </a:outerShdw>
          </a:effectLst>
        </p:spPr>
      </p:cxnSp>
      <p:cxnSp>
        <p:nvCxnSpPr>
          <p:cNvPr id="23" name="Google Shape;23;p2"/>
          <p:cNvCxnSpPr/>
          <p:nvPr/>
        </p:nvCxnSpPr>
        <p:spPr>
          <a:xfrm>
            <a:off x="457200" y="1603004"/>
            <a:ext cx="8229600" cy="0"/>
          </a:xfrm>
          <a:prstGeom prst="straightConnector1">
            <a:avLst/>
          </a:prstGeom>
          <a:noFill/>
          <a:ln cap="flat" cmpd="sng" w="28575">
            <a:solidFill>
              <a:schemeClr val="accent2"/>
            </a:solidFill>
            <a:prstDash val="solid"/>
            <a:round/>
            <a:headEnd len="sm" w="sm" type="none"/>
            <a:tailEnd len="sm" w="sm" type="none"/>
          </a:ln>
          <a:effectLst>
            <a:outerShdw blurRad="40000" rotWithShape="0" dir="5400000" dist="20000">
              <a:srgbClr val="000000">
                <a:alpha val="37254"/>
              </a:srgbClr>
            </a:outerShdw>
          </a:effectLst>
        </p:spPr>
      </p:cxnSp>
      <p:cxnSp>
        <p:nvCxnSpPr>
          <p:cNvPr id="24" name="Google Shape;24;p2"/>
          <p:cNvCxnSpPr/>
          <p:nvPr/>
        </p:nvCxnSpPr>
        <p:spPr>
          <a:xfrm>
            <a:off x="457200" y="3605957"/>
            <a:ext cx="8229600" cy="0"/>
          </a:xfrm>
          <a:prstGeom prst="straightConnector1">
            <a:avLst/>
          </a:prstGeom>
          <a:noFill/>
          <a:ln cap="flat" cmpd="sng" w="28575">
            <a:solidFill>
              <a:schemeClr val="accent2"/>
            </a:solidFill>
            <a:prstDash val="solid"/>
            <a:round/>
            <a:headEnd len="sm" w="sm" type="none"/>
            <a:tailEnd len="sm" w="sm" type="none"/>
          </a:ln>
          <a:effectLst>
            <a:outerShdw blurRad="40000" rotWithShape="0" dir="5400000" dist="20000">
              <a:srgbClr val="000000">
                <a:alpha val="37254"/>
              </a:srgbClr>
            </a:outerShdw>
          </a:effectLst>
        </p:spPr>
      </p:cxnSp>
      <p:cxnSp>
        <p:nvCxnSpPr>
          <p:cNvPr id="25" name="Google Shape;25;p2"/>
          <p:cNvCxnSpPr/>
          <p:nvPr/>
        </p:nvCxnSpPr>
        <p:spPr>
          <a:xfrm>
            <a:off x="1081214" y="2909296"/>
            <a:ext cx="582824" cy="0"/>
          </a:xfrm>
          <a:prstGeom prst="straightConnector1">
            <a:avLst/>
          </a:prstGeom>
          <a:noFill/>
          <a:ln cap="flat" cmpd="sng" w="127000">
            <a:solidFill>
              <a:schemeClr val="accent3"/>
            </a:solidFill>
            <a:prstDash val="solid"/>
            <a:round/>
            <a:headEnd len="sm" w="sm" type="none"/>
            <a:tailEnd len="sm" w="sm" type="none"/>
          </a:ln>
          <a:effectLst>
            <a:outerShdw blurRad="40000" rotWithShape="0" dir="5400000" dist="20000">
              <a:srgbClr val="000000">
                <a:alpha val="37254"/>
              </a:srgbClr>
            </a:outerShdw>
          </a:effectLst>
        </p:spPr>
      </p:cxnSp>
      <p:cxnSp>
        <p:nvCxnSpPr>
          <p:cNvPr id="26" name="Google Shape;26;p2"/>
          <p:cNvCxnSpPr/>
          <p:nvPr/>
        </p:nvCxnSpPr>
        <p:spPr>
          <a:xfrm>
            <a:off x="7480987" y="2902841"/>
            <a:ext cx="582824" cy="0"/>
          </a:xfrm>
          <a:prstGeom prst="straightConnector1">
            <a:avLst/>
          </a:prstGeom>
          <a:noFill/>
          <a:ln cap="flat" cmpd="sng" w="127000">
            <a:solidFill>
              <a:schemeClr val="accent3"/>
            </a:solidFill>
            <a:prstDash val="solid"/>
            <a:round/>
            <a:headEnd len="sm" w="sm" type="none"/>
            <a:tailEnd len="sm" w="sm" type="none"/>
          </a:ln>
          <a:effectLst>
            <a:outerShdw blurRad="40000" rotWithShape="0" dir="5400000" dist="20000">
              <a:srgbClr val="000000">
                <a:alpha val="37254"/>
              </a:srgbClr>
            </a:outerShdw>
          </a:effectLst>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7" name="Shape 27"/>
        <p:cNvGrpSpPr/>
        <p:nvPr/>
      </p:nvGrpSpPr>
      <p:grpSpPr>
        <a:xfrm>
          <a:off x="0" y="0"/>
          <a:ext cx="0" cy="0"/>
          <a:chOff x="0" y="0"/>
          <a:chExt cx="0" cy="0"/>
        </a:xfrm>
      </p:grpSpPr>
      <p:sp>
        <p:nvSpPr>
          <p:cNvPr id="28" name="Google Shape;28;p3"/>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3"/>
          <p:cNvSpPr txBox="1"/>
          <p:nvPr>
            <p:ph idx="1" type="body"/>
          </p:nvPr>
        </p:nvSpPr>
        <p:spPr>
          <a:xfrm>
            <a:off x="457200" y="1200151"/>
            <a:ext cx="8229600" cy="3394472"/>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3"/>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3"/>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33" name="Google Shape;33;p3"/>
          <p:cNvCxnSpPr/>
          <p:nvPr/>
        </p:nvCxnSpPr>
        <p:spPr>
          <a:xfrm>
            <a:off x="0" y="5118865"/>
            <a:ext cx="9144000" cy="0"/>
          </a:xfrm>
          <a:prstGeom prst="straightConnector1">
            <a:avLst/>
          </a:prstGeom>
          <a:noFill/>
          <a:ln cap="flat" cmpd="sng" w="127000">
            <a:solidFill>
              <a:schemeClr val="accent2"/>
            </a:solidFill>
            <a:prstDash val="solid"/>
            <a:round/>
            <a:headEnd len="sm" w="sm" type="none"/>
            <a:tailEnd len="sm" w="sm" type="none"/>
          </a:ln>
          <a:effectLst>
            <a:outerShdw blurRad="40000" rotWithShape="0" dir="5400000" dist="20000">
              <a:srgbClr val="000000">
                <a:alpha val="37254"/>
              </a:srgbClr>
            </a:outerShdw>
          </a:effectLst>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p:cSld name="Section Header">
    <p:spTree>
      <p:nvGrpSpPr>
        <p:cNvPr id="34" name="Shape 34"/>
        <p:cNvGrpSpPr/>
        <p:nvPr/>
      </p:nvGrpSpPr>
      <p:grpSpPr>
        <a:xfrm>
          <a:off x="0" y="0"/>
          <a:ext cx="0" cy="0"/>
          <a:chOff x="0" y="0"/>
          <a:chExt cx="0" cy="0"/>
        </a:xfrm>
      </p:grpSpPr>
      <p:sp>
        <p:nvSpPr>
          <p:cNvPr id="35" name="Google Shape;35;p4"/>
          <p:cNvSpPr txBox="1"/>
          <p:nvPr>
            <p:ph idx="1" type="body"/>
          </p:nvPr>
        </p:nvSpPr>
        <p:spPr>
          <a:xfrm>
            <a:off x="722313" y="2180035"/>
            <a:ext cx="7772400" cy="1125140"/>
          </a:xfrm>
          <a:prstGeom prst="rect">
            <a:avLst/>
          </a:prstGeom>
          <a:noFill/>
          <a:ln>
            <a:noFill/>
          </a:ln>
        </p:spPr>
        <p:txBody>
          <a:bodyPr anchorCtr="0" anchor="b" bIns="91425" lIns="91425" spcFirstLastPara="1" rIns="91425" wrap="square" tIns="91425">
            <a:noAutofit/>
          </a:bodyPr>
          <a:lstStyle>
            <a:lvl1pPr indent="-228600" lvl="0" marL="457200" marR="0" rtl="0" algn="ctr">
              <a:lnSpc>
                <a:spcPct val="100000"/>
              </a:lnSpc>
              <a:spcBef>
                <a:spcPts val="2400"/>
              </a:spcBef>
              <a:spcAft>
                <a:spcPts val="0"/>
              </a:spcAft>
              <a:buClr>
                <a:schemeClr val="accent2"/>
              </a:buClr>
              <a:buSzPts val="12000"/>
              <a:buFont typeface="Arial"/>
              <a:buNone/>
              <a:defRPr b="1" i="0" sz="12000" u="none" cap="none" strike="noStrike">
                <a:solidFill>
                  <a:schemeClr val="accent2"/>
                </a:solidFill>
                <a:latin typeface="PT Sans Narrow"/>
                <a:ea typeface="PT Sans Narrow"/>
                <a:cs typeface="PT Sans Narrow"/>
                <a:sym typeface="PT Sans Narrow"/>
              </a:defRPr>
            </a:lvl1pPr>
            <a:lvl2pPr indent="-228600" lvl="1" marL="914400" marR="0" rtl="0" algn="l">
              <a:lnSpc>
                <a:spcPct val="100000"/>
              </a:lnSpc>
              <a:spcBef>
                <a:spcPts val="36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2pPr>
            <a:lvl3pPr indent="-228600" lvl="2" marL="1371600" marR="0" rtl="0" algn="l">
              <a:lnSpc>
                <a:spcPct val="100000"/>
              </a:lnSpc>
              <a:spcBef>
                <a:spcPts val="320"/>
              </a:spcBef>
              <a:spcAft>
                <a:spcPts val="0"/>
              </a:spcAft>
              <a:buClr>
                <a:srgbClr val="888888"/>
              </a:buClr>
              <a:buSzPts val="1600"/>
              <a:buFont typeface="Arial"/>
              <a:buNone/>
              <a:defRPr b="0" i="0" sz="1600" u="none" cap="none" strike="noStrike">
                <a:solidFill>
                  <a:srgbClr val="888888"/>
                </a:solidFill>
                <a:latin typeface="Open Sans"/>
                <a:ea typeface="Open Sans"/>
                <a:cs typeface="Open Sans"/>
                <a:sym typeface="Open Sans"/>
              </a:defRPr>
            </a:lvl3pPr>
            <a:lvl4pPr indent="-228600" lvl="3" marL="1828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Open Sans"/>
                <a:ea typeface="Open Sans"/>
                <a:cs typeface="Open Sans"/>
                <a:sym typeface="Open Sans"/>
              </a:defRPr>
            </a:lvl4pPr>
            <a:lvl5pPr indent="-228600" lvl="4" marL="22860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Open Sans"/>
                <a:ea typeface="Open Sans"/>
                <a:cs typeface="Open Sans"/>
                <a:sym typeface="Open Sans"/>
              </a:defRPr>
            </a:lvl5pPr>
            <a:lvl6pPr indent="-228600" lvl="5" marL="27432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36" name="Google Shape;36;p4"/>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4"/>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9" name="Shape 39"/>
        <p:cNvGrpSpPr/>
        <p:nvPr/>
      </p:nvGrpSpPr>
      <p:grpSpPr>
        <a:xfrm>
          <a:off x="0" y="0"/>
          <a:ext cx="0" cy="0"/>
          <a:chOff x="0" y="0"/>
          <a:chExt cx="0" cy="0"/>
        </a:xfrm>
      </p:grpSpPr>
      <p:sp>
        <p:nvSpPr>
          <p:cNvPr id="40" name="Google Shape;40;p5"/>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5"/>
          <p:cNvSpPr txBox="1"/>
          <p:nvPr>
            <p:ph idx="1" type="body"/>
          </p:nvPr>
        </p:nvSpPr>
        <p:spPr>
          <a:xfrm>
            <a:off x="457200" y="1200151"/>
            <a:ext cx="4038600" cy="3394472"/>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81000" lvl="1" marL="9144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2pPr>
            <a:lvl3pPr indent="-355600" lvl="2" marL="13716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42900" lvl="3" marL="1828800" marR="0" rtl="0" algn="l">
              <a:lnSpc>
                <a:spcPct val="100000"/>
              </a:lnSpc>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4pPr>
            <a:lvl5pPr indent="-342900" lvl="4" marL="2286000" marR="0" rtl="0" algn="l">
              <a:lnSpc>
                <a:spcPct val="100000"/>
              </a:lnSpc>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5"/>
          <p:cNvSpPr txBox="1"/>
          <p:nvPr>
            <p:ph idx="2" type="body"/>
          </p:nvPr>
        </p:nvSpPr>
        <p:spPr>
          <a:xfrm>
            <a:off x="4648200" y="1200151"/>
            <a:ext cx="4038600" cy="3394472"/>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81000" lvl="1" marL="9144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2pPr>
            <a:lvl3pPr indent="-355600" lvl="2" marL="13716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42900" lvl="3" marL="1828800" marR="0" rtl="0" algn="l">
              <a:lnSpc>
                <a:spcPct val="100000"/>
              </a:lnSpc>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4pPr>
            <a:lvl5pPr indent="-342900" lvl="4" marL="2286000" marR="0" rtl="0" algn="l">
              <a:lnSpc>
                <a:spcPct val="100000"/>
              </a:lnSpc>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5pPr>
            <a:lvl6pPr indent="-342900" lvl="5" marL="27432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5"/>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5"/>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6" name="Shape 46"/>
        <p:cNvGrpSpPr/>
        <p:nvPr/>
      </p:nvGrpSpPr>
      <p:grpSpPr>
        <a:xfrm>
          <a:off x="0" y="0"/>
          <a:ext cx="0" cy="0"/>
          <a:chOff x="0" y="0"/>
          <a:chExt cx="0" cy="0"/>
        </a:xfrm>
      </p:grpSpPr>
      <p:sp>
        <p:nvSpPr>
          <p:cNvPr id="47" name="Google Shape;47;p6"/>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6"/>
          <p:cNvSpPr txBox="1"/>
          <p:nvPr>
            <p:ph idx="1" type="body"/>
          </p:nvPr>
        </p:nvSpPr>
        <p:spPr>
          <a:xfrm>
            <a:off x="457200" y="1151335"/>
            <a:ext cx="4040188" cy="47982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100000"/>
              </a:lnSpc>
              <a:spcBef>
                <a:spcPts val="480"/>
              </a:spcBef>
              <a:spcAft>
                <a:spcPts val="0"/>
              </a:spcAft>
              <a:buClr>
                <a:srgbClr val="695D46"/>
              </a:buClr>
              <a:buSzPts val="2400"/>
              <a:buFont typeface="Arial"/>
              <a:buNone/>
              <a:defRPr b="1" i="0" sz="2400" u="none" cap="none" strike="noStrike">
                <a:solidFill>
                  <a:srgbClr val="695D46"/>
                </a:solidFill>
                <a:latin typeface="Open Sans"/>
                <a:ea typeface="Open Sans"/>
                <a:cs typeface="Open Sans"/>
                <a:sym typeface="Open Sans"/>
              </a:defRPr>
            </a:lvl1pPr>
            <a:lvl2pPr indent="-228600" lvl="1" marL="914400" marR="0" rtl="0" algn="l">
              <a:lnSpc>
                <a:spcPct val="100000"/>
              </a:lnSpc>
              <a:spcBef>
                <a:spcPts val="400"/>
              </a:spcBef>
              <a:spcAft>
                <a:spcPts val="0"/>
              </a:spcAft>
              <a:buClr>
                <a:srgbClr val="695D46"/>
              </a:buClr>
              <a:buSzPts val="2000"/>
              <a:buFont typeface="Arial"/>
              <a:buNone/>
              <a:defRPr b="1" i="0" sz="2000" u="none" cap="none" strike="noStrike">
                <a:solidFill>
                  <a:srgbClr val="695D46"/>
                </a:solidFill>
                <a:latin typeface="Open Sans"/>
                <a:ea typeface="Open Sans"/>
                <a:cs typeface="Open Sans"/>
                <a:sym typeface="Open Sans"/>
              </a:defRPr>
            </a:lvl2pPr>
            <a:lvl3pPr indent="-228600" lvl="2" marL="1371600" marR="0" rtl="0" algn="l">
              <a:lnSpc>
                <a:spcPct val="100000"/>
              </a:lnSpc>
              <a:spcBef>
                <a:spcPts val="360"/>
              </a:spcBef>
              <a:spcAft>
                <a:spcPts val="0"/>
              </a:spcAft>
              <a:buClr>
                <a:srgbClr val="695D46"/>
              </a:buClr>
              <a:buSzPts val="1800"/>
              <a:buFont typeface="Arial"/>
              <a:buNone/>
              <a:defRPr b="1" i="0" sz="1800" u="none" cap="none" strike="noStrike">
                <a:solidFill>
                  <a:srgbClr val="695D46"/>
                </a:solidFill>
                <a:latin typeface="Open Sans"/>
                <a:ea typeface="Open Sans"/>
                <a:cs typeface="Open Sans"/>
                <a:sym typeface="Open Sans"/>
              </a:defRPr>
            </a:lvl3pPr>
            <a:lvl4pPr indent="-228600" lvl="3" marL="1828800" marR="0" rtl="0" algn="l">
              <a:lnSpc>
                <a:spcPct val="100000"/>
              </a:lnSpc>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4pPr>
            <a:lvl5pPr indent="-228600" lvl="4" marL="2286000" marR="0" rtl="0" algn="l">
              <a:lnSpc>
                <a:spcPct val="100000"/>
              </a:lnSpc>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6"/>
          <p:cNvSpPr txBox="1"/>
          <p:nvPr>
            <p:ph idx="2" type="body"/>
          </p:nvPr>
        </p:nvSpPr>
        <p:spPr>
          <a:xfrm>
            <a:off x="457200" y="1631156"/>
            <a:ext cx="4040188" cy="2963466"/>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42900" lvl="2" marL="1371600" marR="0" rtl="0" algn="l">
              <a:lnSpc>
                <a:spcPct val="100000"/>
              </a:lnSpc>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3pPr>
            <a:lvl4pPr indent="-330200" lvl="3" marL="1828800" marR="0" rtl="0" algn="l">
              <a:lnSpc>
                <a:spcPct val="100000"/>
              </a:lnSpc>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4pPr>
            <a:lvl5pPr indent="-330200" lvl="4" marL="2286000" marR="0" rtl="0" algn="l">
              <a:lnSpc>
                <a:spcPct val="100000"/>
              </a:lnSpc>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0" name="Google Shape;50;p6"/>
          <p:cNvSpPr txBox="1"/>
          <p:nvPr>
            <p:ph idx="3" type="body"/>
          </p:nvPr>
        </p:nvSpPr>
        <p:spPr>
          <a:xfrm>
            <a:off x="4645026" y="1151335"/>
            <a:ext cx="4041775" cy="479822"/>
          </a:xfrm>
          <a:prstGeom prst="rect">
            <a:avLst/>
          </a:prstGeom>
          <a:noFill/>
          <a:ln>
            <a:noFill/>
          </a:ln>
        </p:spPr>
        <p:txBody>
          <a:bodyPr anchorCtr="0" anchor="b" bIns="91425" lIns="91425" spcFirstLastPara="1" rIns="91425" wrap="square" tIns="91425">
            <a:noAutofit/>
          </a:bodyPr>
          <a:lstStyle>
            <a:lvl1pPr indent="-228600" lvl="0" marL="457200" marR="0" rtl="0" algn="l">
              <a:lnSpc>
                <a:spcPct val="100000"/>
              </a:lnSpc>
              <a:spcBef>
                <a:spcPts val="480"/>
              </a:spcBef>
              <a:spcAft>
                <a:spcPts val="0"/>
              </a:spcAft>
              <a:buClr>
                <a:srgbClr val="695D46"/>
              </a:buClr>
              <a:buSzPts val="2400"/>
              <a:buFont typeface="Arial"/>
              <a:buNone/>
              <a:defRPr b="1" i="0" sz="2400" u="none" cap="none" strike="noStrike">
                <a:solidFill>
                  <a:srgbClr val="695D46"/>
                </a:solidFill>
                <a:latin typeface="Open Sans"/>
                <a:ea typeface="Open Sans"/>
                <a:cs typeface="Open Sans"/>
                <a:sym typeface="Open Sans"/>
              </a:defRPr>
            </a:lvl1pPr>
            <a:lvl2pPr indent="-228600" lvl="1" marL="914400" marR="0" rtl="0" algn="l">
              <a:lnSpc>
                <a:spcPct val="100000"/>
              </a:lnSpc>
              <a:spcBef>
                <a:spcPts val="400"/>
              </a:spcBef>
              <a:spcAft>
                <a:spcPts val="0"/>
              </a:spcAft>
              <a:buClr>
                <a:srgbClr val="695D46"/>
              </a:buClr>
              <a:buSzPts val="2000"/>
              <a:buFont typeface="Arial"/>
              <a:buNone/>
              <a:defRPr b="1" i="0" sz="2000" u="none" cap="none" strike="noStrike">
                <a:solidFill>
                  <a:srgbClr val="695D46"/>
                </a:solidFill>
                <a:latin typeface="Open Sans"/>
                <a:ea typeface="Open Sans"/>
                <a:cs typeface="Open Sans"/>
                <a:sym typeface="Open Sans"/>
              </a:defRPr>
            </a:lvl2pPr>
            <a:lvl3pPr indent="-228600" lvl="2" marL="1371600" marR="0" rtl="0" algn="l">
              <a:lnSpc>
                <a:spcPct val="100000"/>
              </a:lnSpc>
              <a:spcBef>
                <a:spcPts val="360"/>
              </a:spcBef>
              <a:spcAft>
                <a:spcPts val="0"/>
              </a:spcAft>
              <a:buClr>
                <a:srgbClr val="695D46"/>
              </a:buClr>
              <a:buSzPts val="1800"/>
              <a:buFont typeface="Arial"/>
              <a:buNone/>
              <a:defRPr b="1" i="0" sz="1800" u="none" cap="none" strike="noStrike">
                <a:solidFill>
                  <a:srgbClr val="695D46"/>
                </a:solidFill>
                <a:latin typeface="Open Sans"/>
                <a:ea typeface="Open Sans"/>
                <a:cs typeface="Open Sans"/>
                <a:sym typeface="Open Sans"/>
              </a:defRPr>
            </a:lvl3pPr>
            <a:lvl4pPr indent="-228600" lvl="3" marL="1828800" marR="0" rtl="0" algn="l">
              <a:lnSpc>
                <a:spcPct val="100000"/>
              </a:lnSpc>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4pPr>
            <a:lvl5pPr indent="-228600" lvl="4" marL="2286000" marR="0" rtl="0" algn="l">
              <a:lnSpc>
                <a:spcPct val="100000"/>
              </a:lnSpc>
              <a:spcBef>
                <a:spcPts val="320"/>
              </a:spcBef>
              <a:spcAft>
                <a:spcPts val="0"/>
              </a:spcAft>
              <a:buClr>
                <a:srgbClr val="695D46"/>
              </a:buClr>
              <a:buSzPts val="1600"/>
              <a:buFont typeface="Arial"/>
              <a:buNone/>
              <a:defRPr b="1" i="0" sz="1600" u="none" cap="none" strike="noStrike">
                <a:solidFill>
                  <a:srgbClr val="695D46"/>
                </a:solidFill>
                <a:latin typeface="Open Sans"/>
                <a:ea typeface="Open Sans"/>
                <a:cs typeface="Open Sans"/>
                <a:sym typeface="Open Sans"/>
              </a:defRPr>
            </a:lvl5pPr>
            <a:lvl6pPr indent="-228600" lvl="5" marL="27432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6"/>
          <p:cNvSpPr txBox="1"/>
          <p:nvPr>
            <p:ph idx="4" type="body"/>
          </p:nvPr>
        </p:nvSpPr>
        <p:spPr>
          <a:xfrm>
            <a:off x="4645026" y="1631156"/>
            <a:ext cx="4041775" cy="2963466"/>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42900" lvl="2" marL="1371600" marR="0" rtl="0" algn="l">
              <a:lnSpc>
                <a:spcPct val="100000"/>
              </a:lnSpc>
              <a:spcBef>
                <a:spcPts val="360"/>
              </a:spcBef>
              <a:spcAft>
                <a:spcPts val="0"/>
              </a:spcAft>
              <a:buClr>
                <a:srgbClr val="695D46"/>
              </a:buClr>
              <a:buSzPts val="1800"/>
              <a:buFont typeface="Arial"/>
              <a:buChar char="•"/>
              <a:defRPr b="0" i="0" sz="1800" u="none" cap="none" strike="noStrike">
                <a:solidFill>
                  <a:srgbClr val="695D46"/>
                </a:solidFill>
                <a:latin typeface="Open Sans"/>
                <a:ea typeface="Open Sans"/>
                <a:cs typeface="Open Sans"/>
                <a:sym typeface="Open Sans"/>
              </a:defRPr>
            </a:lvl3pPr>
            <a:lvl4pPr indent="-330200" lvl="3" marL="1828800" marR="0" rtl="0" algn="l">
              <a:lnSpc>
                <a:spcPct val="100000"/>
              </a:lnSpc>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4pPr>
            <a:lvl5pPr indent="-330200" lvl="4" marL="2286000" marR="0" rtl="0" algn="l">
              <a:lnSpc>
                <a:spcPct val="100000"/>
              </a:lnSpc>
              <a:spcBef>
                <a:spcPts val="320"/>
              </a:spcBef>
              <a:spcAft>
                <a:spcPts val="0"/>
              </a:spcAft>
              <a:buClr>
                <a:srgbClr val="695D46"/>
              </a:buClr>
              <a:buSzPts val="1600"/>
              <a:buFont typeface="Arial"/>
              <a:buChar char="»"/>
              <a:defRPr b="0" i="0" sz="1600" u="none" cap="none" strike="noStrike">
                <a:solidFill>
                  <a:srgbClr val="695D46"/>
                </a:solidFill>
                <a:latin typeface="Open Sans"/>
                <a:ea typeface="Open Sans"/>
                <a:cs typeface="Open Sans"/>
                <a:sym typeface="Open Sans"/>
              </a:defRPr>
            </a:lvl5pPr>
            <a:lvl6pPr indent="-330200" lvl="5" marL="27432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2" name="Google Shape;52;p6"/>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6"/>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5" name="Shape 55"/>
        <p:cNvGrpSpPr/>
        <p:nvPr/>
      </p:nvGrpSpPr>
      <p:grpSpPr>
        <a:xfrm>
          <a:off x="0" y="0"/>
          <a:ext cx="0" cy="0"/>
          <a:chOff x="0" y="0"/>
          <a:chExt cx="0" cy="0"/>
        </a:xfrm>
      </p:grpSpPr>
      <p:sp>
        <p:nvSpPr>
          <p:cNvPr id="56" name="Google Shape;56;p7"/>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7"/>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7"/>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60" name="Shape 60"/>
        <p:cNvGrpSpPr/>
        <p:nvPr/>
      </p:nvGrpSpPr>
      <p:grpSpPr>
        <a:xfrm>
          <a:off x="0" y="0"/>
          <a:ext cx="0" cy="0"/>
          <a:chOff x="0" y="0"/>
          <a:chExt cx="0" cy="0"/>
        </a:xfrm>
      </p:grpSpPr>
      <p:sp>
        <p:nvSpPr>
          <p:cNvPr id="61" name="Google Shape;61;p8"/>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8"/>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64" name="Shape 64"/>
        <p:cNvGrpSpPr/>
        <p:nvPr/>
      </p:nvGrpSpPr>
      <p:grpSpPr>
        <a:xfrm>
          <a:off x="0" y="0"/>
          <a:ext cx="0" cy="0"/>
          <a:chOff x="0" y="0"/>
          <a:chExt cx="0" cy="0"/>
        </a:xfrm>
      </p:grpSpPr>
      <p:sp>
        <p:nvSpPr>
          <p:cNvPr id="65" name="Google Shape;65;p9"/>
          <p:cNvSpPr txBox="1"/>
          <p:nvPr>
            <p:ph type="title"/>
          </p:nvPr>
        </p:nvSpPr>
        <p:spPr>
          <a:xfrm>
            <a:off x="457201" y="204787"/>
            <a:ext cx="3008313" cy="871538"/>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EF6C00"/>
              </a:buClr>
              <a:buSzPts val="2000"/>
              <a:buFont typeface="PT Sans Narrow"/>
              <a:buNone/>
              <a:defRPr b="1" i="0" sz="20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9"/>
          <p:cNvSpPr txBox="1"/>
          <p:nvPr>
            <p:ph idx="1" type="body"/>
          </p:nvPr>
        </p:nvSpPr>
        <p:spPr>
          <a:xfrm>
            <a:off x="3575050" y="204788"/>
            <a:ext cx="5111750" cy="4389835"/>
          </a:xfrm>
          <a:prstGeom prst="rect">
            <a:avLst/>
          </a:prstGeom>
          <a:noFill/>
          <a:ln>
            <a:noFill/>
          </a:ln>
        </p:spPr>
        <p:txBody>
          <a:bodyPr anchorCtr="0" anchor="t" bIns="91425" lIns="91425" spcFirstLastPara="1" rIns="91425" wrap="square" tIns="91425">
            <a:noAutofit/>
          </a:bodyPr>
          <a:lstStyle>
            <a:lvl1pPr indent="-431800" lvl="0" marL="457200" marR="0" rtl="0" algn="l">
              <a:lnSpc>
                <a:spcPct val="100000"/>
              </a:lnSpc>
              <a:spcBef>
                <a:spcPts val="640"/>
              </a:spcBef>
              <a:spcAft>
                <a:spcPts val="0"/>
              </a:spcAft>
              <a:buClr>
                <a:srgbClr val="695D46"/>
              </a:buClr>
              <a:buSzPts val="3200"/>
              <a:buFont typeface="Arial"/>
              <a:buChar char="•"/>
              <a:defRPr b="0" i="0" sz="3200" u="none" cap="none" strike="noStrike">
                <a:solidFill>
                  <a:srgbClr val="695D46"/>
                </a:solidFill>
                <a:latin typeface="Open Sans"/>
                <a:ea typeface="Open Sans"/>
                <a:cs typeface="Open Sans"/>
                <a:sym typeface="Open Sans"/>
              </a:defRPr>
            </a:lvl1pPr>
            <a:lvl2pPr indent="-406400" lvl="1" marL="914400" marR="0" rtl="0" algn="l">
              <a:lnSpc>
                <a:spcPct val="100000"/>
              </a:lnSpc>
              <a:spcBef>
                <a:spcPts val="560"/>
              </a:spcBef>
              <a:spcAft>
                <a:spcPts val="0"/>
              </a:spcAft>
              <a:buClr>
                <a:srgbClr val="695D46"/>
              </a:buClr>
              <a:buSzPts val="2800"/>
              <a:buFont typeface="Arial"/>
              <a:buChar char="–"/>
              <a:defRPr b="0" i="0" sz="2800" u="none" cap="none" strike="noStrike">
                <a:solidFill>
                  <a:srgbClr val="695D46"/>
                </a:solidFill>
                <a:latin typeface="Open Sans"/>
                <a:ea typeface="Open Sans"/>
                <a:cs typeface="Open Sans"/>
                <a:sym typeface="Open Sans"/>
              </a:defRPr>
            </a:lvl2pPr>
            <a:lvl3pPr indent="-381000" lvl="2" marL="13716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3pPr>
            <a:lvl4pPr indent="-355600" lvl="3" marL="18288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9"/>
          <p:cNvSpPr txBox="1"/>
          <p:nvPr>
            <p:ph idx="2" type="body"/>
          </p:nvPr>
        </p:nvSpPr>
        <p:spPr>
          <a:xfrm>
            <a:off x="457201" y="1076326"/>
            <a:ext cx="3008313" cy="351829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280"/>
              </a:spcBef>
              <a:spcAft>
                <a:spcPts val="0"/>
              </a:spcAft>
              <a:buClr>
                <a:srgbClr val="695D46"/>
              </a:buClr>
              <a:buSzPts val="1400"/>
              <a:buFont typeface="Arial"/>
              <a:buNone/>
              <a:defRPr b="0" i="0" sz="1400" u="none" cap="none" strike="noStrike">
                <a:solidFill>
                  <a:srgbClr val="695D46"/>
                </a:solidFill>
                <a:latin typeface="Open Sans"/>
                <a:ea typeface="Open Sans"/>
                <a:cs typeface="Open Sans"/>
                <a:sym typeface="Open Sans"/>
              </a:defRPr>
            </a:lvl1pPr>
            <a:lvl2pPr indent="-228600" lvl="1" marL="914400" marR="0" rtl="0" algn="l">
              <a:lnSpc>
                <a:spcPct val="100000"/>
              </a:lnSpc>
              <a:spcBef>
                <a:spcPts val="240"/>
              </a:spcBef>
              <a:spcAft>
                <a:spcPts val="0"/>
              </a:spcAft>
              <a:buClr>
                <a:srgbClr val="695D46"/>
              </a:buClr>
              <a:buSzPts val="1200"/>
              <a:buFont typeface="Arial"/>
              <a:buNone/>
              <a:defRPr b="0" i="0" sz="1200" u="none" cap="none" strike="noStrike">
                <a:solidFill>
                  <a:srgbClr val="695D46"/>
                </a:solidFill>
                <a:latin typeface="Open Sans"/>
                <a:ea typeface="Open Sans"/>
                <a:cs typeface="Open Sans"/>
                <a:sym typeface="Open Sans"/>
              </a:defRPr>
            </a:lvl2pPr>
            <a:lvl3pPr indent="-228600" lvl="2" marL="1371600" marR="0" rtl="0" algn="l">
              <a:lnSpc>
                <a:spcPct val="100000"/>
              </a:lnSpc>
              <a:spcBef>
                <a:spcPts val="200"/>
              </a:spcBef>
              <a:spcAft>
                <a:spcPts val="0"/>
              </a:spcAft>
              <a:buClr>
                <a:srgbClr val="695D46"/>
              </a:buClr>
              <a:buSzPts val="1000"/>
              <a:buFont typeface="Arial"/>
              <a:buNone/>
              <a:defRPr b="0" i="0" sz="1000" u="none" cap="none" strike="noStrike">
                <a:solidFill>
                  <a:srgbClr val="695D46"/>
                </a:solidFill>
                <a:latin typeface="Open Sans"/>
                <a:ea typeface="Open Sans"/>
                <a:cs typeface="Open Sans"/>
                <a:sym typeface="Open Sans"/>
              </a:defRPr>
            </a:lvl3pPr>
            <a:lvl4pPr indent="-228600" lvl="3" marL="1828800" marR="0" rtl="0" algn="l">
              <a:lnSpc>
                <a:spcPct val="100000"/>
              </a:lnSpc>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4pPr>
            <a:lvl5pPr indent="-228600" lvl="4" marL="2286000" marR="0" rtl="0" algn="l">
              <a:lnSpc>
                <a:spcPct val="100000"/>
              </a:lnSpc>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8" name="Google Shape;68;p9"/>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9"/>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792288" y="3600450"/>
            <a:ext cx="5486400" cy="425054"/>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EF6C00"/>
              </a:buClr>
              <a:buSzPts val="2000"/>
              <a:buFont typeface="PT Sans Narrow"/>
              <a:buNone/>
              <a:defRPr b="1" i="0" sz="20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0"/>
          <p:cNvSpPr/>
          <p:nvPr>
            <p:ph idx="2" type="pic"/>
          </p:nvPr>
        </p:nvSpPr>
        <p:spPr>
          <a:xfrm>
            <a:off x="1792288" y="459581"/>
            <a:ext cx="5486400" cy="3086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640"/>
              </a:spcBef>
              <a:spcAft>
                <a:spcPts val="0"/>
              </a:spcAft>
              <a:buClr>
                <a:srgbClr val="695D46"/>
              </a:buClr>
              <a:buSzPts val="3200"/>
              <a:buFont typeface="Arial"/>
              <a:buNone/>
              <a:defRPr b="0" i="0" sz="3200" u="none" cap="none" strike="noStrike">
                <a:solidFill>
                  <a:srgbClr val="695D46"/>
                </a:solidFill>
                <a:latin typeface="Open Sans"/>
                <a:ea typeface="Open Sans"/>
                <a:cs typeface="Open Sans"/>
                <a:sym typeface="Open Sans"/>
              </a:defRPr>
            </a:lvl1pPr>
            <a:lvl2pPr lvl="1" marR="0" rtl="0" algn="l">
              <a:lnSpc>
                <a:spcPct val="100000"/>
              </a:lnSpc>
              <a:spcBef>
                <a:spcPts val="560"/>
              </a:spcBef>
              <a:spcAft>
                <a:spcPts val="0"/>
              </a:spcAft>
              <a:buClr>
                <a:srgbClr val="695D46"/>
              </a:buClr>
              <a:buSzPts val="2800"/>
              <a:buFont typeface="Arial"/>
              <a:buNone/>
              <a:defRPr b="0" i="0" sz="2800" u="none" cap="none" strike="noStrike">
                <a:solidFill>
                  <a:srgbClr val="695D46"/>
                </a:solidFill>
                <a:latin typeface="Open Sans"/>
                <a:ea typeface="Open Sans"/>
                <a:cs typeface="Open Sans"/>
                <a:sym typeface="Open Sans"/>
              </a:defRPr>
            </a:lvl2pPr>
            <a:lvl3pPr lvl="2" marR="0" rtl="0" algn="l">
              <a:lnSpc>
                <a:spcPct val="100000"/>
              </a:lnSpc>
              <a:spcBef>
                <a:spcPts val="480"/>
              </a:spcBef>
              <a:spcAft>
                <a:spcPts val="0"/>
              </a:spcAft>
              <a:buClr>
                <a:srgbClr val="695D46"/>
              </a:buClr>
              <a:buSzPts val="2400"/>
              <a:buFont typeface="Arial"/>
              <a:buNone/>
              <a:defRPr b="0" i="0" sz="2400" u="none" cap="none" strike="noStrike">
                <a:solidFill>
                  <a:srgbClr val="695D46"/>
                </a:solidFill>
                <a:latin typeface="Open Sans"/>
                <a:ea typeface="Open Sans"/>
                <a:cs typeface="Open Sans"/>
                <a:sym typeface="Open Sans"/>
              </a:defRPr>
            </a:lvl3pPr>
            <a:lvl4pPr lvl="3" marR="0" rtl="0" algn="l">
              <a:lnSpc>
                <a:spcPct val="100000"/>
              </a:lnSpc>
              <a:spcBef>
                <a:spcPts val="400"/>
              </a:spcBef>
              <a:spcAft>
                <a:spcPts val="0"/>
              </a:spcAft>
              <a:buClr>
                <a:srgbClr val="695D46"/>
              </a:buClr>
              <a:buSzPts val="2000"/>
              <a:buFont typeface="Arial"/>
              <a:buNone/>
              <a:defRPr b="0" i="0" sz="2000" u="none" cap="none" strike="noStrike">
                <a:solidFill>
                  <a:srgbClr val="695D46"/>
                </a:solidFill>
                <a:latin typeface="Open Sans"/>
                <a:ea typeface="Open Sans"/>
                <a:cs typeface="Open Sans"/>
                <a:sym typeface="Open Sans"/>
              </a:defRPr>
            </a:lvl4pPr>
            <a:lvl5pPr lvl="4" marR="0" rtl="0" algn="l">
              <a:lnSpc>
                <a:spcPct val="100000"/>
              </a:lnSpc>
              <a:spcBef>
                <a:spcPts val="400"/>
              </a:spcBef>
              <a:spcAft>
                <a:spcPts val="0"/>
              </a:spcAft>
              <a:buClr>
                <a:srgbClr val="695D46"/>
              </a:buClr>
              <a:buSzPts val="2000"/>
              <a:buFont typeface="Arial"/>
              <a:buNone/>
              <a:defRPr b="0" i="0" sz="2000" u="none" cap="none" strike="noStrike">
                <a:solidFill>
                  <a:srgbClr val="695D46"/>
                </a:solidFill>
                <a:latin typeface="Open Sans"/>
                <a:ea typeface="Open Sans"/>
                <a:cs typeface="Open Sans"/>
                <a:sym typeface="Open Sans"/>
              </a:defRPr>
            </a:lvl5pPr>
            <a:lvl6pPr lvl="5"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4" name="Google Shape;74;p10"/>
          <p:cNvSpPr txBox="1"/>
          <p:nvPr>
            <p:ph idx="1" type="body"/>
          </p:nvPr>
        </p:nvSpPr>
        <p:spPr>
          <a:xfrm>
            <a:off x="1792288" y="4025503"/>
            <a:ext cx="5486400" cy="603647"/>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280"/>
              </a:spcBef>
              <a:spcAft>
                <a:spcPts val="0"/>
              </a:spcAft>
              <a:buClr>
                <a:srgbClr val="695D46"/>
              </a:buClr>
              <a:buSzPts val="1400"/>
              <a:buFont typeface="Arial"/>
              <a:buNone/>
              <a:defRPr b="0" i="0" sz="1400" u="none" cap="none" strike="noStrike">
                <a:solidFill>
                  <a:srgbClr val="695D46"/>
                </a:solidFill>
                <a:latin typeface="Open Sans"/>
                <a:ea typeface="Open Sans"/>
                <a:cs typeface="Open Sans"/>
                <a:sym typeface="Open Sans"/>
              </a:defRPr>
            </a:lvl1pPr>
            <a:lvl2pPr indent="-228600" lvl="1" marL="914400" marR="0" rtl="0" algn="l">
              <a:lnSpc>
                <a:spcPct val="100000"/>
              </a:lnSpc>
              <a:spcBef>
                <a:spcPts val="240"/>
              </a:spcBef>
              <a:spcAft>
                <a:spcPts val="0"/>
              </a:spcAft>
              <a:buClr>
                <a:srgbClr val="695D46"/>
              </a:buClr>
              <a:buSzPts val="1200"/>
              <a:buFont typeface="Arial"/>
              <a:buNone/>
              <a:defRPr b="0" i="0" sz="1200" u="none" cap="none" strike="noStrike">
                <a:solidFill>
                  <a:srgbClr val="695D46"/>
                </a:solidFill>
                <a:latin typeface="Open Sans"/>
                <a:ea typeface="Open Sans"/>
                <a:cs typeface="Open Sans"/>
                <a:sym typeface="Open Sans"/>
              </a:defRPr>
            </a:lvl2pPr>
            <a:lvl3pPr indent="-228600" lvl="2" marL="1371600" marR="0" rtl="0" algn="l">
              <a:lnSpc>
                <a:spcPct val="100000"/>
              </a:lnSpc>
              <a:spcBef>
                <a:spcPts val="200"/>
              </a:spcBef>
              <a:spcAft>
                <a:spcPts val="0"/>
              </a:spcAft>
              <a:buClr>
                <a:srgbClr val="695D46"/>
              </a:buClr>
              <a:buSzPts val="1000"/>
              <a:buFont typeface="Arial"/>
              <a:buNone/>
              <a:defRPr b="0" i="0" sz="1000" u="none" cap="none" strike="noStrike">
                <a:solidFill>
                  <a:srgbClr val="695D46"/>
                </a:solidFill>
                <a:latin typeface="Open Sans"/>
                <a:ea typeface="Open Sans"/>
                <a:cs typeface="Open Sans"/>
                <a:sym typeface="Open Sans"/>
              </a:defRPr>
            </a:lvl3pPr>
            <a:lvl4pPr indent="-228600" lvl="3" marL="1828800" marR="0" rtl="0" algn="l">
              <a:lnSpc>
                <a:spcPct val="100000"/>
              </a:lnSpc>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4pPr>
            <a:lvl5pPr indent="-228600" lvl="4" marL="2286000" marR="0" rtl="0" algn="l">
              <a:lnSpc>
                <a:spcPct val="100000"/>
              </a:lnSpc>
              <a:spcBef>
                <a:spcPts val="180"/>
              </a:spcBef>
              <a:spcAft>
                <a:spcPts val="0"/>
              </a:spcAft>
              <a:buClr>
                <a:srgbClr val="695D46"/>
              </a:buClr>
              <a:buSzPts val="900"/>
              <a:buFont typeface="Arial"/>
              <a:buNone/>
              <a:defRPr b="0" i="0" sz="900" u="none" cap="none" strike="noStrike">
                <a:solidFill>
                  <a:srgbClr val="695D46"/>
                </a:solidFill>
                <a:latin typeface="Open Sans"/>
                <a:ea typeface="Open Sans"/>
                <a:cs typeface="Open Sans"/>
                <a:sym typeface="Open Sans"/>
              </a:defRPr>
            </a:lvl5pPr>
            <a:lvl6pPr indent="-228600" lvl="5" marL="27432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75" name="Google Shape;75;p10"/>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0"/>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1"/>
          <p:cNvSpPr txBox="1"/>
          <p:nvPr>
            <p:ph idx="1" type="body"/>
          </p:nvPr>
        </p:nvSpPr>
        <p:spPr>
          <a:xfrm rot="5400000">
            <a:off x="2874764" y="-1217413"/>
            <a:ext cx="3394472" cy="82296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1" name="Google Shape;81;p11"/>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1"/>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2"/>
          <p:cNvSpPr txBox="1"/>
          <p:nvPr>
            <p:ph type="title"/>
          </p:nvPr>
        </p:nvSpPr>
        <p:spPr>
          <a:xfrm rot="5400000">
            <a:off x="5463778" y="1371601"/>
            <a:ext cx="4388644" cy="20574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2"/>
          <p:cNvSpPr txBox="1"/>
          <p:nvPr>
            <p:ph idx="1" type="body"/>
          </p:nvPr>
        </p:nvSpPr>
        <p:spPr>
          <a:xfrm rot="5400000">
            <a:off x="1272778" y="-609599"/>
            <a:ext cx="4388644" cy="6019800"/>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p12"/>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2"/>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EF6C00"/>
              </a:buClr>
              <a:buSzPts val="4400"/>
              <a:buFont typeface="PT Sans Narrow"/>
              <a:buNone/>
              <a:defRPr b="1" i="0" sz="4400" u="none" cap="none" strike="noStrike">
                <a:solidFill>
                  <a:srgbClr val="EF6C00"/>
                </a:solidFill>
                <a:latin typeface="PT Sans Narrow"/>
                <a:ea typeface="PT Sans Narrow"/>
                <a:cs typeface="PT Sans Narrow"/>
                <a:sym typeface="PT Sans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457200" y="1200151"/>
            <a:ext cx="8229600" cy="3394472"/>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rgbClr val="695D46"/>
              </a:buClr>
              <a:buSzPts val="2400"/>
              <a:buFont typeface="Arial"/>
              <a:buChar char="•"/>
              <a:defRPr b="0" i="0" sz="2400" u="none" cap="none" strike="noStrike">
                <a:solidFill>
                  <a:srgbClr val="695D46"/>
                </a:solidFill>
                <a:latin typeface="Open Sans"/>
                <a:ea typeface="Open Sans"/>
                <a:cs typeface="Open Sans"/>
                <a:sym typeface="Open Sans"/>
              </a:defRPr>
            </a:lvl1pPr>
            <a:lvl2pPr indent="-355600" lvl="1" marL="9144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2pPr>
            <a:lvl3pPr indent="-355600" lvl="2" marL="13716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3pPr>
            <a:lvl4pPr indent="-355600" lvl="3" marL="18288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4pPr>
            <a:lvl5pPr indent="-355600" lvl="4" marL="2286000" marR="0" rtl="0" algn="l">
              <a:lnSpc>
                <a:spcPct val="100000"/>
              </a:lnSpc>
              <a:spcBef>
                <a:spcPts val="400"/>
              </a:spcBef>
              <a:spcAft>
                <a:spcPts val="0"/>
              </a:spcAft>
              <a:buClr>
                <a:srgbClr val="695D46"/>
              </a:buClr>
              <a:buSzPts val="2000"/>
              <a:buFont typeface="Arial"/>
              <a:buChar char="»"/>
              <a:defRPr b="0" i="0" sz="2000" u="none" cap="none" strike="noStrike">
                <a:solidFill>
                  <a:srgbClr val="695D46"/>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Google Shape;94;p13"/>
          <p:cNvSpPr txBox="1"/>
          <p:nvPr>
            <p:ph type="ctrTitle"/>
          </p:nvPr>
        </p:nvSpPr>
        <p:spPr>
          <a:xfrm>
            <a:off x="685800" y="1954346"/>
            <a:ext cx="7772400" cy="74599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EF6C00"/>
              </a:buClr>
              <a:buSzPts val="4860"/>
              <a:buFont typeface="PT Sans Narrow"/>
              <a:buNone/>
            </a:pPr>
            <a:r>
              <a:rPr b="1" i="0" lang="en-US" sz="4860" u="none" cap="none" strike="noStrike">
                <a:solidFill>
                  <a:srgbClr val="EF6C00"/>
                </a:solidFill>
                <a:latin typeface="PT Sans Narrow"/>
                <a:ea typeface="PT Sans Narrow"/>
                <a:cs typeface="PT Sans Narrow"/>
                <a:sym typeface="PT Sans Narrow"/>
              </a:rPr>
              <a:t>TCP</a:t>
            </a:r>
            <a:endParaRPr b="1" i="0" sz="4860" u="none" cap="none" strike="noStrike">
              <a:solidFill>
                <a:srgbClr val="EF6C00"/>
              </a:solidFill>
              <a:latin typeface="PT Sans Narrow"/>
              <a:ea typeface="PT Sans Narrow"/>
              <a:cs typeface="PT Sans Narrow"/>
              <a:sym typeface="PT Sans Narrow"/>
            </a:endParaRPr>
          </a:p>
        </p:txBody>
      </p:sp>
      <p:sp>
        <p:nvSpPr>
          <p:cNvPr id="95" name="Google Shape;95;p13"/>
          <p:cNvSpPr txBox="1"/>
          <p:nvPr>
            <p:ph idx="1" type="subTitle"/>
          </p:nvPr>
        </p:nvSpPr>
        <p:spPr>
          <a:xfrm>
            <a:off x="1664038" y="2711450"/>
            <a:ext cx="5813188" cy="395692"/>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888888"/>
              </a:buClr>
              <a:buSzPts val="2220"/>
              <a:buFont typeface="Arial"/>
              <a:buNone/>
            </a:pPr>
            <a:r>
              <a:rPr b="0" i="0" lang="en-US" sz="2220" u="none" cap="none" strike="noStrike">
                <a:solidFill>
                  <a:srgbClr val="888888"/>
                </a:solidFill>
                <a:latin typeface="Open Sans"/>
                <a:ea typeface="Open Sans"/>
                <a:cs typeface="Open Sans"/>
                <a:sym typeface="Open Sans"/>
              </a:rPr>
              <a:t>CS 168 – </a:t>
            </a:r>
            <a:r>
              <a:rPr lang="en-US" sz="2220"/>
              <a:t>Spring</a:t>
            </a:r>
            <a:r>
              <a:rPr b="0" i="0" lang="en-US" sz="2220" u="none" cap="none" strike="noStrike">
                <a:solidFill>
                  <a:srgbClr val="888888"/>
                </a:solidFill>
                <a:latin typeface="Open Sans"/>
                <a:ea typeface="Open Sans"/>
                <a:cs typeface="Open Sans"/>
                <a:sym typeface="Open Sans"/>
              </a:rPr>
              <a:t> </a:t>
            </a:r>
            <a:r>
              <a:rPr lang="en-US" sz="2220"/>
              <a:t>2020</a:t>
            </a:r>
            <a:r>
              <a:rPr b="0" i="0" lang="en-US" sz="2220" u="none" cap="none" strike="noStrike">
                <a:solidFill>
                  <a:srgbClr val="888888"/>
                </a:solidFill>
                <a:latin typeface="Open Sans"/>
                <a:ea typeface="Open Sans"/>
                <a:cs typeface="Open Sans"/>
                <a:sym typeface="Open Sans"/>
              </a:rPr>
              <a:t> – Section </a:t>
            </a:r>
            <a:r>
              <a:rPr lang="en-US" sz="2220"/>
              <a:t>8</a:t>
            </a:r>
            <a:endParaRPr b="0" i="0" sz="2400" u="none" cap="none" strike="noStrike">
              <a:solidFill>
                <a:srgbClr val="888888"/>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9" name="Shape 99"/>
        <p:cNvGrpSpPr/>
        <p:nvPr/>
      </p:nvGrpSpPr>
      <p:grpSpPr>
        <a:xfrm>
          <a:off x="0" y="0"/>
          <a:ext cx="0" cy="0"/>
          <a:chOff x="0" y="0"/>
          <a:chExt cx="0" cy="0"/>
        </a:xfrm>
      </p:grpSpPr>
      <p:sp>
        <p:nvSpPr>
          <p:cNvPr id="100" name="Google Shape;100;p1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Agenda</a:t>
            </a:r>
            <a:endParaRPr b="1" i="0" sz="4400" u="none" cap="none" strike="noStrike">
              <a:solidFill>
                <a:srgbClr val="EF6C00"/>
              </a:solidFill>
              <a:latin typeface="PT Sans Narrow"/>
              <a:ea typeface="PT Sans Narrow"/>
              <a:cs typeface="PT Sans Narrow"/>
              <a:sym typeface="PT Sans Narrow"/>
            </a:endParaRPr>
          </a:p>
        </p:txBody>
      </p:sp>
      <p:sp>
        <p:nvSpPr>
          <p:cNvPr id="101" name="Google Shape;101;p1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Transmission Control Protocol (TCP)</a:t>
            </a:r>
            <a:endParaRPr b="0" i="0" sz="2400" u="none" cap="none" strike="noStrike">
              <a:solidFill>
                <a:srgbClr val="695D46"/>
              </a:solidFill>
              <a:latin typeface="Open Sans"/>
              <a:ea typeface="Open Sans"/>
              <a:cs typeface="Open Sans"/>
              <a:sym typeface="Open Sans"/>
            </a:endParaRPr>
          </a:p>
          <a:p>
            <a:pPr indent="-355600" lvl="1" marL="914400" marR="0" rtl="0" algn="l">
              <a:lnSpc>
                <a:spcPct val="115000"/>
              </a:lnSpc>
              <a:spcBef>
                <a:spcPts val="0"/>
              </a:spcBef>
              <a:spcAft>
                <a:spcPts val="0"/>
              </a:spcAft>
              <a:buSzPts val="2000"/>
              <a:buChar char="–"/>
            </a:pPr>
            <a:r>
              <a:rPr lang="en-US"/>
              <a:t>Header</a:t>
            </a:r>
            <a:endParaRPr/>
          </a:p>
          <a:p>
            <a:pPr indent="-355600" lvl="1" marL="914400" marR="0" rtl="0" algn="l">
              <a:lnSpc>
                <a:spcPct val="115000"/>
              </a:lnSpc>
              <a:spcBef>
                <a:spcPts val="0"/>
              </a:spcBef>
              <a:spcAft>
                <a:spcPts val="0"/>
              </a:spcAft>
              <a:buSzPts val="2000"/>
              <a:buChar char="–"/>
            </a:pPr>
            <a:r>
              <a:rPr lang="en-US"/>
              <a:t>Connection handshake</a:t>
            </a:r>
            <a:endParaRPr/>
          </a:p>
          <a:p>
            <a:pPr indent="-355600" lvl="1" marL="914400" marR="0" rtl="0" algn="l">
              <a:lnSpc>
                <a:spcPct val="115000"/>
              </a:lnSpc>
              <a:spcBef>
                <a:spcPts val="0"/>
              </a:spcBef>
              <a:spcAft>
                <a:spcPts val="0"/>
              </a:spcAft>
              <a:buSzPts val="2000"/>
              <a:buChar char="–"/>
            </a:pPr>
            <a:r>
              <a:rPr lang="en-US"/>
              <a:t>Teardown handshake</a:t>
            </a:r>
            <a:endParaRPr/>
          </a:p>
          <a:p>
            <a:pPr indent="-355600" lvl="1" marL="914400" marR="0" rtl="0" algn="l">
              <a:lnSpc>
                <a:spcPct val="115000"/>
              </a:lnSpc>
              <a:spcBef>
                <a:spcPts val="0"/>
              </a:spcBef>
              <a:spcAft>
                <a:spcPts val="0"/>
              </a:spcAft>
              <a:buSzPts val="2000"/>
              <a:buChar char="–"/>
            </a:pPr>
            <a:r>
              <a:rPr lang="en-US"/>
              <a:t>Reliability</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a:t>
            </a:r>
            <a:endParaRPr b="1" i="0" sz="4400" u="none" cap="none" strike="noStrike">
              <a:solidFill>
                <a:srgbClr val="EF6C00"/>
              </a:solidFill>
              <a:latin typeface="Helvetica Neue"/>
              <a:ea typeface="Helvetica Neue"/>
              <a:cs typeface="Helvetica Neue"/>
              <a:sym typeface="Helvetica Neue"/>
            </a:endParaRPr>
          </a:p>
        </p:txBody>
      </p:sp>
      <p:grpSp>
        <p:nvGrpSpPr>
          <p:cNvPr id="108" name="Google Shape;108;p15"/>
          <p:cNvGrpSpPr/>
          <p:nvPr/>
        </p:nvGrpSpPr>
        <p:grpSpPr>
          <a:xfrm>
            <a:off x="4205111" y="1162006"/>
            <a:ext cx="4769026" cy="3607549"/>
            <a:chOff x="3942821" y="671513"/>
            <a:chExt cx="4946650" cy="4114800"/>
          </a:xfrm>
        </p:grpSpPr>
        <p:sp>
          <p:nvSpPr>
            <p:cNvPr id="109" name="Google Shape;109;p15"/>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111" name="Google Shape;111;p15"/>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15"/>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113" name="Google Shape;113;p15"/>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txBox="1"/>
            <p:nvPr/>
          </p:nvSpPr>
          <p:spPr>
            <a:xfrm>
              <a:off x="5308066" y="1250943"/>
              <a:ext cx="30021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a:t>
              </a:r>
              <a:r>
                <a:rPr lang="en-US" sz="2000"/>
                <a:t> Number</a:t>
              </a:r>
              <a:r>
                <a:rPr b="0" i="0" lang="en-US" sz="2000" u="none" cap="none" strike="noStrike">
                  <a:solidFill>
                    <a:srgbClr val="000000"/>
                  </a:solidFill>
                  <a:latin typeface="Arial"/>
                  <a:ea typeface="Arial"/>
                  <a:cs typeface="Arial"/>
                  <a:sym typeface="Arial"/>
                </a:rPr>
                <a:t> number</a:t>
              </a:r>
              <a:endParaRPr b="0" i="0" sz="1400" u="none" cap="none" strike="noStrike">
                <a:solidFill>
                  <a:srgbClr val="000000"/>
                </a:solidFill>
                <a:latin typeface="Arial"/>
                <a:ea typeface="Arial"/>
                <a:cs typeface="Arial"/>
                <a:sym typeface="Arial"/>
              </a:endParaRPr>
            </a:p>
          </p:txBody>
        </p:sp>
        <p:sp>
          <p:nvSpPr>
            <p:cNvPr id="115" name="Google Shape;115;p15"/>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15"/>
            <p:cNvSpPr txBox="1"/>
            <p:nvPr/>
          </p:nvSpPr>
          <p:spPr>
            <a:xfrm>
              <a:off x="5308064" y="1708140"/>
              <a:ext cx="28683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117" name="Google Shape;117;p15"/>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txBox="1"/>
            <p:nvPr/>
          </p:nvSpPr>
          <p:spPr>
            <a:xfrm>
              <a:off x="6437124" y="2192342"/>
              <a:ext cx="24384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120" name="Google Shape;120;p15"/>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1400" u="none" cap="none" strike="noStrike">
                <a:solidFill>
                  <a:srgbClr val="000000"/>
                </a:solidFill>
                <a:latin typeface="Arial"/>
                <a:ea typeface="Arial"/>
                <a:cs typeface="Arial"/>
                <a:sym typeface="Arial"/>
              </a:endParaRPr>
            </a:p>
          </p:txBody>
        </p:sp>
        <p:cxnSp>
          <p:nvCxnSpPr>
            <p:cNvPr id="121" name="Google Shape;121;p15"/>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122" name="Google Shape;122;p15"/>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123" name="Google Shape;123;p15"/>
            <p:cNvSpPr txBox="1"/>
            <p:nvPr/>
          </p:nvSpPr>
          <p:spPr>
            <a:xfrm>
              <a:off x="5466413" y="2206629"/>
              <a:ext cx="935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124" name="Google Shape;124;p15"/>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25" name="Google Shape;125;p15"/>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 name="Google Shape;126;p15"/>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15"/>
            <p:cNvSpPr txBox="1"/>
            <p:nvPr/>
          </p:nvSpPr>
          <p:spPr>
            <a:xfrm>
              <a:off x="4377794" y="2740021"/>
              <a:ext cx="16953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128" name="Google Shape;128;p15"/>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129" name="Google Shape;129;p15"/>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15"/>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131" name="Google Shape;131;p15"/>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132" name="Google Shape;132;p15"/>
          <p:cNvSpPr txBox="1"/>
          <p:nvPr>
            <p:ph idx="1" type="body"/>
          </p:nvPr>
        </p:nvSpPr>
        <p:spPr>
          <a:xfrm>
            <a:off x="457200" y="1200150"/>
            <a:ext cx="4538700" cy="3353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L4 Protocol (Transport) </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Byte Stream</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Bi-directional</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Reliable</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In-order</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139" name="Google Shape;139;p16"/>
          <p:cNvGrpSpPr/>
          <p:nvPr/>
        </p:nvGrpSpPr>
        <p:grpSpPr>
          <a:xfrm>
            <a:off x="4205111" y="1162006"/>
            <a:ext cx="4773630" cy="3607549"/>
            <a:chOff x="3942821" y="671513"/>
            <a:chExt cx="4951425" cy="4114800"/>
          </a:xfrm>
        </p:grpSpPr>
        <p:sp>
          <p:nvSpPr>
            <p:cNvPr id="140" name="Google Shape;140;p16"/>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142" name="Google Shape;142;p16"/>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144" name="Google Shape;144;p16"/>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5308065" y="1250943"/>
              <a:ext cx="25146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146" name="Google Shape;146;p16"/>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16"/>
            <p:cNvSpPr txBox="1"/>
            <p:nvPr/>
          </p:nvSpPr>
          <p:spPr>
            <a:xfrm>
              <a:off x="5308065" y="1708140"/>
              <a:ext cx="23019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148" name="Google Shape;148;p16"/>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16"/>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16"/>
            <p:cNvSpPr txBox="1"/>
            <p:nvPr/>
          </p:nvSpPr>
          <p:spPr>
            <a:xfrm>
              <a:off x="6455847" y="2180423"/>
              <a:ext cx="2438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151" name="Google Shape;151;p16"/>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1400" u="none" cap="none" strike="noStrike">
                <a:solidFill>
                  <a:srgbClr val="000000"/>
                </a:solidFill>
                <a:latin typeface="Arial"/>
                <a:ea typeface="Arial"/>
                <a:cs typeface="Arial"/>
                <a:sym typeface="Arial"/>
              </a:endParaRPr>
            </a:p>
          </p:txBody>
        </p:sp>
        <p:cxnSp>
          <p:nvCxnSpPr>
            <p:cNvPr id="152" name="Google Shape;152;p16"/>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153" name="Google Shape;153;p16"/>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154" name="Google Shape;154;p16"/>
            <p:cNvSpPr txBox="1"/>
            <p:nvPr/>
          </p:nvSpPr>
          <p:spPr>
            <a:xfrm>
              <a:off x="5460462" y="2206629"/>
              <a:ext cx="941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155" name="Google Shape;155;p16"/>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56" name="Google Shape;156;p16"/>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p16"/>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16"/>
            <p:cNvSpPr txBox="1"/>
            <p:nvPr/>
          </p:nvSpPr>
          <p:spPr>
            <a:xfrm>
              <a:off x="4377794" y="2740021"/>
              <a:ext cx="16086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159" name="Google Shape;159;p16"/>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160" name="Google Shape;160;p16"/>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16"/>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162" name="Google Shape;162;p16"/>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163" name="Google Shape;163;p16"/>
          <p:cNvSpPr/>
          <p:nvPr/>
        </p:nvSpPr>
        <p:spPr>
          <a:xfrm>
            <a:off x="4272453" y="1181849"/>
            <a:ext cx="4701684" cy="425312"/>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164" name="Google Shape;164;p16"/>
          <p:cNvSpPr txBox="1"/>
          <p:nvPr>
            <p:ph idx="1" type="body"/>
          </p:nvPr>
        </p:nvSpPr>
        <p:spPr>
          <a:xfrm>
            <a:off x="457200" y="1200151"/>
            <a:ext cx="371577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Host port numbers</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Multiplexing and demultiplexing</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16 bits</a:t>
            </a:r>
            <a:endParaRPr b="0" i="0" sz="20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1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171" name="Google Shape;171;p17"/>
          <p:cNvGrpSpPr/>
          <p:nvPr/>
        </p:nvGrpSpPr>
        <p:grpSpPr>
          <a:xfrm>
            <a:off x="4205111" y="1162006"/>
            <a:ext cx="4769026" cy="3607549"/>
            <a:chOff x="3942821" y="671513"/>
            <a:chExt cx="4946650" cy="4114800"/>
          </a:xfrm>
        </p:grpSpPr>
        <p:sp>
          <p:nvSpPr>
            <p:cNvPr id="172" name="Google Shape;172;p17"/>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17"/>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174" name="Google Shape;174;p17"/>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175" name="Google Shape;175;p17"/>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176" name="Google Shape;176;p17"/>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17"/>
            <p:cNvSpPr txBox="1"/>
            <p:nvPr/>
          </p:nvSpPr>
          <p:spPr>
            <a:xfrm>
              <a:off x="5308063" y="1250943"/>
              <a:ext cx="35733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178" name="Google Shape;178;p17"/>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9" name="Google Shape;179;p17"/>
            <p:cNvSpPr txBox="1"/>
            <p:nvPr/>
          </p:nvSpPr>
          <p:spPr>
            <a:xfrm>
              <a:off x="5308065" y="1708140"/>
              <a:ext cx="23622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a:t>
              </a:r>
              <a:r>
                <a:rPr lang="en-US" sz="2000"/>
                <a:t>n</a:t>
              </a:r>
              <a:r>
                <a:rPr b="0" i="0" lang="en-US" sz="2000" u="none" cap="none" strike="noStrike">
                  <a:solidFill>
                    <a:srgbClr val="000000"/>
                  </a:solidFill>
                  <a:latin typeface="Arial"/>
                  <a:ea typeface="Arial"/>
                  <a:cs typeface="Arial"/>
                  <a:sym typeface="Arial"/>
                </a:rPr>
                <a:t>t</a:t>
              </a:r>
              <a:endParaRPr b="0" i="0" sz="1400" u="none" cap="none" strike="noStrike">
                <a:solidFill>
                  <a:srgbClr val="000000"/>
                </a:solidFill>
                <a:latin typeface="Arial"/>
                <a:ea typeface="Arial"/>
                <a:cs typeface="Arial"/>
                <a:sym typeface="Arial"/>
              </a:endParaRPr>
            </a:p>
          </p:txBody>
        </p:sp>
        <p:sp>
          <p:nvSpPr>
            <p:cNvPr id="180" name="Google Shape;180;p17"/>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17"/>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17"/>
            <p:cNvSpPr txBox="1"/>
            <p:nvPr/>
          </p:nvSpPr>
          <p:spPr>
            <a:xfrm>
              <a:off x="6442829" y="2192342"/>
              <a:ext cx="24384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183" name="Google Shape;183;p17"/>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1400" u="none" cap="none" strike="noStrike">
                <a:solidFill>
                  <a:srgbClr val="000000"/>
                </a:solidFill>
                <a:latin typeface="Arial"/>
                <a:ea typeface="Arial"/>
                <a:cs typeface="Arial"/>
                <a:sym typeface="Arial"/>
              </a:endParaRPr>
            </a:p>
          </p:txBody>
        </p:sp>
        <p:cxnSp>
          <p:nvCxnSpPr>
            <p:cNvPr id="184" name="Google Shape;184;p17"/>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185" name="Google Shape;185;p17"/>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186" name="Google Shape;186;p17"/>
            <p:cNvSpPr txBox="1"/>
            <p:nvPr/>
          </p:nvSpPr>
          <p:spPr>
            <a:xfrm>
              <a:off x="5460462" y="2206629"/>
              <a:ext cx="941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187" name="Google Shape;187;p17"/>
            <p:cNvSpPr txBox="1"/>
            <p:nvPr/>
          </p:nvSpPr>
          <p:spPr>
            <a:xfrm>
              <a:off x="5003271" y="2241551"/>
              <a:ext cx="3255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88" name="Google Shape;188;p17"/>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9" name="Google Shape;189;p17"/>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0" name="Google Shape;190;p17"/>
            <p:cNvSpPr txBox="1"/>
            <p:nvPr/>
          </p:nvSpPr>
          <p:spPr>
            <a:xfrm>
              <a:off x="4377793" y="2740021"/>
              <a:ext cx="19638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191" name="Google Shape;191;p17"/>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192" name="Google Shape;192;p17"/>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17"/>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194" name="Google Shape;194;p17"/>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195" name="Google Shape;195;p17"/>
          <p:cNvSpPr/>
          <p:nvPr/>
        </p:nvSpPr>
        <p:spPr>
          <a:xfrm>
            <a:off x="4272453" y="1619290"/>
            <a:ext cx="4701600" cy="425400"/>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196" name="Google Shape;196;p17"/>
          <p:cNvSpPr txBox="1"/>
          <p:nvPr>
            <p:ph idx="1" type="body"/>
          </p:nvPr>
        </p:nvSpPr>
        <p:spPr>
          <a:xfrm>
            <a:off x="457200" y="1200150"/>
            <a:ext cx="3815100" cy="3394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Byte offset</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Of first payload byte</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Initialized randomly</a:t>
            </a:r>
            <a:endParaRPr b="0" i="0" sz="20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1" i="0" lang="en-US" sz="2400" u="none" cap="none" strike="noStrike">
                <a:solidFill>
                  <a:srgbClr val="695D46"/>
                </a:solidFill>
                <a:latin typeface="Open Sans"/>
                <a:ea typeface="Open Sans"/>
                <a:cs typeface="Open Sans"/>
                <a:sym typeface="Open Sans"/>
              </a:rPr>
              <a:t>Byte Stream Protocol</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Seq # refers to </a:t>
            </a:r>
            <a:r>
              <a:rPr b="1" i="0" lang="en-US" sz="2000" u="none" cap="none" strike="noStrike">
                <a:solidFill>
                  <a:srgbClr val="695D46"/>
                </a:solidFill>
                <a:latin typeface="Open Sans"/>
                <a:ea typeface="Open Sans"/>
                <a:cs typeface="Open Sans"/>
                <a:sym typeface="Open Sans"/>
              </a:rPr>
              <a:t>bytes</a:t>
            </a:r>
            <a:endParaRPr b="0" i="0" sz="2000" u="none" cap="none" strike="noStrike">
              <a:solidFill>
                <a:srgbClr val="695D46"/>
              </a:solidFill>
              <a:latin typeface="Open Sans"/>
              <a:ea typeface="Open Sans"/>
              <a:cs typeface="Open Sans"/>
              <a:sym typeface="Open Sans"/>
            </a:endParaRPr>
          </a:p>
          <a:p>
            <a:pPr indent="0" lvl="0" marL="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
        <p:nvSpPr>
          <p:cNvPr id="197" name="Google Shape;197;p17"/>
          <p:cNvSpPr txBox="1"/>
          <p:nvPr/>
        </p:nvSpPr>
        <p:spPr>
          <a:xfrm>
            <a:off x="609600" y="1352550"/>
            <a:ext cx="3662700" cy="33945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2" name="Shape 202"/>
        <p:cNvGrpSpPr/>
        <p:nvPr/>
      </p:nvGrpSpPr>
      <p:grpSpPr>
        <a:xfrm>
          <a:off x="0" y="0"/>
          <a:ext cx="0" cy="0"/>
          <a:chOff x="0" y="0"/>
          <a:chExt cx="0" cy="0"/>
        </a:xfrm>
      </p:grpSpPr>
      <p:sp>
        <p:nvSpPr>
          <p:cNvPr id="203" name="Google Shape;203;p1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204" name="Google Shape;204;p18"/>
          <p:cNvGrpSpPr/>
          <p:nvPr/>
        </p:nvGrpSpPr>
        <p:grpSpPr>
          <a:xfrm>
            <a:off x="4205111" y="1162006"/>
            <a:ext cx="4769026" cy="3607549"/>
            <a:chOff x="3942821" y="671513"/>
            <a:chExt cx="4946650" cy="4114800"/>
          </a:xfrm>
        </p:grpSpPr>
        <p:sp>
          <p:nvSpPr>
            <p:cNvPr id="205" name="Google Shape;205;p18"/>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p18"/>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207" name="Google Shape;207;p18"/>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18"/>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209" name="Google Shape;209;p18"/>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18"/>
            <p:cNvSpPr txBox="1"/>
            <p:nvPr/>
          </p:nvSpPr>
          <p:spPr>
            <a:xfrm>
              <a:off x="5308063" y="1250943"/>
              <a:ext cx="34230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211" name="Google Shape;211;p18"/>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18"/>
            <p:cNvSpPr txBox="1"/>
            <p:nvPr/>
          </p:nvSpPr>
          <p:spPr>
            <a:xfrm>
              <a:off x="5308063" y="1708140"/>
              <a:ext cx="32259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213" name="Google Shape;213;p18"/>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18"/>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5" name="Google Shape;215;p18"/>
            <p:cNvSpPr txBox="1"/>
            <p:nvPr/>
          </p:nvSpPr>
          <p:spPr>
            <a:xfrm>
              <a:off x="6439977" y="2192342"/>
              <a:ext cx="24384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216" name="Google Shape;216;p18"/>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1400" u="none" cap="none" strike="noStrike">
                <a:solidFill>
                  <a:srgbClr val="000000"/>
                </a:solidFill>
                <a:latin typeface="Arial"/>
                <a:ea typeface="Arial"/>
                <a:cs typeface="Arial"/>
                <a:sym typeface="Arial"/>
              </a:endParaRPr>
            </a:p>
          </p:txBody>
        </p:sp>
        <p:cxnSp>
          <p:nvCxnSpPr>
            <p:cNvPr id="217" name="Google Shape;217;p18"/>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218" name="Google Shape;218;p18"/>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219" name="Google Shape;219;p18"/>
            <p:cNvSpPr txBox="1"/>
            <p:nvPr/>
          </p:nvSpPr>
          <p:spPr>
            <a:xfrm>
              <a:off x="5460462" y="2206629"/>
              <a:ext cx="941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220" name="Google Shape;220;p18"/>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221" name="Google Shape;221;p18"/>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18"/>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8"/>
            <p:cNvSpPr txBox="1"/>
            <p:nvPr/>
          </p:nvSpPr>
          <p:spPr>
            <a:xfrm>
              <a:off x="4377794" y="2740021"/>
              <a:ext cx="17940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224" name="Google Shape;224;p18"/>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225" name="Google Shape;225;p18"/>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8"/>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227" name="Google Shape;227;p18"/>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228" name="Google Shape;228;p18"/>
          <p:cNvSpPr/>
          <p:nvPr/>
        </p:nvSpPr>
        <p:spPr>
          <a:xfrm>
            <a:off x="4272453" y="2014398"/>
            <a:ext cx="4701600" cy="425400"/>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229" name="Google Shape;229;p18"/>
          <p:cNvSpPr txBox="1"/>
          <p:nvPr>
            <p:ph idx="1" type="body"/>
          </p:nvPr>
        </p:nvSpPr>
        <p:spPr>
          <a:xfrm>
            <a:off x="333214" y="1200151"/>
            <a:ext cx="3939239"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Cumulative ACKs</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Seq # of next byte</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Data packets carry ACKs</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4" name="Shape 234"/>
        <p:cNvGrpSpPr/>
        <p:nvPr/>
      </p:nvGrpSpPr>
      <p:grpSpPr>
        <a:xfrm>
          <a:off x="0" y="0"/>
          <a:ext cx="0" cy="0"/>
          <a:chOff x="0" y="0"/>
          <a:chExt cx="0" cy="0"/>
        </a:xfrm>
      </p:grpSpPr>
      <p:sp>
        <p:nvSpPr>
          <p:cNvPr id="235" name="Google Shape;235;p1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236" name="Google Shape;236;p19"/>
          <p:cNvGrpSpPr/>
          <p:nvPr/>
        </p:nvGrpSpPr>
        <p:grpSpPr>
          <a:xfrm>
            <a:off x="4205111" y="1162006"/>
            <a:ext cx="4831780" cy="3607549"/>
            <a:chOff x="3942821" y="671513"/>
            <a:chExt cx="5011741" cy="4114800"/>
          </a:xfrm>
        </p:grpSpPr>
        <p:sp>
          <p:nvSpPr>
            <p:cNvPr id="237" name="Google Shape;237;p19"/>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9"/>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239" name="Google Shape;239;p19"/>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9"/>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241" name="Google Shape;241;p19"/>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19"/>
            <p:cNvSpPr txBox="1"/>
            <p:nvPr/>
          </p:nvSpPr>
          <p:spPr>
            <a:xfrm>
              <a:off x="5308064" y="1250943"/>
              <a:ext cx="31266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243" name="Google Shape;243;p19"/>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19"/>
            <p:cNvSpPr txBox="1"/>
            <p:nvPr/>
          </p:nvSpPr>
          <p:spPr>
            <a:xfrm>
              <a:off x="5308064" y="1708140"/>
              <a:ext cx="28971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245" name="Google Shape;245;p19"/>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19"/>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p19"/>
            <p:cNvSpPr txBox="1"/>
            <p:nvPr/>
          </p:nvSpPr>
          <p:spPr>
            <a:xfrm>
              <a:off x="6516162" y="2192342"/>
              <a:ext cx="24384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248" name="Google Shape;248;p19"/>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2000" u="none" cap="none" strike="noStrike">
                <a:solidFill>
                  <a:srgbClr val="000000"/>
                </a:solidFill>
                <a:latin typeface="Arial"/>
                <a:ea typeface="Arial"/>
                <a:cs typeface="Arial"/>
                <a:sym typeface="Arial"/>
              </a:endParaRPr>
            </a:p>
          </p:txBody>
        </p:sp>
        <p:cxnSp>
          <p:nvCxnSpPr>
            <p:cNvPr id="249" name="Google Shape;249;p19"/>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250" name="Google Shape;250;p19"/>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251" name="Google Shape;251;p19"/>
            <p:cNvSpPr txBox="1"/>
            <p:nvPr/>
          </p:nvSpPr>
          <p:spPr>
            <a:xfrm>
              <a:off x="5423912" y="2206629"/>
              <a:ext cx="9780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252" name="Google Shape;252;p19"/>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253" name="Google Shape;253;p19"/>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p19"/>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9"/>
            <p:cNvSpPr txBox="1"/>
            <p:nvPr/>
          </p:nvSpPr>
          <p:spPr>
            <a:xfrm>
              <a:off x="4377794" y="2740021"/>
              <a:ext cx="17940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256" name="Google Shape;256;p19"/>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257" name="Google Shape;257;p19"/>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19"/>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259" name="Google Shape;259;p19"/>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260" name="Google Shape;260;p19"/>
          <p:cNvSpPr/>
          <p:nvPr/>
        </p:nvSpPr>
        <p:spPr>
          <a:xfrm>
            <a:off x="4272453" y="2438908"/>
            <a:ext cx="881566" cy="460066"/>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261" name="Google Shape;261;p19"/>
          <p:cNvSpPr txBox="1"/>
          <p:nvPr>
            <p:ph idx="1" type="body"/>
          </p:nvPr>
        </p:nvSpPr>
        <p:spPr>
          <a:xfrm>
            <a:off x="457200" y="1200150"/>
            <a:ext cx="4050300" cy="32889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
        <p:nvSpPr>
          <p:cNvPr id="262" name="Google Shape;262;p19"/>
          <p:cNvSpPr txBox="1"/>
          <p:nvPr/>
        </p:nvSpPr>
        <p:spPr>
          <a:xfrm>
            <a:off x="395208" y="1200151"/>
            <a:ext cx="3877246"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Header length</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4 bits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In 4-byte words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Minimum 5 words (20B)</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Maximum 15 words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Why?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269" name="Google Shape;269;p20"/>
          <p:cNvGrpSpPr/>
          <p:nvPr/>
        </p:nvGrpSpPr>
        <p:grpSpPr>
          <a:xfrm>
            <a:off x="4205111" y="1162006"/>
            <a:ext cx="4831780" cy="3607549"/>
            <a:chOff x="3942821" y="671513"/>
            <a:chExt cx="5011741" cy="4114800"/>
          </a:xfrm>
        </p:grpSpPr>
        <p:sp>
          <p:nvSpPr>
            <p:cNvPr id="270" name="Google Shape;270;p20"/>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1" name="Google Shape;271;p20"/>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272" name="Google Shape;272;p20"/>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0"/>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274" name="Google Shape;274;p20"/>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0"/>
            <p:cNvSpPr txBox="1"/>
            <p:nvPr/>
          </p:nvSpPr>
          <p:spPr>
            <a:xfrm>
              <a:off x="5308064" y="1250943"/>
              <a:ext cx="32259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276" name="Google Shape;276;p20"/>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20"/>
            <p:cNvSpPr txBox="1"/>
            <p:nvPr/>
          </p:nvSpPr>
          <p:spPr>
            <a:xfrm>
              <a:off x="5308063" y="1708140"/>
              <a:ext cx="3365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278" name="Google Shape;278;p20"/>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20"/>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20"/>
            <p:cNvSpPr txBox="1"/>
            <p:nvPr/>
          </p:nvSpPr>
          <p:spPr>
            <a:xfrm>
              <a:off x="6516162" y="2192342"/>
              <a:ext cx="24384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281" name="Google Shape;281;p20"/>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2000" u="none" cap="none" strike="noStrike">
                <a:solidFill>
                  <a:srgbClr val="000000"/>
                </a:solidFill>
                <a:latin typeface="Arial"/>
                <a:ea typeface="Arial"/>
                <a:cs typeface="Arial"/>
                <a:sym typeface="Arial"/>
              </a:endParaRPr>
            </a:p>
          </p:txBody>
        </p:sp>
        <p:cxnSp>
          <p:nvCxnSpPr>
            <p:cNvPr id="282" name="Google Shape;282;p20"/>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283" name="Google Shape;283;p20"/>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284" name="Google Shape;284;p20"/>
            <p:cNvSpPr txBox="1"/>
            <p:nvPr/>
          </p:nvSpPr>
          <p:spPr>
            <a:xfrm>
              <a:off x="5513296" y="2206629"/>
              <a:ext cx="8886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285" name="Google Shape;285;p20"/>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286" name="Google Shape;286;p20"/>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20"/>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p20"/>
            <p:cNvSpPr txBox="1"/>
            <p:nvPr/>
          </p:nvSpPr>
          <p:spPr>
            <a:xfrm>
              <a:off x="4377794" y="2740021"/>
              <a:ext cx="17256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289" name="Google Shape;289;p20"/>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290" name="Google Shape;290;p20"/>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1" name="Google Shape;291;p20"/>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292" name="Google Shape;292;p20"/>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293" name="Google Shape;293;p20"/>
          <p:cNvSpPr/>
          <p:nvPr/>
        </p:nvSpPr>
        <p:spPr>
          <a:xfrm>
            <a:off x="5612998" y="2438908"/>
            <a:ext cx="1010400" cy="460200"/>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294" name="Google Shape;294;p20"/>
          <p:cNvSpPr txBox="1"/>
          <p:nvPr/>
        </p:nvSpPr>
        <p:spPr>
          <a:xfrm>
            <a:off x="457200" y="1200151"/>
            <a:ext cx="3815253"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SYN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SYNchronize initial state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ACK</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ACKnowledgement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FIN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No more data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RST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Connection ReSeT</a:t>
            </a:r>
            <a:endParaRPr b="0" i="0" sz="2000" u="none" cap="none" strike="noStrike">
              <a:solidFill>
                <a:srgbClr val="695D46"/>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9" name="Shape 299"/>
        <p:cNvGrpSpPr/>
        <p:nvPr/>
      </p:nvGrpSpPr>
      <p:grpSpPr>
        <a:xfrm>
          <a:off x="0" y="0"/>
          <a:ext cx="0" cy="0"/>
          <a:chOff x="0" y="0"/>
          <a:chExt cx="0" cy="0"/>
        </a:xfrm>
      </p:grpSpPr>
      <p:sp>
        <p:nvSpPr>
          <p:cNvPr id="300" name="Google Shape;300;p2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301" name="Google Shape;301;p21"/>
          <p:cNvGrpSpPr/>
          <p:nvPr/>
        </p:nvGrpSpPr>
        <p:grpSpPr>
          <a:xfrm>
            <a:off x="4205111" y="1162006"/>
            <a:ext cx="4905243" cy="3607549"/>
            <a:chOff x="3942821" y="671513"/>
            <a:chExt cx="5087941" cy="4114800"/>
          </a:xfrm>
        </p:grpSpPr>
        <p:sp>
          <p:nvSpPr>
            <p:cNvPr id="302" name="Google Shape;302;p21"/>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p21"/>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304" name="Google Shape;304;p21"/>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21"/>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306" name="Google Shape;306;p21"/>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7" name="Google Shape;307;p21"/>
            <p:cNvSpPr txBox="1"/>
            <p:nvPr/>
          </p:nvSpPr>
          <p:spPr>
            <a:xfrm>
              <a:off x="5308064" y="1250943"/>
              <a:ext cx="32259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308" name="Google Shape;308;p21"/>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21"/>
            <p:cNvSpPr txBox="1"/>
            <p:nvPr/>
          </p:nvSpPr>
          <p:spPr>
            <a:xfrm>
              <a:off x="5308065" y="1708140"/>
              <a:ext cx="27345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310" name="Google Shape;310;p21"/>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p21"/>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21"/>
            <p:cNvSpPr txBox="1"/>
            <p:nvPr/>
          </p:nvSpPr>
          <p:spPr>
            <a:xfrm>
              <a:off x="6516162" y="2192342"/>
              <a:ext cx="25146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313" name="Google Shape;313;p21"/>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2000" u="none" cap="none" strike="noStrike">
                <a:solidFill>
                  <a:srgbClr val="000000"/>
                </a:solidFill>
                <a:latin typeface="Arial"/>
                <a:ea typeface="Arial"/>
                <a:cs typeface="Arial"/>
                <a:sym typeface="Arial"/>
              </a:endParaRPr>
            </a:p>
          </p:txBody>
        </p:sp>
        <p:cxnSp>
          <p:nvCxnSpPr>
            <p:cNvPr id="314" name="Google Shape;314;p21"/>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315" name="Google Shape;315;p21"/>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316" name="Google Shape;316;p21"/>
            <p:cNvSpPr txBox="1"/>
            <p:nvPr/>
          </p:nvSpPr>
          <p:spPr>
            <a:xfrm>
              <a:off x="5460462" y="2206629"/>
              <a:ext cx="9414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317" name="Google Shape;317;p21"/>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318" name="Google Shape;318;p21"/>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p21"/>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0" name="Google Shape;320;p21"/>
            <p:cNvSpPr txBox="1"/>
            <p:nvPr/>
          </p:nvSpPr>
          <p:spPr>
            <a:xfrm>
              <a:off x="4377794" y="2740021"/>
              <a:ext cx="16920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321" name="Google Shape;321;p21"/>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322" name="Google Shape;322;p21"/>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1"/>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324" name="Google Shape;324;p21"/>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325" name="Google Shape;325;p21"/>
          <p:cNvSpPr/>
          <p:nvPr/>
        </p:nvSpPr>
        <p:spPr>
          <a:xfrm>
            <a:off x="6614879" y="2438908"/>
            <a:ext cx="2359200" cy="460200"/>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326" name="Google Shape;326;p21"/>
          <p:cNvSpPr txBox="1"/>
          <p:nvPr/>
        </p:nvSpPr>
        <p:spPr>
          <a:xfrm>
            <a:off x="457200" y="1200151"/>
            <a:ext cx="3815253"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Receive Window Size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Maximum receiver buffer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Limits sending rate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Don’t send faster than receiver can process</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1" name="Shape 331"/>
        <p:cNvGrpSpPr/>
        <p:nvPr/>
      </p:nvGrpSpPr>
      <p:grpSpPr>
        <a:xfrm>
          <a:off x="0" y="0"/>
          <a:ext cx="0" cy="0"/>
          <a:chOff x="0" y="0"/>
          <a:chExt cx="0" cy="0"/>
        </a:xfrm>
      </p:grpSpPr>
      <p:sp>
        <p:nvSpPr>
          <p:cNvPr id="332" name="Google Shape;332;p2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Helvetica Neue"/>
              <a:buNone/>
            </a:pPr>
            <a:r>
              <a:rPr b="1" i="0" lang="en-US" sz="4400" u="none" cap="none" strike="noStrike">
                <a:solidFill>
                  <a:srgbClr val="EF6C00"/>
                </a:solidFill>
                <a:latin typeface="Helvetica Neue"/>
                <a:ea typeface="Helvetica Neue"/>
                <a:cs typeface="Helvetica Neue"/>
                <a:sym typeface="Helvetica Neue"/>
              </a:rPr>
              <a:t>TCP Header</a:t>
            </a:r>
            <a:endParaRPr b="1" i="0" sz="4400" u="none" cap="none" strike="noStrike">
              <a:solidFill>
                <a:srgbClr val="EF6C00"/>
              </a:solidFill>
              <a:latin typeface="PT Sans Narrow"/>
              <a:ea typeface="PT Sans Narrow"/>
              <a:cs typeface="PT Sans Narrow"/>
              <a:sym typeface="PT Sans Narrow"/>
            </a:endParaRPr>
          </a:p>
        </p:txBody>
      </p:sp>
      <p:grpSp>
        <p:nvGrpSpPr>
          <p:cNvPr id="333" name="Google Shape;333;p22"/>
          <p:cNvGrpSpPr/>
          <p:nvPr/>
        </p:nvGrpSpPr>
        <p:grpSpPr>
          <a:xfrm>
            <a:off x="4205111" y="1162006"/>
            <a:ext cx="4840167" cy="3607549"/>
            <a:chOff x="3942821" y="671513"/>
            <a:chExt cx="5020441" cy="4114800"/>
          </a:xfrm>
        </p:grpSpPr>
        <p:sp>
          <p:nvSpPr>
            <p:cNvPr id="334" name="Google Shape;334;p22"/>
            <p:cNvSpPr/>
            <p:nvPr/>
          </p:nvSpPr>
          <p:spPr>
            <a:xfrm>
              <a:off x="4012671" y="671513"/>
              <a:ext cx="23622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2"/>
            <p:cNvSpPr txBox="1"/>
            <p:nvPr/>
          </p:nvSpPr>
          <p:spPr>
            <a:xfrm>
              <a:off x="4393671" y="717551"/>
              <a:ext cx="149701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Source port</a:t>
              </a:r>
              <a:endParaRPr b="0" i="0" sz="1400" u="none" cap="none" strike="noStrike">
                <a:solidFill>
                  <a:srgbClr val="000000"/>
                </a:solidFill>
                <a:latin typeface="Arial"/>
                <a:ea typeface="Arial"/>
                <a:cs typeface="Arial"/>
                <a:sym typeface="Arial"/>
              </a:endParaRPr>
            </a:p>
          </p:txBody>
        </p:sp>
        <p:sp>
          <p:nvSpPr>
            <p:cNvPr id="336" name="Google Shape;336;p22"/>
            <p:cNvSpPr/>
            <p:nvPr/>
          </p:nvSpPr>
          <p:spPr>
            <a:xfrm>
              <a:off x="6374871" y="671513"/>
              <a:ext cx="25146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7" name="Google Shape;337;p22"/>
            <p:cNvSpPr txBox="1"/>
            <p:nvPr/>
          </p:nvSpPr>
          <p:spPr>
            <a:xfrm>
              <a:off x="6527271" y="717551"/>
              <a:ext cx="19637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Destination port</a:t>
              </a:r>
              <a:endParaRPr b="0" i="0" sz="1400" u="none" cap="none" strike="noStrike">
                <a:solidFill>
                  <a:srgbClr val="000000"/>
                </a:solidFill>
                <a:latin typeface="Arial"/>
                <a:ea typeface="Arial"/>
                <a:cs typeface="Arial"/>
                <a:sym typeface="Arial"/>
              </a:endParaRPr>
            </a:p>
          </p:txBody>
        </p:sp>
        <p:sp>
          <p:nvSpPr>
            <p:cNvPr id="338" name="Google Shape;338;p22"/>
            <p:cNvSpPr/>
            <p:nvPr/>
          </p:nvSpPr>
          <p:spPr>
            <a:xfrm>
              <a:off x="4012671" y="12049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22"/>
            <p:cNvSpPr txBox="1"/>
            <p:nvPr/>
          </p:nvSpPr>
          <p:spPr>
            <a:xfrm>
              <a:off x="5308065" y="1250943"/>
              <a:ext cx="26199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Sequence number</a:t>
              </a:r>
              <a:endParaRPr b="0" i="0" sz="1400" u="none" cap="none" strike="noStrike">
                <a:solidFill>
                  <a:srgbClr val="000000"/>
                </a:solidFill>
                <a:latin typeface="Arial"/>
                <a:ea typeface="Arial"/>
                <a:cs typeface="Arial"/>
                <a:sym typeface="Arial"/>
              </a:endParaRPr>
            </a:p>
          </p:txBody>
        </p:sp>
        <p:sp>
          <p:nvSpPr>
            <p:cNvPr id="340" name="Google Shape;340;p22"/>
            <p:cNvSpPr/>
            <p:nvPr/>
          </p:nvSpPr>
          <p:spPr>
            <a:xfrm>
              <a:off x="4012671" y="1662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1" name="Google Shape;341;p22"/>
            <p:cNvSpPr txBox="1"/>
            <p:nvPr/>
          </p:nvSpPr>
          <p:spPr>
            <a:xfrm>
              <a:off x="5308065" y="1708140"/>
              <a:ext cx="26868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Acknowledgment</a:t>
              </a:r>
              <a:endParaRPr b="0" i="0" sz="1400" u="none" cap="none" strike="noStrike">
                <a:solidFill>
                  <a:srgbClr val="000000"/>
                </a:solidFill>
                <a:latin typeface="Arial"/>
                <a:ea typeface="Arial"/>
                <a:cs typeface="Arial"/>
                <a:sym typeface="Arial"/>
              </a:endParaRPr>
            </a:p>
          </p:txBody>
        </p:sp>
        <p:sp>
          <p:nvSpPr>
            <p:cNvPr id="342" name="Google Shape;342;p22"/>
            <p:cNvSpPr/>
            <p:nvPr/>
          </p:nvSpPr>
          <p:spPr>
            <a:xfrm>
              <a:off x="40126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3" name="Google Shape;343;p22"/>
            <p:cNvSpPr/>
            <p:nvPr/>
          </p:nvSpPr>
          <p:spPr>
            <a:xfrm>
              <a:off x="6451071" y="21193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22"/>
            <p:cNvSpPr txBox="1"/>
            <p:nvPr/>
          </p:nvSpPr>
          <p:spPr>
            <a:xfrm>
              <a:off x="6516162" y="2192342"/>
              <a:ext cx="2447100" cy="396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Advertised window</a:t>
              </a:r>
              <a:endParaRPr b="0" i="0" sz="1400" u="none" cap="none" strike="noStrike">
                <a:solidFill>
                  <a:srgbClr val="000000"/>
                </a:solidFill>
                <a:latin typeface="Arial"/>
                <a:ea typeface="Arial"/>
                <a:cs typeface="Arial"/>
                <a:sym typeface="Arial"/>
              </a:endParaRPr>
            </a:p>
          </p:txBody>
        </p:sp>
        <p:sp>
          <p:nvSpPr>
            <p:cNvPr id="345" name="Google Shape;345;p22"/>
            <p:cNvSpPr txBox="1"/>
            <p:nvPr/>
          </p:nvSpPr>
          <p:spPr>
            <a:xfrm>
              <a:off x="3942821" y="2195513"/>
              <a:ext cx="1066800" cy="396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HdrLen</a:t>
              </a:r>
              <a:endParaRPr b="0" i="0" sz="2000" u="none" cap="none" strike="noStrike">
                <a:solidFill>
                  <a:srgbClr val="000000"/>
                </a:solidFill>
                <a:latin typeface="Arial"/>
                <a:ea typeface="Arial"/>
                <a:cs typeface="Arial"/>
                <a:sym typeface="Arial"/>
              </a:endParaRPr>
            </a:p>
          </p:txBody>
        </p:sp>
        <p:cxnSp>
          <p:nvCxnSpPr>
            <p:cNvPr id="346" name="Google Shape;346;p22"/>
            <p:cNvCxnSpPr/>
            <p:nvPr/>
          </p:nvCxnSpPr>
          <p:spPr>
            <a:xfrm>
              <a:off x="4927071" y="2119313"/>
              <a:ext cx="0" cy="533400"/>
            </a:xfrm>
            <a:prstGeom prst="straightConnector1">
              <a:avLst/>
            </a:prstGeom>
            <a:noFill/>
            <a:ln cap="flat" cmpd="sng" w="9525">
              <a:solidFill>
                <a:schemeClr val="dk1"/>
              </a:solidFill>
              <a:prstDash val="solid"/>
              <a:round/>
              <a:headEnd len="sm" w="sm" type="none"/>
              <a:tailEnd len="sm" w="sm" type="none"/>
            </a:ln>
          </p:spPr>
        </p:cxnSp>
        <p:cxnSp>
          <p:nvCxnSpPr>
            <p:cNvPr id="347" name="Google Shape;347;p22"/>
            <p:cNvCxnSpPr/>
            <p:nvPr/>
          </p:nvCxnSpPr>
          <p:spPr>
            <a:xfrm>
              <a:off x="5384271" y="2119313"/>
              <a:ext cx="0" cy="533400"/>
            </a:xfrm>
            <a:prstGeom prst="straightConnector1">
              <a:avLst/>
            </a:prstGeom>
            <a:noFill/>
            <a:ln cap="flat" cmpd="sng" w="9525">
              <a:solidFill>
                <a:schemeClr val="dk1"/>
              </a:solidFill>
              <a:prstDash val="solid"/>
              <a:round/>
              <a:headEnd len="sm" w="sm" type="none"/>
              <a:tailEnd len="sm" w="sm" type="none"/>
            </a:ln>
          </p:spPr>
        </p:cxnSp>
        <p:sp>
          <p:nvSpPr>
            <p:cNvPr id="348" name="Google Shape;348;p22"/>
            <p:cNvSpPr txBox="1"/>
            <p:nvPr/>
          </p:nvSpPr>
          <p:spPr>
            <a:xfrm>
              <a:off x="5503727" y="2206629"/>
              <a:ext cx="8982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Flags</a:t>
              </a:r>
              <a:endParaRPr b="0" i="0" sz="1400" u="none" cap="none" strike="noStrike">
                <a:solidFill>
                  <a:srgbClr val="000000"/>
                </a:solidFill>
                <a:latin typeface="Arial"/>
                <a:ea typeface="Arial"/>
                <a:cs typeface="Arial"/>
                <a:sym typeface="Arial"/>
              </a:endParaRPr>
            </a:p>
          </p:txBody>
        </p:sp>
        <p:sp>
          <p:nvSpPr>
            <p:cNvPr id="349" name="Google Shape;349;p22"/>
            <p:cNvSpPr txBox="1"/>
            <p:nvPr/>
          </p:nvSpPr>
          <p:spPr>
            <a:xfrm>
              <a:off x="5003271" y="2241551"/>
              <a:ext cx="325437"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350" name="Google Shape;350;p22"/>
            <p:cNvSpPr/>
            <p:nvPr/>
          </p:nvSpPr>
          <p:spPr>
            <a:xfrm>
              <a:off x="40126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1" name="Google Shape;351;p22"/>
            <p:cNvSpPr/>
            <p:nvPr/>
          </p:nvSpPr>
          <p:spPr>
            <a:xfrm>
              <a:off x="6451071" y="2652713"/>
              <a:ext cx="2438400" cy="5334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2" name="Google Shape;352;p22"/>
            <p:cNvSpPr txBox="1"/>
            <p:nvPr/>
          </p:nvSpPr>
          <p:spPr>
            <a:xfrm>
              <a:off x="4377794" y="2740021"/>
              <a:ext cx="1794000" cy="396900"/>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Checksum</a:t>
              </a:r>
              <a:endParaRPr b="0" i="0" sz="1400" u="none" cap="none" strike="noStrike">
                <a:solidFill>
                  <a:srgbClr val="000000"/>
                </a:solidFill>
                <a:latin typeface="Arial"/>
                <a:ea typeface="Arial"/>
                <a:cs typeface="Arial"/>
                <a:sym typeface="Arial"/>
              </a:endParaRPr>
            </a:p>
          </p:txBody>
        </p:sp>
        <p:sp>
          <p:nvSpPr>
            <p:cNvPr id="353" name="Google Shape;353;p22"/>
            <p:cNvSpPr txBox="1"/>
            <p:nvPr/>
          </p:nvSpPr>
          <p:spPr>
            <a:xfrm>
              <a:off x="6739996" y="2740026"/>
              <a:ext cx="1793875"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Urgent pointer</a:t>
              </a:r>
              <a:endParaRPr b="0" i="0" sz="1400" u="none" cap="none" strike="noStrike">
                <a:solidFill>
                  <a:srgbClr val="000000"/>
                </a:solidFill>
                <a:latin typeface="Arial"/>
                <a:ea typeface="Arial"/>
                <a:cs typeface="Arial"/>
                <a:sym typeface="Arial"/>
              </a:endParaRPr>
            </a:p>
          </p:txBody>
        </p:sp>
        <p:sp>
          <p:nvSpPr>
            <p:cNvPr id="354" name="Google Shape;354;p22"/>
            <p:cNvSpPr/>
            <p:nvPr/>
          </p:nvSpPr>
          <p:spPr>
            <a:xfrm>
              <a:off x="4012671" y="3186113"/>
              <a:ext cx="4876800" cy="457200"/>
            </a:xfrm>
            <a:prstGeom prst="rect">
              <a:avLst/>
            </a:prstGeom>
            <a:solidFill>
              <a:srgbClr val="CC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5" name="Google Shape;355;p22"/>
            <p:cNvSpPr txBox="1"/>
            <p:nvPr/>
          </p:nvSpPr>
          <p:spPr>
            <a:xfrm>
              <a:off x="5460471" y="3232151"/>
              <a:ext cx="2189162" cy="396875"/>
            </a:xfrm>
            <a:prstGeom prst="rect">
              <a:avLst/>
            </a:prstGeom>
            <a:solidFill>
              <a:srgbClr val="CC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Options (variable)</a:t>
              </a:r>
              <a:endParaRPr b="0" i="0" sz="1400" u="none" cap="none" strike="noStrike">
                <a:solidFill>
                  <a:srgbClr val="000000"/>
                </a:solidFill>
                <a:latin typeface="Arial"/>
                <a:ea typeface="Arial"/>
                <a:cs typeface="Arial"/>
                <a:sym typeface="Arial"/>
              </a:endParaRPr>
            </a:p>
          </p:txBody>
        </p:sp>
        <p:sp>
          <p:nvSpPr>
            <p:cNvPr id="356" name="Google Shape;356;p22"/>
            <p:cNvSpPr/>
            <p:nvPr/>
          </p:nvSpPr>
          <p:spPr>
            <a:xfrm>
              <a:off x="4012671" y="3643313"/>
              <a:ext cx="4876800" cy="1143000"/>
            </a:xfrm>
            <a:prstGeom prst="rect">
              <a:avLst/>
            </a:prstGeom>
            <a:solidFill>
              <a:schemeClr val="hlink"/>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Data</a:t>
              </a:r>
              <a:endParaRPr b="0" i="0" sz="1400" u="none" cap="none" strike="noStrike">
                <a:solidFill>
                  <a:srgbClr val="000000"/>
                </a:solidFill>
                <a:latin typeface="Arial"/>
                <a:ea typeface="Arial"/>
                <a:cs typeface="Arial"/>
                <a:sym typeface="Arial"/>
              </a:endParaRPr>
            </a:p>
          </p:txBody>
        </p:sp>
      </p:grpSp>
      <p:sp>
        <p:nvSpPr>
          <p:cNvPr id="357" name="Google Shape;357;p22"/>
          <p:cNvSpPr/>
          <p:nvPr/>
        </p:nvSpPr>
        <p:spPr>
          <a:xfrm>
            <a:off x="4269732" y="2903964"/>
            <a:ext cx="2359200" cy="460200"/>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
        <p:nvSpPr>
          <p:cNvPr id="358" name="Google Shape;358;p22"/>
          <p:cNvSpPr txBox="1"/>
          <p:nvPr/>
        </p:nvSpPr>
        <p:spPr>
          <a:xfrm>
            <a:off x="457200" y="1200151"/>
            <a:ext cx="3815253"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Checksum</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Includes header and payload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Options common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Unlike IP</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Not covered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Assume no options unless specified</a:t>
            </a:r>
            <a:endParaRPr b="0" i="0" sz="1400" u="none" cap="none" strike="noStrike">
              <a:solidFill>
                <a:srgbClr val="000000"/>
              </a:solidFill>
              <a:latin typeface="Arial"/>
              <a:ea typeface="Arial"/>
              <a:cs typeface="Arial"/>
              <a:sym typeface="Arial"/>
            </a:endParaRPr>
          </a:p>
          <a:p>
            <a:pPr indent="-158750" lvl="1" marL="742950" marR="0" rtl="0" algn="l">
              <a:lnSpc>
                <a:spcPct val="100000"/>
              </a:lnSpc>
              <a:spcBef>
                <a:spcPts val="400"/>
              </a:spcBef>
              <a:spcAft>
                <a:spcPts val="0"/>
              </a:spcAft>
              <a:buClr>
                <a:srgbClr val="695D46"/>
              </a:buClr>
              <a:buSzPts val="2000"/>
              <a:buFont typeface="Arial"/>
              <a:buNone/>
            </a:pPr>
            <a:r>
              <a:t/>
            </a:r>
            <a:endParaRPr b="0" i="0" sz="2000" u="none" cap="none" strike="noStrike">
              <a:solidFill>
                <a:srgbClr val="695D46"/>
              </a:solidFill>
              <a:latin typeface="Open Sans"/>
              <a:ea typeface="Open Sans"/>
              <a:cs typeface="Open Sans"/>
              <a:sym typeface="Open Sans"/>
            </a:endParaRPr>
          </a:p>
          <a:p>
            <a:pPr indent="-158750" lvl="1" marL="742950" marR="0" rtl="0" algn="l">
              <a:lnSpc>
                <a:spcPct val="100000"/>
              </a:lnSpc>
              <a:spcBef>
                <a:spcPts val="400"/>
              </a:spcBef>
              <a:spcAft>
                <a:spcPts val="0"/>
              </a:spcAft>
              <a:buClr>
                <a:srgbClr val="695D46"/>
              </a:buClr>
              <a:buSzPts val="2000"/>
              <a:buFont typeface="Arial"/>
              <a:buNone/>
            </a:pPr>
            <a:r>
              <a:t/>
            </a:r>
            <a:endParaRPr b="0" i="0" sz="2000" u="none" cap="none" strike="noStrike">
              <a:solidFill>
                <a:srgbClr val="695D46"/>
              </a:solidFill>
              <a:latin typeface="Open Sans"/>
              <a:ea typeface="Open Sans"/>
              <a:cs typeface="Open Sans"/>
              <a:sym typeface="Open Sans"/>
            </a:endParaRPr>
          </a:p>
        </p:txBody>
      </p:sp>
      <p:sp>
        <p:nvSpPr>
          <p:cNvPr id="359" name="Google Shape;359;p22"/>
          <p:cNvSpPr/>
          <p:nvPr/>
        </p:nvSpPr>
        <p:spPr>
          <a:xfrm>
            <a:off x="4272453" y="3366619"/>
            <a:ext cx="4713074" cy="388313"/>
          </a:xfrm>
          <a:prstGeom prst="rect">
            <a:avLst/>
          </a:prstGeom>
          <a:noFill/>
          <a:ln cap="flat" cmpd="sng" w="57150">
            <a:solidFill>
              <a:srgbClr val="EF6C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3" name="Shape 363"/>
        <p:cNvGrpSpPr/>
        <p:nvPr/>
      </p:nvGrpSpPr>
      <p:grpSpPr>
        <a:xfrm>
          <a:off x="0" y="0"/>
          <a:ext cx="0" cy="0"/>
          <a:chOff x="0" y="0"/>
          <a:chExt cx="0" cy="0"/>
        </a:xfrm>
      </p:grpSpPr>
      <p:sp>
        <p:nvSpPr>
          <p:cNvPr id="364" name="Google Shape;364;p23"/>
          <p:cNvSpPr txBox="1"/>
          <p:nvPr>
            <p:ph idx="1" type="body"/>
          </p:nvPr>
        </p:nvSpPr>
        <p:spPr>
          <a:xfrm>
            <a:off x="482423" y="2088182"/>
            <a:ext cx="8195909" cy="112514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6600"/>
              <a:buFont typeface="Arial"/>
              <a:buNone/>
            </a:pPr>
            <a:r>
              <a:rPr b="1" i="0" lang="en-US" sz="6600" u="none" cap="none" strike="noStrike">
                <a:solidFill>
                  <a:schemeClr val="accent2"/>
                </a:solidFill>
                <a:latin typeface="PT Sans Narrow"/>
                <a:ea typeface="PT Sans Narrow"/>
                <a:cs typeface="PT Sans Narrow"/>
                <a:sym typeface="PT Sans Narrow"/>
              </a:rPr>
              <a:t>Connection Establishment</a:t>
            </a:r>
            <a:endParaRPr b="1" i="0" sz="6600" u="none" cap="none" strike="noStrike">
              <a:solidFill>
                <a:schemeClr val="accent2"/>
              </a:solidFill>
              <a:latin typeface="PT Sans Narrow"/>
              <a:ea typeface="PT Sans Narrow"/>
              <a:cs typeface="PT Sans Narrow"/>
              <a:sym typeface="PT Sans Narro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9" name="Shape 369"/>
        <p:cNvGrpSpPr/>
        <p:nvPr/>
      </p:nvGrpSpPr>
      <p:grpSpPr>
        <a:xfrm>
          <a:off x="0" y="0"/>
          <a:ext cx="0" cy="0"/>
          <a:chOff x="0" y="0"/>
          <a:chExt cx="0" cy="0"/>
        </a:xfrm>
      </p:grpSpPr>
      <p:sp>
        <p:nvSpPr>
          <p:cNvPr id="370" name="Google Shape;370;p2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Connection Establishment</a:t>
            </a:r>
            <a:endParaRPr b="1" i="0" sz="4400" u="none" cap="none" strike="noStrike">
              <a:solidFill>
                <a:srgbClr val="EF6C00"/>
              </a:solidFill>
              <a:latin typeface="PT Sans Narrow"/>
              <a:ea typeface="PT Sans Narrow"/>
              <a:cs typeface="PT Sans Narrow"/>
              <a:sym typeface="PT Sans Narrow"/>
            </a:endParaRPr>
          </a:p>
        </p:txBody>
      </p:sp>
      <p:sp>
        <p:nvSpPr>
          <p:cNvPr id="371" name="Google Shape;371;p2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Sequence number and </a:t>
            </a:r>
            <a:r>
              <a:rPr lang="en-US"/>
              <a:t>ACK </a:t>
            </a:r>
            <a:r>
              <a:rPr b="0" i="0" lang="en-US" sz="2400" u="none" cap="none" strike="noStrike">
                <a:solidFill>
                  <a:srgbClr val="695D46"/>
                </a:solidFill>
                <a:latin typeface="Open Sans"/>
                <a:ea typeface="Open Sans"/>
                <a:cs typeface="Open Sans"/>
                <a:sym typeface="Open Sans"/>
              </a:rPr>
              <a:t>number don’t start </a:t>
            </a:r>
            <a:r>
              <a:rPr lang="en-US"/>
              <a:t>at</a:t>
            </a:r>
            <a:r>
              <a:rPr b="0" i="0" lang="en-US" sz="2400" u="none" cap="none" strike="noStrike">
                <a:solidFill>
                  <a:srgbClr val="695D46"/>
                </a:solidFill>
                <a:latin typeface="Open Sans"/>
                <a:ea typeface="Open Sans"/>
                <a:cs typeface="Open Sans"/>
                <a:sym typeface="Open Sans"/>
              </a:rPr>
              <a:t> zero</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15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Instead client and server choose </a:t>
            </a:r>
            <a:r>
              <a:rPr b="1" i="0" lang="en-US" sz="2400" u="none" cap="none" strike="noStrike">
                <a:solidFill>
                  <a:srgbClr val="695D46"/>
                </a:solidFill>
                <a:latin typeface="Open Sans"/>
                <a:ea typeface="Open Sans"/>
                <a:cs typeface="Open Sans"/>
                <a:sym typeface="Open Sans"/>
              </a:rPr>
              <a:t>random</a:t>
            </a:r>
            <a:r>
              <a:rPr b="0" i="0" lang="en-US" sz="2400" u="none" cap="none" strike="noStrike">
                <a:solidFill>
                  <a:srgbClr val="695D46"/>
                </a:solidFill>
                <a:latin typeface="Open Sans"/>
                <a:ea typeface="Open Sans"/>
                <a:cs typeface="Open Sans"/>
                <a:sym typeface="Open Sans"/>
              </a:rPr>
              <a:t> initial seq #</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15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Why?</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115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Must be communicated between client and server</a:t>
            </a:r>
            <a:endParaRPr b="0" i="0" sz="2400" u="none" cap="none" strike="noStrike">
              <a:solidFill>
                <a:srgbClr val="695D46"/>
              </a:solidFill>
              <a:latin typeface="Open Sans"/>
              <a:ea typeface="Open Sans"/>
              <a:cs typeface="Open Sans"/>
              <a:sym typeface="Open Sans"/>
            </a:endParaRPr>
          </a:p>
          <a:p>
            <a:pPr indent="0" lvl="0" marL="0" marR="0" rtl="0" algn="l">
              <a:lnSpc>
                <a:spcPct val="115000"/>
              </a:lnSpc>
              <a:spcBef>
                <a:spcPts val="480"/>
              </a:spcBef>
              <a:spcAft>
                <a:spcPts val="0"/>
              </a:spcAft>
              <a:buClr>
                <a:srgbClr val="695D46"/>
              </a:buClr>
              <a:buSzPts val="2400"/>
              <a:buFont typeface="Arial"/>
              <a:buNone/>
            </a:pPr>
            <a:r>
              <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6" name="Shape 376"/>
        <p:cNvGrpSpPr/>
        <p:nvPr/>
      </p:nvGrpSpPr>
      <p:grpSpPr>
        <a:xfrm>
          <a:off x="0" y="0"/>
          <a:ext cx="0" cy="0"/>
          <a:chOff x="0" y="0"/>
          <a:chExt cx="0" cy="0"/>
        </a:xfrm>
      </p:grpSpPr>
      <p:sp>
        <p:nvSpPr>
          <p:cNvPr id="377" name="Google Shape;377;p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Connection Establishment</a:t>
            </a:r>
            <a:endParaRPr b="1" i="0" sz="4400" u="none" cap="none" strike="noStrike">
              <a:solidFill>
                <a:srgbClr val="EF6C00"/>
              </a:solidFill>
              <a:latin typeface="PT Sans Narrow"/>
              <a:ea typeface="PT Sans Narrow"/>
              <a:cs typeface="PT Sans Narrow"/>
              <a:sym typeface="PT Sans Narrow"/>
            </a:endParaRPr>
          </a:p>
        </p:txBody>
      </p:sp>
      <p:sp>
        <p:nvSpPr>
          <p:cNvPr id="378" name="Google Shape;378;p2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Client/Server exchange state</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15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Initial Sequence numbers</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15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Port number</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15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TCP Options</a:t>
            </a:r>
            <a:endParaRPr b="0" i="0" sz="2000" u="none" cap="none" strike="noStrike">
              <a:solidFill>
                <a:srgbClr val="695D46"/>
              </a:solidFill>
              <a:latin typeface="Open Sans"/>
              <a:ea typeface="Open Sans"/>
              <a:cs typeface="Open Sans"/>
              <a:sym typeface="Open Sans"/>
            </a:endParaRPr>
          </a:p>
          <a:p>
            <a:pPr indent="-342900" lvl="0" marL="342900" rtl="0" algn="l">
              <a:lnSpc>
                <a:spcPct val="115000"/>
              </a:lnSpc>
              <a:spcBef>
                <a:spcPts val="0"/>
              </a:spcBef>
              <a:spcAft>
                <a:spcPts val="0"/>
              </a:spcAft>
              <a:buClr>
                <a:schemeClr val="accent5"/>
              </a:buClr>
              <a:buSzPts val="2400"/>
              <a:buFont typeface="Arial"/>
              <a:buChar char="•"/>
            </a:pPr>
            <a:r>
              <a:rPr lang="en-US">
                <a:solidFill>
                  <a:schemeClr val="accent5"/>
                </a:solidFill>
              </a:rPr>
              <a:t>TCP is full duplex!</a:t>
            </a:r>
            <a:endParaRPr>
              <a:solidFill>
                <a:schemeClr val="accent5"/>
              </a:solidFill>
            </a:endParaRPr>
          </a:p>
          <a:p>
            <a:pPr indent="-285750" lvl="1" marL="742950" rtl="0" algn="l">
              <a:lnSpc>
                <a:spcPct val="115000"/>
              </a:lnSpc>
              <a:spcBef>
                <a:spcPts val="400"/>
              </a:spcBef>
              <a:spcAft>
                <a:spcPts val="0"/>
              </a:spcAft>
              <a:buClr>
                <a:schemeClr val="accent5"/>
              </a:buClr>
              <a:buSzPts val="2000"/>
              <a:buFont typeface="Arial"/>
              <a:buChar char="–"/>
            </a:pPr>
            <a:r>
              <a:rPr lang="en-US">
                <a:solidFill>
                  <a:schemeClr val="accent5"/>
                </a:solidFill>
              </a:rPr>
              <a:t>A TCP connection between A and B can carry data in both directions</a:t>
            </a:r>
            <a:endParaRPr>
              <a:solidFill>
                <a:schemeClr val="accent5"/>
              </a:solidFill>
            </a:endParaRPr>
          </a:p>
          <a:p>
            <a:pPr indent="-285750" lvl="1" marL="742950" rtl="0" algn="l">
              <a:lnSpc>
                <a:spcPct val="115000"/>
              </a:lnSpc>
              <a:spcBef>
                <a:spcPts val="400"/>
              </a:spcBef>
              <a:spcAft>
                <a:spcPts val="0"/>
              </a:spcAft>
              <a:buClr>
                <a:schemeClr val="accent5"/>
              </a:buClr>
              <a:buSzPts val="2000"/>
              <a:buFont typeface="Arial"/>
              <a:buChar char="–"/>
            </a:pPr>
            <a:r>
              <a:rPr lang="en-US">
                <a:solidFill>
                  <a:schemeClr val="accent5"/>
                </a:solidFill>
              </a:rPr>
              <a:t>Packet can both carry data and ACK data</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3" name="Shape 383"/>
        <p:cNvGrpSpPr/>
        <p:nvPr/>
      </p:nvGrpSpPr>
      <p:grpSpPr>
        <a:xfrm>
          <a:off x="0" y="0"/>
          <a:ext cx="0" cy="0"/>
          <a:chOff x="0" y="0"/>
          <a:chExt cx="0" cy="0"/>
        </a:xfrm>
      </p:grpSpPr>
      <p:sp>
        <p:nvSpPr>
          <p:cNvPr id="384" name="Google Shape;384;p26"/>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Three Way Handshake (1)</a:t>
            </a:r>
            <a:endParaRPr b="1" i="0" sz="4400" u="none" cap="none" strike="noStrike">
              <a:solidFill>
                <a:srgbClr val="EF6C00"/>
              </a:solidFill>
              <a:latin typeface="PT Sans Narrow"/>
              <a:ea typeface="PT Sans Narrow"/>
              <a:cs typeface="PT Sans Narrow"/>
              <a:sym typeface="PT Sans Narrow"/>
            </a:endParaRPr>
          </a:p>
        </p:txBody>
      </p:sp>
      <p:sp>
        <p:nvSpPr>
          <p:cNvPr id="385" name="Google Shape;385;p26"/>
          <p:cNvSpPr txBox="1"/>
          <p:nvPr>
            <p:ph idx="1" type="body"/>
          </p:nvPr>
        </p:nvSpPr>
        <p:spPr>
          <a:xfrm>
            <a:off x="457200" y="1200151"/>
            <a:ext cx="3868139"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Open Sans"/>
              <a:buChar char="•"/>
            </a:pPr>
            <a:r>
              <a:rPr b="0" i="0" lang="en-US" sz="2400" u="none" cap="none" strike="noStrike">
                <a:solidFill>
                  <a:srgbClr val="695D46"/>
                </a:solidFill>
                <a:latin typeface="Open Sans"/>
                <a:ea typeface="Open Sans"/>
                <a:cs typeface="Open Sans"/>
                <a:sym typeface="Open Sans"/>
              </a:rPr>
              <a:t>Client sends SYN</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TCP </a:t>
            </a:r>
            <a:r>
              <a:rPr lang="en-US"/>
              <a:t>packet, </a:t>
            </a:r>
            <a:r>
              <a:rPr b="0" i="0" lang="en-US" sz="2000" u="none" cap="none" strike="noStrike">
                <a:solidFill>
                  <a:srgbClr val="695D46"/>
                </a:solidFill>
                <a:latin typeface="Open Sans"/>
                <a:ea typeface="Open Sans"/>
                <a:cs typeface="Open Sans"/>
                <a:sym typeface="Open Sans"/>
              </a:rPr>
              <a:t>SYN flag set</a:t>
            </a:r>
            <a:endParaRPr/>
          </a:p>
          <a:p>
            <a:pPr indent="-317500" lvl="0" marL="342900" marR="0" rtl="0" algn="l">
              <a:lnSpc>
                <a:spcPct val="100000"/>
              </a:lnSpc>
              <a:spcBef>
                <a:spcPts val="400"/>
              </a:spcBef>
              <a:spcAft>
                <a:spcPts val="0"/>
              </a:spcAft>
              <a:buClr>
                <a:srgbClr val="695D46"/>
              </a:buClr>
              <a:buSzPts val="2000"/>
              <a:buFont typeface="Arial"/>
              <a:buChar char="•"/>
            </a:pPr>
            <a:r>
              <a:rPr lang="en-US"/>
              <a:t>Carries initial state</a:t>
            </a:r>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Receive window		</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Source port number</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Initial sequence number</a:t>
            </a:r>
            <a:endParaRPr b="0" i="0" sz="2400" u="none" cap="none" strike="noStrike">
              <a:solidFill>
                <a:srgbClr val="695D46"/>
              </a:solidFill>
              <a:latin typeface="Open Sans"/>
              <a:ea typeface="Open Sans"/>
              <a:cs typeface="Open Sans"/>
              <a:sym typeface="Open Sans"/>
            </a:endParaRPr>
          </a:p>
        </p:txBody>
      </p:sp>
      <p:pic>
        <p:nvPicPr>
          <p:cNvPr descr="https://static.lwn.net/images/2012/tfo/3whs.png" id="386" name="Google Shape;386;p26"/>
          <p:cNvPicPr preferRelativeResize="0"/>
          <p:nvPr/>
        </p:nvPicPr>
        <p:blipFill rotWithShape="1">
          <a:blip r:embed="rId3">
            <a:alphaModFix/>
          </a:blip>
          <a:srcRect b="0" l="0" r="0" t="0"/>
          <a:stretch/>
        </p:blipFill>
        <p:spPr>
          <a:xfrm>
            <a:off x="4325339" y="1421146"/>
            <a:ext cx="4818661" cy="2947314"/>
          </a:xfrm>
          <a:prstGeom prst="rect">
            <a:avLst/>
          </a:prstGeom>
          <a:noFill/>
          <a:ln>
            <a:noFill/>
          </a:ln>
        </p:spPr>
      </p:pic>
      <p:sp>
        <p:nvSpPr>
          <p:cNvPr id="387" name="Google Shape;387;p26"/>
          <p:cNvSpPr/>
          <p:nvPr/>
        </p:nvSpPr>
        <p:spPr>
          <a:xfrm>
            <a:off x="5797023" y="1906291"/>
            <a:ext cx="1998626" cy="883404"/>
          </a:xfrm>
          <a:prstGeom prst="ellipse">
            <a:avLst/>
          </a:prstGeom>
          <a:noFill/>
          <a:ln cap="flat" cmpd="sng" w="9525">
            <a:solidFill>
              <a:srgbClr val="EE68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1" name="Shape 391"/>
        <p:cNvGrpSpPr/>
        <p:nvPr/>
      </p:nvGrpSpPr>
      <p:grpSpPr>
        <a:xfrm>
          <a:off x="0" y="0"/>
          <a:ext cx="0" cy="0"/>
          <a:chOff x="0" y="0"/>
          <a:chExt cx="0" cy="0"/>
        </a:xfrm>
      </p:grpSpPr>
      <p:sp>
        <p:nvSpPr>
          <p:cNvPr id="392" name="Google Shape;392;p2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Three Way Handshake (2)</a:t>
            </a:r>
            <a:endParaRPr b="1" i="0" sz="4400" u="none" cap="none" strike="noStrike">
              <a:solidFill>
                <a:srgbClr val="EF6C00"/>
              </a:solidFill>
              <a:latin typeface="PT Sans Narrow"/>
              <a:ea typeface="PT Sans Narrow"/>
              <a:cs typeface="PT Sans Narrow"/>
              <a:sym typeface="PT Sans Narrow"/>
            </a:endParaRPr>
          </a:p>
        </p:txBody>
      </p:sp>
      <p:sp>
        <p:nvSpPr>
          <p:cNvPr id="393" name="Google Shape;393;p27"/>
          <p:cNvSpPr txBox="1"/>
          <p:nvPr>
            <p:ph idx="1" type="body"/>
          </p:nvPr>
        </p:nvSpPr>
        <p:spPr>
          <a:xfrm>
            <a:off x="457200" y="1063225"/>
            <a:ext cx="3766200" cy="3754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Server responds with</a:t>
            </a:r>
            <a:r>
              <a:rPr lang="en-US" sz="2220"/>
              <a:t> a</a:t>
            </a:r>
            <a:r>
              <a:rPr b="0" i="0" lang="en-US" sz="2220" u="none" cap="none" strike="noStrike">
                <a:solidFill>
                  <a:srgbClr val="695D46"/>
                </a:solidFill>
                <a:latin typeface="Open Sans"/>
                <a:ea typeface="Open Sans"/>
                <a:cs typeface="Open Sans"/>
                <a:sym typeface="Open Sans"/>
              </a:rPr>
              <a:t> SYN-ACK</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44"/>
              </a:spcBef>
              <a:spcAft>
                <a:spcPts val="0"/>
              </a:spcAft>
              <a:buClr>
                <a:srgbClr val="695D46"/>
              </a:buClr>
              <a:buSzPts val="2220"/>
              <a:buFont typeface="Arial"/>
              <a:buChar char="•"/>
            </a:pPr>
            <a:r>
              <a:rPr lang="en-US" sz="2220"/>
              <a:t>ACK</a:t>
            </a:r>
            <a:r>
              <a:rPr b="0" i="0" lang="en-US" sz="2220" u="none" cap="none" strike="noStrike">
                <a:solidFill>
                  <a:srgbClr val="695D46"/>
                </a:solidFill>
                <a:latin typeface="Open Sans"/>
                <a:ea typeface="Open Sans"/>
                <a:cs typeface="Open Sans"/>
                <a:sym typeface="Open Sans"/>
              </a:rPr>
              <a:t> the client’s SYN</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44"/>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Respond with the server’s own SYN</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44"/>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Carries server’s initial state</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Receive window		</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Source port number</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Initial sequence number</a:t>
            </a:r>
            <a:endParaRPr b="0" i="0" sz="1850" u="none" cap="none" strike="noStrike">
              <a:solidFill>
                <a:srgbClr val="695D46"/>
              </a:solidFill>
              <a:latin typeface="Open Sans"/>
              <a:ea typeface="Open Sans"/>
              <a:cs typeface="Open Sans"/>
              <a:sym typeface="Open Sans"/>
            </a:endParaRPr>
          </a:p>
        </p:txBody>
      </p:sp>
      <p:pic>
        <p:nvPicPr>
          <p:cNvPr descr="https://static.lwn.net/images/2012/tfo/3whs.png" id="394" name="Google Shape;394;p27"/>
          <p:cNvPicPr preferRelativeResize="0"/>
          <p:nvPr/>
        </p:nvPicPr>
        <p:blipFill rotWithShape="1">
          <a:blip r:embed="rId3">
            <a:alphaModFix/>
          </a:blip>
          <a:srcRect b="0" l="0" r="0" t="0"/>
          <a:stretch/>
        </p:blipFill>
        <p:spPr>
          <a:xfrm>
            <a:off x="4325339" y="1421146"/>
            <a:ext cx="4818661" cy="2947314"/>
          </a:xfrm>
          <a:prstGeom prst="rect">
            <a:avLst/>
          </a:prstGeom>
          <a:noFill/>
          <a:ln>
            <a:noFill/>
          </a:ln>
        </p:spPr>
      </p:pic>
      <p:sp>
        <p:nvSpPr>
          <p:cNvPr id="395" name="Google Shape;395;p27"/>
          <p:cNvSpPr/>
          <p:nvPr/>
        </p:nvSpPr>
        <p:spPr>
          <a:xfrm>
            <a:off x="5797023" y="2642461"/>
            <a:ext cx="1998626" cy="883404"/>
          </a:xfrm>
          <a:prstGeom prst="ellipse">
            <a:avLst/>
          </a:prstGeom>
          <a:noFill/>
          <a:ln cap="flat" cmpd="sng" w="9525">
            <a:solidFill>
              <a:srgbClr val="EE68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0" name="Shape 400"/>
        <p:cNvGrpSpPr/>
        <p:nvPr/>
      </p:nvGrpSpPr>
      <p:grpSpPr>
        <a:xfrm>
          <a:off x="0" y="0"/>
          <a:ext cx="0" cy="0"/>
          <a:chOff x="0" y="0"/>
          <a:chExt cx="0" cy="0"/>
        </a:xfrm>
      </p:grpSpPr>
      <p:sp>
        <p:nvSpPr>
          <p:cNvPr id="401" name="Google Shape;401;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Three Way Handshake (3)</a:t>
            </a:r>
            <a:endParaRPr b="1" i="0" sz="4400" u="none" cap="none" strike="noStrike">
              <a:solidFill>
                <a:srgbClr val="EF6C00"/>
              </a:solidFill>
              <a:latin typeface="PT Sans Narrow"/>
              <a:ea typeface="PT Sans Narrow"/>
              <a:cs typeface="PT Sans Narrow"/>
              <a:sym typeface="PT Sans Narrow"/>
            </a:endParaRPr>
          </a:p>
        </p:txBody>
      </p:sp>
      <p:sp>
        <p:nvSpPr>
          <p:cNvPr id="402" name="Google Shape;402;p28"/>
          <p:cNvSpPr txBox="1"/>
          <p:nvPr>
            <p:ph idx="1" type="body"/>
          </p:nvPr>
        </p:nvSpPr>
        <p:spPr>
          <a:xfrm>
            <a:off x="457200" y="1200151"/>
            <a:ext cx="3804834"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Client responds with an ACK</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Now the connection is established!</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Client and server can freely communicate</a:t>
            </a:r>
            <a:endParaRPr b="0" i="0" sz="2000" u="none" cap="none" strike="noStrike">
              <a:solidFill>
                <a:srgbClr val="695D46"/>
              </a:solidFill>
              <a:latin typeface="Open Sans"/>
              <a:ea typeface="Open Sans"/>
              <a:cs typeface="Open Sans"/>
              <a:sym typeface="Open Sans"/>
            </a:endParaRPr>
          </a:p>
        </p:txBody>
      </p:sp>
      <p:pic>
        <p:nvPicPr>
          <p:cNvPr descr="https://static.lwn.net/images/2012/tfo/3whs.png" id="403" name="Google Shape;403;p28"/>
          <p:cNvPicPr preferRelativeResize="0"/>
          <p:nvPr/>
        </p:nvPicPr>
        <p:blipFill rotWithShape="1">
          <a:blip r:embed="rId3">
            <a:alphaModFix/>
          </a:blip>
          <a:srcRect b="0" l="0" r="0" t="0"/>
          <a:stretch/>
        </p:blipFill>
        <p:spPr>
          <a:xfrm>
            <a:off x="4325339" y="1421146"/>
            <a:ext cx="4818661" cy="2947314"/>
          </a:xfrm>
          <a:prstGeom prst="rect">
            <a:avLst/>
          </a:prstGeom>
          <a:noFill/>
          <a:ln>
            <a:noFill/>
          </a:ln>
        </p:spPr>
      </p:pic>
      <p:sp>
        <p:nvSpPr>
          <p:cNvPr id="404" name="Google Shape;404;p28"/>
          <p:cNvSpPr/>
          <p:nvPr/>
        </p:nvSpPr>
        <p:spPr>
          <a:xfrm>
            <a:off x="5735356" y="3482473"/>
            <a:ext cx="1998626" cy="883404"/>
          </a:xfrm>
          <a:prstGeom prst="ellipse">
            <a:avLst/>
          </a:prstGeom>
          <a:noFill/>
          <a:ln cap="flat" cmpd="sng" w="9525">
            <a:solidFill>
              <a:srgbClr val="EE6800"/>
            </a:solidFill>
            <a:prstDash val="solid"/>
            <a:round/>
            <a:headEnd len="sm" w="sm" type="none"/>
            <a:tailEnd len="sm" w="sm" type="none"/>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8" name="Shape 408"/>
        <p:cNvGrpSpPr/>
        <p:nvPr/>
      </p:nvGrpSpPr>
      <p:grpSpPr>
        <a:xfrm>
          <a:off x="0" y="0"/>
          <a:ext cx="0" cy="0"/>
          <a:chOff x="0" y="0"/>
          <a:chExt cx="0" cy="0"/>
        </a:xfrm>
      </p:grpSpPr>
      <p:sp>
        <p:nvSpPr>
          <p:cNvPr id="409" name="Google Shape;409;p29"/>
          <p:cNvSpPr txBox="1"/>
          <p:nvPr>
            <p:ph idx="1" type="body"/>
          </p:nvPr>
        </p:nvSpPr>
        <p:spPr>
          <a:xfrm>
            <a:off x="482423" y="2088182"/>
            <a:ext cx="8195909" cy="112514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6600"/>
              <a:buFont typeface="Arial"/>
              <a:buNone/>
            </a:pPr>
            <a:r>
              <a:rPr b="1" i="0" lang="en-US" sz="6600" u="none" cap="none" strike="noStrike">
                <a:solidFill>
                  <a:schemeClr val="accent2"/>
                </a:solidFill>
                <a:latin typeface="PT Sans Narrow"/>
                <a:ea typeface="PT Sans Narrow"/>
                <a:cs typeface="PT Sans Narrow"/>
                <a:sym typeface="PT Sans Narrow"/>
              </a:rPr>
              <a:t>Teardown</a:t>
            </a:r>
            <a:endParaRPr b="1" i="0" sz="6600" u="none" cap="none" strike="noStrike">
              <a:solidFill>
                <a:schemeClr val="accent2"/>
              </a:solidFill>
              <a:latin typeface="PT Sans Narrow"/>
              <a:ea typeface="PT Sans Narrow"/>
              <a:cs typeface="PT Sans Narrow"/>
              <a:sym typeface="PT Sans Narro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3" name="Shape 413"/>
        <p:cNvGrpSpPr/>
        <p:nvPr/>
      </p:nvGrpSpPr>
      <p:grpSpPr>
        <a:xfrm>
          <a:off x="0" y="0"/>
          <a:ext cx="0" cy="0"/>
          <a:chOff x="0" y="0"/>
          <a:chExt cx="0" cy="0"/>
        </a:xfrm>
      </p:grpSpPr>
      <p:sp>
        <p:nvSpPr>
          <p:cNvPr id="414" name="Google Shape;414;p3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Two Teardown Methods</a:t>
            </a:r>
            <a:endParaRPr b="1" i="0" sz="4400" u="none" cap="none" strike="noStrike">
              <a:solidFill>
                <a:srgbClr val="EF6C00"/>
              </a:solidFill>
              <a:latin typeface="PT Sans Narrow"/>
              <a:ea typeface="PT Sans Narrow"/>
              <a:cs typeface="PT Sans Narrow"/>
              <a:sym typeface="PT Sans Narrow"/>
            </a:endParaRPr>
          </a:p>
        </p:txBody>
      </p:sp>
      <p:sp>
        <p:nvSpPr>
          <p:cNvPr id="415" name="Google Shape;415;p30"/>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Four way handshake (FIN)</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Graceful/normal teardown</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Reset (RST)</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Exceptional </a:t>
            </a:r>
            <a:r>
              <a:rPr lang="en-US"/>
              <a:t>t</a:t>
            </a:r>
            <a:r>
              <a:rPr b="0" i="0" lang="en-US" sz="2000" u="none" cap="none" strike="noStrike">
                <a:solidFill>
                  <a:srgbClr val="695D46"/>
                </a:solidFill>
                <a:latin typeface="Open Sans"/>
                <a:ea typeface="Open Sans"/>
                <a:cs typeface="Open Sans"/>
                <a:sym typeface="Open Sans"/>
              </a:rPr>
              <a:t>eardown</a:t>
            </a:r>
            <a:endParaRPr b="0" i="0" sz="2000" u="none" cap="none" strike="noStrike">
              <a:solidFill>
                <a:srgbClr val="695D46"/>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0" name="Shape 420"/>
        <p:cNvGrpSpPr/>
        <p:nvPr/>
      </p:nvGrpSpPr>
      <p:grpSpPr>
        <a:xfrm>
          <a:off x="0" y="0"/>
          <a:ext cx="0" cy="0"/>
          <a:chOff x="0" y="0"/>
          <a:chExt cx="0" cy="0"/>
        </a:xfrm>
      </p:grpSpPr>
      <p:sp>
        <p:nvSpPr>
          <p:cNvPr id="421" name="Google Shape;421;p3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Normal Teardown (FIN)</a:t>
            </a:r>
            <a:endParaRPr b="1" i="0" sz="4400" u="none" cap="none" strike="noStrike">
              <a:solidFill>
                <a:srgbClr val="EF6C00"/>
              </a:solidFill>
              <a:latin typeface="PT Sans Narrow"/>
              <a:ea typeface="PT Sans Narrow"/>
              <a:cs typeface="PT Sans Narrow"/>
              <a:sym typeface="PT Sans Narrow"/>
            </a:endParaRPr>
          </a:p>
        </p:txBody>
      </p:sp>
      <p:sp>
        <p:nvSpPr>
          <p:cNvPr id="422" name="Google Shape;422;p31"/>
          <p:cNvSpPr txBox="1"/>
          <p:nvPr>
            <p:ph idx="1" type="body"/>
          </p:nvPr>
        </p:nvSpPr>
        <p:spPr>
          <a:xfrm>
            <a:off x="457200" y="1200151"/>
            <a:ext cx="5052447"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One side closes their connection</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9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Indicates they will send no more data</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9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Sends a FIN</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9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Receives an ACK</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90000"/>
              </a:lnSpc>
              <a:spcBef>
                <a:spcPts val="444"/>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Other side may continue transmitting</a:t>
            </a:r>
            <a:endParaRPr b="0" i="0" sz="2400" u="none" cap="none" strike="noStrike">
              <a:solidFill>
                <a:srgbClr val="695D46"/>
              </a:solidFill>
              <a:latin typeface="Open Sans"/>
              <a:ea typeface="Open Sans"/>
              <a:cs typeface="Open Sans"/>
              <a:sym typeface="Open Sans"/>
            </a:endParaRPr>
          </a:p>
          <a:p>
            <a:pPr indent="-342900" lvl="0" marL="342900" marR="0" rtl="0" algn="l">
              <a:lnSpc>
                <a:spcPct val="90000"/>
              </a:lnSpc>
              <a:spcBef>
                <a:spcPts val="444"/>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Eventually it closes as well</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9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Sends a FIN</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90000"/>
              </a:lnSpc>
              <a:spcBef>
                <a:spcPts val="370"/>
              </a:spcBef>
              <a:spcAft>
                <a:spcPts val="0"/>
              </a:spcAft>
              <a:buClr>
                <a:srgbClr val="695D46"/>
              </a:buClr>
              <a:buSzPts val="1850"/>
              <a:buFont typeface="Arial"/>
              <a:buChar char="–"/>
            </a:pPr>
            <a:r>
              <a:rPr b="0" i="0" lang="en-US" sz="1850" u="none" cap="none" strike="noStrike">
                <a:solidFill>
                  <a:srgbClr val="695D46"/>
                </a:solidFill>
                <a:latin typeface="Open Sans"/>
                <a:ea typeface="Open Sans"/>
                <a:cs typeface="Open Sans"/>
                <a:sym typeface="Open Sans"/>
              </a:rPr>
              <a:t>Receives an ACK</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90000"/>
              </a:lnSpc>
              <a:spcBef>
                <a:spcPts val="444"/>
              </a:spcBef>
              <a:spcAft>
                <a:spcPts val="0"/>
              </a:spcAft>
              <a:buClr>
                <a:srgbClr val="695D46"/>
              </a:buClr>
              <a:buSzPts val="2220"/>
              <a:buFont typeface="Arial"/>
              <a:buChar char="•"/>
            </a:pPr>
            <a:r>
              <a:rPr b="0" i="0" lang="en-US" sz="2220" u="none" cap="none" strike="noStrike">
                <a:solidFill>
                  <a:srgbClr val="695D46"/>
                </a:solidFill>
                <a:latin typeface="Open Sans"/>
                <a:ea typeface="Open Sans"/>
                <a:cs typeface="Open Sans"/>
                <a:sym typeface="Open Sans"/>
              </a:rPr>
              <a:t>Connection is closed</a:t>
            </a:r>
            <a:endParaRPr b="0" i="0" sz="2220" u="none" cap="none" strike="noStrike">
              <a:solidFill>
                <a:srgbClr val="695D46"/>
              </a:solidFill>
              <a:latin typeface="Open Sans"/>
              <a:ea typeface="Open Sans"/>
              <a:cs typeface="Open Sans"/>
              <a:sym typeface="Open Sans"/>
            </a:endParaRPr>
          </a:p>
        </p:txBody>
      </p:sp>
      <p:pic>
        <p:nvPicPr>
          <p:cNvPr descr="http://www.masterraghu.com/subjects/np/introduction/unix_network_programming_v1.3/files/02fig03.gif" id="423" name="Google Shape;423;p31"/>
          <p:cNvPicPr preferRelativeResize="0"/>
          <p:nvPr/>
        </p:nvPicPr>
        <p:blipFill rotWithShape="1">
          <a:blip r:embed="rId3">
            <a:alphaModFix/>
          </a:blip>
          <a:srcRect b="0" l="0" r="0" t="0"/>
          <a:stretch/>
        </p:blipFill>
        <p:spPr>
          <a:xfrm>
            <a:off x="4313937" y="2100020"/>
            <a:ext cx="4741441" cy="228112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8" name="Shape 428"/>
        <p:cNvGrpSpPr/>
        <p:nvPr/>
      </p:nvGrpSpPr>
      <p:grpSpPr>
        <a:xfrm>
          <a:off x="0" y="0"/>
          <a:ext cx="0" cy="0"/>
          <a:chOff x="0" y="0"/>
          <a:chExt cx="0" cy="0"/>
        </a:xfrm>
      </p:grpSpPr>
      <p:sp>
        <p:nvSpPr>
          <p:cNvPr id="429" name="Google Shape;429;p3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TCP Reset (RST)</a:t>
            </a:r>
            <a:endParaRPr b="1" i="0" sz="4400" u="none" cap="none" strike="noStrike">
              <a:solidFill>
                <a:srgbClr val="EF6C00"/>
              </a:solidFill>
              <a:latin typeface="PT Sans Narrow"/>
              <a:ea typeface="PT Sans Narrow"/>
              <a:cs typeface="PT Sans Narrow"/>
              <a:sym typeface="PT Sans Narrow"/>
            </a:endParaRPr>
          </a:p>
        </p:txBody>
      </p:sp>
      <p:sp>
        <p:nvSpPr>
          <p:cNvPr id="430" name="Google Shape;430;p3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Reset the connection</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Most commonly, attempt to SYN on a closed port</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Send RST packet(s) only (no ACK)</a:t>
            </a:r>
            <a:endParaRPr b="0" i="0" sz="2400" u="none" cap="none" strike="noStrike">
              <a:solidFill>
                <a:srgbClr val="695D46"/>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4" name="Shape 434"/>
        <p:cNvGrpSpPr/>
        <p:nvPr/>
      </p:nvGrpSpPr>
      <p:grpSpPr>
        <a:xfrm>
          <a:off x="0" y="0"/>
          <a:ext cx="0" cy="0"/>
          <a:chOff x="0" y="0"/>
          <a:chExt cx="0" cy="0"/>
        </a:xfrm>
      </p:grpSpPr>
      <p:sp>
        <p:nvSpPr>
          <p:cNvPr id="435" name="Google Shape;435;p33"/>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2000"/>
              <a:buFont typeface="Arial"/>
              <a:buNone/>
            </a:pPr>
            <a:r>
              <a:rPr b="1" i="0" lang="en-US" sz="12000" u="none" cap="none" strike="noStrike">
                <a:solidFill>
                  <a:schemeClr val="accent2"/>
                </a:solidFill>
                <a:latin typeface="PT Sans Narrow"/>
                <a:ea typeface="PT Sans Narrow"/>
                <a:cs typeface="PT Sans Narrow"/>
                <a:sym typeface="PT Sans Narrow"/>
              </a:rPr>
              <a:t>Reliability</a:t>
            </a:r>
            <a:endParaRPr b="1" i="0" sz="12000" u="none" cap="none" strike="noStrike">
              <a:solidFill>
                <a:schemeClr val="accent2"/>
              </a:solidFill>
              <a:latin typeface="PT Sans Narrow"/>
              <a:ea typeface="PT Sans Narrow"/>
              <a:cs typeface="PT Sans Narrow"/>
              <a:sym typeface="PT Sans Narr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9" name="Shape 439"/>
        <p:cNvGrpSpPr/>
        <p:nvPr/>
      </p:nvGrpSpPr>
      <p:grpSpPr>
        <a:xfrm>
          <a:off x="0" y="0"/>
          <a:ext cx="0" cy="0"/>
          <a:chOff x="0" y="0"/>
          <a:chExt cx="0" cy="0"/>
        </a:xfrm>
      </p:grpSpPr>
      <p:sp>
        <p:nvSpPr>
          <p:cNvPr id="440" name="Google Shape;440;p3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Reliability</a:t>
            </a:r>
            <a:endParaRPr b="1" i="0" sz="4400" u="none" cap="none" strike="noStrike">
              <a:solidFill>
                <a:srgbClr val="EF6C00"/>
              </a:solidFill>
              <a:latin typeface="PT Sans Narrow"/>
              <a:ea typeface="PT Sans Narrow"/>
              <a:cs typeface="PT Sans Narrow"/>
              <a:sym typeface="PT Sans Narrow"/>
            </a:endParaRPr>
          </a:p>
        </p:txBody>
      </p:sp>
      <p:sp>
        <p:nvSpPr>
          <p:cNvPr id="441" name="Google Shape;441;p3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Cumulative ACKs</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Allow detection of dropped packets</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How do we know a packet was lost?</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Timeout</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Duplicate ACKs</a:t>
            </a:r>
            <a:endParaRPr b="0" i="0" sz="2000" u="none" cap="none" strike="noStrike">
              <a:solidFill>
                <a:srgbClr val="695D46"/>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6" name="Shape 446"/>
        <p:cNvGrpSpPr/>
        <p:nvPr/>
      </p:nvGrpSpPr>
      <p:grpSpPr>
        <a:xfrm>
          <a:off x="0" y="0"/>
          <a:ext cx="0" cy="0"/>
          <a:chOff x="0" y="0"/>
          <a:chExt cx="0" cy="0"/>
        </a:xfrm>
      </p:grpSpPr>
      <p:sp>
        <p:nvSpPr>
          <p:cNvPr id="447" name="Google Shape;447;p3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Timeout</a:t>
            </a:r>
            <a:endParaRPr b="1" i="0" sz="4400" u="none" cap="none" strike="noStrike">
              <a:solidFill>
                <a:srgbClr val="EF6C00"/>
              </a:solidFill>
              <a:latin typeface="PT Sans Narrow"/>
              <a:ea typeface="PT Sans Narrow"/>
              <a:cs typeface="PT Sans Narrow"/>
              <a:sym typeface="PT Sans Narrow"/>
            </a:endParaRPr>
          </a:p>
        </p:txBody>
      </p:sp>
      <p:sp>
        <p:nvSpPr>
          <p:cNvPr id="448" name="Google Shape;448;p3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Retransmission Time Out (RTO)</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Timeout after which packets are retransmitted</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Based on a constantly updated RTT estimate (and variance)</a:t>
            </a:r>
            <a:endParaRPr b="0" i="0" sz="2000" u="none" cap="none" strike="noStrike">
              <a:solidFill>
                <a:srgbClr val="695D46"/>
              </a:solidFill>
              <a:latin typeface="Open Sans"/>
              <a:ea typeface="Open Sans"/>
              <a:cs typeface="Open Sans"/>
              <a:sym typeface="Open Sans"/>
            </a:endParaRPr>
          </a:p>
          <a:p>
            <a:pPr indent="-342900" lvl="0" marL="342900" marR="0" rtl="0" algn="l">
              <a:lnSpc>
                <a:spcPct val="100000"/>
              </a:lnSpc>
              <a:spcBef>
                <a:spcPts val="480"/>
              </a:spcBef>
              <a:spcAft>
                <a:spcPts val="0"/>
              </a:spcAft>
              <a:buClr>
                <a:srgbClr val="695D46"/>
              </a:buClr>
              <a:buSzPts val="2400"/>
              <a:buFont typeface="Arial"/>
              <a:buChar char="•"/>
            </a:pPr>
            <a:r>
              <a:rPr b="0" i="0" lang="en-US" sz="2400" u="none" cap="none" strike="noStrike">
                <a:solidFill>
                  <a:srgbClr val="695D46"/>
                </a:solidFill>
                <a:latin typeface="Open Sans"/>
                <a:ea typeface="Open Sans"/>
                <a:cs typeface="Open Sans"/>
                <a:sym typeface="Open Sans"/>
              </a:rPr>
              <a:t>Single timer (not per-packet)</a:t>
            </a:r>
            <a:endParaRPr b="0" i="0" sz="24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Each received ACK of new data resets RTO</a:t>
            </a:r>
            <a:endParaRPr b="0" i="0" sz="2000" u="none" cap="none" strike="noStrike">
              <a:solidFill>
                <a:srgbClr val="695D46"/>
              </a:solidFill>
              <a:latin typeface="Open Sans"/>
              <a:ea typeface="Open Sans"/>
              <a:cs typeface="Open Sans"/>
              <a:sym typeface="Open Sans"/>
            </a:endParaRPr>
          </a:p>
          <a:p>
            <a:pPr indent="-285750" lvl="1" marL="74295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If RTO times out</a:t>
            </a:r>
            <a:endParaRPr b="0" i="0" sz="2000" u="none" cap="none" strike="noStrike">
              <a:solidFill>
                <a:srgbClr val="695D46"/>
              </a:solidFill>
              <a:latin typeface="Open Sans"/>
              <a:ea typeface="Open Sans"/>
              <a:cs typeface="Open Sans"/>
              <a:sym typeface="Open Sans"/>
            </a:endParaRPr>
          </a:p>
          <a:p>
            <a:pPr indent="-228600" lvl="2" marL="1143000" marR="0" rtl="0" algn="l">
              <a:lnSpc>
                <a:spcPct val="100000"/>
              </a:lnSpc>
              <a:spcBef>
                <a:spcPts val="400"/>
              </a:spcBef>
              <a:spcAft>
                <a:spcPts val="0"/>
              </a:spcAft>
              <a:buClr>
                <a:srgbClr val="695D46"/>
              </a:buClr>
              <a:buSzPts val="2000"/>
              <a:buFont typeface="Arial"/>
              <a:buChar char="•"/>
            </a:pPr>
            <a:r>
              <a:rPr b="0" i="0" lang="en-US" sz="2000" u="none" cap="none" strike="noStrike">
                <a:solidFill>
                  <a:srgbClr val="695D46"/>
                </a:solidFill>
                <a:latin typeface="Open Sans"/>
                <a:ea typeface="Open Sans"/>
                <a:cs typeface="Open Sans"/>
                <a:sym typeface="Open Sans"/>
              </a:rPr>
              <a:t>Retransmit packet containing “next byte”</a:t>
            </a:r>
            <a:endParaRPr b="0" i="0" sz="2000" u="none" cap="none" strike="noStrike">
              <a:solidFill>
                <a:srgbClr val="695D46"/>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3" name="Shape 453"/>
        <p:cNvGrpSpPr/>
        <p:nvPr/>
      </p:nvGrpSpPr>
      <p:grpSpPr>
        <a:xfrm>
          <a:off x="0" y="0"/>
          <a:ext cx="0" cy="0"/>
          <a:chOff x="0" y="0"/>
          <a:chExt cx="0" cy="0"/>
        </a:xfrm>
      </p:grpSpPr>
      <p:sp>
        <p:nvSpPr>
          <p:cNvPr id="454" name="Google Shape;454;p36"/>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Calculating Timeout</a:t>
            </a:r>
            <a:endParaRPr b="1" i="0" sz="4400" u="none" cap="none" strike="noStrike">
              <a:solidFill>
                <a:srgbClr val="EF6C00"/>
              </a:solidFill>
              <a:latin typeface="PT Sans Narrow"/>
              <a:ea typeface="PT Sans Narrow"/>
              <a:cs typeface="PT Sans Narrow"/>
              <a:sym typeface="PT Sans Narrow"/>
            </a:endParaRPr>
          </a:p>
        </p:txBody>
      </p:sp>
      <p:sp>
        <p:nvSpPr>
          <p:cNvPr id="455" name="Google Shape;455;p36"/>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695D46"/>
              </a:buClr>
              <a:buSzPts val="2400"/>
              <a:buFont typeface="Arial"/>
              <a:buChar char="•"/>
            </a:pPr>
            <a:r>
              <a:rPr lang="en-US" sz="2000"/>
              <a:t>Retransmission Time-Out (RTO): actual timer value</a:t>
            </a:r>
            <a:endParaRPr sz="2000"/>
          </a:p>
          <a:p>
            <a:pPr indent="-285750" lvl="1" marL="742950" marR="0" rtl="0" algn="l">
              <a:lnSpc>
                <a:spcPct val="115000"/>
              </a:lnSpc>
              <a:spcBef>
                <a:spcPts val="0"/>
              </a:spcBef>
              <a:spcAft>
                <a:spcPts val="0"/>
              </a:spcAft>
              <a:buClr>
                <a:srgbClr val="695D46"/>
              </a:buClr>
              <a:buSzPts val="2000"/>
              <a:buFont typeface="Arial"/>
              <a:buChar char="–"/>
            </a:pPr>
            <a:r>
              <a:rPr lang="en-US"/>
              <a:t>We set this value!</a:t>
            </a:r>
            <a:endParaRPr sz="2000"/>
          </a:p>
          <a:p>
            <a:pPr indent="-285750" lvl="1" marL="742950" marR="0" rtl="0" algn="l">
              <a:lnSpc>
                <a:spcPct val="115000"/>
              </a:lnSpc>
              <a:spcBef>
                <a:spcPts val="0"/>
              </a:spcBef>
              <a:spcAft>
                <a:spcPts val="0"/>
              </a:spcAft>
              <a:buClr>
                <a:srgbClr val="695D46"/>
              </a:buClr>
              <a:buSzPts val="2000"/>
              <a:buFont typeface="Arial"/>
              <a:buChar char="–"/>
            </a:pPr>
            <a:r>
              <a:rPr lang="en-US"/>
              <a:t>How do we find the best timeout value? Must estimate</a:t>
            </a:r>
            <a:r>
              <a:rPr lang="en-US"/>
              <a:t>...</a:t>
            </a:r>
            <a:r>
              <a:rPr lang="en-US"/>
              <a:t> </a:t>
            </a:r>
            <a:endParaRPr sz="2000"/>
          </a:p>
          <a:p>
            <a:pPr indent="-342900" lvl="0" marL="342900" marR="0" rtl="0" algn="l">
              <a:lnSpc>
                <a:spcPct val="115000"/>
              </a:lnSpc>
              <a:spcBef>
                <a:spcPts val="0"/>
              </a:spcBef>
              <a:spcAft>
                <a:spcPts val="0"/>
              </a:spcAft>
              <a:buClr>
                <a:srgbClr val="695D46"/>
              </a:buClr>
              <a:buSzPts val="2400"/>
              <a:buFont typeface="Arial"/>
              <a:buChar char="•"/>
            </a:pPr>
            <a:r>
              <a:rPr lang="en-US" sz="2000"/>
              <a:t>Estimated Time-Out (ETO)</a:t>
            </a:r>
            <a:endParaRPr sz="2000"/>
          </a:p>
          <a:p>
            <a:pPr indent="-285750" lvl="1" marL="742950" marR="0" rtl="0" algn="l">
              <a:lnSpc>
                <a:spcPct val="115000"/>
              </a:lnSpc>
              <a:spcBef>
                <a:spcPts val="0"/>
              </a:spcBef>
              <a:spcAft>
                <a:spcPts val="0"/>
              </a:spcAft>
              <a:buClr>
                <a:srgbClr val="695D46"/>
              </a:buClr>
              <a:buSzPts val="2000"/>
              <a:buFont typeface="Arial"/>
              <a:buChar char="–"/>
            </a:pPr>
            <a:r>
              <a:rPr b="1" lang="en-US"/>
              <a:t>ETO = </a:t>
            </a:r>
            <a:r>
              <a:rPr b="1" lang="en-US" sz="2000"/>
              <a:t>Estimated RTT + 4 · Estimated Deviation</a:t>
            </a:r>
            <a:endParaRPr b="1" sz="2000"/>
          </a:p>
          <a:p>
            <a:pPr indent="-342900" lvl="0" marL="342900" marR="0" rtl="0" algn="l">
              <a:lnSpc>
                <a:spcPct val="115000"/>
              </a:lnSpc>
              <a:spcBef>
                <a:spcPts val="0"/>
              </a:spcBef>
              <a:spcAft>
                <a:spcPts val="0"/>
              </a:spcAft>
              <a:buClr>
                <a:srgbClr val="695D46"/>
              </a:buClr>
              <a:buSzPts val="2400"/>
              <a:buFont typeface="Arial"/>
              <a:buChar char="•"/>
            </a:pPr>
            <a:r>
              <a:rPr lang="en-US" sz="2000"/>
              <a:t>Things change! Update our estimates over time via...</a:t>
            </a:r>
            <a:endParaRPr sz="2000"/>
          </a:p>
          <a:p>
            <a:pPr indent="-285750" lvl="1" marL="742950" marR="0" rtl="0" algn="l">
              <a:lnSpc>
                <a:spcPct val="115000"/>
              </a:lnSpc>
              <a:spcBef>
                <a:spcPts val="0"/>
              </a:spcBef>
              <a:spcAft>
                <a:spcPts val="0"/>
              </a:spcAft>
              <a:buClr>
                <a:srgbClr val="695D46"/>
              </a:buClr>
              <a:buSzPts val="2000"/>
              <a:buFont typeface="Arial"/>
              <a:buChar char="–"/>
            </a:pPr>
            <a:r>
              <a:rPr b="1" lang="en-US" sz="2000"/>
              <a:t>Deviation = |Estimated RTT − Sample RTT|</a:t>
            </a:r>
            <a:endParaRPr b="1" sz="2000"/>
          </a:p>
          <a:p>
            <a:pPr indent="-285750" lvl="1" marL="742950" marR="0" rtl="0" algn="l">
              <a:lnSpc>
                <a:spcPct val="115000"/>
              </a:lnSpc>
              <a:spcBef>
                <a:spcPts val="0"/>
              </a:spcBef>
              <a:spcAft>
                <a:spcPts val="0"/>
              </a:spcAft>
              <a:buClr>
                <a:srgbClr val="695D46"/>
              </a:buClr>
              <a:buSzPts val="2000"/>
              <a:buFont typeface="Arial"/>
              <a:buChar char="–"/>
            </a:pPr>
            <a:r>
              <a:rPr b="1" lang="en-US" sz="2000"/>
              <a:t>Estimated = α · Estimated + (1−α) · Sampled</a:t>
            </a:r>
            <a:endParaRPr b="1"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0" name="Shape 460"/>
        <p:cNvGrpSpPr/>
        <p:nvPr/>
      </p:nvGrpSpPr>
      <p:grpSpPr>
        <a:xfrm>
          <a:off x="0" y="0"/>
          <a:ext cx="0" cy="0"/>
          <a:chOff x="0" y="0"/>
          <a:chExt cx="0" cy="0"/>
        </a:xfrm>
      </p:grpSpPr>
      <p:sp>
        <p:nvSpPr>
          <p:cNvPr id="461" name="Google Shape;461;p37"/>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Setting RTO</a:t>
            </a:r>
            <a:endParaRPr b="1" i="0" sz="4400" u="none" cap="none" strike="noStrike">
              <a:solidFill>
                <a:srgbClr val="EF6C00"/>
              </a:solidFill>
              <a:latin typeface="PT Sans Narrow"/>
              <a:ea typeface="PT Sans Narrow"/>
              <a:cs typeface="PT Sans Narrow"/>
              <a:sym typeface="PT Sans Narrow"/>
            </a:endParaRPr>
          </a:p>
        </p:txBody>
      </p:sp>
      <p:sp>
        <p:nvSpPr>
          <p:cNvPr id="462" name="Google Shape;462;p37"/>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Autofit/>
          </a:bodyPr>
          <a:lstStyle/>
          <a:p>
            <a:pPr indent="-317500" lvl="0" marL="342900" marR="0" rtl="0" algn="l">
              <a:lnSpc>
                <a:spcPct val="115000"/>
              </a:lnSpc>
              <a:spcBef>
                <a:spcPts val="0"/>
              </a:spcBef>
              <a:spcAft>
                <a:spcPts val="0"/>
              </a:spcAft>
              <a:buClr>
                <a:srgbClr val="695D46"/>
              </a:buClr>
              <a:buSzPts val="2000"/>
              <a:buFont typeface="Arial"/>
              <a:buChar char="•"/>
            </a:pPr>
            <a:r>
              <a:rPr lang="en-US" sz="2000"/>
              <a:t>When clean sample arrives,</a:t>
            </a:r>
            <a:endParaRPr sz="2000"/>
          </a:p>
          <a:p>
            <a:pPr indent="-285750" lvl="1" marL="742950" marR="0" rtl="0" algn="l">
              <a:lnSpc>
                <a:spcPct val="115000"/>
              </a:lnSpc>
              <a:spcBef>
                <a:spcPts val="0"/>
              </a:spcBef>
              <a:spcAft>
                <a:spcPts val="0"/>
              </a:spcAft>
              <a:buClr>
                <a:srgbClr val="695D46"/>
              </a:buClr>
              <a:buSzPts val="2000"/>
              <a:buFont typeface="Arial"/>
              <a:buChar char="–"/>
            </a:pPr>
            <a:r>
              <a:rPr lang="en-US"/>
              <a:t>Set RTO = ETO</a:t>
            </a:r>
            <a:endParaRPr/>
          </a:p>
          <a:p>
            <a:pPr indent="-317500" lvl="0" marL="342900" marR="0" rtl="0" algn="l">
              <a:lnSpc>
                <a:spcPct val="115000"/>
              </a:lnSpc>
              <a:spcBef>
                <a:spcPts val="0"/>
              </a:spcBef>
              <a:spcAft>
                <a:spcPts val="0"/>
              </a:spcAft>
              <a:buClr>
                <a:srgbClr val="695D46"/>
              </a:buClr>
              <a:buSzPts val="2000"/>
              <a:buFont typeface="Arial"/>
              <a:buChar char="•"/>
            </a:pPr>
            <a:r>
              <a:rPr lang="en-US" sz="2000"/>
              <a:t>When RTO timer expires,</a:t>
            </a:r>
            <a:endParaRPr sz="2000"/>
          </a:p>
          <a:p>
            <a:pPr indent="-285750" lvl="1" marL="742950" marR="0" rtl="0" algn="l">
              <a:lnSpc>
                <a:spcPct val="115000"/>
              </a:lnSpc>
              <a:spcBef>
                <a:spcPts val="0"/>
              </a:spcBef>
              <a:spcAft>
                <a:spcPts val="0"/>
              </a:spcAft>
              <a:buClr>
                <a:srgbClr val="695D46"/>
              </a:buClr>
              <a:buSzPts val="2000"/>
              <a:buFont typeface="Arial"/>
              <a:buChar char="–"/>
            </a:pPr>
            <a:r>
              <a:rPr lang="en-US"/>
              <a:t>Set RTO = 2 </a:t>
            </a:r>
            <a:r>
              <a:rPr lang="en-US">
                <a:solidFill>
                  <a:schemeClr val="accent5"/>
                </a:solidFill>
              </a:rPr>
              <a:t>· ETO</a:t>
            </a:r>
            <a:endParaRPr>
              <a:solidFill>
                <a:schemeClr val="accent5"/>
              </a:solidFill>
            </a:endParaRPr>
          </a:p>
          <a:p>
            <a:pPr indent="0" lvl="0" marL="0" marR="0" rtl="0" algn="l">
              <a:lnSpc>
                <a:spcPct val="115000"/>
              </a:lnSpc>
              <a:spcBef>
                <a:spcPts val="0"/>
              </a:spcBef>
              <a:spcAft>
                <a:spcPts val="0"/>
              </a:spcAft>
              <a:buNone/>
            </a:pPr>
            <a:r>
              <a:t/>
            </a:r>
            <a:endParaRPr>
              <a:solidFill>
                <a:schemeClr val="accent5"/>
              </a:solidFill>
            </a:endParaRPr>
          </a:p>
          <a:p>
            <a:pPr indent="-317500" lvl="0" marL="342900" marR="0" rtl="0" algn="l">
              <a:lnSpc>
                <a:spcPct val="115000"/>
              </a:lnSpc>
              <a:spcBef>
                <a:spcPts val="0"/>
              </a:spcBef>
              <a:spcAft>
                <a:spcPts val="0"/>
              </a:spcAft>
              <a:buClr>
                <a:schemeClr val="accent5"/>
              </a:buClr>
              <a:buSzPts val="2000"/>
              <a:buFont typeface="Arial"/>
              <a:buChar char="•"/>
            </a:pPr>
            <a:r>
              <a:rPr i="1" lang="en-US" sz="2000">
                <a:solidFill>
                  <a:schemeClr val="accent5"/>
                </a:solidFill>
              </a:rPr>
              <a:t>Note: this is not the law! Just one way to set a “good” timeout value based on real life data.</a:t>
            </a:r>
            <a:endParaRPr i="1" sz="2000">
              <a:solidFill>
                <a:schemeClr val="accent5"/>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6" name="Shape 466"/>
        <p:cNvGrpSpPr/>
        <p:nvPr/>
      </p:nvGrpSpPr>
      <p:grpSpPr>
        <a:xfrm>
          <a:off x="0" y="0"/>
          <a:ext cx="0" cy="0"/>
          <a:chOff x="0" y="0"/>
          <a:chExt cx="0" cy="0"/>
        </a:xfrm>
      </p:grpSpPr>
      <p:sp>
        <p:nvSpPr>
          <p:cNvPr id="467" name="Google Shape;467;p3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Timeout</a:t>
            </a:r>
            <a:endParaRPr b="1" i="0" sz="4400" u="none" cap="none" strike="noStrike">
              <a:solidFill>
                <a:srgbClr val="EF6C00"/>
              </a:solidFill>
              <a:latin typeface="PT Sans Narrow"/>
              <a:ea typeface="PT Sans Narrow"/>
              <a:cs typeface="PT Sans Narrow"/>
              <a:sym typeface="PT Sans Narrow"/>
            </a:endParaRPr>
          </a:p>
        </p:txBody>
      </p:sp>
      <p:pic>
        <p:nvPicPr>
          <p:cNvPr id="468" name="Google Shape;468;p38"/>
          <p:cNvPicPr preferRelativeResize="0"/>
          <p:nvPr/>
        </p:nvPicPr>
        <p:blipFill>
          <a:blip r:embed="rId3">
            <a:alphaModFix/>
          </a:blip>
          <a:stretch>
            <a:fillRect/>
          </a:stretch>
        </p:blipFill>
        <p:spPr>
          <a:xfrm>
            <a:off x="657500" y="1172654"/>
            <a:ext cx="6171580" cy="377547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2" name="Shape 472"/>
        <p:cNvGrpSpPr/>
        <p:nvPr/>
      </p:nvGrpSpPr>
      <p:grpSpPr>
        <a:xfrm>
          <a:off x="0" y="0"/>
          <a:ext cx="0" cy="0"/>
          <a:chOff x="0" y="0"/>
          <a:chExt cx="0" cy="0"/>
        </a:xfrm>
      </p:grpSpPr>
      <p:sp>
        <p:nvSpPr>
          <p:cNvPr id="473" name="Google Shape;473;p3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b="1" i="0" lang="en-US" sz="4400" u="none" cap="none" strike="noStrike">
                <a:solidFill>
                  <a:srgbClr val="EF6C00"/>
                </a:solidFill>
                <a:latin typeface="PT Sans Narrow"/>
                <a:ea typeface="PT Sans Narrow"/>
                <a:cs typeface="PT Sans Narrow"/>
                <a:sym typeface="PT Sans Narrow"/>
              </a:rPr>
              <a:t>Duplicate ACKs</a:t>
            </a:r>
            <a:endParaRPr b="1" i="0" sz="4400" u="none" cap="none" strike="noStrike">
              <a:solidFill>
                <a:srgbClr val="EF6C00"/>
              </a:solidFill>
              <a:latin typeface="PT Sans Narrow"/>
              <a:ea typeface="PT Sans Narrow"/>
              <a:cs typeface="PT Sans Narrow"/>
              <a:sym typeface="PT Sans Narrow"/>
            </a:endParaRPr>
          </a:p>
        </p:txBody>
      </p:sp>
      <p:sp>
        <p:nvSpPr>
          <p:cNvPr id="474" name="Google Shape;474;p39"/>
          <p:cNvSpPr txBox="1"/>
          <p:nvPr>
            <p:ph idx="1" type="body"/>
          </p:nvPr>
        </p:nvSpPr>
        <p:spPr>
          <a:xfrm>
            <a:off x="457200" y="1200150"/>
            <a:ext cx="4374300" cy="3394500"/>
          </a:xfrm>
          <a:prstGeom prst="rect">
            <a:avLst/>
          </a:prstGeom>
          <a:noFill/>
          <a:ln>
            <a:noFill/>
          </a:ln>
        </p:spPr>
        <p:txBody>
          <a:bodyPr anchorCtr="0" anchor="t" bIns="45700" lIns="91425" spcFirstLastPara="1" rIns="91425" wrap="square" tIns="45700">
            <a:noAutofit/>
          </a:bodyPr>
          <a:lstStyle/>
          <a:p>
            <a:pPr indent="-351790" lvl="0" marL="342900" rtl="0" algn="l">
              <a:spcBef>
                <a:spcPts val="480"/>
              </a:spcBef>
              <a:spcAft>
                <a:spcPts val="0"/>
              </a:spcAft>
              <a:buSzPts val="2000"/>
              <a:buChar char="•"/>
            </a:pPr>
            <a:r>
              <a:rPr lang="en-US" sz="2000"/>
              <a:t>Transmit</a:t>
            </a:r>
            <a:endParaRPr sz="2000"/>
          </a:p>
          <a:p>
            <a:pPr indent="-314325" lvl="1" marL="742950" rtl="0" algn="l">
              <a:spcBef>
                <a:spcPts val="480"/>
              </a:spcBef>
              <a:spcAft>
                <a:spcPts val="0"/>
              </a:spcAft>
              <a:buSzPts val="2000"/>
              <a:buChar char="–"/>
            </a:pPr>
            <a:r>
              <a:rPr lang="en-US" sz="2000"/>
              <a:t>Seq 1000</a:t>
            </a:r>
            <a:endParaRPr sz="2000"/>
          </a:p>
          <a:p>
            <a:pPr indent="-314325" lvl="1" marL="742950" rtl="0" algn="l">
              <a:spcBef>
                <a:spcPts val="480"/>
              </a:spcBef>
              <a:spcAft>
                <a:spcPts val="0"/>
              </a:spcAft>
              <a:buSzPts val="2000"/>
              <a:buChar char="–"/>
            </a:pPr>
            <a:r>
              <a:rPr lang="en-US" sz="2000"/>
              <a:t>Seq 2000</a:t>
            </a:r>
            <a:endParaRPr sz="2000"/>
          </a:p>
          <a:p>
            <a:pPr indent="-314325" lvl="1" marL="742950" rtl="0" algn="l">
              <a:spcBef>
                <a:spcPts val="480"/>
              </a:spcBef>
              <a:spcAft>
                <a:spcPts val="0"/>
              </a:spcAft>
              <a:buSzPts val="2000"/>
              <a:buChar char="–"/>
            </a:pPr>
            <a:r>
              <a:rPr lang="en-US" sz="2000"/>
              <a:t>Seq 3000 </a:t>
            </a:r>
            <a:r>
              <a:rPr b="1" lang="en-US" sz="2000">
                <a:solidFill>
                  <a:srgbClr val="FF0000"/>
                </a:solidFill>
              </a:rPr>
              <a:t>Dropped in flight</a:t>
            </a:r>
            <a:endParaRPr b="1" sz="2000">
              <a:solidFill>
                <a:srgbClr val="FF0000"/>
              </a:solidFill>
            </a:endParaRPr>
          </a:p>
          <a:p>
            <a:pPr indent="-314325" lvl="1" marL="742950" rtl="0" algn="l">
              <a:spcBef>
                <a:spcPts val="480"/>
              </a:spcBef>
              <a:spcAft>
                <a:spcPts val="0"/>
              </a:spcAft>
              <a:buSzPts val="2000"/>
              <a:buChar char="–"/>
            </a:pPr>
            <a:r>
              <a:rPr lang="en-US" sz="2000"/>
              <a:t>Seq 4000</a:t>
            </a:r>
            <a:endParaRPr sz="2000"/>
          </a:p>
          <a:p>
            <a:pPr indent="-314325" lvl="1" marL="742950" rtl="0" algn="l">
              <a:spcBef>
                <a:spcPts val="480"/>
              </a:spcBef>
              <a:spcAft>
                <a:spcPts val="0"/>
              </a:spcAft>
              <a:buSzPts val="2000"/>
              <a:buChar char="–"/>
            </a:pPr>
            <a:r>
              <a:rPr lang="en-US" sz="2000"/>
              <a:t>Seq 5000</a:t>
            </a:r>
            <a:endParaRPr sz="2000"/>
          </a:p>
          <a:p>
            <a:pPr indent="-314325" lvl="1" marL="742950" rtl="0" algn="l">
              <a:spcBef>
                <a:spcPts val="480"/>
              </a:spcBef>
              <a:spcAft>
                <a:spcPts val="0"/>
              </a:spcAft>
              <a:buSzPts val="2000"/>
              <a:buChar char="–"/>
            </a:pPr>
            <a:r>
              <a:rPr lang="en-US" sz="2000"/>
              <a:t>Seq 6000</a:t>
            </a:r>
            <a:endParaRPr sz="2000"/>
          </a:p>
        </p:txBody>
      </p:sp>
      <p:sp>
        <p:nvSpPr>
          <p:cNvPr id="475" name="Google Shape;475;p39"/>
          <p:cNvSpPr txBox="1"/>
          <p:nvPr>
            <p:ph idx="2" type="body"/>
          </p:nvPr>
        </p:nvSpPr>
        <p:spPr>
          <a:xfrm>
            <a:off x="4648200" y="1200151"/>
            <a:ext cx="4038600" cy="3394500"/>
          </a:xfrm>
          <a:prstGeom prst="rect">
            <a:avLst/>
          </a:prstGeom>
        </p:spPr>
        <p:txBody>
          <a:bodyPr anchorCtr="0" anchor="t" bIns="91425" lIns="91425" spcFirstLastPara="1" rIns="91425" wrap="square" tIns="91425">
            <a:noAutofit/>
          </a:bodyPr>
          <a:lstStyle/>
          <a:p>
            <a:pPr indent="-351790" lvl="0" marL="342900" rtl="0" algn="l">
              <a:lnSpc>
                <a:spcPct val="100000"/>
              </a:lnSpc>
              <a:spcBef>
                <a:spcPts val="0"/>
              </a:spcBef>
              <a:spcAft>
                <a:spcPts val="0"/>
              </a:spcAft>
              <a:buSzPts val="2000"/>
              <a:buChar char="•"/>
            </a:pPr>
            <a:r>
              <a:rPr lang="en-US" sz="2000"/>
              <a:t>What ACKs do we receive?</a:t>
            </a:r>
            <a:endParaRPr sz="2000"/>
          </a:p>
          <a:p>
            <a:pPr indent="-314325" lvl="1" marL="742950" rtl="0" algn="l">
              <a:lnSpc>
                <a:spcPct val="100000"/>
              </a:lnSpc>
              <a:spcBef>
                <a:spcPts val="480"/>
              </a:spcBef>
              <a:spcAft>
                <a:spcPts val="0"/>
              </a:spcAft>
              <a:buSzPts val="2000"/>
              <a:buChar char="–"/>
            </a:pPr>
            <a:r>
              <a:rPr lang="en-US" sz="2000"/>
              <a:t>ACK 2000</a:t>
            </a:r>
            <a:endParaRPr sz="2000"/>
          </a:p>
          <a:p>
            <a:pPr indent="-314325" lvl="1" marL="742950" rtl="0" algn="l">
              <a:lnSpc>
                <a:spcPct val="100000"/>
              </a:lnSpc>
              <a:spcBef>
                <a:spcPts val="480"/>
              </a:spcBef>
              <a:spcAft>
                <a:spcPts val="0"/>
              </a:spcAft>
              <a:buSzPts val="2000"/>
              <a:buChar char="–"/>
            </a:pPr>
            <a:r>
              <a:rPr lang="en-US" sz="2000"/>
              <a:t>ACK 3000</a:t>
            </a:r>
            <a:endParaRPr sz="2000"/>
          </a:p>
          <a:p>
            <a:pPr indent="-314325" lvl="1" marL="742950" rtl="0" algn="l">
              <a:lnSpc>
                <a:spcPct val="100000"/>
              </a:lnSpc>
              <a:spcBef>
                <a:spcPts val="480"/>
              </a:spcBef>
              <a:spcAft>
                <a:spcPts val="0"/>
              </a:spcAft>
              <a:buSzPts val="2000"/>
              <a:buChar char="–"/>
            </a:pPr>
            <a:r>
              <a:rPr lang="en-US" sz="2000"/>
              <a:t>(nothing)</a:t>
            </a:r>
            <a:endParaRPr sz="2000"/>
          </a:p>
          <a:p>
            <a:pPr indent="-314325" lvl="1" marL="742950" rtl="0" algn="l">
              <a:lnSpc>
                <a:spcPct val="100000"/>
              </a:lnSpc>
              <a:spcBef>
                <a:spcPts val="480"/>
              </a:spcBef>
              <a:spcAft>
                <a:spcPts val="0"/>
              </a:spcAft>
              <a:buSzPts val="2000"/>
              <a:buChar char="–"/>
            </a:pPr>
            <a:r>
              <a:rPr b="1" lang="en-US" sz="2000"/>
              <a:t>ACK 3000</a:t>
            </a:r>
            <a:endParaRPr b="1" sz="2000"/>
          </a:p>
          <a:p>
            <a:pPr indent="-314325" lvl="1" marL="742950" rtl="0" algn="l">
              <a:lnSpc>
                <a:spcPct val="100000"/>
              </a:lnSpc>
              <a:spcBef>
                <a:spcPts val="480"/>
              </a:spcBef>
              <a:spcAft>
                <a:spcPts val="0"/>
              </a:spcAft>
              <a:buSzPts val="2000"/>
              <a:buChar char="–"/>
            </a:pPr>
            <a:r>
              <a:rPr b="1" lang="en-US" sz="2000"/>
              <a:t>ACK 3000</a:t>
            </a:r>
            <a:endParaRPr b="1" sz="2000"/>
          </a:p>
          <a:p>
            <a:pPr indent="-314325" lvl="1" marL="742950" rtl="0" algn="l">
              <a:lnSpc>
                <a:spcPct val="100000"/>
              </a:lnSpc>
              <a:spcBef>
                <a:spcPts val="480"/>
              </a:spcBef>
              <a:spcAft>
                <a:spcPts val="0"/>
              </a:spcAft>
              <a:buSzPts val="2000"/>
              <a:buChar char="–"/>
            </a:pPr>
            <a:r>
              <a:rPr b="1" lang="en-US" sz="2000"/>
              <a:t>ACK 3000</a:t>
            </a:r>
            <a:endParaRPr b="1" sz="2000"/>
          </a:p>
          <a:p>
            <a:pPr indent="0" lvl="0" marL="0" rtl="0" algn="l">
              <a:lnSpc>
                <a:spcPct val="100000"/>
              </a:lnSpc>
              <a:spcBef>
                <a:spcPts val="372"/>
              </a:spcBef>
              <a:spcAft>
                <a:spcPts val="0"/>
              </a:spcAft>
              <a:buNone/>
            </a:pPr>
            <a:r>
              <a:t/>
            </a:r>
            <a:endParaRPr sz="1860">
              <a:solidFill>
                <a:schemeClr val="accent5"/>
              </a:solidFill>
            </a:endParaRPr>
          </a:p>
          <a:p>
            <a:pPr indent="0" lvl="0" marL="0" rtl="0" algn="l">
              <a:lnSpc>
                <a:spcPct val="100000"/>
              </a:lnSpc>
              <a:spcBef>
                <a:spcPts val="372"/>
              </a:spcBef>
              <a:spcAft>
                <a:spcPts val="0"/>
              </a:spcAft>
              <a:buNone/>
            </a:pPr>
            <a:r>
              <a:rPr lang="en-US" sz="1860">
                <a:solidFill>
                  <a:schemeClr val="accent5"/>
                </a:solidFill>
              </a:rPr>
              <a:t>Duplicate ACKs indicate packet loss / reorder</a:t>
            </a:r>
            <a:endParaRPr b="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9" name="Shape 479"/>
        <p:cNvGrpSpPr/>
        <p:nvPr/>
      </p:nvGrpSpPr>
      <p:grpSpPr>
        <a:xfrm>
          <a:off x="0" y="0"/>
          <a:ext cx="0" cy="0"/>
          <a:chOff x="0" y="0"/>
          <a:chExt cx="0" cy="0"/>
        </a:xfrm>
      </p:grpSpPr>
      <p:sp>
        <p:nvSpPr>
          <p:cNvPr id="480" name="Google Shape;480;p40"/>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accent2"/>
              </a:buClr>
              <a:buSzPts val="12000"/>
              <a:buFont typeface="Arial"/>
              <a:buNone/>
            </a:pPr>
            <a:r>
              <a:rPr lang="en-US"/>
              <a:t>Worksheet</a:t>
            </a:r>
            <a:endParaRPr b="1" i="0" sz="12000" u="none" cap="none" strike="noStrike">
              <a:solidFill>
                <a:schemeClr val="accent2"/>
              </a:solidFill>
              <a:latin typeface="PT Sans Narrow"/>
              <a:ea typeface="PT Sans Narrow"/>
              <a:cs typeface="PT Sans Narrow"/>
              <a:sym typeface="PT Sans Narro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5" name="Shape 485"/>
        <p:cNvGrpSpPr/>
        <p:nvPr/>
      </p:nvGrpSpPr>
      <p:grpSpPr>
        <a:xfrm>
          <a:off x="0" y="0"/>
          <a:ext cx="0" cy="0"/>
          <a:chOff x="0" y="0"/>
          <a:chExt cx="0" cy="0"/>
        </a:xfrm>
      </p:grpSpPr>
      <p:sp>
        <p:nvSpPr>
          <p:cNvPr id="486" name="Google Shape;486;p41"/>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Q1</a:t>
            </a:r>
            <a:endParaRPr b="1" i="0" sz="4400" u="none" cap="none" strike="noStrike">
              <a:solidFill>
                <a:srgbClr val="EF6C00"/>
              </a:solidFill>
              <a:latin typeface="PT Sans Narrow"/>
              <a:ea typeface="PT Sans Narrow"/>
              <a:cs typeface="PT Sans Narrow"/>
              <a:sym typeface="PT Sans Narrow"/>
            </a:endParaRPr>
          </a:p>
        </p:txBody>
      </p:sp>
      <p:pic>
        <p:nvPicPr>
          <p:cNvPr id="487" name="Google Shape;487;p41"/>
          <p:cNvPicPr preferRelativeResize="0"/>
          <p:nvPr/>
        </p:nvPicPr>
        <p:blipFill>
          <a:blip r:embed="rId3">
            <a:alphaModFix/>
          </a:blip>
          <a:stretch>
            <a:fillRect/>
          </a:stretch>
        </p:blipFill>
        <p:spPr>
          <a:xfrm>
            <a:off x="909075" y="1219900"/>
            <a:ext cx="7325848" cy="2703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2" name="Shape 492"/>
        <p:cNvGrpSpPr/>
        <p:nvPr/>
      </p:nvGrpSpPr>
      <p:grpSpPr>
        <a:xfrm>
          <a:off x="0" y="0"/>
          <a:ext cx="0" cy="0"/>
          <a:chOff x="0" y="0"/>
          <a:chExt cx="0" cy="0"/>
        </a:xfrm>
      </p:grpSpPr>
      <p:sp>
        <p:nvSpPr>
          <p:cNvPr id="493" name="Google Shape;493;p42"/>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Q1</a:t>
            </a:r>
            <a:endParaRPr b="1" i="0" sz="4400" u="none" cap="none" strike="noStrike">
              <a:solidFill>
                <a:srgbClr val="EF6C00"/>
              </a:solidFill>
              <a:latin typeface="PT Sans Narrow"/>
              <a:ea typeface="PT Sans Narrow"/>
              <a:cs typeface="PT Sans Narrow"/>
              <a:sym typeface="PT Sans Narrow"/>
            </a:endParaRPr>
          </a:p>
        </p:txBody>
      </p:sp>
      <p:pic>
        <p:nvPicPr>
          <p:cNvPr id="494" name="Google Shape;494;p42"/>
          <p:cNvPicPr preferRelativeResize="0"/>
          <p:nvPr/>
        </p:nvPicPr>
        <p:blipFill>
          <a:blip r:embed="rId3">
            <a:alphaModFix/>
          </a:blip>
          <a:stretch>
            <a:fillRect/>
          </a:stretch>
        </p:blipFill>
        <p:spPr>
          <a:xfrm>
            <a:off x="915725" y="1201925"/>
            <a:ext cx="7379173" cy="26597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9" name="Shape 499"/>
        <p:cNvGrpSpPr/>
        <p:nvPr/>
      </p:nvGrpSpPr>
      <p:grpSpPr>
        <a:xfrm>
          <a:off x="0" y="0"/>
          <a:ext cx="0" cy="0"/>
          <a:chOff x="0" y="0"/>
          <a:chExt cx="0" cy="0"/>
        </a:xfrm>
      </p:grpSpPr>
      <p:sp>
        <p:nvSpPr>
          <p:cNvPr id="500" name="Google Shape;500;p43"/>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Q2.1</a:t>
            </a:r>
            <a:endParaRPr b="1" i="0" sz="4400" u="none" cap="none" strike="noStrike">
              <a:solidFill>
                <a:srgbClr val="EF6C00"/>
              </a:solidFill>
              <a:latin typeface="PT Sans Narrow"/>
              <a:ea typeface="PT Sans Narrow"/>
              <a:cs typeface="PT Sans Narrow"/>
              <a:sym typeface="PT Sans Narrow"/>
            </a:endParaRPr>
          </a:p>
        </p:txBody>
      </p:sp>
      <p:pic>
        <p:nvPicPr>
          <p:cNvPr id="501" name="Google Shape;501;p43"/>
          <p:cNvPicPr preferRelativeResize="0"/>
          <p:nvPr/>
        </p:nvPicPr>
        <p:blipFill>
          <a:blip r:embed="rId3">
            <a:alphaModFix/>
          </a:blip>
          <a:stretch>
            <a:fillRect/>
          </a:stretch>
        </p:blipFill>
        <p:spPr>
          <a:xfrm>
            <a:off x="1375450" y="1063375"/>
            <a:ext cx="6393101" cy="3990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6" name="Shape 506"/>
        <p:cNvGrpSpPr/>
        <p:nvPr/>
      </p:nvGrpSpPr>
      <p:grpSpPr>
        <a:xfrm>
          <a:off x="0" y="0"/>
          <a:ext cx="0" cy="0"/>
          <a:chOff x="0" y="0"/>
          <a:chExt cx="0" cy="0"/>
        </a:xfrm>
      </p:grpSpPr>
      <p:sp>
        <p:nvSpPr>
          <p:cNvPr id="507" name="Google Shape;507;p44"/>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Q2.1</a:t>
            </a:r>
            <a:endParaRPr b="1" i="0" sz="4400" u="none" cap="none" strike="noStrike">
              <a:solidFill>
                <a:srgbClr val="EF6C00"/>
              </a:solidFill>
              <a:latin typeface="PT Sans Narrow"/>
              <a:ea typeface="PT Sans Narrow"/>
              <a:cs typeface="PT Sans Narrow"/>
              <a:sym typeface="PT Sans Narrow"/>
            </a:endParaRPr>
          </a:p>
        </p:txBody>
      </p:sp>
      <p:pic>
        <p:nvPicPr>
          <p:cNvPr id="508" name="Google Shape;508;p44"/>
          <p:cNvPicPr preferRelativeResize="0"/>
          <p:nvPr/>
        </p:nvPicPr>
        <p:blipFill>
          <a:blip r:embed="rId3">
            <a:alphaModFix/>
          </a:blip>
          <a:stretch>
            <a:fillRect/>
          </a:stretch>
        </p:blipFill>
        <p:spPr>
          <a:xfrm>
            <a:off x="1366225" y="1063375"/>
            <a:ext cx="6411550" cy="3984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3" name="Shape 513"/>
        <p:cNvGrpSpPr/>
        <p:nvPr/>
      </p:nvGrpSpPr>
      <p:grpSpPr>
        <a:xfrm>
          <a:off x="0" y="0"/>
          <a:ext cx="0" cy="0"/>
          <a:chOff x="0" y="0"/>
          <a:chExt cx="0" cy="0"/>
        </a:xfrm>
      </p:grpSpPr>
      <p:sp>
        <p:nvSpPr>
          <p:cNvPr id="514" name="Google Shape;514;p45"/>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Q2.2</a:t>
            </a:r>
            <a:endParaRPr b="1" i="0" sz="4400" u="none" cap="none" strike="noStrike">
              <a:solidFill>
                <a:srgbClr val="EF6C00"/>
              </a:solidFill>
              <a:latin typeface="PT Sans Narrow"/>
              <a:ea typeface="PT Sans Narrow"/>
              <a:cs typeface="PT Sans Narrow"/>
              <a:sym typeface="PT Sans Narrow"/>
            </a:endParaRPr>
          </a:p>
        </p:txBody>
      </p:sp>
      <p:pic>
        <p:nvPicPr>
          <p:cNvPr id="515" name="Google Shape;515;p45"/>
          <p:cNvPicPr preferRelativeResize="0"/>
          <p:nvPr/>
        </p:nvPicPr>
        <p:blipFill>
          <a:blip r:embed="rId3">
            <a:alphaModFix/>
          </a:blip>
          <a:stretch>
            <a:fillRect/>
          </a:stretch>
        </p:blipFill>
        <p:spPr>
          <a:xfrm>
            <a:off x="65775" y="1063375"/>
            <a:ext cx="8621024" cy="41928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0" name="Shape 520"/>
        <p:cNvGrpSpPr/>
        <p:nvPr/>
      </p:nvGrpSpPr>
      <p:grpSpPr>
        <a:xfrm>
          <a:off x="0" y="0"/>
          <a:ext cx="0" cy="0"/>
          <a:chOff x="0" y="0"/>
          <a:chExt cx="0" cy="0"/>
        </a:xfrm>
      </p:grpSpPr>
      <p:sp>
        <p:nvSpPr>
          <p:cNvPr id="521" name="Google Shape;521;p46"/>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Q2.2</a:t>
            </a:r>
            <a:endParaRPr b="1" i="0" sz="4400" u="none" cap="none" strike="noStrike">
              <a:solidFill>
                <a:srgbClr val="EF6C00"/>
              </a:solidFill>
              <a:latin typeface="PT Sans Narrow"/>
              <a:ea typeface="PT Sans Narrow"/>
              <a:cs typeface="PT Sans Narrow"/>
              <a:sym typeface="PT Sans Narrow"/>
            </a:endParaRPr>
          </a:p>
        </p:txBody>
      </p:sp>
      <p:pic>
        <p:nvPicPr>
          <p:cNvPr id="522" name="Google Shape;522;p46"/>
          <p:cNvPicPr preferRelativeResize="0"/>
          <p:nvPr/>
        </p:nvPicPr>
        <p:blipFill>
          <a:blip r:embed="rId3">
            <a:alphaModFix/>
          </a:blip>
          <a:stretch>
            <a:fillRect/>
          </a:stretch>
        </p:blipFill>
        <p:spPr>
          <a:xfrm>
            <a:off x="152400" y="1063379"/>
            <a:ext cx="8839200" cy="12890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7" name="Shape 527"/>
        <p:cNvGrpSpPr/>
        <p:nvPr/>
      </p:nvGrpSpPr>
      <p:grpSpPr>
        <a:xfrm>
          <a:off x="0" y="0"/>
          <a:ext cx="0" cy="0"/>
          <a:chOff x="0" y="0"/>
          <a:chExt cx="0" cy="0"/>
        </a:xfrm>
      </p:grpSpPr>
      <p:sp>
        <p:nvSpPr>
          <p:cNvPr id="528" name="Google Shape;528;p47"/>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Q3.1 &amp; 3.2</a:t>
            </a:r>
            <a:endParaRPr b="1" i="0" sz="4400" u="none" cap="none" strike="noStrike">
              <a:solidFill>
                <a:srgbClr val="EF6C00"/>
              </a:solidFill>
              <a:latin typeface="PT Sans Narrow"/>
              <a:ea typeface="PT Sans Narrow"/>
              <a:cs typeface="PT Sans Narrow"/>
              <a:sym typeface="PT Sans Narrow"/>
            </a:endParaRPr>
          </a:p>
        </p:txBody>
      </p:sp>
      <p:pic>
        <p:nvPicPr>
          <p:cNvPr id="529" name="Google Shape;529;p47"/>
          <p:cNvPicPr preferRelativeResize="0"/>
          <p:nvPr/>
        </p:nvPicPr>
        <p:blipFill>
          <a:blip r:embed="rId3">
            <a:alphaModFix/>
          </a:blip>
          <a:stretch>
            <a:fillRect/>
          </a:stretch>
        </p:blipFill>
        <p:spPr>
          <a:xfrm>
            <a:off x="501325" y="1080975"/>
            <a:ext cx="8141349" cy="32496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4" name="Shape 534"/>
        <p:cNvGrpSpPr/>
        <p:nvPr/>
      </p:nvGrpSpPr>
      <p:grpSpPr>
        <a:xfrm>
          <a:off x="0" y="0"/>
          <a:ext cx="0" cy="0"/>
          <a:chOff x="0" y="0"/>
          <a:chExt cx="0" cy="0"/>
        </a:xfrm>
      </p:grpSpPr>
      <p:sp>
        <p:nvSpPr>
          <p:cNvPr id="535" name="Google Shape;535;p48"/>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Q3.1 &amp; 3.2</a:t>
            </a:r>
            <a:endParaRPr b="1" i="0" sz="4400" u="none" cap="none" strike="noStrike">
              <a:solidFill>
                <a:srgbClr val="EF6C00"/>
              </a:solidFill>
              <a:latin typeface="PT Sans Narrow"/>
              <a:ea typeface="PT Sans Narrow"/>
              <a:cs typeface="PT Sans Narrow"/>
              <a:sym typeface="PT Sans Narrow"/>
            </a:endParaRPr>
          </a:p>
        </p:txBody>
      </p:sp>
      <p:pic>
        <p:nvPicPr>
          <p:cNvPr id="536" name="Google Shape;536;p48"/>
          <p:cNvPicPr preferRelativeResize="0"/>
          <p:nvPr/>
        </p:nvPicPr>
        <p:blipFill>
          <a:blip r:embed="rId3">
            <a:alphaModFix/>
          </a:blip>
          <a:stretch>
            <a:fillRect/>
          </a:stretch>
        </p:blipFill>
        <p:spPr>
          <a:xfrm>
            <a:off x="457200" y="1063387"/>
            <a:ext cx="8229601" cy="338222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1" name="Shape 541"/>
        <p:cNvGrpSpPr/>
        <p:nvPr/>
      </p:nvGrpSpPr>
      <p:grpSpPr>
        <a:xfrm>
          <a:off x="0" y="0"/>
          <a:ext cx="0" cy="0"/>
          <a:chOff x="0" y="0"/>
          <a:chExt cx="0" cy="0"/>
        </a:xfrm>
      </p:grpSpPr>
      <p:sp>
        <p:nvSpPr>
          <p:cNvPr id="542" name="Google Shape;542;p49"/>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Q3.3</a:t>
            </a:r>
            <a:endParaRPr b="1" i="0" sz="4400" u="none" cap="none" strike="noStrike">
              <a:solidFill>
                <a:srgbClr val="EF6C00"/>
              </a:solidFill>
              <a:latin typeface="PT Sans Narrow"/>
              <a:ea typeface="PT Sans Narrow"/>
              <a:cs typeface="PT Sans Narrow"/>
              <a:sym typeface="PT Sans Narrow"/>
            </a:endParaRPr>
          </a:p>
        </p:txBody>
      </p:sp>
      <p:pic>
        <p:nvPicPr>
          <p:cNvPr id="543" name="Google Shape;543;p49"/>
          <p:cNvPicPr preferRelativeResize="0"/>
          <p:nvPr/>
        </p:nvPicPr>
        <p:blipFill>
          <a:blip r:embed="rId3">
            <a:alphaModFix/>
          </a:blip>
          <a:stretch>
            <a:fillRect/>
          </a:stretch>
        </p:blipFill>
        <p:spPr>
          <a:xfrm>
            <a:off x="1026025" y="1063375"/>
            <a:ext cx="7091950" cy="3849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8" name="Shape 548"/>
        <p:cNvGrpSpPr/>
        <p:nvPr/>
      </p:nvGrpSpPr>
      <p:grpSpPr>
        <a:xfrm>
          <a:off x="0" y="0"/>
          <a:ext cx="0" cy="0"/>
          <a:chOff x="0" y="0"/>
          <a:chExt cx="0" cy="0"/>
        </a:xfrm>
      </p:grpSpPr>
      <p:sp>
        <p:nvSpPr>
          <p:cNvPr id="549" name="Google Shape;549;p50"/>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Q3.3</a:t>
            </a:r>
            <a:endParaRPr b="1" i="0" sz="4400" u="none" cap="none" strike="noStrike">
              <a:solidFill>
                <a:srgbClr val="EF6C00"/>
              </a:solidFill>
              <a:latin typeface="PT Sans Narrow"/>
              <a:ea typeface="PT Sans Narrow"/>
              <a:cs typeface="PT Sans Narrow"/>
              <a:sym typeface="PT Sans Narrow"/>
            </a:endParaRPr>
          </a:p>
        </p:txBody>
      </p:sp>
      <p:pic>
        <p:nvPicPr>
          <p:cNvPr id="550" name="Google Shape;550;p50"/>
          <p:cNvPicPr preferRelativeResize="0"/>
          <p:nvPr/>
        </p:nvPicPr>
        <p:blipFill rotWithShape="1">
          <a:blip r:embed="rId3">
            <a:alphaModFix/>
          </a:blip>
          <a:srcRect b="0" l="0" r="0" t="14500"/>
          <a:stretch/>
        </p:blipFill>
        <p:spPr>
          <a:xfrm>
            <a:off x="1322150" y="1063375"/>
            <a:ext cx="6499700" cy="3838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55" name="Shape 555"/>
        <p:cNvGrpSpPr/>
        <p:nvPr/>
      </p:nvGrpSpPr>
      <p:grpSpPr>
        <a:xfrm>
          <a:off x="0" y="0"/>
          <a:ext cx="0" cy="0"/>
          <a:chOff x="0" y="0"/>
          <a:chExt cx="0" cy="0"/>
        </a:xfrm>
      </p:grpSpPr>
      <p:sp>
        <p:nvSpPr>
          <p:cNvPr id="556" name="Google Shape;556;p51"/>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Q3.4 &amp; 3.5</a:t>
            </a:r>
            <a:endParaRPr b="1" i="0" sz="4400" u="none" cap="none" strike="noStrike">
              <a:solidFill>
                <a:srgbClr val="EF6C00"/>
              </a:solidFill>
              <a:latin typeface="PT Sans Narrow"/>
              <a:ea typeface="PT Sans Narrow"/>
              <a:cs typeface="PT Sans Narrow"/>
              <a:sym typeface="PT Sans Narrow"/>
            </a:endParaRPr>
          </a:p>
        </p:txBody>
      </p:sp>
      <p:pic>
        <p:nvPicPr>
          <p:cNvPr id="557" name="Google Shape;557;p51"/>
          <p:cNvPicPr preferRelativeResize="0"/>
          <p:nvPr/>
        </p:nvPicPr>
        <p:blipFill>
          <a:blip r:embed="rId3">
            <a:alphaModFix/>
          </a:blip>
          <a:stretch>
            <a:fillRect/>
          </a:stretch>
        </p:blipFill>
        <p:spPr>
          <a:xfrm>
            <a:off x="228600" y="1708176"/>
            <a:ext cx="8686801" cy="172714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2" name="Shape 562"/>
        <p:cNvGrpSpPr/>
        <p:nvPr/>
      </p:nvGrpSpPr>
      <p:grpSpPr>
        <a:xfrm>
          <a:off x="0" y="0"/>
          <a:ext cx="0" cy="0"/>
          <a:chOff x="0" y="0"/>
          <a:chExt cx="0" cy="0"/>
        </a:xfrm>
      </p:grpSpPr>
      <p:sp>
        <p:nvSpPr>
          <p:cNvPr id="563" name="Google Shape;563;p52"/>
          <p:cNvSpPr txBox="1"/>
          <p:nvPr>
            <p:ph idx="4294967295" type="title"/>
          </p:nvPr>
        </p:nvSpPr>
        <p:spPr>
          <a:xfrm>
            <a:off x="457200" y="205979"/>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Q3.4 &amp; 3.5</a:t>
            </a:r>
            <a:endParaRPr b="1" i="0" sz="4400" u="none" cap="none" strike="noStrike">
              <a:solidFill>
                <a:srgbClr val="EF6C00"/>
              </a:solidFill>
              <a:latin typeface="PT Sans Narrow"/>
              <a:ea typeface="PT Sans Narrow"/>
              <a:cs typeface="PT Sans Narrow"/>
              <a:sym typeface="PT Sans Narrow"/>
            </a:endParaRPr>
          </a:p>
        </p:txBody>
      </p:sp>
      <p:pic>
        <p:nvPicPr>
          <p:cNvPr id="564" name="Google Shape;564;p52"/>
          <p:cNvPicPr preferRelativeResize="0"/>
          <p:nvPr/>
        </p:nvPicPr>
        <p:blipFill>
          <a:blip r:embed="rId3">
            <a:alphaModFix/>
          </a:blip>
          <a:stretch>
            <a:fillRect/>
          </a:stretch>
        </p:blipFill>
        <p:spPr>
          <a:xfrm>
            <a:off x="152400" y="1169154"/>
            <a:ext cx="8839203" cy="2010956"/>
          </a:xfrm>
          <a:prstGeom prst="rect">
            <a:avLst/>
          </a:prstGeom>
          <a:noFill/>
          <a:ln>
            <a:noFill/>
          </a:ln>
        </p:spPr>
      </p:pic>
      <p:pic>
        <p:nvPicPr>
          <p:cNvPr id="565" name="Google Shape;565;p52"/>
          <p:cNvPicPr preferRelativeResize="0"/>
          <p:nvPr/>
        </p:nvPicPr>
        <p:blipFill>
          <a:blip r:embed="rId4">
            <a:alphaModFix/>
          </a:blip>
          <a:stretch>
            <a:fillRect/>
          </a:stretch>
        </p:blipFill>
        <p:spPr>
          <a:xfrm>
            <a:off x="212375" y="3285885"/>
            <a:ext cx="8839201" cy="1104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0" name="Shape 570"/>
        <p:cNvGrpSpPr/>
        <p:nvPr/>
      </p:nvGrpSpPr>
      <p:grpSpPr>
        <a:xfrm>
          <a:off x="0" y="0"/>
          <a:ext cx="0" cy="0"/>
          <a:chOff x="0" y="0"/>
          <a:chExt cx="0" cy="0"/>
        </a:xfrm>
      </p:grpSpPr>
      <p:pic>
        <p:nvPicPr>
          <p:cNvPr id="571" name="Google Shape;571;p53"/>
          <p:cNvPicPr preferRelativeResize="0"/>
          <p:nvPr/>
        </p:nvPicPr>
        <p:blipFill>
          <a:blip r:embed="rId3">
            <a:alphaModFix/>
          </a:blip>
          <a:stretch>
            <a:fillRect/>
          </a:stretch>
        </p:blipFill>
        <p:spPr>
          <a:xfrm>
            <a:off x="607000" y="1063375"/>
            <a:ext cx="6639008" cy="4080125"/>
          </a:xfrm>
          <a:prstGeom prst="rect">
            <a:avLst/>
          </a:prstGeom>
          <a:noFill/>
          <a:ln>
            <a:noFill/>
          </a:ln>
        </p:spPr>
      </p:pic>
      <p:sp>
        <p:nvSpPr>
          <p:cNvPr id="572" name="Google Shape;572;p53"/>
          <p:cNvSpPr txBox="1"/>
          <p:nvPr>
            <p:ph idx="4294967295" type="title"/>
          </p:nvPr>
        </p:nvSpPr>
        <p:spPr>
          <a:xfrm>
            <a:off x="490875" y="225604"/>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Q4.1</a:t>
            </a:r>
            <a:endParaRPr b="1" i="0" sz="4400" u="none" cap="none" strike="noStrike">
              <a:solidFill>
                <a:srgbClr val="EF6C00"/>
              </a:solidFill>
              <a:latin typeface="PT Sans Narrow"/>
              <a:ea typeface="PT Sans Narrow"/>
              <a:cs typeface="PT Sans Narrow"/>
              <a:sym typeface="PT Sans Narrow"/>
            </a:endParaRPr>
          </a:p>
        </p:txBody>
      </p:sp>
      <p:sp>
        <p:nvSpPr>
          <p:cNvPr id="573" name="Google Shape;573;p53"/>
          <p:cNvSpPr txBox="1"/>
          <p:nvPr/>
        </p:nvSpPr>
        <p:spPr>
          <a:xfrm>
            <a:off x="1304961" y="2079832"/>
            <a:ext cx="808200" cy="1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D400</a:t>
            </a:r>
            <a:endParaRPr>
              <a:solidFill>
                <a:srgbClr val="0000FF"/>
              </a:solidFill>
              <a:latin typeface="Times New Roman"/>
              <a:ea typeface="Times New Roman"/>
              <a:cs typeface="Times New Roman"/>
              <a:sym typeface="Times New Roman"/>
            </a:endParaRPr>
          </a:p>
        </p:txBody>
      </p:sp>
      <p:sp>
        <p:nvSpPr>
          <p:cNvPr id="574" name="Google Shape;574;p53"/>
          <p:cNvSpPr txBox="1"/>
          <p:nvPr/>
        </p:nvSpPr>
        <p:spPr>
          <a:xfrm>
            <a:off x="1297425" y="2332784"/>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D200</a:t>
            </a:r>
            <a:endParaRPr>
              <a:solidFill>
                <a:srgbClr val="0000FF"/>
              </a:solidFill>
              <a:latin typeface="Times New Roman"/>
              <a:ea typeface="Times New Roman"/>
              <a:cs typeface="Times New Roman"/>
              <a:sym typeface="Times New Roman"/>
            </a:endParaRPr>
          </a:p>
        </p:txBody>
      </p:sp>
      <p:sp>
        <p:nvSpPr>
          <p:cNvPr id="575" name="Google Shape;575;p53"/>
          <p:cNvSpPr txBox="1"/>
          <p:nvPr/>
        </p:nvSpPr>
        <p:spPr>
          <a:xfrm>
            <a:off x="1315125" y="3114820"/>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D700</a:t>
            </a:r>
            <a:endParaRPr>
              <a:solidFill>
                <a:srgbClr val="0000FF"/>
              </a:solidFill>
              <a:latin typeface="Times New Roman"/>
              <a:ea typeface="Times New Roman"/>
              <a:cs typeface="Times New Roman"/>
              <a:sym typeface="Times New Roman"/>
            </a:endParaRPr>
          </a:p>
        </p:txBody>
      </p:sp>
      <p:sp>
        <p:nvSpPr>
          <p:cNvPr id="576" name="Google Shape;576;p53"/>
          <p:cNvSpPr txBox="1"/>
          <p:nvPr/>
        </p:nvSpPr>
        <p:spPr>
          <a:xfrm>
            <a:off x="1325300" y="4127170"/>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D1000</a:t>
            </a:r>
            <a:endParaRPr>
              <a:solidFill>
                <a:srgbClr val="0000FF"/>
              </a:solidFill>
              <a:latin typeface="Times New Roman"/>
              <a:ea typeface="Times New Roman"/>
              <a:cs typeface="Times New Roman"/>
              <a:sym typeface="Times New Roman"/>
            </a:endParaRPr>
          </a:p>
        </p:txBody>
      </p:sp>
      <p:sp>
        <p:nvSpPr>
          <p:cNvPr id="577" name="Google Shape;577;p53"/>
          <p:cNvSpPr txBox="1"/>
          <p:nvPr/>
        </p:nvSpPr>
        <p:spPr>
          <a:xfrm>
            <a:off x="1305843" y="2586639"/>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D500</a:t>
            </a:r>
            <a:endParaRPr>
              <a:solidFill>
                <a:srgbClr val="0000FF"/>
              </a:solidFill>
              <a:latin typeface="Times New Roman"/>
              <a:ea typeface="Times New Roman"/>
              <a:cs typeface="Times New Roman"/>
              <a:sym typeface="Times New Roman"/>
            </a:endParaRPr>
          </a:p>
        </p:txBody>
      </p:sp>
      <p:sp>
        <p:nvSpPr>
          <p:cNvPr id="578" name="Google Shape;578;p53"/>
          <p:cNvSpPr txBox="1"/>
          <p:nvPr/>
        </p:nvSpPr>
        <p:spPr>
          <a:xfrm>
            <a:off x="1315134" y="2856893"/>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D600</a:t>
            </a:r>
            <a:endParaRPr>
              <a:solidFill>
                <a:srgbClr val="0000FF"/>
              </a:solidFill>
              <a:latin typeface="Times New Roman"/>
              <a:ea typeface="Times New Roman"/>
              <a:cs typeface="Times New Roman"/>
              <a:sym typeface="Times New Roman"/>
            </a:endParaRPr>
          </a:p>
        </p:txBody>
      </p:sp>
      <p:sp>
        <p:nvSpPr>
          <p:cNvPr id="579" name="Google Shape;579;p53"/>
          <p:cNvSpPr txBox="1"/>
          <p:nvPr/>
        </p:nvSpPr>
        <p:spPr>
          <a:xfrm>
            <a:off x="1315998" y="3377093"/>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D800</a:t>
            </a:r>
            <a:endParaRPr>
              <a:solidFill>
                <a:srgbClr val="0000FF"/>
              </a:solidFill>
              <a:latin typeface="Times New Roman"/>
              <a:ea typeface="Times New Roman"/>
              <a:cs typeface="Times New Roman"/>
              <a:sym typeface="Times New Roman"/>
            </a:endParaRPr>
          </a:p>
        </p:txBody>
      </p:sp>
      <p:sp>
        <p:nvSpPr>
          <p:cNvPr id="580" name="Google Shape;580;p53"/>
          <p:cNvSpPr txBox="1"/>
          <p:nvPr/>
        </p:nvSpPr>
        <p:spPr>
          <a:xfrm>
            <a:off x="1315561" y="3614111"/>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D900</a:t>
            </a:r>
            <a:endParaRPr>
              <a:solidFill>
                <a:srgbClr val="0000FF"/>
              </a:solidFill>
              <a:latin typeface="Times New Roman"/>
              <a:ea typeface="Times New Roman"/>
              <a:cs typeface="Times New Roman"/>
              <a:sym typeface="Times New Roman"/>
            </a:endParaRPr>
          </a:p>
        </p:txBody>
      </p:sp>
      <p:sp>
        <p:nvSpPr>
          <p:cNvPr id="581" name="Google Shape;581;p53"/>
          <p:cNvSpPr txBox="1"/>
          <p:nvPr/>
        </p:nvSpPr>
        <p:spPr>
          <a:xfrm>
            <a:off x="1324416" y="3885238"/>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D700</a:t>
            </a:r>
            <a:endParaRPr>
              <a:solidFill>
                <a:srgbClr val="0000FF"/>
              </a:solidFill>
              <a:latin typeface="Times New Roman"/>
              <a:ea typeface="Times New Roman"/>
              <a:cs typeface="Times New Roman"/>
              <a:sym typeface="Times New Roman"/>
            </a:endParaRPr>
          </a:p>
        </p:txBody>
      </p:sp>
      <p:sp>
        <p:nvSpPr>
          <p:cNvPr id="582" name="Google Shape;582;p53"/>
          <p:cNvSpPr txBox="1"/>
          <p:nvPr/>
        </p:nvSpPr>
        <p:spPr>
          <a:xfrm>
            <a:off x="6130316" y="2079834"/>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a:t>
            </a:r>
            <a:r>
              <a:rPr lang="en-US">
                <a:solidFill>
                  <a:srgbClr val="0000FF"/>
                </a:solidFill>
                <a:latin typeface="Times New Roman"/>
                <a:ea typeface="Times New Roman"/>
                <a:cs typeface="Times New Roman"/>
                <a:sym typeface="Times New Roman"/>
              </a:rPr>
              <a:t>200</a:t>
            </a:r>
            <a:endParaRPr>
              <a:solidFill>
                <a:srgbClr val="0000FF"/>
              </a:solidFill>
              <a:latin typeface="Times New Roman"/>
              <a:ea typeface="Times New Roman"/>
              <a:cs typeface="Times New Roman"/>
              <a:sym typeface="Times New Roman"/>
            </a:endParaRPr>
          </a:p>
        </p:txBody>
      </p:sp>
      <p:sp>
        <p:nvSpPr>
          <p:cNvPr id="583" name="Google Shape;583;p53"/>
          <p:cNvSpPr txBox="1"/>
          <p:nvPr/>
        </p:nvSpPr>
        <p:spPr>
          <a:xfrm>
            <a:off x="6121898" y="2342107"/>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A500</a:t>
            </a:r>
            <a:endParaRPr>
              <a:solidFill>
                <a:srgbClr val="0000FF"/>
              </a:solidFill>
              <a:latin typeface="Times New Roman"/>
              <a:ea typeface="Times New Roman"/>
              <a:cs typeface="Times New Roman"/>
              <a:sym typeface="Times New Roman"/>
            </a:endParaRPr>
          </a:p>
        </p:txBody>
      </p:sp>
      <p:sp>
        <p:nvSpPr>
          <p:cNvPr id="584" name="Google Shape;584;p53"/>
          <p:cNvSpPr txBox="1"/>
          <p:nvPr/>
        </p:nvSpPr>
        <p:spPr>
          <a:xfrm>
            <a:off x="6121898" y="2613234"/>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A600</a:t>
            </a:r>
            <a:endParaRPr>
              <a:solidFill>
                <a:srgbClr val="0000FF"/>
              </a:solidFill>
              <a:latin typeface="Times New Roman"/>
              <a:ea typeface="Times New Roman"/>
              <a:cs typeface="Times New Roman"/>
              <a:sym typeface="Times New Roman"/>
            </a:endParaRPr>
          </a:p>
        </p:txBody>
      </p:sp>
      <p:sp>
        <p:nvSpPr>
          <p:cNvPr id="585" name="Google Shape;585;p53"/>
          <p:cNvSpPr txBox="1"/>
          <p:nvPr/>
        </p:nvSpPr>
        <p:spPr>
          <a:xfrm>
            <a:off x="6121898" y="2858671"/>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A700</a:t>
            </a:r>
            <a:endParaRPr>
              <a:solidFill>
                <a:srgbClr val="0000FF"/>
              </a:solidFill>
              <a:latin typeface="Times New Roman"/>
              <a:ea typeface="Times New Roman"/>
              <a:cs typeface="Times New Roman"/>
              <a:sym typeface="Times New Roman"/>
            </a:endParaRPr>
          </a:p>
        </p:txBody>
      </p:sp>
      <p:sp>
        <p:nvSpPr>
          <p:cNvPr id="586" name="Google Shape;586;p53"/>
          <p:cNvSpPr txBox="1"/>
          <p:nvPr/>
        </p:nvSpPr>
        <p:spPr>
          <a:xfrm>
            <a:off x="6121898" y="3366816"/>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A700</a:t>
            </a:r>
            <a:endParaRPr>
              <a:solidFill>
                <a:srgbClr val="0000FF"/>
              </a:solidFill>
              <a:latin typeface="Times New Roman"/>
              <a:ea typeface="Times New Roman"/>
              <a:cs typeface="Times New Roman"/>
              <a:sym typeface="Times New Roman"/>
            </a:endParaRPr>
          </a:p>
        </p:txBody>
      </p:sp>
      <p:sp>
        <p:nvSpPr>
          <p:cNvPr id="587" name="Google Shape;587;p53"/>
          <p:cNvSpPr txBox="1"/>
          <p:nvPr/>
        </p:nvSpPr>
        <p:spPr>
          <a:xfrm>
            <a:off x="6121898" y="3614096"/>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A700</a:t>
            </a:r>
            <a:endParaRPr>
              <a:solidFill>
                <a:srgbClr val="0000FF"/>
              </a:solidFill>
              <a:latin typeface="Times New Roman"/>
              <a:ea typeface="Times New Roman"/>
              <a:cs typeface="Times New Roman"/>
              <a:sym typeface="Times New Roman"/>
            </a:endParaRPr>
          </a:p>
        </p:txBody>
      </p:sp>
      <p:sp>
        <p:nvSpPr>
          <p:cNvPr id="588" name="Google Shape;588;p53"/>
          <p:cNvSpPr txBox="1"/>
          <p:nvPr/>
        </p:nvSpPr>
        <p:spPr>
          <a:xfrm>
            <a:off x="6121898" y="3884786"/>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A1000</a:t>
            </a:r>
            <a:endParaRPr>
              <a:solidFill>
                <a:srgbClr val="0000FF"/>
              </a:solidFill>
              <a:latin typeface="Times New Roman"/>
              <a:ea typeface="Times New Roman"/>
              <a:cs typeface="Times New Roman"/>
              <a:sym typeface="Times New Roman"/>
            </a:endParaRPr>
          </a:p>
        </p:txBody>
      </p:sp>
      <p:sp>
        <p:nvSpPr>
          <p:cNvPr id="589" name="Google Shape;589;p53"/>
          <p:cNvSpPr txBox="1"/>
          <p:nvPr/>
        </p:nvSpPr>
        <p:spPr>
          <a:xfrm>
            <a:off x="6121898" y="4138641"/>
            <a:ext cx="8082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A1100</a:t>
            </a:r>
            <a:endParaRPr>
              <a:solidFill>
                <a:srgbClr val="0000FF"/>
              </a:solidFill>
              <a:latin typeface="Times New Roman"/>
              <a:ea typeface="Times New Roman"/>
              <a:cs typeface="Times New Roman"/>
              <a:sym typeface="Times New Roman"/>
            </a:endParaRPr>
          </a:p>
        </p:txBody>
      </p:sp>
      <p:sp>
        <p:nvSpPr>
          <p:cNvPr id="590" name="Google Shape;590;p53"/>
          <p:cNvSpPr txBox="1"/>
          <p:nvPr/>
        </p:nvSpPr>
        <p:spPr>
          <a:xfrm>
            <a:off x="3395299" y="2342100"/>
            <a:ext cx="3258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X</a:t>
            </a:r>
            <a:endParaRPr>
              <a:solidFill>
                <a:srgbClr val="0000FF"/>
              </a:solidFill>
              <a:latin typeface="Times New Roman"/>
              <a:ea typeface="Times New Roman"/>
              <a:cs typeface="Times New Roman"/>
              <a:sym typeface="Times New Roman"/>
            </a:endParaRPr>
          </a:p>
        </p:txBody>
      </p:sp>
      <p:sp>
        <p:nvSpPr>
          <p:cNvPr id="591" name="Google Shape;591;p53"/>
          <p:cNvSpPr txBox="1"/>
          <p:nvPr/>
        </p:nvSpPr>
        <p:spPr>
          <a:xfrm>
            <a:off x="5155574" y="3114825"/>
            <a:ext cx="3258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X</a:t>
            </a:r>
            <a:endParaRPr>
              <a:solidFill>
                <a:srgbClr val="0000FF"/>
              </a:solidFill>
              <a:latin typeface="Times New Roman"/>
              <a:ea typeface="Times New Roman"/>
              <a:cs typeface="Times New Roman"/>
              <a:sym typeface="Times New Roman"/>
            </a:endParaRPr>
          </a:p>
        </p:txBody>
      </p:sp>
      <p:sp>
        <p:nvSpPr>
          <p:cNvPr id="592" name="Google Shape;592;p53"/>
          <p:cNvSpPr txBox="1"/>
          <p:nvPr/>
        </p:nvSpPr>
        <p:spPr>
          <a:xfrm>
            <a:off x="3395299" y="3884775"/>
            <a:ext cx="325800" cy="3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Times New Roman"/>
                <a:ea typeface="Times New Roman"/>
                <a:cs typeface="Times New Roman"/>
                <a:sym typeface="Times New Roman"/>
              </a:rPr>
              <a:t>X</a:t>
            </a:r>
            <a:endParaRPr>
              <a:solidFill>
                <a:srgbClr val="0000FF"/>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7" name="Shape 597"/>
        <p:cNvGrpSpPr/>
        <p:nvPr/>
      </p:nvGrpSpPr>
      <p:grpSpPr>
        <a:xfrm>
          <a:off x="0" y="0"/>
          <a:ext cx="0" cy="0"/>
          <a:chOff x="0" y="0"/>
          <a:chExt cx="0" cy="0"/>
        </a:xfrm>
      </p:grpSpPr>
      <p:sp>
        <p:nvSpPr>
          <p:cNvPr id="598" name="Google Shape;598;p54"/>
          <p:cNvSpPr txBox="1"/>
          <p:nvPr>
            <p:ph idx="4294967295" type="title"/>
          </p:nvPr>
        </p:nvSpPr>
        <p:spPr>
          <a:xfrm>
            <a:off x="490875" y="225604"/>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Q4.2</a:t>
            </a:r>
            <a:endParaRPr b="1" i="0" sz="4400" u="none" cap="none" strike="noStrike">
              <a:solidFill>
                <a:srgbClr val="EF6C00"/>
              </a:solidFill>
              <a:latin typeface="PT Sans Narrow"/>
              <a:ea typeface="PT Sans Narrow"/>
              <a:cs typeface="PT Sans Narrow"/>
              <a:sym typeface="PT Sans Narrow"/>
            </a:endParaRPr>
          </a:p>
        </p:txBody>
      </p:sp>
      <p:cxnSp>
        <p:nvCxnSpPr>
          <p:cNvPr id="599" name="Google Shape;599;p54"/>
          <p:cNvCxnSpPr/>
          <p:nvPr/>
        </p:nvCxnSpPr>
        <p:spPr>
          <a:xfrm flipH="1">
            <a:off x="3662675" y="244800"/>
            <a:ext cx="12600" cy="4846800"/>
          </a:xfrm>
          <a:prstGeom prst="straightConnector1">
            <a:avLst/>
          </a:prstGeom>
          <a:noFill/>
          <a:ln cap="flat" cmpd="sng" w="38100">
            <a:solidFill>
              <a:srgbClr val="1A1A1A"/>
            </a:solidFill>
            <a:prstDash val="solid"/>
            <a:round/>
            <a:headEnd len="med" w="med" type="none"/>
            <a:tailEnd len="med" w="med" type="none"/>
          </a:ln>
        </p:spPr>
      </p:cxnSp>
      <p:cxnSp>
        <p:nvCxnSpPr>
          <p:cNvPr id="600" name="Google Shape;600;p54"/>
          <p:cNvCxnSpPr/>
          <p:nvPr/>
        </p:nvCxnSpPr>
        <p:spPr>
          <a:xfrm flipH="1">
            <a:off x="6883955" y="244800"/>
            <a:ext cx="3000" cy="4838100"/>
          </a:xfrm>
          <a:prstGeom prst="straightConnector1">
            <a:avLst/>
          </a:prstGeom>
          <a:noFill/>
          <a:ln cap="flat" cmpd="sng" w="38100">
            <a:solidFill>
              <a:srgbClr val="1A1A1A"/>
            </a:solidFill>
            <a:prstDash val="solid"/>
            <a:round/>
            <a:headEnd len="med" w="med" type="none"/>
            <a:tailEnd len="med" w="med" type="none"/>
          </a:ln>
        </p:spPr>
      </p:cxnSp>
      <p:cxnSp>
        <p:nvCxnSpPr>
          <p:cNvPr id="601" name="Google Shape;601;p54"/>
          <p:cNvCxnSpPr/>
          <p:nvPr/>
        </p:nvCxnSpPr>
        <p:spPr>
          <a:xfrm>
            <a:off x="3638875" y="244800"/>
            <a:ext cx="3273300" cy="533700"/>
          </a:xfrm>
          <a:prstGeom prst="straightConnector1">
            <a:avLst/>
          </a:prstGeom>
          <a:noFill/>
          <a:ln cap="flat" cmpd="sng" w="9525">
            <a:solidFill>
              <a:srgbClr val="1A1A1A"/>
            </a:solidFill>
            <a:prstDash val="solid"/>
            <a:round/>
            <a:headEnd len="med" w="med" type="none"/>
            <a:tailEnd len="med" w="med" type="triangle"/>
          </a:ln>
        </p:spPr>
      </p:cxnSp>
      <p:cxnSp>
        <p:nvCxnSpPr>
          <p:cNvPr id="602" name="Google Shape;602;p54"/>
          <p:cNvCxnSpPr/>
          <p:nvPr/>
        </p:nvCxnSpPr>
        <p:spPr>
          <a:xfrm>
            <a:off x="3638875" y="422450"/>
            <a:ext cx="1682400" cy="272100"/>
          </a:xfrm>
          <a:prstGeom prst="straightConnector1">
            <a:avLst/>
          </a:prstGeom>
          <a:noFill/>
          <a:ln cap="flat" cmpd="sng" w="9525">
            <a:solidFill>
              <a:srgbClr val="1A1A1A"/>
            </a:solidFill>
            <a:prstDash val="solid"/>
            <a:round/>
            <a:headEnd len="med" w="med" type="none"/>
            <a:tailEnd len="med" w="med" type="triangle"/>
          </a:ln>
        </p:spPr>
      </p:cxnSp>
      <p:cxnSp>
        <p:nvCxnSpPr>
          <p:cNvPr id="603" name="Google Shape;603;p54"/>
          <p:cNvCxnSpPr/>
          <p:nvPr/>
        </p:nvCxnSpPr>
        <p:spPr>
          <a:xfrm>
            <a:off x="3638875" y="582400"/>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04" name="Google Shape;604;p54"/>
          <p:cNvSpPr txBox="1"/>
          <p:nvPr/>
        </p:nvSpPr>
        <p:spPr>
          <a:xfrm>
            <a:off x="3126177" y="26113"/>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a:t>
            </a:r>
            <a:r>
              <a:rPr lang="en-US" sz="1200">
                <a:latin typeface="Lato"/>
                <a:ea typeface="Lato"/>
                <a:cs typeface="Lato"/>
                <a:sym typeface="Lato"/>
              </a:rPr>
              <a:t>100</a:t>
            </a:r>
            <a:endParaRPr sz="1200">
              <a:latin typeface="Lato"/>
              <a:ea typeface="Lato"/>
              <a:cs typeface="Lato"/>
              <a:sym typeface="Lato"/>
            </a:endParaRPr>
          </a:p>
        </p:txBody>
      </p:sp>
      <p:sp>
        <p:nvSpPr>
          <p:cNvPr id="605" name="Google Shape;605;p54"/>
          <p:cNvSpPr txBox="1"/>
          <p:nvPr/>
        </p:nvSpPr>
        <p:spPr>
          <a:xfrm>
            <a:off x="3118200" y="186938"/>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D200</a:t>
            </a:r>
            <a:endParaRPr sz="1200">
              <a:latin typeface="Lato"/>
              <a:ea typeface="Lato"/>
              <a:cs typeface="Lato"/>
              <a:sym typeface="Lato"/>
            </a:endParaRPr>
          </a:p>
        </p:txBody>
      </p:sp>
      <p:sp>
        <p:nvSpPr>
          <p:cNvPr id="606" name="Google Shape;606;p54"/>
          <p:cNvSpPr txBox="1"/>
          <p:nvPr/>
        </p:nvSpPr>
        <p:spPr>
          <a:xfrm>
            <a:off x="3118200" y="356174"/>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D300</a:t>
            </a:r>
            <a:endParaRPr sz="1200">
              <a:latin typeface="Lato"/>
              <a:ea typeface="Lato"/>
              <a:cs typeface="Lato"/>
              <a:sym typeface="Lato"/>
            </a:endParaRPr>
          </a:p>
        </p:txBody>
      </p:sp>
      <p:cxnSp>
        <p:nvCxnSpPr>
          <p:cNvPr id="607" name="Google Shape;607;p54"/>
          <p:cNvCxnSpPr/>
          <p:nvPr/>
        </p:nvCxnSpPr>
        <p:spPr>
          <a:xfrm flipH="1">
            <a:off x="3679400" y="778650"/>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08" name="Google Shape;608;p54"/>
          <p:cNvSpPr txBox="1"/>
          <p:nvPr/>
        </p:nvSpPr>
        <p:spPr>
          <a:xfrm>
            <a:off x="5203330" y="483118"/>
            <a:ext cx="2694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0000"/>
                </a:solidFill>
                <a:latin typeface="Times New Roman"/>
                <a:ea typeface="Times New Roman"/>
                <a:cs typeface="Times New Roman"/>
                <a:sym typeface="Times New Roman"/>
              </a:rPr>
              <a:t>X</a:t>
            </a:r>
            <a:endParaRPr>
              <a:solidFill>
                <a:srgbClr val="FF0000"/>
              </a:solidFill>
              <a:latin typeface="Times New Roman"/>
              <a:ea typeface="Times New Roman"/>
              <a:cs typeface="Times New Roman"/>
              <a:sym typeface="Times New Roman"/>
            </a:endParaRPr>
          </a:p>
        </p:txBody>
      </p:sp>
      <p:cxnSp>
        <p:nvCxnSpPr>
          <p:cNvPr id="609" name="Google Shape;609;p54"/>
          <p:cNvCxnSpPr/>
          <p:nvPr/>
        </p:nvCxnSpPr>
        <p:spPr>
          <a:xfrm flipH="1">
            <a:off x="3638875" y="1116100"/>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10" name="Google Shape;610;p54"/>
          <p:cNvSpPr txBox="1"/>
          <p:nvPr/>
        </p:nvSpPr>
        <p:spPr>
          <a:xfrm>
            <a:off x="6871677" y="582400"/>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A2</a:t>
            </a:r>
            <a:r>
              <a:rPr lang="en-US" sz="1200">
                <a:latin typeface="Lato"/>
                <a:ea typeface="Lato"/>
                <a:cs typeface="Lato"/>
                <a:sym typeface="Lato"/>
              </a:rPr>
              <a:t>00</a:t>
            </a:r>
            <a:endParaRPr sz="1200">
              <a:latin typeface="Lato"/>
              <a:ea typeface="Lato"/>
              <a:cs typeface="Lato"/>
              <a:sym typeface="Lato"/>
            </a:endParaRPr>
          </a:p>
        </p:txBody>
      </p:sp>
      <p:sp>
        <p:nvSpPr>
          <p:cNvPr id="611" name="Google Shape;611;p54"/>
          <p:cNvSpPr/>
          <p:nvPr/>
        </p:nvSpPr>
        <p:spPr>
          <a:xfrm flipH="1">
            <a:off x="2809625" y="244800"/>
            <a:ext cx="312000" cy="14103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2" name="Google Shape;612;p54"/>
          <p:cNvCxnSpPr>
            <a:endCxn id="613" idx="1"/>
          </p:cNvCxnSpPr>
          <p:nvPr/>
        </p:nvCxnSpPr>
        <p:spPr>
          <a:xfrm>
            <a:off x="3651575" y="1654975"/>
            <a:ext cx="3818400" cy="0"/>
          </a:xfrm>
          <a:prstGeom prst="straightConnector1">
            <a:avLst/>
          </a:prstGeom>
          <a:noFill/>
          <a:ln cap="flat" cmpd="sng" w="9525">
            <a:solidFill>
              <a:schemeClr val="dk2"/>
            </a:solidFill>
            <a:prstDash val="dash"/>
            <a:round/>
            <a:headEnd len="med" w="med" type="none"/>
            <a:tailEnd len="med" w="med" type="none"/>
          </a:ln>
        </p:spPr>
      </p:cxnSp>
      <p:sp>
        <p:nvSpPr>
          <p:cNvPr id="613" name="Google Shape;613;p54"/>
          <p:cNvSpPr txBox="1"/>
          <p:nvPr/>
        </p:nvSpPr>
        <p:spPr>
          <a:xfrm>
            <a:off x="7469975" y="1499275"/>
            <a:ext cx="18744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200">
                <a:latin typeface="Open Sans"/>
                <a:ea typeface="Open Sans"/>
                <a:cs typeface="Open Sans"/>
                <a:sym typeface="Open Sans"/>
              </a:rPr>
              <a:t>Timer start (A200)</a:t>
            </a:r>
            <a:endParaRPr i="1" sz="1200">
              <a:latin typeface="Open Sans"/>
              <a:ea typeface="Open Sans"/>
              <a:cs typeface="Open Sans"/>
              <a:sym typeface="Open Sans"/>
            </a:endParaRPr>
          </a:p>
        </p:txBody>
      </p:sp>
      <p:sp>
        <p:nvSpPr>
          <p:cNvPr id="614" name="Google Shape;614;p54"/>
          <p:cNvSpPr txBox="1"/>
          <p:nvPr/>
        </p:nvSpPr>
        <p:spPr>
          <a:xfrm>
            <a:off x="6865382" y="903582"/>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A200</a:t>
            </a:r>
            <a:endParaRPr sz="1200">
              <a:latin typeface="Lato"/>
              <a:ea typeface="Lato"/>
              <a:cs typeface="Lato"/>
              <a:sym typeface="Lato"/>
            </a:endParaRPr>
          </a:p>
        </p:txBody>
      </p:sp>
      <p:cxnSp>
        <p:nvCxnSpPr>
          <p:cNvPr id="615" name="Google Shape;615;p54"/>
          <p:cNvCxnSpPr/>
          <p:nvPr/>
        </p:nvCxnSpPr>
        <p:spPr>
          <a:xfrm>
            <a:off x="3659150" y="1637050"/>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16" name="Google Shape;616;p54"/>
          <p:cNvSpPr txBox="1"/>
          <p:nvPr/>
        </p:nvSpPr>
        <p:spPr>
          <a:xfrm>
            <a:off x="3118200" y="1442713"/>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D400</a:t>
            </a:r>
            <a:endParaRPr sz="1200">
              <a:latin typeface="Lato"/>
              <a:ea typeface="Lato"/>
              <a:cs typeface="Lato"/>
              <a:sym typeface="Lato"/>
            </a:endParaRPr>
          </a:p>
        </p:txBody>
      </p:sp>
      <p:cxnSp>
        <p:nvCxnSpPr>
          <p:cNvPr id="617" name="Google Shape;617;p54"/>
          <p:cNvCxnSpPr/>
          <p:nvPr/>
        </p:nvCxnSpPr>
        <p:spPr>
          <a:xfrm flipH="1">
            <a:off x="3659125" y="2193850"/>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18" name="Google Shape;618;p54"/>
          <p:cNvSpPr txBox="1"/>
          <p:nvPr/>
        </p:nvSpPr>
        <p:spPr>
          <a:xfrm>
            <a:off x="6865377" y="1992500"/>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A200</a:t>
            </a:r>
            <a:endParaRPr sz="1200">
              <a:latin typeface="Lato"/>
              <a:ea typeface="Lato"/>
              <a:cs typeface="Lato"/>
              <a:sym typeface="Lato"/>
            </a:endParaRPr>
          </a:p>
        </p:txBody>
      </p:sp>
      <p:sp>
        <p:nvSpPr>
          <p:cNvPr id="619" name="Google Shape;619;p54"/>
          <p:cNvSpPr txBox="1"/>
          <p:nvPr/>
        </p:nvSpPr>
        <p:spPr>
          <a:xfrm>
            <a:off x="5044475" y="2755738"/>
            <a:ext cx="587100" cy="27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t>
            </a:r>
            <a:endParaRPr sz="1200">
              <a:latin typeface="Lato"/>
              <a:ea typeface="Lato"/>
              <a:cs typeface="Lato"/>
              <a:sym typeface="Lato"/>
            </a:endParaRPr>
          </a:p>
        </p:txBody>
      </p:sp>
      <p:sp>
        <p:nvSpPr>
          <p:cNvPr id="620" name="Google Shape;620;p54"/>
          <p:cNvSpPr/>
          <p:nvPr/>
        </p:nvSpPr>
        <p:spPr>
          <a:xfrm flipH="1">
            <a:off x="2809625" y="1654900"/>
            <a:ext cx="312000" cy="21159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4"/>
          <p:cNvSpPr txBox="1"/>
          <p:nvPr/>
        </p:nvSpPr>
        <p:spPr>
          <a:xfrm>
            <a:off x="2386675" y="2508440"/>
            <a:ext cx="5871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TO</a:t>
            </a:r>
            <a:endParaRPr b="1">
              <a:latin typeface="Open Sans"/>
              <a:ea typeface="Open Sans"/>
              <a:cs typeface="Open Sans"/>
              <a:sym typeface="Open Sans"/>
            </a:endParaRPr>
          </a:p>
        </p:txBody>
      </p:sp>
      <p:cxnSp>
        <p:nvCxnSpPr>
          <p:cNvPr id="622" name="Google Shape;622;p54"/>
          <p:cNvCxnSpPr/>
          <p:nvPr/>
        </p:nvCxnSpPr>
        <p:spPr>
          <a:xfrm>
            <a:off x="3659150" y="3770650"/>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23" name="Google Shape;623;p54"/>
          <p:cNvSpPr txBox="1"/>
          <p:nvPr/>
        </p:nvSpPr>
        <p:spPr>
          <a:xfrm>
            <a:off x="3118200" y="3576313"/>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D200</a:t>
            </a:r>
            <a:endParaRPr sz="1200">
              <a:latin typeface="Lato"/>
              <a:ea typeface="Lato"/>
              <a:cs typeface="Lato"/>
              <a:sym typeface="Lato"/>
            </a:endParaRPr>
          </a:p>
        </p:txBody>
      </p:sp>
      <p:cxnSp>
        <p:nvCxnSpPr>
          <p:cNvPr id="624" name="Google Shape;624;p54"/>
          <p:cNvCxnSpPr/>
          <p:nvPr/>
        </p:nvCxnSpPr>
        <p:spPr>
          <a:xfrm flipH="1">
            <a:off x="3659125" y="4327450"/>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25" name="Google Shape;625;p54"/>
          <p:cNvSpPr txBox="1"/>
          <p:nvPr/>
        </p:nvSpPr>
        <p:spPr>
          <a:xfrm>
            <a:off x="6865377" y="4126100"/>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A500</a:t>
            </a:r>
            <a:endParaRPr sz="1200">
              <a:latin typeface="Lato"/>
              <a:ea typeface="Lato"/>
              <a:cs typeface="Lato"/>
              <a:sym typeface="Lato"/>
            </a:endParaRPr>
          </a:p>
        </p:txBody>
      </p:sp>
      <p:cxnSp>
        <p:nvCxnSpPr>
          <p:cNvPr id="626" name="Google Shape;626;p54"/>
          <p:cNvCxnSpPr>
            <a:endCxn id="627" idx="1"/>
          </p:cNvCxnSpPr>
          <p:nvPr/>
        </p:nvCxnSpPr>
        <p:spPr>
          <a:xfrm>
            <a:off x="3638875" y="3788575"/>
            <a:ext cx="3818400" cy="0"/>
          </a:xfrm>
          <a:prstGeom prst="straightConnector1">
            <a:avLst/>
          </a:prstGeom>
          <a:noFill/>
          <a:ln cap="flat" cmpd="sng" w="9525">
            <a:solidFill>
              <a:schemeClr val="dk2"/>
            </a:solidFill>
            <a:prstDash val="dash"/>
            <a:round/>
            <a:headEnd len="med" w="med" type="none"/>
            <a:tailEnd len="med" w="med" type="none"/>
          </a:ln>
        </p:spPr>
      </p:cxnSp>
      <p:sp>
        <p:nvSpPr>
          <p:cNvPr id="627" name="Google Shape;627;p54"/>
          <p:cNvSpPr txBox="1"/>
          <p:nvPr/>
        </p:nvSpPr>
        <p:spPr>
          <a:xfrm>
            <a:off x="7457275" y="3632875"/>
            <a:ext cx="18744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200">
                <a:solidFill>
                  <a:srgbClr val="FF0000"/>
                </a:solidFill>
                <a:latin typeface="Open Sans"/>
                <a:ea typeface="Open Sans"/>
                <a:cs typeface="Open Sans"/>
                <a:sym typeface="Open Sans"/>
              </a:rPr>
              <a:t>Time-out! Retransmit</a:t>
            </a:r>
            <a:endParaRPr i="1" sz="1200">
              <a:solidFill>
                <a:srgbClr val="FF0000"/>
              </a:solidFill>
              <a:latin typeface="Open Sans"/>
              <a:ea typeface="Open Sans"/>
              <a:cs typeface="Open Sans"/>
              <a:sym typeface="Open Sans"/>
            </a:endParaRPr>
          </a:p>
        </p:txBody>
      </p:sp>
      <p:sp>
        <p:nvSpPr>
          <p:cNvPr id="628" name="Google Shape;628;p54"/>
          <p:cNvSpPr/>
          <p:nvPr/>
        </p:nvSpPr>
        <p:spPr>
          <a:xfrm flipH="1">
            <a:off x="2822325" y="3772225"/>
            <a:ext cx="312000" cy="1094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4"/>
          <p:cNvSpPr txBox="1"/>
          <p:nvPr/>
        </p:nvSpPr>
        <p:spPr>
          <a:xfrm>
            <a:off x="2178475" y="765700"/>
            <a:ext cx="7953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1 RTT</a:t>
            </a:r>
            <a:endParaRPr b="1">
              <a:latin typeface="Open Sans"/>
              <a:ea typeface="Open Sans"/>
              <a:cs typeface="Open Sans"/>
              <a:sym typeface="Open Sans"/>
            </a:endParaRPr>
          </a:p>
        </p:txBody>
      </p:sp>
      <p:sp>
        <p:nvSpPr>
          <p:cNvPr id="630" name="Google Shape;630;p54"/>
          <p:cNvSpPr txBox="1"/>
          <p:nvPr/>
        </p:nvSpPr>
        <p:spPr>
          <a:xfrm>
            <a:off x="2179425" y="4102400"/>
            <a:ext cx="7953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1 RTT</a:t>
            </a:r>
            <a:endParaRPr b="1">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1000"/>
                                        <p:tgtEl>
                                          <p:spTgt spid="603"/>
                                        </p:tgtEl>
                                      </p:cBhvr>
                                    </p:animEffect>
                                  </p:childTnLst>
                                </p:cTn>
                              </p:par>
                              <p:par>
                                <p:cTn fill="hold" nodeType="with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par>
                                <p:cTn fill="hold" nodeType="with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10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000"/>
                                        <p:tgtEl>
                                          <p:spTgt spid="607"/>
                                        </p:tgtEl>
                                      </p:cBhvr>
                                    </p:animEffect>
                                  </p:childTnLst>
                                </p:cTn>
                              </p:par>
                              <p:par>
                                <p:cTn fill="hold" nodeType="with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1000"/>
                                        <p:tgtEl>
                                          <p:spTgt spid="614"/>
                                        </p:tgtEl>
                                      </p:cBhvr>
                                    </p:animEffect>
                                  </p:childTnLst>
                                </p:cTn>
                              </p:par>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1000"/>
                                        <p:tgtEl>
                                          <p:spTgt spid="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1000"/>
                                        <p:tgtEl>
                                          <p:spTgt spid="629"/>
                                        </p:tgtEl>
                                      </p:cBhvr>
                                    </p:animEffec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1000"/>
                                        <p:tgtEl>
                                          <p:spTgt spid="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1000"/>
                                        <p:tgtEl>
                                          <p:spTgt spid="618"/>
                                        </p:tgtEl>
                                      </p:cBhvr>
                                    </p:animEffect>
                                  </p:childTnLst>
                                </p:cTn>
                              </p:par>
                              <p:par>
                                <p:cTn fill="hold" nodeType="with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10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1000"/>
                                        <p:tgtEl>
                                          <p:spTgt spid="626"/>
                                        </p:tgtEl>
                                      </p:cBhvr>
                                    </p:animEffect>
                                  </p:childTnLst>
                                </p:cTn>
                              </p:par>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1000"/>
                                        <p:tgtEl>
                                          <p:spTgt spid="6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1000"/>
                                        <p:tgtEl>
                                          <p:spTgt spid="621"/>
                                        </p:tgtEl>
                                      </p:cBhvr>
                                    </p:animEffect>
                                  </p:childTnLst>
                                </p:cTn>
                              </p:par>
                              <p:par>
                                <p:cTn fill="hold" nodeType="with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1000"/>
                                        <p:tgtEl>
                                          <p:spTgt spid="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1000"/>
                                        <p:tgtEl>
                                          <p:spTgt spid="623"/>
                                        </p:tgtEl>
                                      </p:cBhvr>
                                    </p:animEffect>
                                  </p:childTnLst>
                                </p:cTn>
                              </p:par>
                              <p:par>
                                <p:cTn fill="hold" nodeType="with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1000"/>
                                        <p:tgtEl>
                                          <p:spTgt spid="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1000"/>
                                        <p:tgtEl>
                                          <p:spTgt spid="625"/>
                                        </p:tgtEl>
                                      </p:cBhvr>
                                    </p:animEffect>
                                  </p:childTnLst>
                                </p:cTn>
                              </p:par>
                              <p:par>
                                <p:cTn fill="hold" nodeType="with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1000"/>
                                        <p:tgtEl>
                                          <p:spTgt spid="6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5" name="Shape 635"/>
        <p:cNvGrpSpPr/>
        <p:nvPr/>
      </p:nvGrpSpPr>
      <p:grpSpPr>
        <a:xfrm>
          <a:off x="0" y="0"/>
          <a:ext cx="0" cy="0"/>
          <a:chOff x="0" y="0"/>
          <a:chExt cx="0" cy="0"/>
        </a:xfrm>
      </p:grpSpPr>
      <p:sp>
        <p:nvSpPr>
          <p:cNvPr id="636" name="Google Shape;636;p55"/>
          <p:cNvSpPr txBox="1"/>
          <p:nvPr>
            <p:ph idx="4294967295" type="title"/>
          </p:nvPr>
        </p:nvSpPr>
        <p:spPr>
          <a:xfrm>
            <a:off x="490875" y="225604"/>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Q4.2</a:t>
            </a:r>
            <a:endParaRPr b="1" i="0" sz="4400" u="none" cap="none" strike="noStrike">
              <a:solidFill>
                <a:srgbClr val="EF6C00"/>
              </a:solidFill>
              <a:latin typeface="PT Sans Narrow"/>
              <a:ea typeface="PT Sans Narrow"/>
              <a:cs typeface="PT Sans Narrow"/>
              <a:sym typeface="PT Sans Narrow"/>
            </a:endParaRPr>
          </a:p>
        </p:txBody>
      </p:sp>
      <p:cxnSp>
        <p:nvCxnSpPr>
          <p:cNvPr id="637" name="Google Shape;637;p55"/>
          <p:cNvCxnSpPr/>
          <p:nvPr/>
        </p:nvCxnSpPr>
        <p:spPr>
          <a:xfrm flipH="1">
            <a:off x="3662675" y="321000"/>
            <a:ext cx="12600" cy="4690500"/>
          </a:xfrm>
          <a:prstGeom prst="straightConnector1">
            <a:avLst/>
          </a:prstGeom>
          <a:noFill/>
          <a:ln cap="flat" cmpd="sng" w="38100">
            <a:solidFill>
              <a:srgbClr val="1A1A1A"/>
            </a:solidFill>
            <a:prstDash val="solid"/>
            <a:round/>
            <a:headEnd len="med" w="med" type="none"/>
            <a:tailEnd len="med" w="med" type="none"/>
          </a:ln>
        </p:spPr>
      </p:cxnSp>
      <p:cxnSp>
        <p:nvCxnSpPr>
          <p:cNvPr id="638" name="Google Shape;638;p55"/>
          <p:cNvCxnSpPr/>
          <p:nvPr/>
        </p:nvCxnSpPr>
        <p:spPr>
          <a:xfrm>
            <a:off x="6886955" y="321000"/>
            <a:ext cx="5700" cy="4681800"/>
          </a:xfrm>
          <a:prstGeom prst="straightConnector1">
            <a:avLst/>
          </a:prstGeom>
          <a:noFill/>
          <a:ln cap="flat" cmpd="sng" w="38100">
            <a:solidFill>
              <a:srgbClr val="1A1A1A"/>
            </a:solidFill>
            <a:prstDash val="solid"/>
            <a:round/>
            <a:headEnd len="med" w="med" type="none"/>
            <a:tailEnd len="med" w="med" type="none"/>
          </a:ln>
        </p:spPr>
      </p:cxnSp>
      <p:sp>
        <p:nvSpPr>
          <p:cNvPr id="639" name="Google Shape;639;p55"/>
          <p:cNvSpPr/>
          <p:nvPr/>
        </p:nvSpPr>
        <p:spPr>
          <a:xfrm flipH="1">
            <a:off x="2809625" y="321000"/>
            <a:ext cx="312000" cy="1273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5"/>
          <p:cNvSpPr txBox="1"/>
          <p:nvPr/>
        </p:nvSpPr>
        <p:spPr>
          <a:xfrm>
            <a:off x="2119275" y="755100"/>
            <a:ext cx="7953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1 </a:t>
            </a:r>
            <a:r>
              <a:rPr b="1" lang="en-US">
                <a:latin typeface="Open Sans"/>
                <a:ea typeface="Open Sans"/>
                <a:cs typeface="Open Sans"/>
                <a:sym typeface="Open Sans"/>
              </a:rPr>
              <a:t>RTT</a:t>
            </a:r>
            <a:endParaRPr b="1">
              <a:latin typeface="Open Sans"/>
              <a:ea typeface="Open Sans"/>
              <a:cs typeface="Open Sans"/>
              <a:sym typeface="Open Sans"/>
            </a:endParaRPr>
          </a:p>
        </p:txBody>
      </p:sp>
      <p:sp>
        <p:nvSpPr>
          <p:cNvPr id="641" name="Google Shape;641;p55"/>
          <p:cNvSpPr txBox="1"/>
          <p:nvPr/>
        </p:nvSpPr>
        <p:spPr>
          <a:xfrm>
            <a:off x="6873800" y="662680"/>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A600</a:t>
            </a:r>
            <a:endParaRPr sz="1200">
              <a:latin typeface="Lato"/>
              <a:ea typeface="Lato"/>
              <a:cs typeface="Lato"/>
              <a:sym typeface="Lato"/>
            </a:endParaRPr>
          </a:p>
        </p:txBody>
      </p:sp>
      <p:cxnSp>
        <p:nvCxnSpPr>
          <p:cNvPr id="642" name="Google Shape;642;p55"/>
          <p:cNvCxnSpPr/>
          <p:nvPr/>
        </p:nvCxnSpPr>
        <p:spPr>
          <a:xfrm>
            <a:off x="3667568" y="341650"/>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43" name="Google Shape;643;p55"/>
          <p:cNvSpPr txBox="1"/>
          <p:nvPr/>
        </p:nvSpPr>
        <p:spPr>
          <a:xfrm>
            <a:off x="3126618" y="147313"/>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D500</a:t>
            </a:r>
            <a:endParaRPr sz="1200">
              <a:latin typeface="Lato"/>
              <a:ea typeface="Lato"/>
              <a:cs typeface="Lato"/>
              <a:sym typeface="Lato"/>
            </a:endParaRPr>
          </a:p>
        </p:txBody>
      </p:sp>
      <p:cxnSp>
        <p:nvCxnSpPr>
          <p:cNvPr id="644" name="Google Shape;644;p55"/>
          <p:cNvCxnSpPr/>
          <p:nvPr/>
        </p:nvCxnSpPr>
        <p:spPr>
          <a:xfrm flipH="1">
            <a:off x="3667543" y="882100"/>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45" name="Google Shape;645;p55"/>
          <p:cNvSpPr txBox="1"/>
          <p:nvPr/>
        </p:nvSpPr>
        <p:spPr>
          <a:xfrm>
            <a:off x="6873795" y="849500"/>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A700</a:t>
            </a:r>
            <a:endParaRPr sz="1200">
              <a:latin typeface="Lato"/>
              <a:ea typeface="Lato"/>
              <a:cs typeface="Lato"/>
              <a:sym typeface="Lato"/>
            </a:endParaRPr>
          </a:p>
        </p:txBody>
      </p:sp>
      <p:cxnSp>
        <p:nvCxnSpPr>
          <p:cNvPr id="646" name="Google Shape;646;p55"/>
          <p:cNvCxnSpPr/>
          <p:nvPr/>
        </p:nvCxnSpPr>
        <p:spPr>
          <a:xfrm>
            <a:off x="3667423" y="516057"/>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47" name="Google Shape;647;p55"/>
          <p:cNvSpPr txBox="1"/>
          <p:nvPr/>
        </p:nvSpPr>
        <p:spPr>
          <a:xfrm>
            <a:off x="3126473" y="321719"/>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D600</a:t>
            </a:r>
            <a:endParaRPr sz="1200">
              <a:latin typeface="Lato"/>
              <a:ea typeface="Lato"/>
              <a:cs typeface="Lato"/>
              <a:sym typeface="Lato"/>
            </a:endParaRPr>
          </a:p>
        </p:txBody>
      </p:sp>
      <p:cxnSp>
        <p:nvCxnSpPr>
          <p:cNvPr id="648" name="Google Shape;648;p55"/>
          <p:cNvCxnSpPr/>
          <p:nvPr/>
        </p:nvCxnSpPr>
        <p:spPr>
          <a:xfrm flipH="1">
            <a:off x="3667543" y="1055308"/>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49" name="Google Shape;649;p55"/>
          <p:cNvSpPr txBox="1"/>
          <p:nvPr/>
        </p:nvSpPr>
        <p:spPr>
          <a:xfrm>
            <a:off x="3126180" y="497871"/>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D700</a:t>
            </a:r>
            <a:endParaRPr sz="1200">
              <a:latin typeface="Lato"/>
              <a:ea typeface="Lato"/>
              <a:cs typeface="Lato"/>
              <a:sym typeface="Lato"/>
            </a:endParaRPr>
          </a:p>
        </p:txBody>
      </p:sp>
      <p:cxnSp>
        <p:nvCxnSpPr>
          <p:cNvPr id="650" name="Google Shape;650;p55"/>
          <p:cNvCxnSpPr/>
          <p:nvPr/>
        </p:nvCxnSpPr>
        <p:spPr>
          <a:xfrm>
            <a:off x="3639066" y="664011"/>
            <a:ext cx="1682400" cy="272100"/>
          </a:xfrm>
          <a:prstGeom prst="straightConnector1">
            <a:avLst/>
          </a:prstGeom>
          <a:noFill/>
          <a:ln cap="flat" cmpd="sng" w="9525">
            <a:solidFill>
              <a:srgbClr val="1A1A1A"/>
            </a:solidFill>
            <a:prstDash val="solid"/>
            <a:round/>
            <a:headEnd len="med" w="med" type="none"/>
            <a:tailEnd len="med" w="med" type="triangle"/>
          </a:ln>
        </p:spPr>
      </p:cxnSp>
      <p:sp>
        <p:nvSpPr>
          <p:cNvPr id="651" name="Google Shape;651;p55"/>
          <p:cNvSpPr txBox="1"/>
          <p:nvPr/>
        </p:nvSpPr>
        <p:spPr>
          <a:xfrm>
            <a:off x="5203521" y="724680"/>
            <a:ext cx="2694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0000"/>
                </a:solidFill>
                <a:latin typeface="Times New Roman"/>
                <a:ea typeface="Times New Roman"/>
                <a:cs typeface="Times New Roman"/>
                <a:sym typeface="Times New Roman"/>
              </a:rPr>
              <a:t>X</a:t>
            </a:r>
            <a:endParaRPr>
              <a:solidFill>
                <a:srgbClr val="FF0000"/>
              </a:solidFill>
              <a:latin typeface="Times New Roman"/>
              <a:ea typeface="Times New Roman"/>
              <a:cs typeface="Times New Roman"/>
              <a:sym typeface="Times New Roman"/>
            </a:endParaRPr>
          </a:p>
        </p:txBody>
      </p:sp>
      <p:cxnSp>
        <p:nvCxnSpPr>
          <p:cNvPr id="652" name="Google Shape;652;p55"/>
          <p:cNvCxnSpPr>
            <a:endCxn id="653" idx="1"/>
          </p:cNvCxnSpPr>
          <p:nvPr/>
        </p:nvCxnSpPr>
        <p:spPr>
          <a:xfrm>
            <a:off x="3639075" y="1603166"/>
            <a:ext cx="3818400" cy="0"/>
          </a:xfrm>
          <a:prstGeom prst="straightConnector1">
            <a:avLst/>
          </a:prstGeom>
          <a:noFill/>
          <a:ln cap="flat" cmpd="sng" w="9525">
            <a:solidFill>
              <a:schemeClr val="dk2"/>
            </a:solidFill>
            <a:prstDash val="dash"/>
            <a:round/>
            <a:headEnd len="med" w="med" type="none"/>
            <a:tailEnd len="med" w="med" type="none"/>
          </a:ln>
        </p:spPr>
      </p:cxnSp>
      <p:sp>
        <p:nvSpPr>
          <p:cNvPr id="653" name="Google Shape;653;p55"/>
          <p:cNvSpPr txBox="1"/>
          <p:nvPr/>
        </p:nvSpPr>
        <p:spPr>
          <a:xfrm>
            <a:off x="7457475" y="1447466"/>
            <a:ext cx="18744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200">
                <a:latin typeface="Open Sans"/>
                <a:ea typeface="Open Sans"/>
                <a:cs typeface="Open Sans"/>
                <a:sym typeface="Open Sans"/>
              </a:rPr>
              <a:t>Timer start (A700)</a:t>
            </a:r>
            <a:endParaRPr i="1" sz="1200">
              <a:latin typeface="Open Sans"/>
              <a:ea typeface="Open Sans"/>
              <a:cs typeface="Open Sans"/>
              <a:sym typeface="Open Sans"/>
            </a:endParaRPr>
          </a:p>
        </p:txBody>
      </p:sp>
      <p:sp>
        <p:nvSpPr>
          <p:cNvPr id="654" name="Google Shape;654;p55"/>
          <p:cNvSpPr txBox="1"/>
          <p:nvPr/>
        </p:nvSpPr>
        <p:spPr>
          <a:xfrm>
            <a:off x="6901024" y="1943005"/>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A700</a:t>
            </a:r>
            <a:endParaRPr sz="1200">
              <a:latin typeface="Lato"/>
              <a:ea typeface="Lato"/>
              <a:cs typeface="Lato"/>
              <a:sym typeface="Lato"/>
            </a:endParaRPr>
          </a:p>
        </p:txBody>
      </p:sp>
      <p:cxnSp>
        <p:nvCxnSpPr>
          <p:cNvPr id="655" name="Google Shape;655;p55"/>
          <p:cNvCxnSpPr/>
          <p:nvPr/>
        </p:nvCxnSpPr>
        <p:spPr>
          <a:xfrm>
            <a:off x="3694792" y="1621975"/>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56" name="Google Shape;656;p55"/>
          <p:cNvSpPr txBox="1"/>
          <p:nvPr/>
        </p:nvSpPr>
        <p:spPr>
          <a:xfrm>
            <a:off x="3153842" y="1427638"/>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D800</a:t>
            </a:r>
            <a:endParaRPr sz="1200">
              <a:latin typeface="Lato"/>
              <a:ea typeface="Lato"/>
              <a:cs typeface="Lato"/>
              <a:sym typeface="Lato"/>
            </a:endParaRPr>
          </a:p>
        </p:txBody>
      </p:sp>
      <p:cxnSp>
        <p:nvCxnSpPr>
          <p:cNvPr id="657" name="Google Shape;657;p55"/>
          <p:cNvCxnSpPr/>
          <p:nvPr/>
        </p:nvCxnSpPr>
        <p:spPr>
          <a:xfrm flipH="1">
            <a:off x="3694767" y="2162425"/>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58" name="Google Shape;658;p55"/>
          <p:cNvSpPr txBox="1"/>
          <p:nvPr/>
        </p:nvSpPr>
        <p:spPr>
          <a:xfrm>
            <a:off x="6901019" y="2129825"/>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A700</a:t>
            </a:r>
            <a:endParaRPr sz="1200">
              <a:latin typeface="Lato"/>
              <a:ea typeface="Lato"/>
              <a:cs typeface="Lato"/>
              <a:sym typeface="Lato"/>
            </a:endParaRPr>
          </a:p>
        </p:txBody>
      </p:sp>
      <p:cxnSp>
        <p:nvCxnSpPr>
          <p:cNvPr id="659" name="Google Shape;659;p55"/>
          <p:cNvCxnSpPr/>
          <p:nvPr/>
        </p:nvCxnSpPr>
        <p:spPr>
          <a:xfrm>
            <a:off x="3694647" y="1796382"/>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60" name="Google Shape;660;p55"/>
          <p:cNvSpPr txBox="1"/>
          <p:nvPr/>
        </p:nvSpPr>
        <p:spPr>
          <a:xfrm>
            <a:off x="3153697" y="1602044"/>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D900</a:t>
            </a:r>
            <a:endParaRPr sz="1200">
              <a:latin typeface="Lato"/>
              <a:ea typeface="Lato"/>
              <a:cs typeface="Lato"/>
              <a:sym typeface="Lato"/>
            </a:endParaRPr>
          </a:p>
        </p:txBody>
      </p:sp>
      <p:cxnSp>
        <p:nvCxnSpPr>
          <p:cNvPr id="661" name="Google Shape;661;p55"/>
          <p:cNvCxnSpPr/>
          <p:nvPr/>
        </p:nvCxnSpPr>
        <p:spPr>
          <a:xfrm flipH="1">
            <a:off x="3694767" y="2335633"/>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62" name="Google Shape;662;p55"/>
          <p:cNvSpPr txBox="1"/>
          <p:nvPr/>
        </p:nvSpPr>
        <p:spPr>
          <a:xfrm>
            <a:off x="3153625" y="3519981"/>
            <a:ext cx="5871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D700</a:t>
            </a:r>
            <a:endParaRPr sz="1200">
              <a:latin typeface="Lato"/>
              <a:ea typeface="Lato"/>
              <a:cs typeface="Lato"/>
              <a:sym typeface="Lato"/>
            </a:endParaRPr>
          </a:p>
        </p:txBody>
      </p:sp>
      <p:cxnSp>
        <p:nvCxnSpPr>
          <p:cNvPr id="663" name="Google Shape;663;p55"/>
          <p:cNvCxnSpPr/>
          <p:nvPr/>
        </p:nvCxnSpPr>
        <p:spPr>
          <a:xfrm flipH="1">
            <a:off x="3694550" y="4271118"/>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64" name="Google Shape;664;p55"/>
          <p:cNvSpPr txBox="1"/>
          <p:nvPr/>
        </p:nvSpPr>
        <p:spPr>
          <a:xfrm>
            <a:off x="6900799" y="4069775"/>
            <a:ext cx="7953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A1000</a:t>
            </a:r>
            <a:endParaRPr sz="1200">
              <a:latin typeface="Lato"/>
              <a:ea typeface="Lato"/>
              <a:cs typeface="Lato"/>
              <a:sym typeface="Lato"/>
            </a:endParaRPr>
          </a:p>
        </p:txBody>
      </p:sp>
      <p:cxnSp>
        <p:nvCxnSpPr>
          <p:cNvPr id="665" name="Google Shape;665;p55"/>
          <p:cNvCxnSpPr>
            <a:endCxn id="666" idx="1"/>
          </p:cNvCxnSpPr>
          <p:nvPr/>
        </p:nvCxnSpPr>
        <p:spPr>
          <a:xfrm>
            <a:off x="3674300" y="3732243"/>
            <a:ext cx="3818400" cy="0"/>
          </a:xfrm>
          <a:prstGeom prst="straightConnector1">
            <a:avLst/>
          </a:prstGeom>
          <a:noFill/>
          <a:ln cap="flat" cmpd="sng" w="9525">
            <a:solidFill>
              <a:schemeClr val="dk2"/>
            </a:solidFill>
            <a:prstDash val="dash"/>
            <a:round/>
            <a:headEnd len="med" w="med" type="none"/>
            <a:tailEnd len="med" w="med" type="none"/>
          </a:ln>
        </p:spPr>
      </p:cxnSp>
      <p:sp>
        <p:nvSpPr>
          <p:cNvPr id="666" name="Google Shape;666;p55"/>
          <p:cNvSpPr txBox="1"/>
          <p:nvPr/>
        </p:nvSpPr>
        <p:spPr>
          <a:xfrm>
            <a:off x="7492700" y="3576543"/>
            <a:ext cx="18744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1200">
                <a:solidFill>
                  <a:srgbClr val="FF0000"/>
                </a:solidFill>
                <a:latin typeface="Open Sans"/>
                <a:ea typeface="Open Sans"/>
                <a:cs typeface="Open Sans"/>
                <a:sym typeface="Open Sans"/>
              </a:rPr>
              <a:t>Time-out! Retransmit</a:t>
            </a:r>
            <a:endParaRPr i="1" sz="1200">
              <a:solidFill>
                <a:srgbClr val="FF0000"/>
              </a:solidFill>
              <a:latin typeface="Open Sans"/>
              <a:ea typeface="Open Sans"/>
              <a:cs typeface="Open Sans"/>
              <a:sym typeface="Open Sans"/>
            </a:endParaRPr>
          </a:p>
        </p:txBody>
      </p:sp>
      <p:cxnSp>
        <p:nvCxnSpPr>
          <p:cNvPr id="667" name="Google Shape;667;p55"/>
          <p:cNvCxnSpPr/>
          <p:nvPr/>
        </p:nvCxnSpPr>
        <p:spPr>
          <a:xfrm>
            <a:off x="3694567" y="3735970"/>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68" name="Google Shape;668;p55"/>
          <p:cNvSpPr/>
          <p:nvPr/>
        </p:nvSpPr>
        <p:spPr>
          <a:xfrm flipH="1">
            <a:off x="2809625" y="1578700"/>
            <a:ext cx="312000" cy="21159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5"/>
          <p:cNvSpPr txBox="1"/>
          <p:nvPr/>
        </p:nvSpPr>
        <p:spPr>
          <a:xfrm>
            <a:off x="2386675" y="2432240"/>
            <a:ext cx="5871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TO</a:t>
            </a:r>
            <a:endParaRPr b="1">
              <a:latin typeface="Open Sans"/>
              <a:ea typeface="Open Sans"/>
              <a:cs typeface="Open Sans"/>
              <a:sym typeface="Open Sans"/>
            </a:endParaRPr>
          </a:p>
        </p:txBody>
      </p:sp>
      <p:sp>
        <p:nvSpPr>
          <p:cNvPr id="670" name="Google Shape;670;p55"/>
          <p:cNvSpPr txBox="1"/>
          <p:nvPr/>
        </p:nvSpPr>
        <p:spPr>
          <a:xfrm>
            <a:off x="2179425" y="4026200"/>
            <a:ext cx="7953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1 RTT</a:t>
            </a:r>
            <a:endParaRPr b="1">
              <a:latin typeface="Open Sans"/>
              <a:ea typeface="Open Sans"/>
              <a:cs typeface="Open Sans"/>
              <a:sym typeface="Open Sans"/>
            </a:endParaRPr>
          </a:p>
        </p:txBody>
      </p:sp>
      <p:sp>
        <p:nvSpPr>
          <p:cNvPr id="671" name="Google Shape;671;p55"/>
          <p:cNvSpPr/>
          <p:nvPr/>
        </p:nvSpPr>
        <p:spPr>
          <a:xfrm flipH="1">
            <a:off x="2822325" y="3696025"/>
            <a:ext cx="312000" cy="1094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5"/>
          <p:cNvSpPr txBox="1"/>
          <p:nvPr/>
        </p:nvSpPr>
        <p:spPr>
          <a:xfrm>
            <a:off x="5044475" y="2755738"/>
            <a:ext cx="587100" cy="27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latin typeface="Lato"/>
                <a:ea typeface="Lato"/>
                <a:cs typeface="Lato"/>
                <a:sym typeface="Lato"/>
              </a:rPr>
              <a: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t>
            </a:r>
            <a:endParaRPr sz="1200">
              <a:latin typeface="Lato"/>
              <a:ea typeface="Lato"/>
              <a:cs typeface="Lato"/>
              <a:sym typeface="Lato"/>
            </a:endParaRPr>
          </a:p>
          <a:p>
            <a:pPr indent="0" lvl="0" marL="0" rtl="0" algn="ctr">
              <a:spcBef>
                <a:spcPts val="0"/>
              </a:spcBef>
              <a:spcAft>
                <a:spcPts val="0"/>
              </a:spcAft>
              <a:buNone/>
            </a:pPr>
            <a:r>
              <a:rPr lang="en-US" sz="1200">
                <a:latin typeface="Lato"/>
                <a:ea typeface="Lato"/>
                <a:cs typeface="Lato"/>
                <a:sym typeface="Lato"/>
              </a:rPr>
              <a:t>.</a:t>
            </a:r>
            <a:endParaRPr sz="1200">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000"/>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par>
                                <p:cTn fill="hold" nodeType="with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par>
                                <p:cTn fill="hold" nodeType="with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par>
                                <p:cTn fill="hold" nodeType="with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1000"/>
                                        <p:tgtEl>
                                          <p:spTgt spid="650"/>
                                        </p:tgtEl>
                                      </p:cBhvr>
                                    </p:animEffect>
                                  </p:childTnLst>
                                </p:cTn>
                              </p:par>
                              <p:par>
                                <p:cTn fill="hold" nodeType="with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1000"/>
                                        <p:tgtEl>
                                          <p:spTgt spid="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par>
                                <p:cTn fill="hold" nodeType="with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0"/>
                                        </p:tgtEl>
                                        <p:attrNameLst>
                                          <p:attrName>style.visibility</p:attrName>
                                        </p:attrNameLst>
                                      </p:cBhvr>
                                      <p:to>
                                        <p:strVal val="visible"/>
                                      </p:to>
                                    </p:set>
                                    <p:animEffect filter="fade" transition="in">
                                      <p:cBhvr>
                                        <p:cTn dur="1000"/>
                                        <p:tgtEl>
                                          <p:spTgt spid="640"/>
                                        </p:tgtEl>
                                      </p:cBhvr>
                                    </p:animEffect>
                                  </p:childTnLst>
                                </p:cTn>
                              </p:par>
                              <p:par>
                                <p:cTn fill="hold" nodeType="with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1000"/>
                                        <p:tgtEl>
                                          <p:spTgt spid="6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par>
                                <p:cTn fill="hold" nodeType="with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1000"/>
                                        <p:tgtEl>
                                          <p:spTgt spid="6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5"/>
                                        </p:tgtEl>
                                        <p:attrNameLst>
                                          <p:attrName>style.visibility</p:attrName>
                                        </p:attrNameLst>
                                      </p:cBhvr>
                                      <p:to>
                                        <p:strVal val="visible"/>
                                      </p:to>
                                    </p:set>
                                    <p:animEffect filter="fade" transition="in">
                                      <p:cBhvr>
                                        <p:cTn dur="1000"/>
                                        <p:tgtEl>
                                          <p:spTgt spid="655"/>
                                        </p:tgtEl>
                                      </p:cBhvr>
                                    </p:animEffect>
                                  </p:childTnLst>
                                </p:cTn>
                              </p:par>
                              <p:par>
                                <p:cTn fill="hold" nodeType="with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000"/>
                                        <p:tgtEl>
                                          <p:spTgt spid="656"/>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1000"/>
                                        <p:tgtEl>
                                          <p:spTgt spid="654"/>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10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000"/>
                                        <p:tgtEl>
                                          <p:spTgt spid="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1000"/>
                                        <p:tgtEl>
                                          <p:spTgt spid="665"/>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000"/>
                                        <p:tgtEl>
                                          <p:spTgt spid="672"/>
                                        </p:tgtEl>
                                      </p:cBhvr>
                                    </p:animEffect>
                                  </p:childTnLst>
                                </p:cTn>
                              </p:par>
                              <p:par>
                                <p:cTn fill="hold" nodeType="with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1000"/>
                                        <p:tgtEl>
                                          <p:spTgt spid="668"/>
                                        </p:tgtEl>
                                      </p:cBhvr>
                                    </p:animEffect>
                                  </p:childTnLst>
                                </p:cTn>
                              </p:par>
                              <p:par>
                                <p:cTn fill="hold" nodeType="withEffect" presetClass="entr" presetID="10" presetSubtype="0">
                                  <p:stCondLst>
                                    <p:cond delay="0"/>
                                  </p:stCondLst>
                                  <p:childTnLst>
                                    <p:set>
                                      <p:cBhvr>
                                        <p:cTn dur="1" fill="hold">
                                          <p:stCondLst>
                                            <p:cond delay="0"/>
                                          </p:stCondLst>
                                        </p:cTn>
                                        <p:tgtEl>
                                          <p:spTgt spid="669"/>
                                        </p:tgtEl>
                                        <p:attrNameLst>
                                          <p:attrName>style.visibility</p:attrName>
                                        </p:attrNameLst>
                                      </p:cBhvr>
                                      <p:to>
                                        <p:strVal val="visible"/>
                                      </p:to>
                                    </p:set>
                                    <p:animEffect filter="fade" transition="in">
                                      <p:cBhvr>
                                        <p:cTn dur="1000"/>
                                        <p:tgtEl>
                                          <p:spTgt spid="6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1000"/>
                                        <p:tgtEl>
                                          <p:spTgt spid="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1000"/>
                                        <p:tgtEl>
                                          <p:spTgt spid="664"/>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1000"/>
                                        <p:tgtEl>
                                          <p:spTgt spid="671"/>
                                        </p:tgtEl>
                                      </p:cBhvr>
                                    </p:animEffect>
                                  </p:childTnLst>
                                </p:cTn>
                              </p:par>
                              <p:par>
                                <p:cTn fill="hold" nodeType="with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1000"/>
                                        <p:tgtEl>
                                          <p:spTgt spid="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7" name="Shape 677"/>
        <p:cNvGrpSpPr/>
        <p:nvPr/>
      </p:nvGrpSpPr>
      <p:grpSpPr>
        <a:xfrm>
          <a:off x="0" y="0"/>
          <a:ext cx="0" cy="0"/>
          <a:chOff x="0" y="0"/>
          <a:chExt cx="0" cy="0"/>
        </a:xfrm>
      </p:grpSpPr>
      <p:sp>
        <p:nvSpPr>
          <p:cNvPr id="678" name="Google Shape;678;p56"/>
          <p:cNvSpPr txBox="1"/>
          <p:nvPr>
            <p:ph idx="4294967295" type="title"/>
          </p:nvPr>
        </p:nvSpPr>
        <p:spPr>
          <a:xfrm>
            <a:off x="490875" y="225604"/>
            <a:ext cx="8229600" cy="857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F6C00"/>
              </a:buClr>
              <a:buSzPts val="4400"/>
              <a:buFont typeface="PT Sans Narrow"/>
              <a:buNone/>
            </a:pPr>
            <a:r>
              <a:rPr lang="en-US"/>
              <a:t>Q4.2</a:t>
            </a:r>
            <a:endParaRPr b="1" i="0" sz="4400" u="none" cap="none" strike="noStrike">
              <a:solidFill>
                <a:srgbClr val="EF6C00"/>
              </a:solidFill>
              <a:latin typeface="PT Sans Narrow"/>
              <a:ea typeface="PT Sans Narrow"/>
              <a:cs typeface="PT Sans Narrow"/>
              <a:sym typeface="PT Sans Narrow"/>
            </a:endParaRPr>
          </a:p>
        </p:txBody>
      </p:sp>
      <p:cxnSp>
        <p:nvCxnSpPr>
          <p:cNvPr id="679" name="Google Shape;679;p56"/>
          <p:cNvCxnSpPr/>
          <p:nvPr/>
        </p:nvCxnSpPr>
        <p:spPr>
          <a:xfrm>
            <a:off x="3675275" y="321000"/>
            <a:ext cx="0" cy="1253700"/>
          </a:xfrm>
          <a:prstGeom prst="straightConnector1">
            <a:avLst/>
          </a:prstGeom>
          <a:noFill/>
          <a:ln cap="flat" cmpd="sng" w="38100">
            <a:solidFill>
              <a:srgbClr val="1A1A1A"/>
            </a:solidFill>
            <a:prstDash val="solid"/>
            <a:round/>
            <a:headEnd len="med" w="med" type="none"/>
            <a:tailEnd len="med" w="med" type="none"/>
          </a:ln>
        </p:spPr>
      </p:cxnSp>
      <p:cxnSp>
        <p:nvCxnSpPr>
          <p:cNvPr id="680" name="Google Shape;680;p56"/>
          <p:cNvCxnSpPr/>
          <p:nvPr/>
        </p:nvCxnSpPr>
        <p:spPr>
          <a:xfrm>
            <a:off x="6886955" y="321000"/>
            <a:ext cx="0" cy="1287300"/>
          </a:xfrm>
          <a:prstGeom prst="straightConnector1">
            <a:avLst/>
          </a:prstGeom>
          <a:noFill/>
          <a:ln cap="flat" cmpd="sng" w="38100">
            <a:solidFill>
              <a:srgbClr val="1A1A1A"/>
            </a:solidFill>
            <a:prstDash val="solid"/>
            <a:round/>
            <a:headEnd len="med" w="med" type="none"/>
            <a:tailEnd len="med" w="med" type="none"/>
          </a:ln>
        </p:spPr>
      </p:cxnSp>
      <p:sp>
        <p:nvSpPr>
          <p:cNvPr id="681" name="Google Shape;681;p56"/>
          <p:cNvSpPr/>
          <p:nvPr/>
        </p:nvSpPr>
        <p:spPr>
          <a:xfrm flipH="1">
            <a:off x="2733425" y="321000"/>
            <a:ext cx="312000" cy="10998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56"/>
          <p:cNvSpPr txBox="1"/>
          <p:nvPr/>
        </p:nvSpPr>
        <p:spPr>
          <a:xfrm>
            <a:off x="2119275" y="678900"/>
            <a:ext cx="795300" cy="3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latin typeface="Open Sans"/>
                <a:ea typeface="Open Sans"/>
                <a:cs typeface="Open Sans"/>
                <a:sym typeface="Open Sans"/>
              </a:rPr>
              <a:t>1 RTT</a:t>
            </a:r>
            <a:endParaRPr b="1">
              <a:latin typeface="Open Sans"/>
              <a:ea typeface="Open Sans"/>
              <a:cs typeface="Open Sans"/>
              <a:sym typeface="Open Sans"/>
            </a:endParaRPr>
          </a:p>
        </p:txBody>
      </p:sp>
      <p:sp>
        <p:nvSpPr>
          <p:cNvPr id="683" name="Google Shape;683;p56"/>
          <p:cNvSpPr txBox="1"/>
          <p:nvPr/>
        </p:nvSpPr>
        <p:spPr>
          <a:xfrm>
            <a:off x="6873800" y="662675"/>
            <a:ext cx="8628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A1100</a:t>
            </a:r>
            <a:endParaRPr sz="1200">
              <a:latin typeface="Lato"/>
              <a:ea typeface="Lato"/>
              <a:cs typeface="Lato"/>
              <a:sym typeface="Lato"/>
            </a:endParaRPr>
          </a:p>
        </p:txBody>
      </p:sp>
      <p:cxnSp>
        <p:nvCxnSpPr>
          <p:cNvPr id="684" name="Google Shape;684;p56"/>
          <p:cNvCxnSpPr/>
          <p:nvPr/>
        </p:nvCxnSpPr>
        <p:spPr>
          <a:xfrm>
            <a:off x="3667568" y="341650"/>
            <a:ext cx="3273300" cy="533700"/>
          </a:xfrm>
          <a:prstGeom prst="straightConnector1">
            <a:avLst/>
          </a:prstGeom>
          <a:noFill/>
          <a:ln cap="flat" cmpd="sng" w="9525">
            <a:solidFill>
              <a:srgbClr val="1A1A1A"/>
            </a:solidFill>
            <a:prstDash val="solid"/>
            <a:round/>
            <a:headEnd len="med" w="med" type="none"/>
            <a:tailEnd len="med" w="med" type="triangle"/>
          </a:ln>
        </p:spPr>
      </p:cxnSp>
      <p:sp>
        <p:nvSpPr>
          <p:cNvPr id="685" name="Google Shape;685;p56"/>
          <p:cNvSpPr txBox="1"/>
          <p:nvPr/>
        </p:nvSpPr>
        <p:spPr>
          <a:xfrm>
            <a:off x="2994627" y="147325"/>
            <a:ext cx="7953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latin typeface="Lato"/>
                <a:ea typeface="Lato"/>
                <a:cs typeface="Lato"/>
                <a:sym typeface="Lato"/>
              </a:rPr>
              <a:t>D1000</a:t>
            </a:r>
            <a:endParaRPr sz="1200">
              <a:latin typeface="Lato"/>
              <a:ea typeface="Lato"/>
              <a:cs typeface="Lato"/>
              <a:sym typeface="Lato"/>
            </a:endParaRPr>
          </a:p>
        </p:txBody>
      </p:sp>
      <p:cxnSp>
        <p:nvCxnSpPr>
          <p:cNvPr id="686" name="Google Shape;686;p56"/>
          <p:cNvCxnSpPr/>
          <p:nvPr/>
        </p:nvCxnSpPr>
        <p:spPr>
          <a:xfrm flipH="1">
            <a:off x="3667543" y="882100"/>
            <a:ext cx="3232800" cy="538800"/>
          </a:xfrm>
          <a:prstGeom prst="straightConnector1">
            <a:avLst/>
          </a:prstGeom>
          <a:noFill/>
          <a:ln cap="flat" cmpd="sng" w="9525">
            <a:solidFill>
              <a:srgbClr val="1A9988"/>
            </a:solidFill>
            <a:prstDash val="solid"/>
            <a:round/>
            <a:headEnd len="med" w="med" type="none"/>
            <a:tailEnd len="med" w="med" type="triangle"/>
          </a:ln>
        </p:spPr>
      </p:cxnSp>
      <p:sp>
        <p:nvSpPr>
          <p:cNvPr id="687" name="Google Shape;687;p56"/>
          <p:cNvSpPr txBox="1"/>
          <p:nvPr/>
        </p:nvSpPr>
        <p:spPr>
          <a:xfrm>
            <a:off x="490875" y="3061475"/>
            <a:ext cx="7180200" cy="27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latin typeface="Lato"/>
                <a:ea typeface="Lato"/>
                <a:cs typeface="Lato"/>
                <a:sym typeface="Lato"/>
              </a:rPr>
              <a:t>Total Time = RTT + TO + RTT + RTT + TO + RTT + R</a:t>
            </a:r>
            <a:r>
              <a:rPr lang="en-US" sz="1800">
                <a:latin typeface="Lato"/>
                <a:ea typeface="Lato"/>
                <a:cs typeface="Lato"/>
                <a:sym typeface="Lato"/>
              </a:rPr>
              <a:t>TT</a:t>
            </a:r>
            <a:endParaRPr sz="1800">
              <a:latin typeface="Lato"/>
              <a:ea typeface="Lato"/>
              <a:cs typeface="Lato"/>
              <a:sym typeface="Lato"/>
            </a:endParaRPr>
          </a:p>
          <a:p>
            <a:pPr indent="0" lvl="0" marL="0" rtl="0" algn="l">
              <a:spcBef>
                <a:spcPts val="0"/>
              </a:spcBef>
              <a:spcAft>
                <a:spcPts val="0"/>
              </a:spcAft>
              <a:buNone/>
            </a:pPr>
            <a:r>
              <a:rPr lang="en-US" sz="1800">
                <a:latin typeface="Lato"/>
                <a:ea typeface="Lato"/>
                <a:cs typeface="Lato"/>
                <a:sym typeface="Lato"/>
              </a:rPr>
              <a:t>	        	    = </a:t>
            </a:r>
            <a:r>
              <a:rPr lang="en-US" sz="1800">
                <a:latin typeface="Lato"/>
                <a:ea typeface="Lato"/>
                <a:cs typeface="Lato"/>
                <a:sym typeface="Lato"/>
              </a:rPr>
              <a:t>5 * RTT + 2 * TO</a:t>
            </a:r>
            <a:endParaRPr sz="1800">
              <a:latin typeface="Lato"/>
              <a:ea typeface="Lato"/>
              <a:cs typeface="Lato"/>
              <a:sym typeface="Lato"/>
            </a:endParaRPr>
          </a:p>
          <a:p>
            <a:pPr indent="0" lvl="0" marL="0" rtl="0" algn="l">
              <a:spcBef>
                <a:spcPts val="0"/>
              </a:spcBef>
              <a:spcAft>
                <a:spcPts val="0"/>
              </a:spcAft>
              <a:buNone/>
            </a:pPr>
            <a:r>
              <a:rPr lang="en-US" sz="1800">
                <a:latin typeface="Lato"/>
                <a:ea typeface="Lato"/>
                <a:cs typeface="Lato"/>
                <a:sym typeface="Lato"/>
              </a:rPr>
              <a:t>	      	    = </a:t>
            </a:r>
            <a:r>
              <a:rPr lang="en-US" sz="1800">
                <a:solidFill>
                  <a:srgbClr val="0000FF"/>
                </a:solidFill>
                <a:latin typeface="Lato"/>
                <a:ea typeface="Lato"/>
                <a:cs typeface="Lato"/>
                <a:sym typeface="Lato"/>
              </a:rPr>
              <a:t>6.05 seconds</a:t>
            </a:r>
            <a:endParaRPr sz="1800">
              <a:solidFill>
                <a:srgbClr val="0000FF"/>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1000"/>
                                        <p:tgtEl>
                                          <p:spTgt spid="683"/>
                                        </p:tgtEl>
                                      </p:cBhvr>
                                    </p:animEffect>
                                  </p:childTnLst>
                                </p:cTn>
                              </p:par>
                              <p:par>
                                <p:cTn fill="hold" nodeType="with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1000"/>
                                        <p:tgtEl>
                                          <p:spTgt spid="684"/>
                                        </p:tgtEl>
                                      </p:cBhvr>
                                    </p:animEffect>
                                  </p:childTnLst>
                                </p:cTn>
                              </p:par>
                              <p:par>
                                <p:cTn fill="hold" nodeType="with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10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1000"/>
                                        <p:tgtEl>
                                          <p:spTgt spid="681"/>
                                        </p:tgtEl>
                                      </p:cBhvr>
                                    </p:animEffect>
                                  </p:childTnLst>
                                </p:cTn>
                              </p:par>
                              <p:par>
                                <p:cTn fill="hold" nodeType="with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1000"/>
                                        <p:tgtEl>
                                          <p:spTgt spid="6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1000"/>
                                        <p:tgtEl>
                                          <p:spTgt spid="6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Tropic">
      <a:dk1>
        <a:srgbClr val="000000"/>
      </a:dk1>
      <a:lt1>
        <a:srgbClr val="FFFFFF"/>
      </a:lt1>
      <a:dk2>
        <a:srgbClr val="1F497D"/>
      </a:dk2>
      <a:lt2>
        <a:srgbClr val="EEECE1"/>
      </a:lt2>
      <a:accent1>
        <a:srgbClr val="EF6C00"/>
      </a:accent1>
      <a:accent2>
        <a:srgbClr val="4DB6AC"/>
      </a:accent2>
      <a:accent3>
        <a:srgbClr val="B3A77D"/>
      </a:accent3>
      <a:accent4>
        <a:srgbClr val="A1E8D9"/>
      </a:accent4>
      <a:accent5>
        <a:srgbClr val="695D46"/>
      </a:accent5>
      <a:accent6>
        <a:srgbClr val="009668"/>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185B0D2F0D7DC4489CFF991C602C9121" ma:contentTypeVersion="2" ma:contentTypeDescription="Utwórz nowy dokument." ma:contentTypeScope="" ma:versionID="55ebc71843e560559cd9789fe8f55ebe">
  <xsd:schema xmlns:xsd="http://www.w3.org/2001/XMLSchema" xmlns:xs="http://www.w3.org/2001/XMLSchema" xmlns:p="http://schemas.microsoft.com/office/2006/metadata/properties" xmlns:ns2="21e05157-672d-4edf-bcb1-53d9c4ace537" targetNamespace="http://schemas.microsoft.com/office/2006/metadata/properties" ma:root="true" ma:fieldsID="99c65d363eb84fdbef69a636906df0cd" ns2:_="">
    <xsd:import namespace="21e05157-672d-4edf-bcb1-53d9c4ace537"/>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e05157-672d-4edf-bcb1-53d9c4ace5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07BD2F3-041E-4CDA-B031-F2C5BDBAB0E2}"/>
</file>

<file path=customXml/itemProps2.xml><?xml version="1.0" encoding="utf-8"?>
<ds:datastoreItem xmlns:ds="http://schemas.openxmlformats.org/officeDocument/2006/customXml" ds:itemID="{A70B4E88-A3FD-4E27-A87E-374B20189861}"/>
</file>

<file path=customXml/itemProps3.xml><?xml version="1.0" encoding="utf-8"?>
<ds:datastoreItem xmlns:ds="http://schemas.openxmlformats.org/officeDocument/2006/customXml" ds:itemID="{F5643EC2-A2B4-4901-B976-13050F5E6A95}"/>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0x010100185B0D2F0D7DC4489CFF991C602C9121</vt:lpwstr>
  </property>
</Properties>
</file>