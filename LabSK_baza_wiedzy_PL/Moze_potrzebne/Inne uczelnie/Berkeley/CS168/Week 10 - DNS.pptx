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T Sans Narrow"/>
      <p:regular r:id="rId28"/>
      <p:bold r:id="rId29"/>
    </p:embeddedFont>
    <p:embeddedFont>
      <p:font typeface="Open Sans SemiBold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07BE482-73B2-4EE4-9EA6-BFAA97D66EF1}">
  <a:tblStyle styleId="{F07BE482-73B2-4EE4-9EA6-BFAA97D66E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A2EB115-2D91-4532-BC08-A3F8D81429B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AE6"/>
          </a:solidFill>
        </a:fill>
      </a:tcStyle>
    </a:wholeTbl>
    <a:band1H>
      <a:tcTxStyle b="off" i="off"/>
      <a:tcStyle>
        <a:fill>
          <a:solidFill>
            <a:srgbClr val="F9D3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9D3C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39" Type="http://schemas.openxmlformats.org/officeDocument/2006/relationships/font" Target="fonts/OpenSans-bold.fntdata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4" Type="http://schemas.openxmlformats.org/officeDocument/2006/relationships/font" Target="fonts/HelveticaNeue-regular.fntdata"/><Relationship Id="rId42" Type="http://schemas.openxmlformats.org/officeDocument/2006/relationships/customXml" Target="../customXml/item1.xml"/><Relationship Id="rId7" Type="http://schemas.openxmlformats.org/officeDocument/2006/relationships/slide" Target="slides/slide2.xml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" Type="http://schemas.openxmlformats.org/officeDocument/2006/relationships/presProps" Target="presProps.xml"/><Relationship Id="rId29" Type="http://schemas.openxmlformats.org/officeDocument/2006/relationships/font" Target="fonts/PTSansNarrow-bold.fntdata"/><Relationship Id="rId16" Type="http://schemas.openxmlformats.org/officeDocument/2006/relationships/slide" Target="slides/slide11.xml"/><Relationship Id="rId40" Type="http://schemas.openxmlformats.org/officeDocument/2006/relationships/font" Target="fonts/OpenSans-italic.fntdata"/><Relationship Id="rId24" Type="http://schemas.openxmlformats.org/officeDocument/2006/relationships/slide" Target="slides/slide1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OpenSansSemiBold-italic.fntdata"/><Relationship Id="rId37" Type="http://schemas.openxmlformats.org/officeDocument/2006/relationships/font" Target="fonts/HelveticaNeue-boldItalic.fntdata"/><Relationship Id="rId23" Type="http://schemas.openxmlformats.org/officeDocument/2006/relationships/slide" Target="slides/slide18.xml"/><Relationship Id="rId28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font" Target="fonts/HelveticaNeue-italic.fntdata"/><Relationship Id="rId31" Type="http://schemas.openxmlformats.org/officeDocument/2006/relationships/font" Target="fonts/OpenSansSemiBold-bold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4" Type="http://schemas.openxmlformats.org/officeDocument/2006/relationships/customXml" Target="../customXml/item3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30" Type="http://schemas.openxmlformats.org/officeDocument/2006/relationships/font" Target="fonts/OpenSansSemiBold-regular.fntdata"/><Relationship Id="rId35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43" Type="http://schemas.openxmlformats.org/officeDocument/2006/relationships/customXml" Target="../customXml/item2.xml"/><Relationship Id="rId8" Type="http://schemas.openxmlformats.org/officeDocument/2006/relationships/slide" Target="slides/slide3.xml"/><Relationship Id="rId3" Type="http://schemas.openxmlformats.org/officeDocument/2006/relationships/tableStyles" Target="tableStyles.xml"/><Relationship Id="rId25" Type="http://schemas.openxmlformats.org/officeDocument/2006/relationships/slide" Target="slides/slide20.xml"/><Relationship Id="rId33" Type="http://schemas.openxmlformats.org/officeDocument/2006/relationships/font" Target="fonts/OpenSansSemiBold-bold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Slides by Ankit Mathur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1d80b84e4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1d80b84e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71d80b84e4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25ec376c6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25ec376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825ec376c6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25ec376c6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25ec376c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825ec376c6_1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25ec376c6_1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25ec376c6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825ec376c6_1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client requests www.google.com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25ec376c6_1_2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25ec376c6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825ec376c6_1_2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25ec376c6_1_2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825ec376c6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Meta: when might you want a recursive DNS lookup? Is it more performant?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(i.e. may want recursive for cloud DNS services like Google’s, Cloudflare’s DNS, may not want it for heavy loads like root servers.)</a:t>
            </a:r>
            <a:endParaRPr/>
          </a:p>
        </p:txBody>
      </p:sp>
      <p:sp>
        <p:nvSpPr>
          <p:cNvPr id="225" name="Google Shape;225;g825ec376c6_1_2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828edae782_1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828edae782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828edae782_1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28edae782_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28edae78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False, True, False, False, True</a:t>
            </a:r>
            <a:endParaRPr/>
          </a:p>
        </p:txBody>
      </p:sp>
      <p:sp>
        <p:nvSpPr>
          <p:cNvPr id="270" name="Google Shape;270;g828edae782_6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828edae782_6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828edae782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A,AA, NS, TXT, SRV, MX, CNAME</a:t>
            </a:r>
            <a:endParaRPr/>
          </a:p>
        </p:txBody>
      </p:sp>
      <p:sp>
        <p:nvSpPr>
          <p:cNvPr id="282" name="Google Shape;282;g828edae782_6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828edae782_6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828edae782_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828edae782_6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828edae782_6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828edae782_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828edae782_6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828edae782_6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828edae782_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828edae782_6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828edae782_6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828edae782_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828edae782_6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28edae782_6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28edae782_6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828edae782_6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828edae782_6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828edae782_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828edae782_6_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954346"/>
            <a:ext cx="7772400" cy="745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5400"/>
              <a:buFont typeface="PT Sans Narrow"/>
              <a:buNone/>
              <a:defRPr b="1" i="0" sz="5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664038" y="2711450"/>
            <a:ext cx="5813188" cy="3956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457200" y="3722904"/>
            <a:ext cx="82296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2" name="Google Shape;22;p2"/>
          <p:cNvCxnSpPr/>
          <p:nvPr/>
        </p:nvCxnSpPr>
        <p:spPr>
          <a:xfrm>
            <a:off x="457200" y="1488704"/>
            <a:ext cx="82296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3" name="Google Shape;23;p2"/>
          <p:cNvCxnSpPr/>
          <p:nvPr/>
        </p:nvCxnSpPr>
        <p:spPr>
          <a:xfrm>
            <a:off x="457200" y="1603004"/>
            <a:ext cx="822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4" name="Google Shape;24;p2"/>
          <p:cNvCxnSpPr/>
          <p:nvPr/>
        </p:nvCxnSpPr>
        <p:spPr>
          <a:xfrm>
            <a:off x="457200" y="3605957"/>
            <a:ext cx="822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5" name="Google Shape;25;p2"/>
          <p:cNvCxnSpPr/>
          <p:nvPr/>
        </p:nvCxnSpPr>
        <p:spPr>
          <a:xfrm>
            <a:off x="1081214" y="2909296"/>
            <a:ext cx="582824" cy="0"/>
          </a:xfrm>
          <a:prstGeom prst="straightConnector1">
            <a:avLst/>
          </a:prstGeom>
          <a:noFill/>
          <a:ln cap="flat" cmpd="sng" w="127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6" name="Google Shape;26;p2"/>
          <p:cNvCxnSpPr/>
          <p:nvPr/>
        </p:nvCxnSpPr>
        <p:spPr>
          <a:xfrm>
            <a:off x="7480987" y="2902841"/>
            <a:ext cx="582824" cy="0"/>
          </a:xfrm>
          <a:prstGeom prst="straightConnector1">
            <a:avLst/>
          </a:prstGeom>
          <a:noFill/>
          <a:ln cap="flat" cmpd="sng" w="1270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Open Sans"/>
              <a:buChar char="•"/>
              <a:defRPr i="0" sz="2400" u="none" cap="none" strike="noStrike"/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–"/>
              <a:defRPr i="0" sz="2000" u="none" cap="none" strike="noStrike"/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/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–"/>
              <a:defRPr i="0" sz="2000" u="none" cap="none" strike="noStrike"/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»"/>
              <a:defRPr i="0" sz="2000" u="none" cap="none" strike="noStrike"/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" name="Google Shape;33;p3"/>
          <p:cNvCxnSpPr/>
          <p:nvPr/>
        </p:nvCxnSpPr>
        <p:spPr>
          <a:xfrm>
            <a:off x="0" y="5118865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>
  <p:cSld name="Section 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Arial"/>
              <a:buNone/>
              <a:defRPr b="1" i="0" sz="12000" u="none" cap="none" strike="noStrike">
                <a:solidFill>
                  <a:schemeClr val="accent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b="0" i="0" sz="2400" u="none" cap="none" strike="noStrike"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b="0" i="0" sz="2400" u="none" cap="none" strike="noStrike"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b="0" i="0" sz="1800" u="none" cap="none" strike="noStrike"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b="0" i="0" sz="1800" u="none" cap="none" strike="noStrike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b="0" i="0" sz="2400" u="none" cap="none" strike="noStrike"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b="0" i="0" sz="2400" u="none" cap="none" strike="noStrike"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b="0" i="0" sz="1800" u="none" cap="none" strike="noStrike"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b="0" i="0" sz="1800" u="none" cap="none" strike="noStrike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95D46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2000"/>
              <a:buFont typeface="PT Sans Narrow"/>
              <a:buNone/>
              <a:defRPr b="1" i="0" sz="20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b="0" i="0" sz="3200" u="none" cap="none" strike="noStrike"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  <a:defRPr b="0" i="0" sz="2800" u="none" cap="none" strike="noStrike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b="0" i="0" sz="2400" u="none" cap="none" strike="noStrike"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b="0"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b="0"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2000"/>
              <a:buFont typeface="PT Sans Narrow"/>
              <a:buNone/>
              <a:defRPr b="1" i="0" sz="20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695D46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95D46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95D46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695D4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695D46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Open Sans"/>
              <a:buChar char="•"/>
              <a:defRPr i="0" sz="2400" u="none" cap="none" strike="noStrike"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–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–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»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Open Sans"/>
              <a:buChar char="•"/>
              <a:defRPr i="0" sz="2000" u="none" cap="none" strike="noStrike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commons.wikimedia.org/wiki/File:DNS_schema.sv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685800" y="1954346"/>
            <a:ext cx="7772400" cy="745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860"/>
              <a:buFont typeface="PT Sans Narrow"/>
              <a:buNone/>
            </a:pPr>
            <a:r>
              <a:rPr b="1" i="0" lang="en-US" sz="486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DNS</a:t>
            </a:r>
            <a:endParaRPr b="1" i="0" sz="486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1664038" y="2711450"/>
            <a:ext cx="5813188" cy="39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20"/>
              <a:buFont typeface="Arial"/>
              <a:buNone/>
            </a:pPr>
            <a:r>
              <a:rPr b="0" i="0" lang="en-US" sz="222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CS 168 –</a:t>
            </a:r>
            <a:r>
              <a:rPr lang="en-US" sz="2220">
                <a:latin typeface="Avenir"/>
                <a:ea typeface="Avenir"/>
                <a:cs typeface="Avenir"/>
                <a:sym typeface="Avenir"/>
              </a:rPr>
              <a:t> Spring</a:t>
            </a:r>
            <a:r>
              <a:rPr b="0" i="0" lang="en-US" sz="222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 20</a:t>
            </a:r>
            <a:r>
              <a:rPr lang="en-US" sz="2220">
                <a:latin typeface="Avenir"/>
                <a:ea typeface="Avenir"/>
                <a:cs typeface="Avenir"/>
                <a:sym typeface="Avenir"/>
              </a:rPr>
              <a:t>20</a:t>
            </a:r>
            <a:r>
              <a:rPr b="0" i="0" lang="en-US" sz="222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 – Section </a:t>
            </a:r>
            <a:r>
              <a:rPr lang="en-US" sz="2220">
                <a:latin typeface="Avenir"/>
                <a:ea typeface="Avenir"/>
                <a:cs typeface="Avenir"/>
                <a:sym typeface="Avenir"/>
              </a:rPr>
              <a:t>10</a:t>
            </a:r>
            <a:endParaRPr b="0" i="0" sz="2220" u="none" cap="none" strike="noStrike">
              <a:solidFill>
                <a:srgbClr val="888888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Agenda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i="0" lang="en-US" sz="2400" u="none" cap="none" strike="noStrike"/>
              <a:t>The Domain Name System (DNS)</a:t>
            </a:r>
            <a:endParaRPr i="0" sz="2400" u="none" cap="none" strike="noStrike"/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Purpose</a:t>
            </a:r>
            <a:endParaRPr/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Records</a:t>
            </a:r>
            <a:endParaRPr/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Lookups</a:t>
            </a:r>
            <a:endParaRPr/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Caching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DNS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i="0" lang="en-US" sz="2400" u="none" cap="none" strike="noStrike"/>
              <a:t>M</a:t>
            </a:r>
            <a:r>
              <a:rPr i="0" lang="en-US" sz="2400" u="none" cap="none" strike="noStrike"/>
              <a:t>ap a name to an IP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Generally</a:t>
            </a:r>
            <a:r>
              <a:rPr lang="en-US"/>
              <a:t>: key-value map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Goals</a:t>
            </a:r>
            <a:endParaRPr/>
          </a:p>
          <a:p>
            <a:pPr indent="-285750" lvl="1" marL="74295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i="0" lang="en-US" sz="2000" u="none" cap="none" strike="noStrike"/>
              <a:t>Replacement for HOSTS.TXT</a:t>
            </a:r>
            <a:endParaRPr i="0" sz="2000" u="none" cap="none" strike="noStrike"/>
          </a:p>
          <a:p>
            <a:pPr indent="-285750" lvl="1" marL="74295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i="0" lang="en-US" sz="2000" u="none" cap="none" strike="noStrike"/>
              <a:t>Fully distributed maintenance</a:t>
            </a:r>
            <a:endParaRPr i="0" sz="2000" u="none" cap="none" strike="noStrike"/>
          </a:p>
          <a:p>
            <a:pPr indent="-285750" lvl="1" marL="74295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i="0" lang="en-US" sz="2000" u="none" cap="none" strike="noStrike"/>
              <a:t>Tolerable performance</a:t>
            </a:r>
            <a:endParaRPr i="0" sz="20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DNS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457200" y="1200150"/>
            <a:ext cx="82296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Domains </a:t>
            </a:r>
            <a:r>
              <a:rPr i="1" lang="en-US">
                <a:solidFill>
                  <a:schemeClr val="dk1"/>
                </a:solidFill>
              </a:rPr>
              <a:t>delegate</a:t>
            </a:r>
            <a:r>
              <a:rPr lang="en-US">
                <a:solidFill>
                  <a:schemeClr val="dk1"/>
                </a:solidFill>
              </a:rPr>
              <a:t> to subdomains (forming a tree).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find </a:t>
            </a:r>
            <a:r>
              <a:rPr i="0" lang="en-US" sz="2400" u="none" cap="none" strike="noStrike"/>
              <a:t>eecs.berkeley.edu:</a:t>
            </a:r>
            <a:endParaRPr i="0" sz="2400" u="none" cap="none" strike="noStrike"/>
          </a:p>
          <a:p>
            <a:pPr indent="4572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Ask </a:t>
            </a:r>
            <a:r>
              <a:rPr b="1" lang="en-US" sz="2000"/>
              <a:t>.</a:t>
            </a:r>
            <a:r>
              <a:rPr lang="en-US" sz="2000"/>
              <a:t> (root)</a:t>
            </a:r>
            <a:endParaRPr sz="2000"/>
          </a:p>
          <a:p>
            <a:pPr indent="4572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→ .</a:t>
            </a:r>
            <a:r>
              <a:rPr i="0" lang="en-US" sz="2000" u="none" cap="none" strike="noStrike"/>
              <a:t>edu (</a:t>
            </a:r>
            <a:r>
              <a:rPr lang="en-US" sz="2000"/>
              <a:t>TLD servers</a:t>
            </a:r>
            <a:r>
              <a:rPr i="0" lang="en-US" sz="2000" u="none" cap="none" strike="noStrike"/>
              <a:t>)</a:t>
            </a:r>
            <a:endParaRPr sz="2000"/>
          </a:p>
          <a:p>
            <a:pPr indent="4572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→ berkeley.edu (domain servers)</a:t>
            </a:r>
            <a:endParaRPr sz="2000"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→ eecs.berkeley.edu - authoritative server!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DNS name server delegation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6050" y="1166600"/>
            <a:ext cx="6079200" cy="33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457200" y="4643800"/>
            <a:ext cx="69624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Source: Wikipedia (</a:t>
            </a:r>
            <a:r>
              <a:rPr lang="en-US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https://commons.wikimedia.org/wiki/File:DNS_schema.svg</a:t>
            </a: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457200" y="1200150"/>
            <a:ext cx="2422200" cy="3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Walk through address hierarchy, based on domain name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DNS root name servers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457200" y="1200150"/>
            <a:ext cx="82296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13 root server addresses:</a:t>
            </a:r>
            <a:endParaRPr sz="20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a.root-servers.net (198.41.0.4)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...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m.root-servers.net (202.12.27.33)</a:t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How do 13 servers handle all DNS root queries?</a:t>
            </a:r>
            <a:endParaRPr sz="20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Multiple </a:t>
            </a:r>
            <a:r>
              <a:rPr i="1" lang="en-US" sz="2000"/>
              <a:t>replicates</a:t>
            </a:r>
            <a:r>
              <a:rPr lang="en-US" sz="2000"/>
              <a:t>, all with the same IP</a:t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How do we route to different servers with the same IP?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Anycast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Route to </a:t>
            </a:r>
            <a:r>
              <a:rPr i="1" lang="en-US"/>
              <a:t>any</a:t>
            </a:r>
            <a:r>
              <a:rPr lang="en-US"/>
              <a:t> host with this address.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Route to A (cost 15)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Route to A (cost 18)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Looks like route to </a:t>
            </a:r>
            <a:r>
              <a:rPr i="1" lang="en-US" sz="2000"/>
              <a:t>same</a:t>
            </a:r>
            <a:br>
              <a:rPr lang="en-US" sz="2000"/>
            </a:br>
            <a:r>
              <a:rPr lang="en-US" sz="2000"/>
              <a:t>host with different cost!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(Implemented with cost preferences in BGP.)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500"/>
              <a:t>* Normal one-to-one IP routing is </a:t>
            </a:r>
            <a:r>
              <a:rPr i="1" lang="en-US" sz="1500"/>
              <a:t>unicast</a:t>
            </a:r>
            <a:r>
              <a:rPr lang="en-US" sz="1500"/>
              <a:t> routing.</a:t>
            </a:r>
            <a:endParaRPr sz="1500"/>
          </a:p>
        </p:txBody>
      </p:sp>
      <p:sp>
        <p:nvSpPr>
          <p:cNvPr id="138" name="Google Shape;138;p19"/>
          <p:cNvSpPr txBox="1"/>
          <p:nvPr/>
        </p:nvSpPr>
        <p:spPr>
          <a:xfrm>
            <a:off x="6729200" y="3837625"/>
            <a:ext cx="5595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475" y="961250"/>
            <a:ext cx="4628275" cy="34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325" y="1175500"/>
            <a:ext cx="8051352" cy="3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259850" y="4730425"/>
            <a:ext cx="6649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Open Sans"/>
                <a:ea typeface="Open Sans"/>
                <a:cs typeface="Open Sans"/>
                <a:sym typeface="Open Sans"/>
              </a:rPr>
              <a:t>Source: Wikipedia (https://commons.wikimedia.org/wiki/File:Root-current.svg)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 server locationing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-US"/>
              <a:t>Resource R</a:t>
            </a: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ecord</a:t>
            </a:r>
            <a:r>
              <a:rPr lang="en-US"/>
              <a:t> Types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graphicFrame>
        <p:nvGraphicFramePr>
          <p:cNvPr id="153" name="Google Shape;153;p21"/>
          <p:cNvGraphicFramePr/>
          <p:nvPr/>
        </p:nvGraphicFramePr>
        <p:xfrm>
          <a:off x="457200" y="1246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{F07BE482-73B2-4EE4-9EA6-BFAA97D66EF1}</a:tableStyleId>
              </a:tblPr>
              <a:tblGrid>
                <a:gridCol w="1005300"/>
                <a:gridCol w="2183000"/>
                <a:gridCol w="5041300"/>
              </a:tblGrid>
              <a:tr h="39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NS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 server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delegate lookups to name server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9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address (IPv4)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9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AAAA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address (IPv6)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9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CNAME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canonical name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redo lookup with provided name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9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MX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mail exchanger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mail server (@gmail.com, etc.)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9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TXT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verification, notes, machine-readable data... 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9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SRV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service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general services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7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...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(security, keys, location, ...)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lang="en-US"/>
              <a:t>Typical </a:t>
            </a: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DNS </a:t>
            </a:r>
            <a:r>
              <a:rPr lang="en-US"/>
              <a:t>Query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954036" y="4007536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22"/>
          <p:cNvGrpSpPr/>
          <p:nvPr/>
        </p:nvGrpSpPr>
        <p:grpSpPr>
          <a:xfrm>
            <a:off x="1007934" y="2073077"/>
            <a:ext cx="3406520" cy="2045320"/>
            <a:chOff x="888734" y="2036389"/>
            <a:chExt cx="3406520" cy="2045320"/>
          </a:xfrm>
        </p:grpSpPr>
        <p:sp>
          <p:nvSpPr>
            <p:cNvPr id="162" name="Google Shape;162;p22"/>
            <p:cNvSpPr/>
            <p:nvPr/>
          </p:nvSpPr>
          <p:spPr>
            <a:xfrm>
              <a:off x="888734" y="2432770"/>
              <a:ext cx="2821800" cy="1643100"/>
            </a:xfrm>
            <a:custGeom>
              <a:rect b="b" l="l" r="r" t="t"/>
              <a:pathLst>
                <a:path extrusionOk="0" h="120000" w="120000">
                  <a:moveTo>
                    <a:pt x="102419" y="17574"/>
                  </a:moveTo>
                  <a:cubicBezTo>
                    <a:pt x="125853" y="41002"/>
                    <a:pt x="125853" y="78991"/>
                    <a:pt x="102419" y="102419"/>
                  </a:cubicBezTo>
                  <a:cubicBezTo>
                    <a:pt x="78991" y="125853"/>
                    <a:pt x="41002" y="125853"/>
                    <a:pt x="17574" y="102419"/>
                  </a:cubicBezTo>
                  <a:cubicBezTo>
                    <a:pt x="-5860" y="78991"/>
                    <a:pt x="-5860" y="41002"/>
                    <a:pt x="17574" y="17574"/>
                  </a:cubicBezTo>
                  <a:cubicBezTo>
                    <a:pt x="41002" y="-5860"/>
                    <a:pt x="78991" y="-5860"/>
                    <a:pt x="102419" y="17574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" name="Google Shape;163;p22"/>
            <p:cNvCxnSpPr/>
            <p:nvPr/>
          </p:nvCxnSpPr>
          <p:spPr>
            <a:xfrm>
              <a:off x="954025" y="2636657"/>
              <a:ext cx="1845300" cy="4242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164" name="Google Shape;164;p22"/>
            <p:cNvCxnSpPr/>
            <p:nvPr/>
          </p:nvCxnSpPr>
          <p:spPr>
            <a:xfrm flipH="1">
              <a:off x="2193195" y="3103409"/>
              <a:ext cx="638100" cy="9783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165" name="Google Shape;165;p22"/>
            <p:cNvCxnSpPr/>
            <p:nvPr/>
          </p:nvCxnSpPr>
          <p:spPr>
            <a:xfrm flipH="1">
              <a:off x="2841995" y="2036389"/>
              <a:ext cx="585000" cy="9819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166" name="Google Shape;166;p22"/>
            <p:cNvCxnSpPr/>
            <p:nvPr/>
          </p:nvCxnSpPr>
          <p:spPr>
            <a:xfrm flipH="1">
              <a:off x="2852555" y="3017900"/>
              <a:ext cx="1442700" cy="642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sp>
          <p:nvSpPr>
            <p:cNvPr id="167" name="Google Shape;167;p22"/>
            <p:cNvSpPr/>
            <p:nvPr/>
          </p:nvSpPr>
          <p:spPr>
            <a:xfrm>
              <a:off x="2621094" y="2843535"/>
              <a:ext cx="446400" cy="446400"/>
            </a:xfrm>
            <a:prstGeom prst="roundRect">
              <a:avLst>
                <a:gd fmla="val 30000" name="adj"/>
              </a:avLst>
            </a:prstGeom>
            <a:solidFill>
              <a:srgbClr val="D6D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22"/>
          <p:cNvSpPr/>
          <p:nvPr/>
        </p:nvSpPr>
        <p:spPr>
          <a:xfrm>
            <a:off x="1987063" y="2771090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22"/>
          <p:cNvCxnSpPr/>
          <p:nvPr/>
        </p:nvCxnSpPr>
        <p:spPr>
          <a:xfrm flipH="1">
            <a:off x="1365750" y="3221350"/>
            <a:ext cx="759600" cy="7596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170" name="Google Shape;170;p22"/>
          <p:cNvCxnSpPr/>
          <p:nvPr/>
        </p:nvCxnSpPr>
        <p:spPr>
          <a:xfrm flipH="1">
            <a:off x="2218582" y="1263946"/>
            <a:ext cx="1871700" cy="14577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sp>
        <p:nvSpPr>
          <p:cNvPr id="171" name="Google Shape;171;p22"/>
          <p:cNvSpPr/>
          <p:nvPr/>
        </p:nvSpPr>
        <p:spPr>
          <a:xfrm>
            <a:off x="4192718" y="950440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218813" y="3891850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2"/>
          <p:cNvCxnSpPr/>
          <p:nvPr/>
        </p:nvCxnSpPr>
        <p:spPr>
          <a:xfrm flipH="1">
            <a:off x="2391895" y="2236529"/>
            <a:ext cx="4278000" cy="5916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174" name="Google Shape;174;p22"/>
          <p:cNvCxnSpPr/>
          <p:nvPr/>
        </p:nvCxnSpPr>
        <p:spPr>
          <a:xfrm flipH="1" rot="10800000">
            <a:off x="2311900" y="1418650"/>
            <a:ext cx="1778400" cy="13563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175" name="Google Shape;175;p22"/>
          <p:cNvCxnSpPr/>
          <p:nvPr/>
        </p:nvCxnSpPr>
        <p:spPr>
          <a:xfrm flipH="1" rot="10800000">
            <a:off x="2451825" y="2371525"/>
            <a:ext cx="4184100" cy="5700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176" name="Google Shape;176;p22"/>
          <p:cNvCxnSpPr/>
          <p:nvPr/>
        </p:nvCxnSpPr>
        <p:spPr>
          <a:xfrm rot="10800000">
            <a:off x="2471975" y="3061225"/>
            <a:ext cx="2773200" cy="8376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177" name="Google Shape;177;p22"/>
          <p:cNvCxnSpPr/>
          <p:nvPr/>
        </p:nvCxnSpPr>
        <p:spPr>
          <a:xfrm>
            <a:off x="2451825" y="3174700"/>
            <a:ext cx="2723100" cy="8364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178" name="Google Shape;178;p22"/>
          <p:cNvCxnSpPr/>
          <p:nvPr/>
        </p:nvCxnSpPr>
        <p:spPr>
          <a:xfrm flipH="1" rot="10800000">
            <a:off x="1232575" y="3169425"/>
            <a:ext cx="730800" cy="7515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sp>
        <p:nvSpPr>
          <p:cNvPr id="179" name="Google Shape;179;p22"/>
          <p:cNvSpPr/>
          <p:nvPr/>
        </p:nvSpPr>
        <p:spPr>
          <a:xfrm>
            <a:off x="704900" y="4323025"/>
            <a:ext cx="1767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3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lient</a:t>
            </a:r>
            <a:endParaRPr b="1" i="0" sz="2400" u="none" cap="none" strike="noStrike">
              <a:solidFill>
                <a:srgbClr val="009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504050" y="1942100"/>
            <a:ext cx="17670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Resolving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7161063" y="2085352"/>
            <a:ext cx="1876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.org servers</a:t>
            </a:r>
            <a:endParaRPr b="0" i="0" sz="25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648861" y="3849014"/>
            <a:ext cx="3171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wikipedia.org 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6719820" y="2155948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232575" y="1195550"/>
            <a:ext cx="23016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030A0"/>
                </a:solidFill>
              </a:rPr>
              <a:t>Where is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www.wikipedia.org?</a:t>
            </a:r>
            <a:endParaRPr b="0" i="0" sz="1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607150" y="3058836"/>
            <a:ext cx="21987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030A0"/>
                </a:solidFill>
              </a:rPr>
              <a:t>Where is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www.wikipedia.org?</a:t>
            </a:r>
            <a:endParaRPr b="0" i="0" sz="1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3810050" y="1718521"/>
            <a:ext cx="2301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030A0"/>
                </a:solidFill>
              </a:rPr>
              <a:t>Where is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www.wikipedia.org?</a:t>
            </a:r>
            <a:endParaRPr b="0" i="0" sz="1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645150" y="3754375"/>
            <a:ext cx="2019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Where is </a:t>
            </a:r>
            <a:r>
              <a:rPr b="0" i="0" lang="en-US" sz="1600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</a:t>
            </a:r>
            <a:r>
              <a:rPr lang="en-US" sz="1600">
                <a:solidFill>
                  <a:srgbClr val="7030A0"/>
                </a:solidFill>
              </a:rPr>
              <a:t>g</a:t>
            </a:r>
            <a:r>
              <a:rPr b="0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0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(recursive)</a:t>
            </a:r>
            <a:endParaRPr b="0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4090243" y="1342407"/>
            <a:ext cx="323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704E"/>
                </a:solidFill>
              </a:rPr>
              <a:t>A</a:t>
            </a: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sk .org server at 1.2.3.4</a:t>
            </a:r>
            <a:endParaRPr b="0" i="0" sz="1800" u="none" cap="none" strike="noStrike">
              <a:solidFill>
                <a:srgbClr val="0070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4540800" y="2713725"/>
            <a:ext cx="3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704E"/>
                </a:solidFill>
              </a:rPr>
              <a:t>A</a:t>
            </a: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k wikipedia.org server at 5.6.7.8</a:t>
            </a:r>
            <a:endParaRPr b="0" i="0" sz="1800" u="none" cap="none" strike="noStrike">
              <a:solidFill>
                <a:srgbClr val="0070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3475873" y="4288325"/>
            <a:ext cx="213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Answe</a:t>
            </a:r>
            <a:r>
              <a:rPr lang="en-US" sz="1800">
                <a:solidFill>
                  <a:srgbClr val="00704E"/>
                </a:solidFill>
              </a:rPr>
              <a:t>r</a:t>
            </a: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: 9.10.11.12</a:t>
            </a:r>
            <a:endParaRPr b="0" i="0" sz="1800" u="none" cap="none" strike="noStrike">
              <a:solidFill>
                <a:srgbClr val="0070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4701888" y="858327"/>
            <a:ext cx="1876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r>
              <a:rPr b="0" i="0" lang="en-US" sz="2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servers</a:t>
            </a:r>
            <a:endParaRPr b="0" i="0" sz="25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23"/>
          <p:cNvGrpSpPr/>
          <p:nvPr/>
        </p:nvGrpSpPr>
        <p:grpSpPr>
          <a:xfrm>
            <a:off x="6002293" y="1659193"/>
            <a:ext cx="3230369" cy="1697015"/>
            <a:chOff x="5975618" y="3199193"/>
            <a:chExt cx="3230369" cy="1697015"/>
          </a:xfrm>
        </p:grpSpPr>
        <p:sp>
          <p:nvSpPr>
            <p:cNvPr id="198" name="Google Shape;198;p23"/>
            <p:cNvSpPr/>
            <p:nvPr/>
          </p:nvSpPr>
          <p:spPr>
            <a:xfrm>
              <a:off x="6407815" y="3347991"/>
              <a:ext cx="2116200" cy="1232400"/>
            </a:xfrm>
            <a:custGeom>
              <a:rect b="b" l="l" r="r" t="t"/>
              <a:pathLst>
                <a:path extrusionOk="0" h="120000" w="120000">
                  <a:moveTo>
                    <a:pt x="102419" y="17574"/>
                  </a:moveTo>
                  <a:cubicBezTo>
                    <a:pt x="125853" y="41002"/>
                    <a:pt x="125853" y="78991"/>
                    <a:pt x="102419" y="102419"/>
                  </a:cubicBezTo>
                  <a:cubicBezTo>
                    <a:pt x="78991" y="125853"/>
                    <a:pt x="41002" y="125853"/>
                    <a:pt x="17574" y="102419"/>
                  </a:cubicBezTo>
                  <a:cubicBezTo>
                    <a:pt x="-5860" y="78991"/>
                    <a:pt x="-5860" y="41002"/>
                    <a:pt x="17574" y="17574"/>
                  </a:cubicBezTo>
                  <a:cubicBezTo>
                    <a:pt x="41002" y="-5860"/>
                    <a:pt x="78991" y="-5860"/>
                    <a:pt x="102419" y="17574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" name="Google Shape;199;p23"/>
            <p:cNvCxnSpPr/>
            <p:nvPr/>
          </p:nvCxnSpPr>
          <p:spPr>
            <a:xfrm>
              <a:off x="6091558" y="3649394"/>
              <a:ext cx="1384030" cy="318167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200" name="Google Shape;200;p23"/>
            <p:cNvCxnSpPr/>
            <p:nvPr/>
          </p:nvCxnSpPr>
          <p:spPr>
            <a:xfrm flipH="1">
              <a:off x="7021045" y="3999458"/>
              <a:ext cx="478466" cy="733647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sp>
          <p:nvSpPr>
            <p:cNvPr id="201" name="Google Shape;201;p23"/>
            <p:cNvSpPr/>
            <p:nvPr/>
          </p:nvSpPr>
          <p:spPr>
            <a:xfrm>
              <a:off x="6866354" y="4628316"/>
              <a:ext cx="267891" cy="267892"/>
            </a:xfrm>
            <a:custGeom>
              <a:rect b="b" l="l" r="r" t="t"/>
              <a:pathLst>
                <a:path extrusionOk="0" h="120000" w="120000">
                  <a:moveTo>
                    <a:pt x="102425" y="17574"/>
                  </a:moveTo>
                  <a:cubicBezTo>
                    <a:pt x="125853" y="41002"/>
                    <a:pt x="125853" y="78991"/>
                    <a:pt x="102425" y="102419"/>
                  </a:cubicBezTo>
                  <a:cubicBezTo>
                    <a:pt x="78991" y="125853"/>
                    <a:pt x="41002" y="125853"/>
                    <a:pt x="17574" y="102419"/>
                  </a:cubicBezTo>
                  <a:cubicBezTo>
                    <a:pt x="-5860" y="78991"/>
                    <a:pt x="-5860" y="41002"/>
                    <a:pt x="17574" y="17574"/>
                  </a:cubicBezTo>
                  <a:cubicBezTo>
                    <a:pt x="41002" y="-5860"/>
                    <a:pt x="78991" y="-5860"/>
                    <a:pt x="102425" y="17574"/>
                  </a:cubicBezTo>
                </a:path>
              </a:pathLst>
            </a:custGeom>
            <a:solidFill>
              <a:srgbClr val="009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" name="Google Shape;202;p23"/>
            <p:cNvCxnSpPr/>
            <p:nvPr/>
          </p:nvCxnSpPr>
          <p:spPr>
            <a:xfrm flipH="1">
              <a:off x="7507485" y="3199193"/>
              <a:ext cx="438801" cy="73647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203" name="Google Shape;203;p23"/>
            <p:cNvCxnSpPr/>
            <p:nvPr/>
          </p:nvCxnSpPr>
          <p:spPr>
            <a:xfrm flipH="1">
              <a:off x="7515459" y="3935326"/>
              <a:ext cx="1082022" cy="48184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sp>
          <p:nvSpPr>
            <p:cNvPr id="204" name="Google Shape;204;p23"/>
            <p:cNvSpPr/>
            <p:nvPr/>
          </p:nvSpPr>
          <p:spPr>
            <a:xfrm>
              <a:off x="7341860" y="3804552"/>
              <a:ext cx="334863" cy="334863"/>
            </a:xfrm>
            <a:prstGeom prst="roundRect">
              <a:avLst>
                <a:gd fmla="val 30000" name="adj"/>
              </a:avLst>
            </a:prstGeom>
            <a:solidFill>
              <a:srgbClr val="D6D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5975618" y="3509872"/>
              <a:ext cx="267891" cy="267892"/>
            </a:xfrm>
            <a:custGeom>
              <a:rect b="b" l="l" r="r" t="t"/>
              <a:pathLst>
                <a:path extrusionOk="0" h="120000" w="120000">
                  <a:moveTo>
                    <a:pt x="102425" y="17574"/>
                  </a:moveTo>
                  <a:cubicBezTo>
                    <a:pt x="125853" y="41002"/>
                    <a:pt x="125853" y="78991"/>
                    <a:pt x="102425" y="102419"/>
                  </a:cubicBezTo>
                  <a:cubicBezTo>
                    <a:pt x="78991" y="125853"/>
                    <a:pt x="41002" y="125853"/>
                    <a:pt x="17574" y="102419"/>
                  </a:cubicBezTo>
                  <a:cubicBezTo>
                    <a:pt x="-5860" y="78991"/>
                    <a:pt x="-5860" y="41002"/>
                    <a:pt x="17574" y="17574"/>
                  </a:cubicBezTo>
                  <a:cubicBezTo>
                    <a:pt x="41002" y="-5860"/>
                    <a:pt x="78991" y="-5860"/>
                    <a:pt x="102425" y="17574"/>
                  </a:cubicBezTo>
                </a:path>
              </a:pathLst>
            </a:custGeom>
            <a:solidFill>
              <a:srgbClr val="009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23"/>
            <p:cNvCxnSpPr/>
            <p:nvPr/>
          </p:nvCxnSpPr>
          <p:spPr>
            <a:xfrm>
              <a:off x="6272793" y="3777764"/>
              <a:ext cx="629235" cy="803305"/>
            </a:xfrm>
            <a:prstGeom prst="straightConnector1">
              <a:avLst/>
            </a:prstGeom>
            <a:noFill/>
            <a:ln cap="flat" cmpd="sng" w="76200">
              <a:solidFill>
                <a:srgbClr val="942193"/>
              </a:solidFill>
              <a:prstDash val="solid"/>
              <a:miter lim="400000"/>
              <a:headEnd len="sm" w="sm" type="stealth"/>
              <a:tailEnd len="sm" w="sm" type="none"/>
            </a:ln>
          </p:spPr>
        </p:cxnSp>
        <p:cxnSp>
          <p:nvCxnSpPr>
            <p:cNvPr id="207" name="Google Shape;207;p23"/>
            <p:cNvCxnSpPr/>
            <p:nvPr/>
          </p:nvCxnSpPr>
          <p:spPr>
            <a:xfrm rot="10800000">
              <a:off x="6170978" y="3886420"/>
              <a:ext cx="651196" cy="839949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miter lim="400000"/>
              <a:headEnd len="sm" w="sm" type="stealth"/>
              <a:tailEnd len="sm" w="sm" type="none"/>
            </a:ln>
          </p:spPr>
        </p:cxnSp>
        <p:sp>
          <p:nvSpPr>
            <p:cNvPr id="208" name="Google Shape;208;p23"/>
            <p:cNvSpPr txBox="1"/>
            <p:nvPr/>
          </p:nvSpPr>
          <p:spPr>
            <a:xfrm>
              <a:off x="5999954" y="4205194"/>
              <a:ext cx="14962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4B34"/>
                  </a:solidFill>
                  <a:latin typeface="Calibri"/>
                  <a:ea typeface="Calibri"/>
                  <a:cs typeface="Calibri"/>
                  <a:sym typeface="Calibri"/>
                </a:rPr>
                <a:t>IP: Z</a:t>
              </a:r>
              <a:endParaRPr b="0" i="0" sz="1400" u="none" cap="none" strike="noStrike">
                <a:solidFill>
                  <a:srgbClr val="004B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6686584" y="4127193"/>
              <a:ext cx="2519403" cy="300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www.google.com</a:t>
              </a:r>
              <a:endParaRPr b="0" i="0" sz="135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Caching DNS </a:t>
            </a:r>
            <a:r>
              <a:rPr lang="en-US"/>
              <a:t>Responses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457200" y="1200150"/>
            <a:ext cx="4888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i="0" lang="en-US" sz="2200" u="none" cap="none" strike="noStrike"/>
              <a:t>DNS responses cached in servers</a:t>
            </a:r>
            <a:endParaRPr i="0" sz="2200" u="none" cap="none" strike="noStrike"/>
          </a:p>
          <a:p>
            <a:pPr indent="-2730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i="0" lang="en-US" sz="1800" u="none" cap="none" strike="noStrike"/>
              <a:t>Expire after TTL (time-to-live)</a:t>
            </a:r>
            <a:endParaRPr i="0" sz="1800" u="none" cap="none" strike="noStrike"/>
          </a:p>
          <a:p>
            <a:pPr indent="-3302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i="0" lang="en-US" sz="2200" u="none" cap="none" strike="noStrike"/>
              <a:t>Most popular sites visited often</a:t>
            </a:r>
            <a:endParaRPr i="0" sz="2200" u="none" cap="none" strike="noStrike"/>
          </a:p>
          <a:p>
            <a:pPr indent="-2730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i="0" lang="en-US" sz="1800" u="none" cap="none" strike="noStrike"/>
              <a:t>Top sites </a:t>
            </a:r>
            <a:r>
              <a:rPr lang="en-US" sz="1800"/>
              <a:t>frequently</a:t>
            </a:r>
            <a:r>
              <a:rPr i="0" lang="en-US" sz="1800" u="none" cap="none" strike="noStrike"/>
              <a:t> cached</a:t>
            </a:r>
            <a:r>
              <a:rPr lang="en-US" sz="1800"/>
              <a:t>. Fa</a:t>
            </a:r>
            <a:r>
              <a:rPr i="0" lang="en-US" sz="1800" u="none" cap="none" strike="noStrike"/>
              <a:t>st!</a:t>
            </a:r>
            <a:endParaRPr i="0" sz="1800" u="none" cap="none" strike="noStrike"/>
          </a:p>
        </p:txBody>
      </p:sp>
      <p:sp>
        <p:nvSpPr>
          <p:cNvPr id="212" name="Google Shape;212;p23"/>
          <p:cNvSpPr/>
          <p:nvPr/>
        </p:nvSpPr>
        <p:spPr>
          <a:xfrm>
            <a:off x="5447951" y="956638"/>
            <a:ext cx="2198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 b="1" sz="1800">
              <a:solidFill>
                <a:srgbClr val="009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(mydns.berkeley.edu)</a:t>
            </a:r>
            <a:endParaRPr b="1" i="0" sz="1800" u="none" cap="none" strike="noStrike">
              <a:solidFill>
                <a:srgbClr val="009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3"/>
          <p:cNvGraphicFramePr/>
          <p:nvPr/>
        </p:nvGraphicFramePr>
        <p:xfrm>
          <a:off x="2579462" y="37037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{1A2EB115-2D91-4532-BC08-A3F8D81429B5}</a:tableStyleId>
              </a:tblPr>
              <a:tblGrid>
                <a:gridCol w="1923575"/>
                <a:gridCol w="624300"/>
                <a:gridCol w="1186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Hostname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TTL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www.google.com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Z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60 min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4" name="Google Shape;214;p23"/>
          <p:cNvSpPr/>
          <p:nvPr/>
        </p:nvSpPr>
        <p:spPr>
          <a:xfrm>
            <a:off x="6434501" y="3405000"/>
            <a:ext cx="2286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DNS client</a:t>
            </a:r>
            <a:br>
              <a:rPr b="1" i="0" lang="en-US" sz="225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(me.cs.berkeley.edu)</a:t>
            </a:r>
            <a:endParaRPr b="1" i="0" sz="1800" u="none" cap="none" strike="noStrike">
              <a:solidFill>
                <a:srgbClr val="009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BEBE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recursive queries</a:t>
            </a:r>
            <a:endParaRPr/>
          </a:p>
        </p:txBody>
      </p:sp>
      <p:sp>
        <p:nvSpPr>
          <p:cNvPr id="221" name="Google Shape;221;p2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Most queries are </a:t>
            </a:r>
            <a:r>
              <a:rPr i="1" lang="en-US" sz="2000"/>
              <a:t>iterative</a:t>
            </a:r>
            <a:r>
              <a:rPr lang="en-US" sz="2000"/>
              <a:t>: the response is either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An answer (A, MX, ...)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referral to another nameserver (NS)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In a </a:t>
            </a:r>
            <a:r>
              <a:rPr i="1" lang="en-US" sz="2000"/>
              <a:t>recursive query</a:t>
            </a:r>
            <a:r>
              <a:rPr lang="en-US" sz="2000"/>
              <a:t>, the server does the full query for you.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Clients do less work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ISPs can cache better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Large CDNs can offer faster resolution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Google, Cloudflare, Cisco, ... 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</a:pPr>
            <a:r>
              <a:rPr b="1" i="0" lang="en-US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DNS Lookup</a:t>
            </a:r>
            <a:endParaRPr b="1" i="0" sz="4400" u="none" cap="none" strike="noStrike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954036" y="4007536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" name="Google Shape;229;p25"/>
          <p:cNvGrpSpPr/>
          <p:nvPr/>
        </p:nvGrpSpPr>
        <p:grpSpPr>
          <a:xfrm>
            <a:off x="1007934" y="2073077"/>
            <a:ext cx="3406520" cy="2045320"/>
            <a:chOff x="888734" y="2036389"/>
            <a:chExt cx="3406520" cy="2045320"/>
          </a:xfrm>
        </p:grpSpPr>
        <p:sp>
          <p:nvSpPr>
            <p:cNvPr id="230" name="Google Shape;230;p25"/>
            <p:cNvSpPr/>
            <p:nvPr/>
          </p:nvSpPr>
          <p:spPr>
            <a:xfrm>
              <a:off x="888734" y="2432770"/>
              <a:ext cx="2821800" cy="1643100"/>
            </a:xfrm>
            <a:custGeom>
              <a:rect b="b" l="l" r="r" t="t"/>
              <a:pathLst>
                <a:path extrusionOk="0" h="120000" w="120000">
                  <a:moveTo>
                    <a:pt x="102419" y="17574"/>
                  </a:moveTo>
                  <a:cubicBezTo>
                    <a:pt x="125853" y="41002"/>
                    <a:pt x="125853" y="78991"/>
                    <a:pt x="102419" y="102419"/>
                  </a:cubicBezTo>
                  <a:cubicBezTo>
                    <a:pt x="78991" y="125853"/>
                    <a:pt x="41002" y="125853"/>
                    <a:pt x="17574" y="102419"/>
                  </a:cubicBezTo>
                  <a:cubicBezTo>
                    <a:pt x="-5860" y="78991"/>
                    <a:pt x="-5860" y="41002"/>
                    <a:pt x="17574" y="17574"/>
                  </a:cubicBezTo>
                  <a:cubicBezTo>
                    <a:pt x="41002" y="-5860"/>
                    <a:pt x="78991" y="-5860"/>
                    <a:pt x="102419" y="17574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25"/>
            <p:cNvCxnSpPr/>
            <p:nvPr/>
          </p:nvCxnSpPr>
          <p:spPr>
            <a:xfrm>
              <a:off x="954025" y="2636657"/>
              <a:ext cx="1845300" cy="4242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232" name="Google Shape;232;p25"/>
            <p:cNvCxnSpPr/>
            <p:nvPr/>
          </p:nvCxnSpPr>
          <p:spPr>
            <a:xfrm flipH="1">
              <a:off x="2193195" y="3103409"/>
              <a:ext cx="638100" cy="9783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233" name="Google Shape;233;p25"/>
            <p:cNvCxnSpPr/>
            <p:nvPr/>
          </p:nvCxnSpPr>
          <p:spPr>
            <a:xfrm flipH="1">
              <a:off x="2841995" y="2036389"/>
              <a:ext cx="585000" cy="9819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cxnSp>
          <p:nvCxnSpPr>
            <p:cNvPr id="234" name="Google Shape;234;p25"/>
            <p:cNvCxnSpPr/>
            <p:nvPr/>
          </p:nvCxnSpPr>
          <p:spPr>
            <a:xfrm flipH="1">
              <a:off x="2852555" y="3017900"/>
              <a:ext cx="1442700" cy="64200"/>
            </a:xfrm>
            <a:prstGeom prst="straightConnector1">
              <a:avLst/>
            </a:prstGeom>
            <a:noFill/>
            <a:ln cap="flat" cmpd="sng" w="63500">
              <a:solidFill>
                <a:srgbClr val="D6D6D6"/>
              </a:solidFill>
              <a:prstDash val="solid"/>
              <a:miter lim="400000"/>
              <a:headEnd len="sm" w="sm" type="none"/>
              <a:tailEnd len="sm" w="sm" type="none"/>
            </a:ln>
          </p:spPr>
        </p:cxnSp>
        <p:sp>
          <p:nvSpPr>
            <p:cNvPr id="235" name="Google Shape;235;p25"/>
            <p:cNvSpPr/>
            <p:nvPr/>
          </p:nvSpPr>
          <p:spPr>
            <a:xfrm>
              <a:off x="2621094" y="2843535"/>
              <a:ext cx="446400" cy="446400"/>
            </a:xfrm>
            <a:prstGeom prst="roundRect">
              <a:avLst>
                <a:gd fmla="val 30000" name="adj"/>
              </a:avLst>
            </a:prstGeom>
            <a:solidFill>
              <a:srgbClr val="D6D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25"/>
          <p:cNvSpPr/>
          <p:nvPr/>
        </p:nvSpPr>
        <p:spPr>
          <a:xfrm>
            <a:off x="1987063" y="2771090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25"/>
          <p:cNvCxnSpPr/>
          <p:nvPr/>
        </p:nvCxnSpPr>
        <p:spPr>
          <a:xfrm flipH="1">
            <a:off x="1365750" y="3221350"/>
            <a:ext cx="759600" cy="7596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238" name="Google Shape;238;p25"/>
          <p:cNvCxnSpPr/>
          <p:nvPr/>
        </p:nvCxnSpPr>
        <p:spPr>
          <a:xfrm flipH="1">
            <a:off x="2218582" y="1263946"/>
            <a:ext cx="1871700" cy="14577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sp>
        <p:nvSpPr>
          <p:cNvPr id="239" name="Google Shape;239;p25"/>
          <p:cNvSpPr/>
          <p:nvPr/>
        </p:nvSpPr>
        <p:spPr>
          <a:xfrm>
            <a:off x="4192718" y="950440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218813" y="3891850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5"/>
          <p:cNvCxnSpPr/>
          <p:nvPr/>
        </p:nvCxnSpPr>
        <p:spPr>
          <a:xfrm rot="10800000">
            <a:off x="4677295" y="1262129"/>
            <a:ext cx="1992600" cy="9744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242" name="Google Shape;242;p25"/>
          <p:cNvCxnSpPr/>
          <p:nvPr/>
        </p:nvCxnSpPr>
        <p:spPr>
          <a:xfrm flipH="1" rot="10800000">
            <a:off x="2311900" y="1418650"/>
            <a:ext cx="1778400" cy="13563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243" name="Google Shape;243;p25"/>
          <p:cNvCxnSpPr/>
          <p:nvPr/>
        </p:nvCxnSpPr>
        <p:spPr>
          <a:xfrm>
            <a:off x="4663150" y="1423500"/>
            <a:ext cx="1972800" cy="9480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244" name="Google Shape;244;p25"/>
          <p:cNvCxnSpPr/>
          <p:nvPr/>
        </p:nvCxnSpPr>
        <p:spPr>
          <a:xfrm flipH="1" rot="10800000">
            <a:off x="5588775" y="2559250"/>
            <a:ext cx="1360500" cy="1353600"/>
          </a:xfrm>
          <a:prstGeom prst="straightConnector1">
            <a:avLst/>
          </a:prstGeom>
          <a:noFill/>
          <a:ln cap="flat" cmpd="sng" w="76200">
            <a:solidFill>
              <a:srgbClr val="942193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245" name="Google Shape;245;p25"/>
          <p:cNvCxnSpPr/>
          <p:nvPr/>
        </p:nvCxnSpPr>
        <p:spPr>
          <a:xfrm flipH="1">
            <a:off x="5450225" y="2531425"/>
            <a:ext cx="1302600" cy="13401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cxnSp>
        <p:nvCxnSpPr>
          <p:cNvPr id="246" name="Google Shape;246;p25"/>
          <p:cNvCxnSpPr/>
          <p:nvPr/>
        </p:nvCxnSpPr>
        <p:spPr>
          <a:xfrm flipH="1" rot="10800000">
            <a:off x="1232575" y="3169425"/>
            <a:ext cx="730800" cy="751500"/>
          </a:xfrm>
          <a:prstGeom prst="straightConnector1">
            <a:avLst/>
          </a:prstGeom>
          <a:noFill/>
          <a:ln cap="flat" cmpd="sng" w="76200">
            <a:solidFill>
              <a:srgbClr val="00704E"/>
            </a:solidFill>
            <a:prstDash val="solid"/>
            <a:miter lim="400000"/>
            <a:headEnd len="sm" w="sm" type="stealth"/>
            <a:tailEnd len="sm" w="sm" type="none"/>
          </a:ln>
        </p:spPr>
      </p:cxnSp>
      <p:sp>
        <p:nvSpPr>
          <p:cNvPr id="247" name="Google Shape;247;p25"/>
          <p:cNvSpPr/>
          <p:nvPr/>
        </p:nvSpPr>
        <p:spPr>
          <a:xfrm>
            <a:off x="704900" y="4323025"/>
            <a:ext cx="1767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DNS client</a:t>
            </a:r>
            <a:endParaRPr b="1" i="0" sz="2400" u="none" cap="none" strike="noStrike">
              <a:solidFill>
                <a:srgbClr val="009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484676" y="2073077"/>
            <a:ext cx="18573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161063" y="2085352"/>
            <a:ext cx="1876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.org servers</a:t>
            </a:r>
            <a:endParaRPr b="0" i="0" sz="25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648861" y="3849014"/>
            <a:ext cx="3171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wikipedia.org 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6719820" y="2155948"/>
            <a:ext cx="357300" cy="357300"/>
          </a:xfrm>
          <a:custGeom>
            <a:rect b="b" l="l" r="r" t="t"/>
            <a:pathLst>
              <a:path extrusionOk="0" h="120000" w="120000">
                <a:moveTo>
                  <a:pt x="102425" y="17574"/>
                </a:moveTo>
                <a:cubicBezTo>
                  <a:pt x="125853" y="41002"/>
                  <a:pt x="125853" y="78991"/>
                  <a:pt x="102425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25" y="17574"/>
                </a:cubicBezTo>
              </a:path>
            </a:pathLst>
          </a:custGeom>
          <a:solidFill>
            <a:srgbClr val="009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1232575" y="1195550"/>
            <a:ext cx="23016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030A0"/>
                </a:solidFill>
              </a:rPr>
              <a:t>Where is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www.wikipedia.org?</a:t>
            </a:r>
            <a:endParaRPr b="0" i="0" sz="1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6719825" y="3016761"/>
            <a:ext cx="21987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030A0"/>
                </a:solidFill>
              </a:rPr>
              <a:t>Where is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www.wikipedia.org?</a:t>
            </a:r>
            <a:endParaRPr b="0" i="0" sz="1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899725" y="1251259"/>
            <a:ext cx="2301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030A0"/>
                </a:solidFill>
              </a:rPr>
              <a:t>Where is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www.wikipedia.org?</a:t>
            </a:r>
            <a:endParaRPr b="0" i="0" sz="1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1645150" y="3754375"/>
            <a:ext cx="2019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Where is www.wikipedia.org?</a:t>
            </a:r>
            <a:endParaRPr b="0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3179771" y="2056575"/>
            <a:ext cx="12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704E"/>
                </a:solidFill>
              </a:rPr>
              <a:t>9.10.11.12</a:t>
            </a:r>
            <a:endParaRPr b="0" i="0" sz="1800" u="none" cap="none" strike="noStrike">
              <a:solidFill>
                <a:srgbClr val="0070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4771450" y="2060313"/>
            <a:ext cx="126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704E"/>
                </a:solidFill>
              </a:rPr>
              <a:t>9.10.11.12</a:t>
            </a:r>
            <a:endParaRPr b="0" i="0" sz="1800" u="none" cap="none" strike="noStrike">
              <a:solidFill>
                <a:srgbClr val="0070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3763723" y="3051400"/>
            <a:ext cx="213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Answe</a:t>
            </a:r>
            <a:r>
              <a:rPr lang="en-US" sz="1800">
                <a:solidFill>
                  <a:srgbClr val="00704E"/>
                </a:solidFill>
              </a:rPr>
              <a:t>r</a:t>
            </a:r>
            <a:r>
              <a:rPr b="0" i="0" lang="en-US" sz="1800" u="none" cap="none" strike="noStrike">
                <a:solidFill>
                  <a:srgbClr val="00704E"/>
                </a:solidFill>
                <a:latin typeface="Arial"/>
                <a:ea typeface="Arial"/>
                <a:cs typeface="Arial"/>
                <a:sym typeface="Arial"/>
              </a:rPr>
              <a:t>: 9.10.11.12</a:t>
            </a:r>
            <a:endParaRPr b="0" i="0" sz="1800" u="none" cap="none" strike="noStrike">
              <a:solidFill>
                <a:srgbClr val="0070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4701888" y="858327"/>
            <a:ext cx="1876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r>
              <a:rPr b="0" i="0" lang="en-US" sz="25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servers</a:t>
            </a:r>
            <a:endParaRPr b="0" i="0" sz="25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3288750" y="4465300"/>
            <a:ext cx="5398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This kind of query isn’t actually possible. Why?</a:t>
            </a:r>
            <a:endParaRPr sz="1800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685800" y="1518900"/>
            <a:ext cx="7772400" cy="210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Worksheet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 </a:t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200" cy="37566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1262850" y="1849050"/>
            <a:ext cx="6314400" cy="3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1414800" y="2514500"/>
            <a:ext cx="6314400" cy="3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1414800" y="3179950"/>
            <a:ext cx="6314400" cy="3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1356725" y="3779600"/>
            <a:ext cx="6825600" cy="50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1356725" y="4553550"/>
            <a:ext cx="6314400" cy="3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Q2</a:t>
            </a:r>
            <a:endParaRPr/>
          </a:p>
        </p:txBody>
      </p:sp>
      <p:pic>
        <p:nvPicPr>
          <p:cNvPr id="285" name="Google Shape;2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200" cy="3712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/>
          <p:nvPr/>
        </p:nvSpPr>
        <p:spPr>
          <a:xfrm>
            <a:off x="5754075" y="1661763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5830275" y="1966563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5982675" y="2258220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6058875" y="2715409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6058875" y="3159409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6058875" y="3464213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5982675" y="3769038"/>
            <a:ext cx="2657400" cy="17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</a:t>
            </a:r>
            <a:endParaRPr/>
          </a:p>
        </p:txBody>
      </p:sp>
      <p:pic>
        <p:nvPicPr>
          <p:cNvPr id="299" name="Google Shape;2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8" cy="26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6725" y="339480"/>
            <a:ext cx="67056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</a:t>
            </a:r>
            <a:endParaRPr/>
          </a:p>
        </p:txBody>
      </p:sp>
      <p:pic>
        <p:nvPicPr>
          <p:cNvPr id="307" name="Google Shape;3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8" cy="26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6725" y="339480"/>
            <a:ext cx="67056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4550" y="4011055"/>
            <a:ext cx="4834889" cy="98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</a:t>
            </a:r>
            <a:endParaRPr/>
          </a:p>
        </p:txBody>
      </p:sp>
      <p:pic>
        <p:nvPicPr>
          <p:cNvPr id="316" name="Google Shape;3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8" cy="26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375" y="337125"/>
            <a:ext cx="7680951" cy="7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</a:t>
            </a:r>
            <a:endParaRPr/>
          </a:p>
        </p:txBody>
      </p:sp>
      <p:pic>
        <p:nvPicPr>
          <p:cNvPr id="324" name="Google Shape;3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8" cy="26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375" y="337125"/>
            <a:ext cx="7680951" cy="7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888" y="4011055"/>
            <a:ext cx="7288224" cy="98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</a:t>
            </a:r>
            <a:endParaRPr/>
          </a:p>
        </p:txBody>
      </p:sp>
      <p:pic>
        <p:nvPicPr>
          <p:cNvPr id="333" name="Google Shape;3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8" cy="26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3"/>
          <p:cNvPicPr preferRelativeResize="0"/>
          <p:nvPr/>
        </p:nvPicPr>
        <p:blipFill rotWithShape="1">
          <a:blip r:embed="rId4">
            <a:alphaModFix/>
          </a:blip>
          <a:srcRect b="0" l="61649" r="0" t="0"/>
          <a:stretch/>
        </p:blipFill>
        <p:spPr>
          <a:xfrm>
            <a:off x="1416117" y="424144"/>
            <a:ext cx="3940588" cy="868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3"/>
          <p:cNvPicPr preferRelativeResize="0"/>
          <p:nvPr/>
        </p:nvPicPr>
        <p:blipFill rotWithShape="1">
          <a:blip r:embed="rId4">
            <a:alphaModFix/>
          </a:blip>
          <a:srcRect b="-42610" l="4773" r="58198" t="42609"/>
          <a:stretch/>
        </p:blipFill>
        <p:spPr>
          <a:xfrm>
            <a:off x="5300152" y="512720"/>
            <a:ext cx="3804699" cy="868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3"/>
          <p:cNvPicPr preferRelativeResize="0"/>
          <p:nvPr/>
        </p:nvPicPr>
        <p:blipFill rotWithShape="1">
          <a:blip r:embed="rId4">
            <a:alphaModFix/>
          </a:blip>
          <a:srcRect b="50049" l="0" r="38552" t="0"/>
          <a:stretch/>
        </p:blipFill>
        <p:spPr>
          <a:xfrm>
            <a:off x="1237375" y="141150"/>
            <a:ext cx="6313451" cy="4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</a:t>
            </a:r>
            <a:endParaRPr/>
          </a:p>
        </p:txBody>
      </p:sp>
      <p:pic>
        <p:nvPicPr>
          <p:cNvPr id="343" name="Google Shape;34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8" cy="26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 rotWithShape="1">
          <a:blip r:embed="rId4">
            <a:alphaModFix/>
          </a:blip>
          <a:srcRect b="0" l="61649" r="0" t="0"/>
          <a:stretch/>
        </p:blipFill>
        <p:spPr>
          <a:xfrm>
            <a:off x="1416117" y="424144"/>
            <a:ext cx="3940588" cy="868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-42610" l="4773" r="58198" t="42609"/>
          <a:stretch/>
        </p:blipFill>
        <p:spPr>
          <a:xfrm>
            <a:off x="5300152" y="512720"/>
            <a:ext cx="3804699" cy="868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4"/>
          <p:cNvPicPr preferRelativeResize="0"/>
          <p:nvPr/>
        </p:nvPicPr>
        <p:blipFill rotWithShape="1">
          <a:blip r:embed="rId4">
            <a:alphaModFix/>
          </a:blip>
          <a:srcRect b="50049" l="0" r="38552" t="0"/>
          <a:stretch/>
        </p:blipFill>
        <p:spPr>
          <a:xfrm>
            <a:off x="1237375" y="141150"/>
            <a:ext cx="6313451" cy="4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/>
        </p:nvSpPr>
        <p:spPr>
          <a:xfrm>
            <a:off x="1105575" y="3924425"/>
            <a:ext cx="758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Requests completed at 12, 16, 20, 24, 28, 32, 36, 40 seconds </a:t>
            </a:r>
            <a:endParaRPr sz="19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repeated 15 times</a:t>
            </a:r>
            <a:br>
              <a:rPr lang="en-US" sz="1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15* 8 = 120 sandwiches</a:t>
            </a:r>
            <a:endParaRPr sz="19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ropi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4DB6AC"/>
      </a:accent2>
      <a:accent3>
        <a:srgbClr val="B3A77D"/>
      </a:accent3>
      <a:accent4>
        <a:srgbClr val="A1E8D9"/>
      </a:accent4>
      <a:accent5>
        <a:srgbClr val="695D46"/>
      </a:accent5>
      <a:accent6>
        <a:srgbClr val="009668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5B0D2F0D7DC4489CFF991C602C9121" ma:contentTypeVersion="2" ma:contentTypeDescription="Create a new document." ma:contentTypeScope="" ma:versionID="fb4db7b70e1fb1c2f0f1d2fcf75631b7">
  <xsd:schema xmlns:xsd="http://www.w3.org/2001/XMLSchema" xmlns:xs="http://www.w3.org/2001/XMLSchema" xmlns:p="http://schemas.microsoft.com/office/2006/metadata/properties" xmlns:ns2="21e05157-672d-4edf-bcb1-53d9c4ace537" targetNamespace="http://schemas.microsoft.com/office/2006/metadata/properties" ma:root="true" ma:fieldsID="011bdbe87232eda5c667bc4141f39d0e" ns2:_="">
    <xsd:import namespace="21e05157-672d-4edf-bcb1-53d9c4ace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05157-672d-4edf-bcb1-53d9c4ace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05329E-4955-4187-9801-602D5F31CD25}"/>
</file>

<file path=customXml/itemProps2.xml><?xml version="1.0" encoding="utf-8"?>
<ds:datastoreItem xmlns:ds="http://schemas.openxmlformats.org/officeDocument/2006/customXml" ds:itemID="{B1D9045B-97E3-4788-82C8-B0072F493D00}"/>
</file>

<file path=customXml/itemProps3.xml><?xml version="1.0" encoding="utf-8"?>
<ds:datastoreItem xmlns:ds="http://schemas.openxmlformats.org/officeDocument/2006/customXml" ds:itemID="{256E61AF-71DC-453E-9569-E872C9AE0311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0x010100185B0D2F0D7DC4489CFF991C602C9121</vt:lpwstr>
  </property>
</Properties>
</file>