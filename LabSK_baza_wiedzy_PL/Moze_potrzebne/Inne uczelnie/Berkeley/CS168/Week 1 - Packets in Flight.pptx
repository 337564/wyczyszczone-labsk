
<file path=[Content_Types].xml><?xml version="1.0" encoding="utf-8"?>
<Types xmlns="http://schemas.openxmlformats.org/package/2006/content-types">
  <Default Extension="png" ContentType="image/png"/>
  <Default Extension="rels" ContentType="application/vnd.openxmlformats-package.relationships+xml"/>
  <Default Extension="fntdata" ContentType="application/x-fontdata"/>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9144000"/>
  <p:notesSz cx="6858000" cy="9144000"/>
  <p:embeddedFontLst>
    <p:embeddedFont>
      <p:font typeface="PT Sans Narrow"/>
      <p:regular r:id="rId52"/>
      <p:bold r:id="rId53"/>
    </p:embeddedFont>
    <p:embeddedFont>
      <p:font typeface="Open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39" Type="http://schemas.openxmlformats.org/officeDocument/2006/relationships/slide" Target="slides/slide34.xml"/><Relationship Id="rId26" Type="http://schemas.openxmlformats.org/officeDocument/2006/relationships/slide" Target="slides/slide21.xml"/><Relationship Id="rId13" Type="http://schemas.openxmlformats.org/officeDocument/2006/relationships/slide" Target="slides/slide8.xml"/><Relationship Id="rId18" Type="http://schemas.openxmlformats.org/officeDocument/2006/relationships/slide" Target="slides/slide13.xml"/><Relationship Id="rId42" Type="http://schemas.openxmlformats.org/officeDocument/2006/relationships/slide" Target="slides/slide37.xml"/><Relationship Id="rId47" Type="http://schemas.openxmlformats.org/officeDocument/2006/relationships/slide" Target="slides/slide42.xml"/><Relationship Id="rId34" Type="http://schemas.openxmlformats.org/officeDocument/2006/relationships/slide" Target="slides/slide29.xml"/><Relationship Id="rId21" Type="http://schemas.openxmlformats.org/officeDocument/2006/relationships/slide" Target="slides/slide16.xml"/><Relationship Id="rId50" Type="http://schemas.openxmlformats.org/officeDocument/2006/relationships/slide" Target="slides/slide45.xml"/><Relationship Id="rId55" Type="http://schemas.openxmlformats.org/officeDocument/2006/relationships/font" Target="fonts/OpenSans-bold.fntdata"/><Relationship Id="rId7" Type="http://schemas.openxmlformats.org/officeDocument/2006/relationships/slide" Target="slides/slide2.xml"/><Relationship Id="rId2" Type="http://schemas.openxmlformats.org/officeDocument/2006/relationships/viewProps" Target="viewProps.xml"/><Relationship Id="rId29" Type="http://schemas.openxmlformats.org/officeDocument/2006/relationships/slide" Target="slides/slide24.xml"/><Relationship Id="rId16" Type="http://schemas.openxmlformats.org/officeDocument/2006/relationships/slide" Target="slides/slide11.xml"/><Relationship Id="rId40" Type="http://schemas.openxmlformats.org/officeDocument/2006/relationships/slide" Target="slides/slide35.xml"/><Relationship Id="rId45" Type="http://schemas.openxmlformats.org/officeDocument/2006/relationships/slide" Target="slides/slide40.xml"/><Relationship Id="rId32" Type="http://schemas.openxmlformats.org/officeDocument/2006/relationships/slide" Target="slides/slide27.xml"/><Relationship Id="rId37" Type="http://schemas.openxmlformats.org/officeDocument/2006/relationships/slide" Target="slides/slide32.xml"/><Relationship Id="rId24" Type="http://schemas.openxmlformats.org/officeDocument/2006/relationships/slide" Target="slides/slide19.xml"/><Relationship Id="rId53" Type="http://schemas.openxmlformats.org/officeDocument/2006/relationships/font" Target="fonts/PTSansNarrow-bold.fntdata"/><Relationship Id="rId11" Type="http://schemas.openxmlformats.org/officeDocument/2006/relationships/slide" Target="slides/slide6.xml"/><Relationship Id="rId58" Type="http://schemas.openxmlformats.org/officeDocument/2006/relationships/customXml" Target="../customXml/item1.xml"/><Relationship Id="rId5" Type="http://schemas.openxmlformats.org/officeDocument/2006/relationships/notesMaster" Target="notesMasters/notesMaster1.xml"/><Relationship Id="rId19" Type="http://schemas.openxmlformats.org/officeDocument/2006/relationships/slide" Target="slides/slide14.xml"/><Relationship Id="rId43" Type="http://schemas.openxmlformats.org/officeDocument/2006/relationships/slide" Target="slides/slide38.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30" Type="http://schemas.openxmlformats.org/officeDocument/2006/relationships/slide" Target="slides/slide25.xml"/><Relationship Id="rId35" Type="http://schemas.openxmlformats.org/officeDocument/2006/relationships/slide" Target="slides/slide30.xml"/><Relationship Id="rId22" Type="http://schemas.openxmlformats.org/officeDocument/2006/relationships/slide" Target="slides/slide17.xml"/><Relationship Id="rId27" Type="http://schemas.openxmlformats.org/officeDocument/2006/relationships/slide" Target="slides/slide22.xml"/><Relationship Id="rId56" Type="http://schemas.openxmlformats.org/officeDocument/2006/relationships/font" Target="fonts/OpenSans-italic.fntdata"/><Relationship Id="rId14" Type="http://schemas.openxmlformats.org/officeDocument/2006/relationships/slide" Target="slides/slide9.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presProps" Target="presProps.xml"/><Relationship Id="rId46" Type="http://schemas.openxmlformats.org/officeDocument/2006/relationships/slide" Target="slides/slide41.xml"/><Relationship Id="rId33" Type="http://schemas.openxmlformats.org/officeDocument/2006/relationships/slide" Target="slides/slide28.xml"/><Relationship Id="rId38" Type="http://schemas.openxmlformats.org/officeDocument/2006/relationships/slide" Target="slides/slide33.xml"/><Relationship Id="rId25" Type="http://schemas.openxmlformats.org/officeDocument/2006/relationships/slide" Target="slides/slide20.xml"/><Relationship Id="rId12" Type="http://schemas.openxmlformats.org/officeDocument/2006/relationships/slide" Target="slides/slide7.xml"/><Relationship Id="rId17" Type="http://schemas.openxmlformats.org/officeDocument/2006/relationships/slide" Target="slides/slide12.xml"/><Relationship Id="rId59" Type="http://schemas.openxmlformats.org/officeDocument/2006/relationships/customXml" Target="../customXml/item2.xml"/><Relationship Id="rId41" Type="http://schemas.openxmlformats.org/officeDocument/2006/relationships/slide" Target="slides/slide36.xml"/><Relationship Id="rId20" Type="http://schemas.openxmlformats.org/officeDocument/2006/relationships/slide" Target="slides/slide15.xml"/><Relationship Id="rId54" Type="http://schemas.openxmlformats.org/officeDocument/2006/relationships/font" Target="fonts/OpenSans-regular.fntdata"/><Relationship Id="rId1" Type="http://schemas.openxmlformats.org/officeDocument/2006/relationships/theme" Target="theme/theme2.xml"/><Relationship Id="rId6" Type="http://schemas.openxmlformats.org/officeDocument/2006/relationships/slide" Target="slides/slide1.xml"/><Relationship Id="rId49" Type="http://schemas.openxmlformats.org/officeDocument/2006/relationships/slide" Target="slides/slide44.xml"/><Relationship Id="rId36" Type="http://schemas.openxmlformats.org/officeDocument/2006/relationships/slide" Target="slides/slide31.xml"/><Relationship Id="rId23" Type="http://schemas.openxmlformats.org/officeDocument/2006/relationships/slide" Target="slides/slide18.xml"/><Relationship Id="rId28" Type="http://schemas.openxmlformats.org/officeDocument/2006/relationships/slide" Target="slides/slide23.xml"/><Relationship Id="rId57" Type="http://schemas.openxmlformats.org/officeDocument/2006/relationships/font" Target="fonts/OpenSans-boldItalic.fntdata"/><Relationship Id="rId15" Type="http://schemas.openxmlformats.org/officeDocument/2006/relationships/slide" Target="slides/slide10.xml"/><Relationship Id="rId44" Type="http://schemas.openxmlformats.org/officeDocument/2006/relationships/slide" Target="slides/slide39.xml"/><Relationship Id="rId31" Type="http://schemas.openxmlformats.org/officeDocument/2006/relationships/slide" Target="slides/slide26.xml"/><Relationship Id="rId52" Type="http://schemas.openxmlformats.org/officeDocument/2006/relationships/font" Target="fonts/PTSansNarrow-regular.fntdata"/><Relationship Id="rId10" Type="http://schemas.openxmlformats.org/officeDocument/2006/relationships/slide" Target="slides/slide5.xml"/><Relationship Id="rId60"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0" name="Shape 90"/>
        <p:cNvGrpSpPr/>
        <p:nvPr/>
      </p:nvGrpSpPr>
      <p:grpSpPr>
        <a:xfrm>
          <a:off x="0" y="0"/>
          <a:ext cx="0" cy="0"/>
          <a:chOff x="0" y="0"/>
          <a:chExt cx="0" cy="0"/>
        </a:xfrm>
      </p:grpSpPr>
      <p:sp>
        <p:nvSpPr>
          <p:cNvPr id="91" name="Google Shape;9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93" name="Google Shape;93;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7" name="Shape 97"/>
        <p:cNvGrpSpPr/>
        <p:nvPr/>
      </p:nvGrpSpPr>
      <p:grpSpPr>
        <a:xfrm>
          <a:off x="0" y="0"/>
          <a:ext cx="0" cy="0"/>
          <a:chOff x="0" y="0"/>
          <a:chExt cx="0" cy="0"/>
        </a:xfrm>
      </p:grpSpPr>
      <p:sp>
        <p:nvSpPr>
          <p:cNvPr id="98" name="Google Shape;9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Transmission – how long it takes computer to actually put bits onto the wire. Depends on how much data you’re sending and the link speed</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Propagation – normally speed of light.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Queueing – the traffic pattern. Routers are usually receiving/sending many packets on many different connections simultaneously, and this can slow down the network.</a:t>
            </a:r>
            <a:endParaRPr b="0" i="0" sz="1200" u="none" cap="none" strike="noStrike">
              <a:solidFill>
                <a:schemeClr val="dk1"/>
              </a:solidFill>
              <a:latin typeface="Calibri"/>
              <a:ea typeface="Calibri"/>
              <a:cs typeface="Calibri"/>
              <a:sym typeface="Calibri"/>
            </a:endParaRPr>
          </a:p>
        </p:txBody>
      </p:sp>
      <p:sp>
        <p:nvSpPr>
          <p:cNvPr id="100" name="Google Shape;100;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Processing – not really gonna talk about them</a:t>
            </a:r>
            <a:endParaRPr b="0" i="0" sz="1200" u="none" cap="none" strike="noStrike">
              <a:solidFill>
                <a:schemeClr val="dk1"/>
              </a:solidFill>
              <a:latin typeface="Calibri"/>
              <a:ea typeface="Calibri"/>
              <a:cs typeface="Calibri"/>
              <a:sym typeface="Calibri"/>
            </a:endParaRPr>
          </a:p>
        </p:txBody>
      </p:sp>
      <p:sp>
        <p:nvSpPr>
          <p:cNvPr id="108" name="Google Shape;108;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2" name="Shape 112"/>
        <p:cNvGrpSpPr/>
        <p:nvPr/>
      </p:nvGrpSpPr>
      <p:grpSpPr>
        <a:xfrm>
          <a:off x="0" y="0"/>
          <a:ext cx="0" cy="0"/>
          <a:chOff x="0" y="0"/>
          <a:chExt cx="0" cy="0"/>
        </a:xfrm>
      </p:grpSpPr>
      <p:sp>
        <p:nvSpPr>
          <p:cNvPr id="113" name="Google Shape;11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15" name="Google Shape;115;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Bandwidth – how many bits you can send through a wire per second</a:t>
            </a:r>
            <a:endParaRPr b="0" i="0" sz="1200" u="none" cap="none" strike="noStrike">
              <a:solidFill>
                <a:schemeClr val="dk1"/>
              </a:solidFill>
              <a:latin typeface="Calibri"/>
              <a:ea typeface="Calibri"/>
              <a:cs typeface="Calibri"/>
              <a:sym typeface="Calibri"/>
            </a:endParaRPr>
          </a:p>
        </p:txBody>
      </p:sp>
      <p:sp>
        <p:nvSpPr>
          <p:cNvPr id="128" name="Google Shape;128;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8" name="Shape 138"/>
        <p:cNvGrpSpPr/>
        <p:nvPr/>
      </p:nvGrpSpPr>
      <p:grpSpPr>
        <a:xfrm>
          <a:off x="0" y="0"/>
          <a:ext cx="0" cy="0"/>
          <a:chOff x="0" y="0"/>
          <a:chExt cx="0" cy="0"/>
        </a:xfrm>
      </p:grpSpPr>
      <p:sp>
        <p:nvSpPr>
          <p:cNvPr id="139" name="Google Shape;13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Transmission delay depends on packet size: the more data you have to send, the longer it’s gonna take to put that data onto the wire. You can only put so many bits onto the wire per second</a:t>
            </a:r>
            <a:endParaRPr b="0" i="0" sz="1200" u="none" cap="none" strike="noStrike">
              <a:solidFill>
                <a:schemeClr val="dk1"/>
              </a:solidFill>
              <a:latin typeface="Calibri"/>
              <a:ea typeface="Calibri"/>
              <a:cs typeface="Calibri"/>
              <a:sym typeface="Calibri"/>
            </a:endParaRPr>
          </a:p>
        </p:txBody>
      </p:sp>
      <p:sp>
        <p:nvSpPr>
          <p:cNvPr id="141" name="Google Shape;141;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1" name="Shape 151"/>
        <p:cNvGrpSpPr/>
        <p:nvPr/>
      </p:nvGrpSpPr>
      <p:grpSpPr>
        <a:xfrm>
          <a:off x="0" y="0"/>
          <a:ext cx="0" cy="0"/>
          <a:chOff x="0" y="0"/>
          <a:chExt cx="0" cy="0"/>
        </a:xfrm>
      </p:grpSpPr>
      <p:sp>
        <p:nvSpPr>
          <p:cNvPr id="152" name="Google Shape;15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Transmission delay depends on packet size: the more data you have to send, the longer it’s gonna take to put that data onto the wire. You can only put so many bits onto the wire per second</a:t>
            </a:r>
            <a:endParaRPr b="0" i="0" sz="1200" u="none" cap="none" strike="noStrike">
              <a:solidFill>
                <a:schemeClr val="dk1"/>
              </a:solidFill>
              <a:latin typeface="Calibri"/>
              <a:ea typeface="Calibri"/>
              <a:cs typeface="Calibri"/>
              <a:sym typeface="Calibri"/>
            </a:endParaRPr>
          </a:p>
        </p:txBody>
      </p:sp>
      <p:sp>
        <p:nvSpPr>
          <p:cNvPr id="154" name="Google Shape;154;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5" name="Shape 175"/>
        <p:cNvGrpSpPr/>
        <p:nvPr/>
      </p:nvGrpSpPr>
      <p:grpSpPr>
        <a:xfrm>
          <a:off x="0" y="0"/>
          <a:ext cx="0" cy="0"/>
          <a:chOff x="0" y="0"/>
          <a:chExt cx="0" cy="0"/>
        </a:xfrm>
      </p:grpSpPr>
      <p:sp>
        <p:nvSpPr>
          <p:cNvPr id="176" name="Google Shape;17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78" name="Google Shape;178;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Technically it is the speed of light in whatever material the signal is going through</a:t>
            </a:r>
            <a:endParaRPr/>
          </a:p>
        </p:txBody>
      </p:sp>
      <p:sp>
        <p:nvSpPr>
          <p:cNvPr id="197" name="Google Shape;19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7" name="Shape 207"/>
        <p:cNvGrpSpPr/>
        <p:nvPr/>
      </p:nvGrpSpPr>
      <p:grpSpPr>
        <a:xfrm>
          <a:off x="0" y="0"/>
          <a:ext cx="0" cy="0"/>
          <a:chOff x="0" y="0"/>
          <a:chExt cx="0" cy="0"/>
        </a:xfrm>
      </p:grpSpPr>
      <p:sp>
        <p:nvSpPr>
          <p:cNvPr id="208" name="Google Shape;20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10" name="Google Shape;210;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4" name="Shape 214"/>
        <p:cNvGrpSpPr/>
        <p:nvPr/>
      </p:nvGrpSpPr>
      <p:grpSpPr>
        <a:xfrm>
          <a:off x="0" y="0"/>
          <a:ext cx="0" cy="0"/>
          <a:chOff x="0" y="0"/>
          <a:chExt cx="0" cy="0"/>
        </a:xfrm>
      </p:grpSpPr>
      <p:sp>
        <p:nvSpPr>
          <p:cNvPr id="215" name="Google Shape;21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8" name="Shape 228"/>
        <p:cNvGrpSpPr/>
        <p:nvPr/>
      </p:nvGrpSpPr>
      <p:grpSpPr>
        <a:xfrm>
          <a:off x="0" y="0"/>
          <a:ext cx="0" cy="0"/>
          <a:chOff x="0" y="0"/>
          <a:chExt cx="0" cy="0"/>
        </a:xfrm>
      </p:grpSpPr>
      <p:sp>
        <p:nvSpPr>
          <p:cNvPr id="229" name="Google Shape;22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0" name="Shape 240"/>
        <p:cNvGrpSpPr/>
        <p:nvPr/>
      </p:nvGrpSpPr>
      <p:grpSpPr>
        <a:xfrm>
          <a:off x="0" y="0"/>
          <a:ext cx="0" cy="0"/>
          <a:chOff x="0" y="0"/>
          <a:chExt cx="0" cy="0"/>
        </a:xfrm>
      </p:grpSpPr>
      <p:sp>
        <p:nvSpPr>
          <p:cNvPr id="241" name="Google Shape;24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2" name="Shape 252"/>
        <p:cNvGrpSpPr/>
        <p:nvPr/>
      </p:nvGrpSpPr>
      <p:grpSpPr>
        <a:xfrm>
          <a:off x="0" y="0"/>
          <a:ext cx="0" cy="0"/>
          <a:chOff x="0" y="0"/>
          <a:chExt cx="0" cy="0"/>
        </a:xfrm>
      </p:grpSpPr>
      <p:sp>
        <p:nvSpPr>
          <p:cNvPr id="253" name="Google Shape;25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7" name="Shape 257"/>
        <p:cNvGrpSpPr/>
        <p:nvPr/>
      </p:nvGrpSpPr>
      <p:grpSpPr>
        <a:xfrm>
          <a:off x="0" y="0"/>
          <a:ext cx="0" cy="0"/>
          <a:chOff x="0" y="0"/>
          <a:chExt cx="0" cy="0"/>
        </a:xfrm>
      </p:grpSpPr>
      <p:sp>
        <p:nvSpPr>
          <p:cNvPr id="258" name="Google Shape;25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(cute animation of packets queueing on click)</a:t>
            </a:r>
            <a:endParaRPr/>
          </a:p>
        </p:txBody>
      </p:sp>
      <p:sp>
        <p:nvSpPr>
          <p:cNvPr id="259" name="Google Shape;25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1" name="Shape 271"/>
        <p:cNvGrpSpPr/>
        <p:nvPr/>
      </p:nvGrpSpPr>
      <p:grpSpPr>
        <a:xfrm>
          <a:off x="0" y="0"/>
          <a:ext cx="0" cy="0"/>
          <a:chOff x="0" y="0"/>
          <a:chExt cx="0" cy="0"/>
        </a:xfrm>
      </p:grpSpPr>
      <p:sp>
        <p:nvSpPr>
          <p:cNvPr id="272" name="Google Shape;272;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 not sure what this slide is meant to say</a:t>
            </a:r>
            <a:endParaRPr/>
          </a:p>
        </p:txBody>
      </p:sp>
      <p:sp>
        <p:nvSpPr>
          <p:cNvPr id="273" name="Google Shape;27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7" name="Shape 277"/>
        <p:cNvGrpSpPr/>
        <p:nvPr/>
      </p:nvGrpSpPr>
      <p:grpSpPr>
        <a:xfrm>
          <a:off x="0" y="0"/>
          <a:ext cx="0" cy="0"/>
          <a:chOff x="0" y="0"/>
          <a:chExt cx="0" cy="0"/>
        </a:xfrm>
      </p:grpSpPr>
      <p:sp>
        <p:nvSpPr>
          <p:cNvPr id="278" name="Google Shape;27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5" name="Shape 285"/>
        <p:cNvGrpSpPr/>
        <p:nvPr/>
      </p:nvGrpSpPr>
      <p:grpSpPr>
        <a:xfrm>
          <a:off x="0" y="0"/>
          <a:ext cx="0" cy="0"/>
          <a:chOff x="0" y="0"/>
          <a:chExt cx="0" cy="0"/>
        </a:xfrm>
      </p:grpSpPr>
      <p:sp>
        <p:nvSpPr>
          <p:cNvPr id="286" name="Google Shape;286;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1" name="Shape 291"/>
        <p:cNvGrpSpPr/>
        <p:nvPr/>
      </p:nvGrpSpPr>
      <p:grpSpPr>
        <a:xfrm>
          <a:off x="0" y="0"/>
          <a:ext cx="0" cy="0"/>
          <a:chOff x="0" y="0"/>
          <a:chExt cx="0" cy="0"/>
        </a:xfrm>
      </p:grpSpPr>
      <p:sp>
        <p:nvSpPr>
          <p:cNvPr id="292" name="Google Shape;29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7" name="Shape 297"/>
        <p:cNvGrpSpPr/>
        <p:nvPr/>
      </p:nvGrpSpPr>
      <p:grpSpPr>
        <a:xfrm>
          <a:off x="0" y="0"/>
          <a:ext cx="0" cy="0"/>
          <a:chOff x="0" y="0"/>
          <a:chExt cx="0" cy="0"/>
        </a:xfrm>
      </p:grpSpPr>
      <p:sp>
        <p:nvSpPr>
          <p:cNvPr id="298" name="Google Shape;29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00" name="Google Shape;300;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6" name="Shape 316"/>
        <p:cNvGrpSpPr/>
        <p:nvPr/>
      </p:nvGrpSpPr>
      <p:grpSpPr>
        <a:xfrm>
          <a:off x="0" y="0"/>
          <a:ext cx="0" cy="0"/>
          <a:chOff x="0" y="0"/>
          <a:chExt cx="0" cy="0"/>
        </a:xfrm>
      </p:grpSpPr>
      <p:sp>
        <p:nvSpPr>
          <p:cNvPr id="317" name="Google Shape;31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5" name="Shape 335"/>
        <p:cNvGrpSpPr/>
        <p:nvPr/>
      </p:nvGrpSpPr>
      <p:grpSpPr>
        <a:xfrm>
          <a:off x="0" y="0"/>
          <a:ext cx="0" cy="0"/>
          <a:chOff x="0" y="0"/>
          <a:chExt cx="0" cy="0"/>
        </a:xfrm>
      </p:grpSpPr>
      <p:sp>
        <p:nvSpPr>
          <p:cNvPr id="336" name="Google Shape;33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Consider Transmission &amp; Propagation Delay on the Receiver’s perspective (vs. Sender’s)</a:t>
            </a:r>
            <a:endParaRPr/>
          </a:p>
          <a:p>
            <a:pPr indent="0" lvl="0" marL="0" rtl="0" algn="l">
              <a:spcBef>
                <a:spcPts val="0"/>
              </a:spcBef>
              <a:spcAft>
                <a:spcPts val="0"/>
              </a:spcAft>
              <a:buNone/>
            </a:pPr>
            <a:r>
              <a:rPr lang="en-US"/>
              <a:t>All bits really have the same propogation time</a:t>
            </a:r>
            <a:endParaRPr/>
          </a:p>
          <a:p>
            <a:pPr indent="0" lvl="0" marL="0" rtl="0" algn="l">
              <a:spcBef>
                <a:spcPts val="0"/>
              </a:spcBef>
              <a:spcAft>
                <a:spcPts val="0"/>
              </a:spcAft>
              <a:buNone/>
            </a:pPr>
            <a:r>
              <a:t/>
            </a:r>
            <a:endParaRPr/>
          </a:p>
        </p:txBody>
      </p:sp>
      <p:sp>
        <p:nvSpPr>
          <p:cNvPr id="337" name="Google Shape;33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9" name="Shape 349"/>
        <p:cNvGrpSpPr/>
        <p:nvPr/>
      </p:nvGrpSpPr>
      <p:grpSpPr>
        <a:xfrm>
          <a:off x="0" y="0"/>
          <a:ext cx="0" cy="0"/>
          <a:chOff x="0" y="0"/>
          <a:chExt cx="0" cy="0"/>
        </a:xfrm>
      </p:grpSpPr>
      <p:sp>
        <p:nvSpPr>
          <p:cNvPr id="350" name="Google Shape;350;g6e1685904d_4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Not quite accurate because Transmission Delay is more of a </a:t>
            </a:r>
            <a:r>
              <a:rPr b="1" lang="en-US"/>
              <a:t>receive side thing</a:t>
            </a:r>
            <a:endParaRPr/>
          </a:p>
        </p:txBody>
      </p:sp>
      <p:sp>
        <p:nvSpPr>
          <p:cNvPr id="351" name="Google Shape;351;g6e1685904d_4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3" name="Shape 363"/>
        <p:cNvGrpSpPr/>
        <p:nvPr/>
      </p:nvGrpSpPr>
      <p:grpSpPr>
        <a:xfrm>
          <a:off x="0" y="0"/>
          <a:ext cx="0" cy="0"/>
          <a:chOff x="0" y="0"/>
          <a:chExt cx="0" cy="0"/>
        </a:xfrm>
      </p:grpSpPr>
      <p:sp>
        <p:nvSpPr>
          <p:cNvPr id="364" name="Google Shape;36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9" name="Shape 389"/>
        <p:cNvGrpSpPr/>
        <p:nvPr/>
      </p:nvGrpSpPr>
      <p:grpSpPr>
        <a:xfrm>
          <a:off x="0" y="0"/>
          <a:ext cx="0" cy="0"/>
          <a:chOff x="0" y="0"/>
          <a:chExt cx="0" cy="0"/>
        </a:xfrm>
      </p:grpSpPr>
      <p:sp>
        <p:nvSpPr>
          <p:cNvPr id="390" name="Google Shape;39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9" name="Shape 419"/>
        <p:cNvGrpSpPr/>
        <p:nvPr/>
      </p:nvGrpSpPr>
      <p:grpSpPr>
        <a:xfrm>
          <a:off x="0" y="0"/>
          <a:ext cx="0" cy="0"/>
          <a:chOff x="0" y="0"/>
          <a:chExt cx="0" cy="0"/>
        </a:xfrm>
      </p:grpSpPr>
      <p:sp>
        <p:nvSpPr>
          <p:cNvPr id="420" name="Google Shape;42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50" name="Shape 450"/>
        <p:cNvGrpSpPr/>
        <p:nvPr/>
      </p:nvGrpSpPr>
      <p:grpSpPr>
        <a:xfrm>
          <a:off x="0" y="0"/>
          <a:ext cx="0" cy="0"/>
          <a:chOff x="0" y="0"/>
          <a:chExt cx="0" cy="0"/>
        </a:xfrm>
      </p:grpSpPr>
      <p:sp>
        <p:nvSpPr>
          <p:cNvPr id="451" name="Google Shape;451;g40ddf7139e_2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40ddf7139e_2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g40ddf7139e_2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56" name="Shape 456"/>
        <p:cNvGrpSpPr/>
        <p:nvPr/>
      </p:nvGrpSpPr>
      <p:grpSpPr>
        <a:xfrm>
          <a:off x="0" y="0"/>
          <a:ext cx="0" cy="0"/>
          <a:chOff x="0" y="0"/>
          <a:chExt cx="0" cy="0"/>
        </a:xfrm>
      </p:grpSpPr>
      <p:sp>
        <p:nvSpPr>
          <p:cNvPr id="457" name="Google Shape;457;g40c2a62ef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40c2a62ef3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agg. should be higher than 15?)</a:t>
            </a:r>
            <a:endParaRPr/>
          </a:p>
        </p:txBody>
      </p:sp>
      <p:sp>
        <p:nvSpPr>
          <p:cNvPr id="459" name="Google Shape;459;g40c2a62ef3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89" name="Shape 489"/>
        <p:cNvGrpSpPr/>
        <p:nvPr/>
      </p:nvGrpSpPr>
      <p:grpSpPr>
        <a:xfrm>
          <a:off x="0" y="0"/>
          <a:ext cx="0" cy="0"/>
          <a:chOff x="0" y="0"/>
          <a:chExt cx="0" cy="0"/>
        </a:xfrm>
      </p:grpSpPr>
      <p:sp>
        <p:nvSpPr>
          <p:cNvPr id="490" name="Google Shape;490;g40c2a62ef3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40c2a62ef3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g40c2a62ef3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16" name="Shape 516"/>
        <p:cNvGrpSpPr/>
        <p:nvPr/>
      </p:nvGrpSpPr>
      <p:grpSpPr>
        <a:xfrm>
          <a:off x="0" y="0"/>
          <a:ext cx="0" cy="0"/>
          <a:chOff x="0" y="0"/>
          <a:chExt cx="0" cy="0"/>
        </a:xfrm>
      </p:grpSpPr>
      <p:sp>
        <p:nvSpPr>
          <p:cNvPr id="517" name="Google Shape;517;g40cdb977e0_0_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40cdb977e0_0_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g40cdb977e0_0_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22" name="Shape 522"/>
        <p:cNvGrpSpPr/>
        <p:nvPr/>
      </p:nvGrpSpPr>
      <p:grpSpPr>
        <a:xfrm>
          <a:off x="0" y="0"/>
          <a:ext cx="0" cy="0"/>
          <a:chOff x="0" y="0"/>
          <a:chExt cx="0" cy="0"/>
        </a:xfrm>
      </p:grpSpPr>
      <p:sp>
        <p:nvSpPr>
          <p:cNvPr id="523" name="Google Shape;523;g40cdb977e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40cdb977e0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Answers show up in animation</a:t>
            </a:r>
            <a:endParaRPr/>
          </a:p>
          <a:p>
            <a:pPr indent="-317500" lvl="0" marL="457200" rtl="0" algn="l">
              <a:spcBef>
                <a:spcPts val="0"/>
              </a:spcBef>
              <a:spcAft>
                <a:spcPts val="0"/>
              </a:spcAft>
              <a:buSzPts val="1400"/>
              <a:buAutoNum type="arabicPeriod"/>
            </a:pPr>
            <a:r>
              <a:rPr lang="en-US"/>
              <a:t>True</a:t>
            </a:r>
            <a:endParaRPr/>
          </a:p>
          <a:p>
            <a:pPr indent="-317500" lvl="0" marL="457200" rtl="0" algn="l">
              <a:spcBef>
                <a:spcPts val="0"/>
              </a:spcBef>
              <a:spcAft>
                <a:spcPts val="0"/>
              </a:spcAft>
              <a:buSzPts val="1400"/>
              <a:buAutoNum type="arabicPeriod"/>
            </a:pPr>
            <a:r>
              <a:rPr lang="en-US"/>
              <a:t>False</a:t>
            </a:r>
            <a:endParaRPr/>
          </a:p>
          <a:p>
            <a:pPr indent="-317500" lvl="0" marL="457200" rtl="0" algn="l">
              <a:spcBef>
                <a:spcPts val="0"/>
              </a:spcBef>
              <a:spcAft>
                <a:spcPts val="0"/>
              </a:spcAft>
              <a:buSzPts val="1400"/>
              <a:buAutoNum type="arabicPeriod"/>
            </a:pPr>
            <a:r>
              <a:rPr lang="en-US"/>
              <a:t>False</a:t>
            </a:r>
            <a:endParaRPr/>
          </a:p>
          <a:p>
            <a:pPr indent="-317500" lvl="0" marL="457200" rtl="0" algn="l">
              <a:spcBef>
                <a:spcPts val="0"/>
              </a:spcBef>
              <a:spcAft>
                <a:spcPts val="0"/>
              </a:spcAft>
              <a:buSzPts val="1400"/>
              <a:buAutoNum type="arabicPeriod"/>
            </a:pPr>
            <a:r>
              <a:rPr lang="en-US"/>
              <a:t>True</a:t>
            </a:r>
            <a:endParaRPr/>
          </a:p>
          <a:p>
            <a:pPr indent="-317500" lvl="0" marL="457200" rtl="0" algn="l">
              <a:spcBef>
                <a:spcPts val="0"/>
              </a:spcBef>
              <a:spcAft>
                <a:spcPts val="0"/>
              </a:spcAft>
              <a:buSzPts val="1400"/>
              <a:buAutoNum type="arabicPeriod"/>
            </a:pPr>
            <a:r>
              <a:rPr lang="en-US"/>
              <a:t>False</a:t>
            </a:r>
            <a:endParaRPr/>
          </a:p>
        </p:txBody>
      </p:sp>
      <p:sp>
        <p:nvSpPr>
          <p:cNvPr id="525" name="Google Shape;525;g40cdb977e0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33" name="Shape 533"/>
        <p:cNvGrpSpPr/>
        <p:nvPr/>
      </p:nvGrpSpPr>
      <p:grpSpPr>
        <a:xfrm>
          <a:off x="0" y="0"/>
          <a:ext cx="0" cy="0"/>
          <a:chOff x="0" y="0"/>
          <a:chExt cx="0" cy="0"/>
        </a:xfrm>
      </p:grpSpPr>
      <p:sp>
        <p:nvSpPr>
          <p:cNvPr id="534" name="Google Shape;534;g40cdb977e0_0_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40cdb977e0_0_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Answers show up in animation</a:t>
            </a:r>
            <a:endParaRPr/>
          </a:p>
          <a:p>
            <a:pPr indent="0" lvl="0" marL="0" rtl="0" algn="l">
              <a:spcBef>
                <a:spcPts val="0"/>
              </a:spcBef>
              <a:spcAft>
                <a:spcPts val="0"/>
              </a:spcAft>
              <a:buNone/>
            </a:pPr>
            <a:r>
              <a:rPr lang="en-US"/>
              <a:t>Answer = .4004s</a:t>
            </a:r>
            <a:endParaRPr/>
          </a:p>
        </p:txBody>
      </p:sp>
      <p:sp>
        <p:nvSpPr>
          <p:cNvPr id="536" name="Google Shape;536;g40cdb977e0_0_1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42" name="Shape 542"/>
        <p:cNvGrpSpPr/>
        <p:nvPr/>
      </p:nvGrpSpPr>
      <p:grpSpPr>
        <a:xfrm>
          <a:off x="0" y="0"/>
          <a:ext cx="0" cy="0"/>
          <a:chOff x="0" y="0"/>
          <a:chExt cx="0" cy="0"/>
        </a:xfrm>
      </p:grpSpPr>
      <p:sp>
        <p:nvSpPr>
          <p:cNvPr id="543" name="Google Shape;543;g40cdb977e0_0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40cdb977e0_0_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g40cdb977e0_0_2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50" name="Shape 550"/>
        <p:cNvGrpSpPr/>
        <p:nvPr/>
      </p:nvGrpSpPr>
      <p:grpSpPr>
        <a:xfrm>
          <a:off x="0" y="0"/>
          <a:ext cx="0" cy="0"/>
          <a:chOff x="0" y="0"/>
          <a:chExt cx="0" cy="0"/>
        </a:xfrm>
      </p:grpSpPr>
      <p:sp>
        <p:nvSpPr>
          <p:cNvPr id="551" name="Google Shape;551;g40cdb977e0_0_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40cdb977e0_0_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g40cdb977e0_0_3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59" name="Shape 559"/>
        <p:cNvGrpSpPr/>
        <p:nvPr/>
      </p:nvGrpSpPr>
      <p:grpSpPr>
        <a:xfrm>
          <a:off x="0" y="0"/>
          <a:ext cx="0" cy="0"/>
          <a:chOff x="0" y="0"/>
          <a:chExt cx="0" cy="0"/>
        </a:xfrm>
      </p:grpSpPr>
      <p:sp>
        <p:nvSpPr>
          <p:cNvPr id="560" name="Google Shape;560;g40cdb977e0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40cdb977e0_0_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562" name="Google Shape;562;g40cdb977e0_0_4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5" name="Shape 565"/>
        <p:cNvGrpSpPr/>
        <p:nvPr/>
      </p:nvGrpSpPr>
      <p:grpSpPr>
        <a:xfrm>
          <a:off x="0" y="0"/>
          <a:ext cx="0" cy="0"/>
          <a:chOff x="0" y="0"/>
          <a:chExt cx="0" cy="0"/>
        </a:xfrm>
      </p:grpSpPr>
      <p:sp>
        <p:nvSpPr>
          <p:cNvPr id="566" name="Google Shape;566;g7cd84bec52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7cd84bec52_0_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8" name="Google Shape;568;g7cd84bec52_0_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4" name="Shape 574"/>
        <p:cNvGrpSpPr/>
        <p:nvPr/>
      </p:nvGrpSpPr>
      <p:grpSpPr>
        <a:xfrm>
          <a:off x="0" y="0"/>
          <a:ext cx="0" cy="0"/>
          <a:chOff x="0" y="0"/>
          <a:chExt cx="0" cy="0"/>
        </a:xfrm>
      </p:grpSpPr>
      <p:sp>
        <p:nvSpPr>
          <p:cNvPr id="575" name="Google Shape;575;g40cdb977e0_0_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40cdb977e0_0_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Answers show up in animation</a:t>
            </a:r>
            <a:endParaRPr/>
          </a:p>
          <a:p>
            <a:pPr indent="0" lvl="0" marL="0" rtl="0" algn="l">
              <a:spcBef>
                <a:spcPts val="0"/>
              </a:spcBef>
              <a:spcAft>
                <a:spcPts val="0"/>
              </a:spcAft>
              <a:buClr>
                <a:schemeClr val="dk1"/>
              </a:buClr>
              <a:buSzPts val="1100"/>
              <a:buFont typeface="Arial"/>
              <a:buNone/>
            </a:pPr>
            <a:r>
              <a:rPr lang="en-US"/>
              <a:t>D1/T2  &lt;=  D2/T1</a:t>
            </a:r>
            <a:endParaRPr/>
          </a:p>
        </p:txBody>
      </p:sp>
      <p:sp>
        <p:nvSpPr>
          <p:cNvPr id="577" name="Google Shape;577;g40cdb977e0_0_5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82" name="Shape 582"/>
        <p:cNvGrpSpPr/>
        <p:nvPr/>
      </p:nvGrpSpPr>
      <p:grpSpPr>
        <a:xfrm>
          <a:off x="0" y="0"/>
          <a:ext cx="0" cy="0"/>
          <a:chOff x="0" y="0"/>
          <a:chExt cx="0" cy="0"/>
        </a:xfrm>
      </p:grpSpPr>
      <p:sp>
        <p:nvSpPr>
          <p:cNvPr id="583" name="Google Shape;583;g40cdb977e0_0_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40cdb977e0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Answers show up in animation</a:t>
            </a:r>
            <a:endParaRPr/>
          </a:p>
          <a:p>
            <a:pPr indent="0" lvl="0" marL="0" rtl="0" algn="l">
              <a:spcBef>
                <a:spcPts val="0"/>
              </a:spcBef>
              <a:spcAft>
                <a:spcPts val="0"/>
              </a:spcAft>
              <a:buClr>
                <a:schemeClr val="dk1"/>
              </a:buClr>
              <a:buSzPts val="1100"/>
              <a:buFont typeface="Arial"/>
              <a:buNone/>
            </a:pPr>
            <a:r>
              <a:rPr lang="en-US"/>
              <a:t>Answer: 119</a:t>
            </a:r>
            <a:endParaRPr/>
          </a:p>
          <a:p>
            <a:pPr indent="0" lvl="0" marL="0" rtl="0" algn="l">
              <a:spcBef>
                <a:spcPts val="0"/>
              </a:spcBef>
              <a:spcAft>
                <a:spcPts val="0"/>
              </a:spcAft>
              <a:buNone/>
            </a:pPr>
            <a:r>
              <a:t/>
            </a:r>
            <a:endParaRPr/>
          </a:p>
        </p:txBody>
      </p:sp>
      <p:sp>
        <p:nvSpPr>
          <p:cNvPr id="585" name="Google Shape;585;g40cdb977e0_0_6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90" name="Shape 590"/>
        <p:cNvGrpSpPr/>
        <p:nvPr/>
      </p:nvGrpSpPr>
      <p:grpSpPr>
        <a:xfrm>
          <a:off x="0" y="0"/>
          <a:ext cx="0" cy="0"/>
          <a:chOff x="0" y="0"/>
          <a:chExt cx="0" cy="0"/>
        </a:xfrm>
      </p:grpSpPr>
      <p:sp>
        <p:nvSpPr>
          <p:cNvPr id="591" name="Google Shape;591;g40cdb977e0_0_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40cdb977e0_0_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Answers show up in animation</a:t>
            </a:r>
            <a:endParaRPr/>
          </a:p>
          <a:p>
            <a:pPr indent="0" lvl="0" marL="0" rtl="0" algn="l">
              <a:spcBef>
                <a:spcPts val="0"/>
              </a:spcBef>
              <a:spcAft>
                <a:spcPts val="0"/>
              </a:spcAft>
              <a:buClr>
                <a:schemeClr val="dk1"/>
              </a:buClr>
              <a:buSzPts val="1100"/>
              <a:buFont typeface="Arial"/>
              <a:buNone/>
            </a:pPr>
            <a:r>
              <a:rPr lang="en-US"/>
              <a:t>Answer: 52</a:t>
            </a:r>
            <a:endParaRPr/>
          </a:p>
          <a:p>
            <a:pPr indent="0" lvl="0" marL="0" rtl="0" algn="l">
              <a:spcBef>
                <a:spcPts val="0"/>
              </a:spcBef>
              <a:spcAft>
                <a:spcPts val="0"/>
              </a:spcAft>
              <a:buClr>
                <a:schemeClr val="dk1"/>
              </a:buClr>
              <a:buSzPts val="1100"/>
              <a:buFont typeface="Arial"/>
              <a:buNone/>
            </a:pPr>
            <a:r>
              <a:rPr lang="en-US"/>
              <a:t>Answer: </a:t>
            </a:r>
            <a:r>
              <a:rPr b="1" lang="en-US"/>
              <a:t>Sum of the Peaks</a:t>
            </a:r>
            <a:endParaRPr/>
          </a:p>
        </p:txBody>
      </p:sp>
      <p:sp>
        <p:nvSpPr>
          <p:cNvPr id="593" name="Google Shape;593;g40cdb977e0_0_7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98" name="Shape 598"/>
        <p:cNvGrpSpPr/>
        <p:nvPr/>
      </p:nvGrpSpPr>
      <p:grpSpPr>
        <a:xfrm>
          <a:off x="0" y="0"/>
          <a:ext cx="0" cy="0"/>
          <a:chOff x="0" y="0"/>
          <a:chExt cx="0" cy="0"/>
        </a:xfrm>
      </p:grpSpPr>
      <p:sp>
        <p:nvSpPr>
          <p:cNvPr id="599" name="Google Shape;599;g7cd84bec52_0_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7cd84bec52_0_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Hint: NYTimes wins</a:t>
            </a:r>
            <a:endParaRPr/>
          </a:p>
        </p:txBody>
      </p:sp>
      <p:sp>
        <p:nvSpPr>
          <p:cNvPr id="601" name="Google Shape;601;g7cd84bec52_0_3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04" name="Shape 604"/>
        <p:cNvGrpSpPr/>
        <p:nvPr/>
      </p:nvGrpSpPr>
      <p:grpSpPr>
        <a:xfrm>
          <a:off x="0" y="0"/>
          <a:ext cx="0" cy="0"/>
          <a:chOff x="0" y="0"/>
          <a:chExt cx="0" cy="0"/>
        </a:xfrm>
      </p:grpSpPr>
      <p:sp>
        <p:nvSpPr>
          <p:cNvPr id="605" name="Google Shape;605;g7cd84bec52_0_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7cd84bec52_0_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g7cd84bec52_0_4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10" name="Shape 610"/>
        <p:cNvGrpSpPr/>
        <p:nvPr/>
      </p:nvGrpSpPr>
      <p:grpSpPr>
        <a:xfrm>
          <a:off x="0" y="0"/>
          <a:ext cx="0" cy="0"/>
          <a:chOff x="0" y="0"/>
          <a:chExt cx="0" cy="0"/>
        </a:xfrm>
      </p:grpSpPr>
      <p:sp>
        <p:nvSpPr>
          <p:cNvPr id="611" name="Google Shape;611;g7cd84bec52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7cd84bec52_0_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g7cd84bec52_0_5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17" name="Shape 617"/>
        <p:cNvGrpSpPr/>
        <p:nvPr/>
      </p:nvGrpSpPr>
      <p:grpSpPr>
        <a:xfrm>
          <a:off x="0" y="0"/>
          <a:ext cx="0" cy="0"/>
          <a:chOff x="0" y="0"/>
          <a:chExt cx="0" cy="0"/>
        </a:xfrm>
      </p:grpSpPr>
      <p:sp>
        <p:nvSpPr>
          <p:cNvPr id="618" name="Google Shape;618;g7cd84bec52_0_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7cd84bec52_0_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g7cd84bec52_0_7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9" name="Shape 629"/>
        <p:cNvGrpSpPr/>
        <p:nvPr/>
      </p:nvGrpSpPr>
      <p:grpSpPr>
        <a:xfrm>
          <a:off x="0" y="0"/>
          <a:ext cx="0" cy="0"/>
          <a:chOff x="0" y="0"/>
          <a:chExt cx="0" cy="0"/>
        </a:xfrm>
      </p:grpSpPr>
      <p:sp>
        <p:nvSpPr>
          <p:cNvPr id="630" name="Google Shape;630;g7cd84bec52_0_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7cd84bec52_0_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g7cd84bec52_0_5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38" name="Shape 638"/>
        <p:cNvGrpSpPr/>
        <p:nvPr/>
      </p:nvGrpSpPr>
      <p:grpSpPr>
        <a:xfrm>
          <a:off x="0" y="0"/>
          <a:ext cx="0" cy="0"/>
          <a:chOff x="0" y="0"/>
          <a:chExt cx="0" cy="0"/>
        </a:xfrm>
      </p:grpSpPr>
      <p:sp>
        <p:nvSpPr>
          <p:cNvPr id="639" name="Google Shape;639;g7cd84bec52_0_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7cd84bec52_0_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g7cd84bec52_0_7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605794"/>
            <a:ext cx="7772400" cy="994656"/>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rgbClr val="EF6C00"/>
              </a:buClr>
              <a:buSzPts val="5400"/>
              <a:buFont typeface="PT Sans Narrow"/>
              <a:buNone/>
              <a:defRPr b="1" i="0" sz="5400" u="none" cap="none" strike="noStrike">
                <a:solidFill>
                  <a:srgbClr val="EF6C00"/>
                </a:solidFill>
                <a:latin typeface="PT Sans Narrow"/>
                <a:ea typeface="PT Sans Narrow"/>
                <a:cs typeface="PT Sans Narrow"/>
                <a:sym typeface="PT Sans Narrow"/>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 name="Google Shape;17;p2"/>
          <p:cNvSpPr txBox="1"/>
          <p:nvPr>
            <p:ph idx="1" type="subTitle"/>
          </p:nvPr>
        </p:nvSpPr>
        <p:spPr>
          <a:xfrm>
            <a:off x="1664038" y="3615266"/>
            <a:ext cx="5813188" cy="527589"/>
          </a:xfrm>
          <a:prstGeom prst="rect">
            <a:avLst/>
          </a:prstGeom>
          <a:noFill/>
          <a:ln>
            <a:noFill/>
          </a:ln>
        </p:spPr>
        <p:txBody>
          <a:bodyPr anchorCtr="0" anchor="t" bIns="45700" lIns="91425" spcFirstLastPara="1" rIns="91425" wrap="square" tIns="45700">
            <a:noAutofit/>
          </a:bodyPr>
          <a:lstStyle>
            <a:lvl1pPr lvl="0" marR="0" rtl="0" algn="ctr">
              <a:spcBef>
                <a:spcPts val="480"/>
              </a:spcBef>
              <a:spcAft>
                <a:spcPts val="0"/>
              </a:spcAft>
              <a:buClr>
                <a:srgbClr val="888888"/>
              </a:buClr>
              <a:buSzPts val="2400"/>
              <a:buFont typeface="Arial"/>
              <a:buNone/>
              <a:defRPr b="0" i="0" sz="2400" u="none" cap="none" strike="noStrike">
                <a:solidFill>
                  <a:srgbClr val="888888"/>
                </a:solidFill>
                <a:latin typeface="Open Sans"/>
                <a:ea typeface="Open Sans"/>
                <a:cs typeface="Open Sans"/>
                <a:sym typeface="Open Sans"/>
              </a:defRPr>
            </a:lvl1pPr>
            <a:lvl2pPr lvl="1" marR="0" rtl="0" algn="ctr">
              <a:spcBef>
                <a:spcPts val="400"/>
              </a:spcBef>
              <a:spcAft>
                <a:spcPts val="0"/>
              </a:spcAft>
              <a:buClr>
                <a:srgbClr val="888888"/>
              </a:buClr>
              <a:buSzPts val="2000"/>
              <a:buFont typeface="Arial"/>
              <a:buNone/>
              <a:defRPr b="0" i="0" sz="2000" u="none" cap="none" strike="noStrike">
                <a:solidFill>
                  <a:srgbClr val="888888"/>
                </a:solidFill>
                <a:latin typeface="Open Sans"/>
                <a:ea typeface="Open Sans"/>
                <a:cs typeface="Open Sans"/>
                <a:sym typeface="Open Sans"/>
              </a:defRPr>
            </a:lvl2pPr>
            <a:lvl3pPr lvl="2" marR="0" rtl="0" algn="ctr">
              <a:spcBef>
                <a:spcPts val="400"/>
              </a:spcBef>
              <a:spcAft>
                <a:spcPts val="0"/>
              </a:spcAft>
              <a:buClr>
                <a:srgbClr val="888888"/>
              </a:buClr>
              <a:buSzPts val="2000"/>
              <a:buFont typeface="Arial"/>
              <a:buNone/>
              <a:defRPr b="0" i="0" sz="2000" u="none" cap="none" strike="noStrike">
                <a:solidFill>
                  <a:srgbClr val="888888"/>
                </a:solidFill>
                <a:latin typeface="Open Sans"/>
                <a:ea typeface="Open Sans"/>
                <a:cs typeface="Open Sans"/>
                <a:sym typeface="Open Sans"/>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Open Sans"/>
                <a:ea typeface="Open Sans"/>
                <a:cs typeface="Open Sans"/>
                <a:sym typeface="Open Sans"/>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Open Sans"/>
                <a:ea typeface="Open Sans"/>
                <a:cs typeface="Open Sans"/>
                <a:sym typeface="Open Sans"/>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21" name="Google Shape;21;p2"/>
          <p:cNvCxnSpPr/>
          <p:nvPr/>
        </p:nvCxnSpPr>
        <p:spPr>
          <a:xfrm>
            <a:off x="457200" y="4963872"/>
            <a:ext cx="8229600" cy="0"/>
          </a:xfrm>
          <a:prstGeom prst="straightConnector1">
            <a:avLst/>
          </a:prstGeom>
          <a:noFill/>
          <a:ln cap="flat" cmpd="sng" w="1270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cxnSp>
        <p:nvCxnSpPr>
          <p:cNvPr id="22" name="Google Shape;22;p2"/>
          <p:cNvCxnSpPr/>
          <p:nvPr/>
        </p:nvCxnSpPr>
        <p:spPr>
          <a:xfrm>
            <a:off x="457200" y="1984939"/>
            <a:ext cx="8229600" cy="0"/>
          </a:xfrm>
          <a:prstGeom prst="straightConnector1">
            <a:avLst/>
          </a:prstGeom>
          <a:noFill/>
          <a:ln cap="flat" cmpd="sng" w="1270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cxnSp>
        <p:nvCxnSpPr>
          <p:cNvPr id="23" name="Google Shape;23;p2"/>
          <p:cNvCxnSpPr/>
          <p:nvPr/>
        </p:nvCxnSpPr>
        <p:spPr>
          <a:xfrm>
            <a:off x="457200" y="2137339"/>
            <a:ext cx="8229600" cy="0"/>
          </a:xfrm>
          <a:prstGeom prst="straightConnector1">
            <a:avLst/>
          </a:prstGeom>
          <a:noFill/>
          <a:ln cap="flat" cmpd="sng" w="28575">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cxnSp>
        <p:nvCxnSpPr>
          <p:cNvPr id="24" name="Google Shape;24;p2"/>
          <p:cNvCxnSpPr/>
          <p:nvPr/>
        </p:nvCxnSpPr>
        <p:spPr>
          <a:xfrm>
            <a:off x="457200" y="4807943"/>
            <a:ext cx="8229600" cy="0"/>
          </a:xfrm>
          <a:prstGeom prst="straightConnector1">
            <a:avLst/>
          </a:prstGeom>
          <a:noFill/>
          <a:ln cap="flat" cmpd="sng" w="28575">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cxnSp>
        <p:nvCxnSpPr>
          <p:cNvPr id="25" name="Google Shape;25;p2"/>
          <p:cNvCxnSpPr/>
          <p:nvPr/>
        </p:nvCxnSpPr>
        <p:spPr>
          <a:xfrm>
            <a:off x="1081214" y="3879061"/>
            <a:ext cx="582824" cy="0"/>
          </a:xfrm>
          <a:prstGeom prst="straightConnector1">
            <a:avLst/>
          </a:prstGeom>
          <a:noFill/>
          <a:ln cap="flat" cmpd="sng" w="127000">
            <a:solidFill>
              <a:schemeClr val="accent3"/>
            </a:solidFill>
            <a:prstDash val="solid"/>
            <a:round/>
            <a:headEnd len="sm" w="sm" type="none"/>
            <a:tailEnd len="sm" w="sm" type="none"/>
          </a:ln>
          <a:effectLst>
            <a:outerShdw blurRad="40000" rotWithShape="0" dir="5400000" dist="20000">
              <a:srgbClr val="000000">
                <a:alpha val="37647"/>
              </a:srgbClr>
            </a:outerShdw>
          </a:effectLst>
        </p:spPr>
      </p:cxnSp>
      <p:cxnSp>
        <p:nvCxnSpPr>
          <p:cNvPr id="26" name="Google Shape;26;p2"/>
          <p:cNvCxnSpPr/>
          <p:nvPr/>
        </p:nvCxnSpPr>
        <p:spPr>
          <a:xfrm>
            <a:off x="7480987" y="3870454"/>
            <a:ext cx="582824" cy="0"/>
          </a:xfrm>
          <a:prstGeom prst="straightConnector1">
            <a:avLst/>
          </a:prstGeom>
          <a:noFill/>
          <a:ln cap="flat" cmpd="sng" w="127000">
            <a:solidFill>
              <a:schemeClr val="accent3"/>
            </a:solidFill>
            <a:prstDash val="solid"/>
            <a:round/>
            <a:headEnd len="sm" w="sm" type="none"/>
            <a:tailEnd len="sm" w="sm" type="none"/>
          </a:ln>
          <a:effectLst>
            <a:outerShdw blurRad="40000" rotWithShape="0" dir="5400000" dist="20000">
              <a:srgbClr val="000000">
                <a:alpha val="37647"/>
              </a:srgbClr>
            </a:outerShdw>
          </a:effectLst>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27" name="Shape 27"/>
        <p:cNvGrpSpPr/>
        <p:nvPr/>
      </p:nvGrpSpPr>
      <p:grpSpPr>
        <a:xfrm>
          <a:off x="0" y="0"/>
          <a:ext cx="0" cy="0"/>
          <a:chOff x="0" y="0"/>
          <a:chExt cx="0" cy="0"/>
        </a:xfrm>
      </p:grpSpPr>
      <p:sp>
        <p:nvSpPr>
          <p:cNvPr id="28" name="Google Shape;2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55600" lvl="1" marL="9144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2pPr>
            <a:lvl3pPr indent="-355600" lvl="2" marL="13716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3pPr>
            <a:lvl4pPr indent="-355600" lvl="3" marL="18288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4pPr>
            <a:lvl5pPr indent="-355600" lvl="4" marL="22860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0" name="Google Shape;3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33" name="Google Shape;33;p3"/>
          <p:cNvCxnSpPr/>
          <p:nvPr/>
        </p:nvCxnSpPr>
        <p:spPr>
          <a:xfrm>
            <a:off x="0" y="6825153"/>
            <a:ext cx="9144000" cy="0"/>
          </a:xfrm>
          <a:prstGeom prst="straightConnector1">
            <a:avLst/>
          </a:prstGeom>
          <a:noFill/>
          <a:ln cap="flat" cmpd="sng" w="1270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34" name="Shape 34"/>
        <p:cNvGrpSpPr/>
        <p:nvPr/>
      </p:nvGrpSpPr>
      <p:grpSpPr>
        <a:xfrm>
          <a:off x="0" y="0"/>
          <a:ext cx="0" cy="0"/>
          <a:chOff x="0" y="0"/>
          <a:chExt cx="0" cy="0"/>
        </a:xfrm>
      </p:grpSpPr>
      <p:sp>
        <p:nvSpPr>
          <p:cNvPr id="35" name="Google Shape;35;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6" name="Google Shape;3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39" name="Shape 39"/>
        <p:cNvGrpSpPr/>
        <p:nvPr/>
      </p:nvGrpSpPr>
      <p:grpSpPr>
        <a:xfrm>
          <a:off x="0" y="0"/>
          <a:ext cx="0" cy="0"/>
          <a:chOff x="0" y="0"/>
          <a:chExt cx="0" cy="0"/>
        </a:xfrm>
      </p:grpSpPr>
      <p:sp>
        <p:nvSpPr>
          <p:cNvPr id="40" name="Google Shape;4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p:cSld name="Section Header">
    <p:spTree>
      <p:nvGrpSpPr>
        <p:cNvPr id="43" name="Shape 43"/>
        <p:cNvGrpSpPr/>
        <p:nvPr/>
      </p:nvGrpSpPr>
      <p:grpSpPr>
        <a:xfrm>
          <a:off x="0" y="0"/>
          <a:ext cx="0" cy="0"/>
          <a:chOff x="0" y="0"/>
          <a:chExt cx="0" cy="0"/>
        </a:xfrm>
      </p:grpSpPr>
      <p:sp>
        <p:nvSpPr>
          <p:cNvPr id="44" name="Google Shape;44;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ctr">
              <a:spcBef>
                <a:spcPts val="2400"/>
              </a:spcBef>
              <a:spcAft>
                <a:spcPts val="0"/>
              </a:spcAft>
              <a:buClr>
                <a:schemeClr val="accent2"/>
              </a:buClr>
              <a:buSzPts val="12000"/>
              <a:buFont typeface="Arial"/>
              <a:buNone/>
              <a:defRPr b="1" i="0" sz="12000" u="none" cap="none" strike="noStrike">
                <a:solidFill>
                  <a:schemeClr val="accent2"/>
                </a:solidFill>
                <a:latin typeface="PT Sans Narrow"/>
                <a:ea typeface="PT Sans Narrow"/>
                <a:cs typeface="PT Sans Narrow"/>
                <a:sym typeface="PT Sans Narrow"/>
              </a:defRPr>
            </a:lvl1pPr>
            <a:lvl2pPr indent="-228600" lvl="1" marL="914400" marR="0" rtl="0" algn="l">
              <a:spcBef>
                <a:spcPts val="360"/>
              </a:spcBef>
              <a:spcAft>
                <a:spcPts val="0"/>
              </a:spcAft>
              <a:buClr>
                <a:srgbClr val="888888"/>
              </a:buClr>
              <a:buSzPts val="1800"/>
              <a:buFont typeface="Arial"/>
              <a:buNone/>
              <a:defRPr b="0" i="0" sz="1800" u="none" cap="none" strike="noStrike">
                <a:solidFill>
                  <a:srgbClr val="888888"/>
                </a:solidFill>
                <a:latin typeface="Open Sans"/>
                <a:ea typeface="Open Sans"/>
                <a:cs typeface="Open Sans"/>
                <a:sym typeface="Open Sans"/>
              </a:defRPr>
            </a:lvl2pPr>
            <a:lvl3pPr indent="-228600" lvl="2" marL="1371600" marR="0" rtl="0" algn="l">
              <a:spcBef>
                <a:spcPts val="320"/>
              </a:spcBef>
              <a:spcAft>
                <a:spcPts val="0"/>
              </a:spcAft>
              <a:buClr>
                <a:srgbClr val="888888"/>
              </a:buClr>
              <a:buSzPts val="1600"/>
              <a:buFont typeface="Arial"/>
              <a:buNone/>
              <a:defRPr b="0" i="0" sz="1600" u="none" cap="none" strike="noStrike">
                <a:solidFill>
                  <a:srgbClr val="888888"/>
                </a:solidFill>
                <a:latin typeface="Open Sans"/>
                <a:ea typeface="Open Sans"/>
                <a:cs typeface="Open Sans"/>
                <a:sym typeface="Open Sans"/>
              </a:defRPr>
            </a:lvl3pPr>
            <a:lvl4pPr indent="-228600" lvl="3" marL="1828800" marR="0" rtl="0" algn="l">
              <a:spcBef>
                <a:spcPts val="280"/>
              </a:spcBef>
              <a:spcAft>
                <a:spcPts val="0"/>
              </a:spcAft>
              <a:buClr>
                <a:srgbClr val="888888"/>
              </a:buClr>
              <a:buSzPts val="1400"/>
              <a:buFont typeface="Arial"/>
              <a:buNone/>
              <a:defRPr b="0" i="0" sz="1400" u="none" cap="none" strike="noStrike">
                <a:solidFill>
                  <a:srgbClr val="888888"/>
                </a:solidFill>
                <a:latin typeface="Open Sans"/>
                <a:ea typeface="Open Sans"/>
                <a:cs typeface="Open Sans"/>
                <a:sym typeface="Open Sans"/>
              </a:defRPr>
            </a:lvl4pPr>
            <a:lvl5pPr indent="-228600" lvl="4" marL="2286000" marR="0" rtl="0" algn="l">
              <a:spcBef>
                <a:spcPts val="280"/>
              </a:spcBef>
              <a:spcAft>
                <a:spcPts val="0"/>
              </a:spcAft>
              <a:buClr>
                <a:srgbClr val="888888"/>
              </a:buClr>
              <a:buSzPts val="1400"/>
              <a:buFont typeface="Arial"/>
              <a:buNone/>
              <a:defRPr b="0" i="0" sz="1400" u="none" cap="none" strike="noStrike">
                <a:solidFill>
                  <a:srgbClr val="888888"/>
                </a:solidFill>
                <a:latin typeface="Open Sans"/>
                <a:ea typeface="Open Sans"/>
                <a:cs typeface="Open Sans"/>
                <a:sym typeface="Open Sans"/>
              </a:defRPr>
            </a:lvl5pPr>
            <a:lvl6pPr indent="-228600" lvl="5" marL="27432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45" name="Google Shape;45;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48" name="Shape 48"/>
        <p:cNvGrpSpPr/>
        <p:nvPr/>
      </p:nvGrpSpPr>
      <p:grpSpPr>
        <a:xfrm>
          <a:off x="0" y="0"/>
          <a:ext cx="0" cy="0"/>
          <a:chOff x="0" y="0"/>
          <a:chExt cx="0" cy="0"/>
        </a:xfrm>
      </p:grpSpPr>
      <p:sp>
        <p:nvSpPr>
          <p:cNvPr id="49" name="Google Shape;49;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0" name="Google Shape;50;p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81000" lvl="1" marL="914400" marR="0" rtl="0" algn="l">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2pPr>
            <a:lvl3pPr indent="-355600" lvl="2" marL="13716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3pPr>
            <a:lvl4pPr indent="-342900" lvl="3" marL="1828800" marR="0" rtl="0" algn="l">
              <a:spcBef>
                <a:spcPts val="360"/>
              </a:spcBef>
              <a:spcAft>
                <a:spcPts val="0"/>
              </a:spcAft>
              <a:buClr>
                <a:srgbClr val="695D46"/>
              </a:buClr>
              <a:buSzPts val="1800"/>
              <a:buFont typeface="Arial"/>
              <a:buChar char="–"/>
              <a:defRPr b="0" i="0" sz="1800" u="none" cap="none" strike="noStrike">
                <a:solidFill>
                  <a:srgbClr val="695D46"/>
                </a:solidFill>
                <a:latin typeface="Open Sans"/>
                <a:ea typeface="Open Sans"/>
                <a:cs typeface="Open Sans"/>
                <a:sym typeface="Open Sans"/>
              </a:defRPr>
            </a:lvl4pPr>
            <a:lvl5pPr indent="-342900" lvl="4" marL="2286000" marR="0" rtl="0" algn="l">
              <a:spcBef>
                <a:spcPts val="360"/>
              </a:spcBef>
              <a:spcAft>
                <a:spcPts val="0"/>
              </a:spcAft>
              <a:buClr>
                <a:srgbClr val="695D46"/>
              </a:buClr>
              <a:buSzPts val="1800"/>
              <a:buFont typeface="Arial"/>
              <a:buChar char="»"/>
              <a:defRPr b="0" i="0" sz="1800" u="none" cap="none" strike="noStrike">
                <a:solidFill>
                  <a:srgbClr val="695D46"/>
                </a:solidFill>
                <a:latin typeface="Open Sans"/>
                <a:ea typeface="Open Sans"/>
                <a:cs typeface="Open Sans"/>
                <a:sym typeface="Open Sans"/>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1" name="Google Shape;51;p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81000" lvl="1" marL="914400" marR="0" rtl="0" algn="l">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2pPr>
            <a:lvl3pPr indent="-355600" lvl="2" marL="13716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3pPr>
            <a:lvl4pPr indent="-342900" lvl="3" marL="1828800" marR="0" rtl="0" algn="l">
              <a:spcBef>
                <a:spcPts val="360"/>
              </a:spcBef>
              <a:spcAft>
                <a:spcPts val="0"/>
              </a:spcAft>
              <a:buClr>
                <a:srgbClr val="695D46"/>
              </a:buClr>
              <a:buSzPts val="1800"/>
              <a:buFont typeface="Arial"/>
              <a:buChar char="–"/>
              <a:defRPr b="0" i="0" sz="1800" u="none" cap="none" strike="noStrike">
                <a:solidFill>
                  <a:srgbClr val="695D46"/>
                </a:solidFill>
                <a:latin typeface="Open Sans"/>
                <a:ea typeface="Open Sans"/>
                <a:cs typeface="Open Sans"/>
                <a:sym typeface="Open Sans"/>
              </a:defRPr>
            </a:lvl4pPr>
            <a:lvl5pPr indent="-342900" lvl="4" marL="2286000" marR="0" rtl="0" algn="l">
              <a:spcBef>
                <a:spcPts val="360"/>
              </a:spcBef>
              <a:spcAft>
                <a:spcPts val="0"/>
              </a:spcAft>
              <a:buClr>
                <a:srgbClr val="695D46"/>
              </a:buClr>
              <a:buSzPts val="1800"/>
              <a:buFont typeface="Arial"/>
              <a:buChar char="»"/>
              <a:defRPr b="0" i="0" sz="1800" u="none" cap="none" strike="noStrike">
                <a:solidFill>
                  <a:srgbClr val="695D46"/>
                </a:solidFill>
                <a:latin typeface="Open Sans"/>
                <a:ea typeface="Open Sans"/>
                <a:cs typeface="Open Sans"/>
                <a:sym typeface="Open Sans"/>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55" name="Shape 55"/>
        <p:cNvGrpSpPr/>
        <p:nvPr/>
      </p:nvGrpSpPr>
      <p:grpSpPr>
        <a:xfrm>
          <a:off x="0" y="0"/>
          <a:ext cx="0" cy="0"/>
          <a:chOff x="0" y="0"/>
          <a:chExt cx="0" cy="0"/>
        </a:xfrm>
      </p:grpSpPr>
      <p:sp>
        <p:nvSpPr>
          <p:cNvPr id="56" name="Google Shape;5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7" name="Google Shape;57;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rgbClr val="695D46"/>
              </a:buClr>
              <a:buSzPts val="2400"/>
              <a:buFont typeface="Arial"/>
              <a:buNone/>
              <a:defRPr b="1" i="0" sz="2400" u="none" cap="none" strike="noStrike">
                <a:solidFill>
                  <a:srgbClr val="695D46"/>
                </a:solidFill>
                <a:latin typeface="Open Sans"/>
                <a:ea typeface="Open Sans"/>
                <a:cs typeface="Open Sans"/>
                <a:sym typeface="Open Sans"/>
              </a:defRPr>
            </a:lvl1pPr>
            <a:lvl2pPr indent="-228600" lvl="1" marL="914400" marR="0" rtl="0" algn="l">
              <a:spcBef>
                <a:spcPts val="400"/>
              </a:spcBef>
              <a:spcAft>
                <a:spcPts val="0"/>
              </a:spcAft>
              <a:buClr>
                <a:srgbClr val="695D46"/>
              </a:buClr>
              <a:buSzPts val="2000"/>
              <a:buFont typeface="Arial"/>
              <a:buNone/>
              <a:defRPr b="1" i="0" sz="2000" u="none" cap="none" strike="noStrike">
                <a:solidFill>
                  <a:srgbClr val="695D46"/>
                </a:solidFill>
                <a:latin typeface="Open Sans"/>
                <a:ea typeface="Open Sans"/>
                <a:cs typeface="Open Sans"/>
                <a:sym typeface="Open Sans"/>
              </a:defRPr>
            </a:lvl2pPr>
            <a:lvl3pPr indent="-228600" lvl="2" marL="1371600" marR="0" rtl="0" algn="l">
              <a:spcBef>
                <a:spcPts val="360"/>
              </a:spcBef>
              <a:spcAft>
                <a:spcPts val="0"/>
              </a:spcAft>
              <a:buClr>
                <a:srgbClr val="695D46"/>
              </a:buClr>
              <a:buSzPts val="1800"/>
              <a:buFont typeface="Arial"/>
              <a:buNone/>
              <a:defRPr b="1" i="0" sz="1800" u="none" cap="none" strike="noStrike">
                <a:solidFill>
                  <a:srgbClr val="695D46"/>
                </a:solidFill>
                <a:latin typeface="Open Sans"/>
                <a:ea typeface="Open Sans"/>
                <a:cs typeface="Open Sans"/>
                <a:sym typeface="Open Sans"/>
              </a:defRPr>
            </a:lvl3pPr>
            <a:lvl4pPr indent="-228600" lvl="3" marL="1828800" marR="0" rtl="0" algn="l">
              <a:spcBef>
                <a:spcPts val="320"/>
              </a:spcBef>
              <a:spcAft>
                <a:spcPts val="0"/>
              </a:spcAft>
              <a:buClr>
                <a:srgbClr val="695D46"/>
              </a:buClr>
              <a:buSzPts val="1600"/>
              <a:buFont typeface="Arial"/>
              <a:buNone/>
              <a:defRPr b="1" i="0" sz="1600" u="none" cap="none" strike="noStrike">
                <a:solidFill>
                  <a:srgbClr val="695D46"/>
                </a:solidFill>
                <a:latin typeface="Open Sans"/>
                <a:ea typeface="Open Sans"/>
                <a:cs typeface="Open Sans"/>
                <a:sym typeface="Open Sans"/>
              </a:defRPr>
            </a:lvl4pPr>
            <a:lvl5pPr indent="-228600" lvl="4" marL="2286000" marR="0" rtl="0" algn="l">
              <a:spcBef>
                <a:spcPts val="320"/>
              </a:spcBef>
              <a:spcAft>
                <a:spcPts val="0"/>
              </a:spcAft>
              <a:buClr>
                <a:srgbClr val="695D46"/>
              </a:buClr>
              <a:buSzPts val="1600"/>
              <a:buFont typeface="Arial"/>
              <a:buNone/>
              <a:defRPr b="1" i="0" sz="1600" u="none" cap="none" strike="noStrike">
                <a:solidFill>
                  <a:srgbClr val="695D46"/>
                </a:solidFill>
                <a:latin typeface="Open Sans"/>
                <a:ea typeface="Open Sans"/>
                <a:cs typeface="Open Sans"/>
                <a:sym typeface="Open Sans"/>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8" name="Google Shape;58;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55600" lvl="1" marL="9144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2pPr>
            <a:lvl3pPr indent="-342900" lvl="2" marL="1371600" marR="0" rtl="0" algn="l">
              <a:spcBef>
                <a:spcPts val="360"/>
              </a:spcBef>
              <a:spcAft>
                <a:spcPts val="0"/>
              </a:spcAft>
              <a:buClr>
                <a:srgbClr val="695D46"/>
              </a:buClr>
              <a:buSzPts val="1800"/>
              <a:buFont typeface="Arial"/>
              <a:buChar char="•"/>
              <a:defRPr b="0" i="0" sz="1800" u="none" cap="none" strike="noStrike">
                <a:solidFill>
                  <a:srgbClr val="695D46"/>
                </a:solidFill>
                <a:latin typeface="Open Sans"/>
                <a:ea typeface="Open Sans"/>
                <a:cs typeface="Open Sans"/>
                <a:sym typeface="Open Sans"/>
              </a:defRPr>
            </a:lvl3pPr>
            <a:lvl4pPr indent="-330200" lvl="3" marL="1828800" marR="0" rtl="0" algn="l">
              <a:spcBef>
                <a:spcPts val="320"/>
              </a:spcBef>
              <a:spcAft>
                <a:spcPts val="0"/>
              </a:spcAft>
              <a:buClr>
                <a:srgbClr val="695D46"/>
              </a:buClr>
              <a:buSzPts val="1600"/>
              <a:buFont typeface="Arial"/>
              <a:buChar char="–"/>
              <a:defRPr b="0" i="0" sz="1600" u="none" cap="none" strike="noStrike">
                <a:solidFill>
                  <a:srgbClr val="695D46"/>
                </a:solidFill>
                <a:latin typeface="Open Sans"/>
                <a:ea typeface="Open Sans"/>
                <a:cs typeface="Open Sans"/>
                <a:sym typeface="Open Sans"/>
              </a:defRPr>
            </a:lvl4pPr>
            <a:lvl5pPr indent="-330200" lvl="4" marL="2286000" marR="0" rtl="0" algn="l">
              <a:spcBef>
                <a:spcPts val="320"/>
              </a:spcBef>
              <a:spcAft>
                <a:spcPts val="0"/>
              </a:spcAft>
              <a:buClr>
                <a:srgbClr val="695D46"/>
              </a:buClr>
              <a:buSzPts val="1600"/>
              <a:buFont typeface="Arial"/>
              <a:buChar char="»"/>
              <a:defRPr b="0" i="0" sz="1600" u="none" cap="none" strike="noStrike">
                <a:solidFill>
                  <a:srgbClr val="695D46"/>
                </a:solidFill>
                <a:latin typeface="Open Sans"/>
                <a:ea typeface="Open Sans"/>
                <a:cs typeface="Open Sans"/>
                <a:sym typeface="Open Sans"/>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59" name="Google Shape;59;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rgbClr val="695D46"/>
              </a:buClr>
              <a:buSzPts val="2400"/>
              <a:buFont typeface="Arial"/>
              <a:buNone/>
              <a:defRPr b="1" i="0" sz="2400" u="none" cap="none" strike="noStrike">
                <a:solidFill>
                  <a:srgbClr val="695D46"/>
                </a:solidFill>
                <a:latin typeface="Open Sans"/>
                <a:ea typeface="Open Sans"/>
                <a:cs typeface="Open Sans"/>
                <a:sym typeface="Open Sans"/>
              </a:defRPr>
            </a:lvl1pPr>
            <a:lvl2pPr indent="-228600" lvl="1" marL="914400" marR="0" rtl="0" algn="l">
              <a:spcBef>
                <a:spcPts val="400"/>
              </a:spcBef>
              <a:spcAft>
                <a:spcPts val="0"/>
              </a:spcAft>
              <a:buClr>
                <a:srgbClr val="695D46"/>
              </a:buClr>
              <a:buSzPts val="2000"/>
              <a:buFont typeface="Arial"/>
              <a:buNone/>
              <a:defRPr b="1" i="0" sz="2000" u="none" cap="none" strike="noStrike">
                <a:solidFill>
                  <a:srgbClr val="695D46"/>
                </a:solidFill>
                <a:latin typeface="Open Sans"/>
                <a:ea typeface="Open Sans"/>
                <a:cs typeface="Open Sans"/>
                <a:sym typeface="Open Sans"/>
              </a:defRPr>
            </a:lvl2pPr>
            <a:lvl3pPr indent="-228600" lvl="2" marL="1371600" marR="0" rtl="0" algn="l">
              <a:spcBef>
                <a:spcPts val="360"/>
              </a:spcBef>
              <a:spcAft>
                <a:spcPts val="0"/>
              </a:spcAft>
              <a:buClr>
                <a:srgbClr val="695D46"/>
              </a:buClr>
              <a:buSzPts val="1800"/>
              <a:buFont typeface="Arial"/>
              <a:buNone/>
              <a:defRPr b="1" i="0" sz="1800" u="none" cap="none" strike="noStrike">
                <a:solidFill>
                  <a:srgbClr val="695D46"/>
                </a:solidFill>
                <a:latin typeface="Open Sans"/>
                <a:ea typeface="Open Sans"/>
                <a:cs typeface="Open Sans"/>
                <a:sym typeface="Open Sans"/>
              </a:defRPr>
            </a:lvl3pPr>
            <a:lvl4pPr indent="-228600" lvl="3" marL="1828800" marR="0" rtl="0" algn="l">
              <a:spcBef>
                <a:spcPts val="320"/>
              </a:spcBef>
              <a:spcAft>
                <a:spcPts val="0"/>
              </a:spcAft>
              <a:buClr>
                <a:srgbClr val="695D46"/>
              </a:buClr>
              <a:buSzPts val="1600"/>
              <a:buFont typeface="Arial"/>
              <a:buNone/>
              <a:defRPr b="1" i="0" sz="1600" u="none" cap="none" strike="noStrike">
                <a:solidFill>
                  <a:srgbClr val="695D46"/>
                </a:solidFill>
                <a:latin typeface="Open Sans"/>
                <a:ea typeface="Open Sans"/>
                <a:cs typeface="Open Sans"/>
                <a:sym typeface="Open Sans"/>
              </a:defRPr>
            </a:lvl4pPr>
            <a:lvl5pPr indent="-228600" lvl="4" marL="2286000" marR="0" rtl="0" algn="l">
              <a:spcBef>
                <a:spcPts val="320"/>
              </a:spcBef>
              <a:spcAft>
                <a:spcPts val="0"/>
              </a:spcAft>
              <a:buClr>
                <a:srgbClr val="695D46"/>
              </a:buClr>
              <a:buSzPts val="1600"/>
              <a:buFont typeface="Arial"/>
              <a:buNone/>
              <a:defRPr b="1" i="0" sz="1600" u="none" cap="none" strike="noStrike">
                <a:solidFill>
                  <a:srgbClr val="695D46"/>
                </a:solidFill>
                <a:latin typeface="Open Sans"/>
                <a:ea typeface="Open Sans"/>
                <a:cs typeface="Open Sans"/>
                <a:sym typeface="Open Sans"/>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60" name="Google Shape;60;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55600" lvl="1" marL="9144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2pPr>
            <a:lvl3pPr indent="-342900" lvl="2" marL="1371600" marR="0" rtl="0" algn="l">
              <a:spcBef>
                <a:spcPts val="360"/>
              </a:spcBef>
              <a:spcAft>
                <a:spcPts val="0"/>
              </a:spcAft>
              <a:buClr>
                <a:srgbClr val="695D46"/>
              </a:buClr>
              <a:buSzPts val="1800"/>
              <a:buFont typeface="Arial"/>
              <a:buChar char="•"/>
              <a:defRPr b="0" i="0" sz="1800" u="none" cap="none" strike="noStrike">
                <a:solidFill>
                  <a:srgbClr val="695D46"/>
                </a:solidFill>
                <a:latin typeface="Open Sans"/>
                <a:ea typeface="Open Sans"/>
                <a:cs typeface="Open Sans"/>
                <a:sym typeface="Open Sans"/>
              </a:defRPr>
            </a:lvl3pPr>
            <a:lvl4pPr indent="-330200" lvl="3" marL="1828800" marR="0" rtl="0" algn="l">
              <a:spcBef>
                <a:spcPts val="320"/>
              </a:spcBef>
              <a:spcAft>
                <a:spcPts val="0"/>
              </a:spcAft>
              <a:buClr>
                <a:srgbClr val="695D46"/>
              </a:buClr>
              <a:buSzPts val="1600"/>
              <a:buFont typeface="Arial"/>
              <a:buChar char="–"/>
              <a:defRPr b="0" i="0" sz="1600" u="none" cap="none" strike="noStrike">
                <a:solidFill>
                  <a:srgbClr val="695D46"/>
                </a:solidFill>
                <a:latin typeface="Open Sans"/>
                <a:ea typeface="Open Sans"/>
                <a:cs typeface="Open Sans"/>
                <a:sym typeface="Open Sans"/>
              </a:defRPr>
            </a:lvl4pPr>
            <a:lvl5pPr indent="-330200" lvl="4" marL="2286000" marR="0" rtl="0" algn="l">
              <a:spcBef>
                <a:spcPts val="320"/>
              </a:spcBef>
              <a:spcAft>
                <a:spcPts val="0"/>
              </a:spcAft>
              <a:buClr>
                <a:srgbClr val="695D46"/>
              </a:buClr>
              <a:buSzPts val="1600"/>
              <a:buFont typeface="Arial"/>
              <a:buChar char="»"/>
              <a:defRPr b="0" i="0" sz="1600" u="none" cap="none" strike="noStrike">
                <a:solidFill>
                  <a:srgbClr val="695D46"/>
                </a:solidFill>
                <a:latin typeface="Open Sans"/>
                <a:ea typeface="Open Sans"/>
                <a:cs typeface="Open Sans"/>
                <a:sym typeface="Open Sans"/>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61" name="Google Shape;6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64" name="Shape 64"/>
        <p:cNvGrpSpPr/>
        <p:nvPr/>
      </p:nvGrpSpPr>
      <p:grpSpPr>
        <a:xfrm>
          <a:off x="0" y="0"/>
          <a:ext cx="0" cy="0"/>
          <a:chOff x="0" y="0"/>
          <a:chExt cx="0" cy="0"/>
        </a:xfrm>
      </p:grpSpPr>
      <p:sp>
        <p:nvSpPr>
          <p:cNvPr id="65" name="Google Shape;6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rgbClr val="EF6C00"/>
              </a:buClr>
              <a:buSzPts val="2000"/>
              <a:buFont typeface="PT Sans Narrow"/>
              <a:buNone/>
              <a:defRPr b="1" i="0" sz="2000" u="none" cap="none" strike="noStrike">
                <a:solidFill>
                  <a:srgbClr val="EF6C00"/>
                </a:solidFill>
                <a:latin typeface="PT Sans Narrow"/>
                <a:ea typeface="PT Sans Narrow"/>
                <a:cs typeface="PT Sans Narrow"/>
                <a:sym typeface="PT Sans Narrow"/>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6" name="Google Shape;6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rgbClr val="695D46"/>
              </a:buClr>
              <a:buSzPts val="3200"/>
              <a:buFont typeface="Arial"/>
              <a:buChar char="•"/>
              <a:defRPr b="0" i="0" sz="3200" u="none" cap="none" strike="noStrike">
                <a:solidFill>
                  <a:srgbClr val="695D46"/>
                </a:solidFill>
                <a:latin typeface="Open Sans"/>
                <a:ea typeface="Open Sans"/>
                <a:cs typeface="Open Sans"/>
                <a:sym typeface="Open Sans"/>
              </a:defRPr>
            </a:lvl1pPr>
            <a:lvl2pPr indent="-406400" lvl="1" marL="914400" marR="0" rtl="0" algn="l">
              <a:spcBef>
                <a:spcPts val="560"/>
              </a:spcBef>
              <a:spcAft>
                <a:spcPts val="0"/>
              </a:spcAft>
              <a:buClr>
                <a:srgbClr val="695D46"/>
              </a:buClr>
              <a:buSzPts val="2800"/>
              <a:buFont typeface="Arial"/>
              <a:buChar char="–"/>
              <a:defRPr b="0" i="0" sz="2800" u="none" cap="none" strike="noStrike">
                <a:solidFill>
                  <a:srgbClr val="695D46"/>
                </a:solidFill>
                <a:latin typeface="Open Sans"/>
                <a:ea typeface="Open Sans"/>
                <a:cs typeface="Open Sans"/>
                <a:sym typeface="Open Sans"/>
              </a:defRPr>
            </a:lvl2pPr>
            <a:lvl3pPr indent="-381000" lvl="2" marL="1371600" marR="0" rtl="0" algn="l">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3pPr>
            <a:lvl4pPr indent="-355600" lvl="3" marL="18288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4pPr>
            <a:lvl5pPr indent="-355600" lvl="4" marL="22860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rgbClr val="695D46"/>
              </a:buClr>
              <a:buSzPts val="1400"/>
              <a:buFont typeface="Arial"/>
              <a:buNone/>
              <a:defRPr b="0" i="0" sz="1400" u="none" cap="none" strike="noStrike">
                <a:solidFill>
                  <a:srgbClr val="695D46"/>
                </a:solidFill>
                <a:latin typeface="Open Sans"/>
                <a:ea typeface="Open Sans"/>
                <a:cs typeface="Open Sans"/>
                <a:sym typeface="Open Sans"/>
              </a:defRPr>
            </a:lvl1pPr>
            <a:lvl2pPr indent="-228600" lvl="1" marL="914400" marR="0" rtl="0" algn="l">
              <a:spcBef>
                <a:spcPts val="240"/>
              </a:spcBef>
              <a:spcAft>
                <a:spcPts val="0"/>
              </a:spcAft>
              <a:buClr>
                <a:srgbClr val="695D46"/>
              </a:buClr>
              <a:buSzPts val="1200"/>
              <a:buFont typeface="Arial"/>
              <a:buNone/>
              <a:defRPr b="0" i="0" sz="1200" u="none" cap="none" strike="noStrike">
                <a:solidFill>
                  <a:srgbClr val="695D46"/>
                </a:solidFill>
                <a:latin typeface="Open Sans"/>
                <a:ea typeface="Open Sans"/>
                <a:cs typeface="Open Sans"/>
                <a:sym typeface="Open Sans"/>
              </a:defRPr>
            </a:lvl2pPr>
            <a:lvl3pPr indent="-228600" lvl="2" marL="1371600" marR="0" rtl="0" algn="l">
              <a:spcBef>
                <a:spcPts val="200"/>
              </a:spcBef>
              <a:spcAft>
                <a:spcPts val="0"/>
              </a:spcAft>
              <a:buClr>
                <a:srgbClr val="695D46"/>
              </a:buClr>
              <a:buSzPts val="1000"/>
              <a:buFont typeface="Arial"/>
              <a:buNone/>
              <a:defRPr b="0" i="0" sz="1000" u="none" cap="none" strike="noStrike">
                <a:solidFill>
                  <a:srgbClr val="695D46"/>
                </a:solidFill>
                <a:latin typeface="Open Sans"/>
                <a:ea typeface="Open Sans"/>
                <a:cs typeface="Open Sans"/>
                <a:sym typeface="Open Sans"/>
              </a:defRPr>
            </a:lvl3pPr>
            <a:lvl4pPr indent="-228600" lvl="3" marL="1828800" marR="0" rtl="0" algn="l">
              <a:spcBef>
                <a:spcPts val="180"/>
              </a:spcBef>
              <a:spcAft>
                <a:spcPts val="0"/>
              </a:spcAft>
              <a:buClr>
                <a:srgbClr val="695D46"/>
              </a:buClr>
              <a:buSzPts val="900"/>
              <a:buFont typeface="Arial"/>
              <a:buNone/>
              <a:defRPr b="0" i="0" sz="900" u="none" cap="none" strike="noStrike">
                <a:solidFill>
                  <a:srgbClr val="695D46"/>
                </a:solidFill>
                <a:latin typeface="Open Sans"/>
                <a:ea typeface="Open Sans"/>
                <a:cs typeface="Open Sans"/>
                <a:sym typeface="Open Sans"/>
              </a:defRPr>
            </a:lvl4pPr>
            <a:lvl5pPr indent="-228600" lvl="4" marL="2286000" marR="0" rtl="0" algn="l">
              <a:spcBef>
                <a:spcPts val="180"/>
              </a:spcBef>
              <a:spcAft>
                <a:spcPts val="0"/>
              </a:spcAft>
              <a:buClr>
                <a:srgbClr val="695D46"/>
              </a:buClr>
              <a:buSzPts val="900"/>
              <a:buFont typeface="Arial"/>
              <a:buNone/>
              <a:defRPr b="0" i="0" sz="900" u="none" cap="none" strike="noStrike">
                <a:solidFill>
                  <a:srgbClr val="695D46"/>
                </a:solidFill>
                <a:latin typeface="Open Sans"/>
                <a:ea typeface="Open Sans"/>
                <a:cs typeface="Open Sans"/>
                <a:sym typeface="Open Sans"/>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68" name="Google Shape;6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rgbClr val="EF6C00"/>
              </a:buClr>
              <a:buSzPts val="2000"/>
              <a:buFont typeface="PT Sans Narrow"/>
              <a:buNone/>
              <a:defRPr b="1" i="0" sz="2000" u="none" cap="none" strike="noStrike">
                <a:solidFill>
                  <a:srgbClr val="EF6C00"/>
                </a:solidFill>
                <a:latin typeface="PT Sans Narrow"/>
                <a:ea typeface="PT Sans Narrow"/>
                <a:cs typeface="PT Sans Narrow"/>
                <a:sym typeface="PT Sans Narrow"/>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10"/>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rgbClr val="695D46"/>
              </a:buClr>
              <a:buSzPts val="3200"/>
              <a:buFont typeface="Arial"/>
              <a:buNone/>
              <a:defRPr b="0" i="0" sz="3200" u="none" cap="none" strike="noStrike">
                <a:solidFill>
                  <a:srgbClr val="695D46"/>
                </a:solidFill>
                <a:latin typeface="Open Sans"/>
                <a:ea typeface="Open Sans"/>
                <a:cs typeface="Open Sans"/>
                <a:sym typeface="Open Sans"/>
              </a:defRPr>
            </a:lvl1pPr>
            <a:lvl2pPr lvl="1" marR="0" rtl="0" algn="l">
              <a:spcBef>
                <a:spcPts val="560"/>
              </a:spcBef>
              <a:spcAft>
                <a:spcPts val="0"/>
              </a:spcAft>
              <a:buClr>
                <a:srgbClr val="695D46"/>
              </a:buClr>
              <a:buSzPts val="2800"/>
              <a:buFont typeface="Arial"/>
              <a:buNone/>
              <a:defRPr b="0" i="0" sz="2800" u="none" cap="none" strike="noStrike">
                <a:solidFill>
                  <a:srgbClr val="695D46"/>
                </a:solidFill>
                <a:latin typeface="Open Sans"/>
                <a:ea typeface="Open Sans"/>
                <a:cs typeface="Open Sans"/>
                <a:sym typeface="Open Sans"/>
              </a:defRPr>
            </a:lvl2pPr>
            <a:lvl3pPr lvl="2" marR="0" rtl="0" algn="l">
              <a:spcBef>
                <a:spcPts val="480"/>
              </a:spcBef>
              <a:spcAft>
                <a:spcPts val="0"/>
              </a:spcAft>
              <a:buClr>
                <a:srgbClr val="695D46"/>
              </a:buClr>
              <a:buSzPts val="2400"/>
              <a:buFont typeface="Arial"/>
              <a:buNone/>
              <a:defRPr b="0" i="0" sz="2400" u="none" cap="none" strike="noStrike">
                <a:solidFill>
                  <a:srgbClr val="695D46"/>
                </a:solidFill>
                <a:latin typeface="Open Sans"/>
                <a:ea typeface="Open Sans"/>
                <a:cs typeface="Open Sans"/>
                <a:sym typeface="Open Sans"/>
              </a:defRPr>
            </a:lvl3pPr>
            <a:lvl4pPr lvl="3" marR="0" rtl="0" algn="l">
              <a:spcBef>
                <a:spcPts val="400"/>
              </a:spcBef>
              <a:spcAft>
                <a:spcPts val="0"/>
              </a:spcAft>
              <a:buClr>
                <a:srgbClr val="695D46"/>
              </a:buClr>
              <a:buSzPts val="2000"/>
              <a:buFont typeface="Arial"/>
              <a:buNone/>
              <a:defRPr b="0" i="0" sz="2000" u="none" cap="none" strike="noStrike">
                <a:solidFill>
                  <a:srgbClr val="695D46"/>
                </a:solidFill>
                <a:latin typeface="Open Sans"/>
                <a:ea typeface="Open Sans"/>
                <a:cs typeface="Open Sans"/>
                <a:sym typeface="Open Sans"/>
              </a:defRPr>
            </a:lvl4pPr>
            <a:lvl5pPr lvl="4" marR="0" rtl="0" algn="l">
              <a:spcBef>
                <a:spcPts val="400"/>
              </a:spcBef>
              <a:spcAft>
                <a:spcPts val="0"/>
              </a:spcAft>
              <a:buClr>
                <a:srgbClr val="695D46"/>
              </a:buClr>
              <a:buSzPts val="2000"/>
              <a:buFont typeface="Arial"/>
              <a:buNone/>
              <a:defRPr b="0" i="0" sz="2000" u="none" cap="none" strike="noStrike">
                <a:solidFill>
                  <a:srgbClr val="695D46"/>
                </a:solidFill>
                <a:latin typeface="Open Sans"/>
                <a:ea typeface="Open Sans"/>
                <a:cs typeface="Open Sans"/>
                <a:sym typeface="Open Sans"/>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74" name="Google Shape;7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rgbClr val="695D46"/>
              </a:buClr>
              <a:buSzPts val="1400"/>
              <a:buFont typeface="Arial"/>
              <a:buNone/>
              <a:defRPr b="0" i="0" sz="1400" u="none" cap="none" strike="noStrike">
                <a:solidFill>
                  <a:srgbClr val="695D46"/>
                </a:solidFill>
                <a:latin typeface="Open Sans"/>
                <a:ea typeface="Open Sans"/>
                <a:cs typeface="Open Sans"/>
                <a:sym typeface="Open Sans"/>
              </a:defRPr>
            </a:lvl1pPr>
            <a:lvl2pPr indent="-228600" lvl="1" marL="914400" marR="0" rtl="0" algn="l">
              <a:spcBef>
                <a:spcPts val="240"/>
              </a:spcBef>
              <a:spcAft>
                <a:spcPts val="0"/>
              </a:spcAft>
              <a:buClr>
                <a:srgbClr val="695D46"/>
              </a:buClr>
              <a:buSzPts val="1200"/>
              <a:buFont typeface="Arial"/>
              <a:buNone/>
              <a:defRPr b="0" i="0" sz="1200" u="none" cap="none" strike="noStrike">
                <a:solidFill>
                  <a:srgbClr val="695D46"/>
                </a:solidFill>
                <a:latin typeface="Open Sans"/>
                <a:ea typeface="Open Sans"/>
                <a:cs typeface="Open Sans"/>
                <a:sym typeface="Open Sans"/>
              </a:defRPr>
            </a:lvl2pPr>
            <a:lvl3pPr indent="-228600" lvl="2" marL="1371600" marR="0" rtl="0" algn="l">
              <a:spcBef>
                <a:spcPts val="200"/>
              </a:spcBef>
              <a:spcAft>
                <a:spcPts val="0"/>
              </a:spcAft>
              <a:buClr>
                <a:srgbClr val="695D46"/>
              </a:buClr>
              <a:buSzPts val="1000"/>
              <a:buFont typeface="Arial"/>
              <a:buNone/>
              <a:defRPr b="0" i="0" sz="1000" u="none" cap="none" strike="noStrike">
                <a:solidFill>
                  <a:srgbClr val="695D46"/>
                </a:solidFill>
                <a:latin typeface="Open Sans"/>
                <a:ea typeface="Open Sans"/>
                <a:cs typeface="Open Sans"/>
                <a:sym typeface="Open Sans"/>
              </a:defRPr>
            </a:lvl3pPr>
            <a:lvl4pPr indent="-228600" lvl="3" marL="1828800" marR="0" rtl="0" algn="l">
              <a:spcBef>
                <a:spcPts val="180"/>
              </a:spcBef>
              <a:spcAft>
                <a:spcPts val="0"/>
              </a:spcAft>
              <a:buClr>
                <a:srgbClr val="695D46"/>
              </a:buClr>
              <a:buSzPts val="900"/>
              <a:buFont typeface="Arial"/>
              <a:buNone/>
              <a:defRPr b="0" i="0" sz="900" u="none" cap="none" strike="noStrike">
                <a:solidFill>
                  <a:srgbClr val="695D46"/>
                </a:solidFill>
                <a:latin typeface="Open Sans"/>
                <a:ea typeface="Open Sans"/>
                <a:cs typeface="Open Sans"/>
                <a:sym typeface="Open Sans"/>
              </a:defRPr>
            </a:lvl4pPr>
            <a:lvl5pPr indent="-228600" lvl="4" marL="2286000" marR="0" rtl="0" algn="l">
              <a:spcBef>
                <a:spcPts val="180"/>
              </a:spcBef>
              <a:spcAft>
                <a:spcPts val="0"/>
              </a:spcAft>
              <a:buClr>
                <a:srgbClr val="695D46"/>
              </a:buClr>
              <a:buSzPts val="900"/>
              <a:buFont typeface="Arial"/>
              <a:buNone/>
              <a:defRPr b="0" i="0" sz="900" u="none" cap="none" strike="noStrike">
                <a:solidFill>
                  <a:srgbClr val="695D46"/>
                </a:solidFill>
                <a:latin typeface="Open Sans"/>
                <a:ea typeface="Open Sans"/>
                <a:cs typeface="Open Sans"/>
                <a:sym typeface="Open Sans"/>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75" name="Google Shape;7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78" name="Shape 78"/>
        <p:cNvGrpSpPr/>
        <p:nvPr/>
      </p:nvGrpSpPr>
      <p:grpSpPr>
        <a:xfrm>
          <a:off x="0" y="0"/>
          <a:ext cx="0" cy="0"/>
          <a:chOff x="0" y="0"/>
          <a:chExt cx="0" cy="0"/>
        </a:xfrm>
      </p:grpSpPr>
      <p:sp>
        <p:nvSpPr>
          <p:cNvPr id="79" name="Google Shape;7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11"/>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55600" lvl="1" marL="9144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2pPr>
            <a:lvl3pPr indent="-355600" lvl="2" marL="13716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3pPr>
            <a:lvl4pPr indent="-355600" lvl="3" marL="18288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4pPr>
            <a:lvl5pPr indent="-355600" lvl="4" marL="22860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1" name="Google Shape;8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2"/>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12"/>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55600" lvl="1" marL="9144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2pPr>
            <a:lvl3pPr indent="-355600" lvl="2" marL="13716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3pPr>
            <a:lvl4pPr indent="-355600" lvl="3" marL="18288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4pPr>
            <a:lvl5pPr indent="-355600" lvl="4" marL="22860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55600" lvl="1" marL="9144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2pPr>
            <a:lvl3pPr indent="-355600" lvl="2" marL="13716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3pPr>
            <a:lvl4pPr indent="-355600" lvl="3" marL="18288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4pPr>
            <a:lvl5pPr indent="-355600" lvl="4" marL="2286000" marR="0" rtl="0" algn="l">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1.png"/><Relationship Id="rId5" Type="http://schemas.openxmlformats.org/officeDocument/2006/relationships/image" Target="../media/image14.png"/><Relationship Id="rId6"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4.png"/><Relationship Id="rId6"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4.png"/><Relationship Id="rId4" Type="http://schemas.openxmlformats.org/officeDocument/2006/relationships/image" Target="../media/image14.png"/><Relationship Id="rId5"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4.png"/><Relationship Id="rId4" Type="http://schemas.openxmlformats.org/officeDocument/2006/relationships/image" Target="../media/image14.png"/><Relationship Id="rId5"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4.png"/><Relationship Id="rId4" Type="http://schemas.openxmlformats.org/officeDocument/2006/relationships/image" Target="../media/image14.png"/><Relationship Id="rId5"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6.png"/><Relationship Id="rId4" Type="http://schemas.openxmlformats.org/officeDocument/2006/relationships/image" Target="../media/image19.png"/><Relationship Id="rId5"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0.png"/><Relationship Id="rId4" Type="http://schemas.openxmlformats.org/officeDocument/2006/relationships/image" Target="../media/image24.png"/><Relationship Id="rId5" Type="http://schemas.openxmlformats.org/officeDocument/2006/relationships/image" Target="../media/image31.png"/><Relationship Id="rId6"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2.png"/><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0.png"/><Relationship Id="rId4" Type="http://schemas.openxmlformats.org/officeDocument/2006/relationships/image" Target="../media/image37.png"/><Relationship Id="rId5"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8.png"/><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4" name="Shape 94"/>
        <p:cNvGrpSpPr/>
        <p:nvPr/>
      </p:nvGrpSpPr>
      <p:grpSpPr>
        <a:xfrm>
          <a:off x="0" y="0"/>
          <a:ext cx="0" cy="0"/>
          <a:chOff x="0" y="0"/>
          <a:chExt cx="0" cy="0"/>
        </a:xfrm>
      </p:grpSpPr>
      <p:sp>
        <p:nvSpPr>
          <p:cNvPr id="95" name="Google Shape;95;p13"/>
          <p:cNvSpPr txBox="1"/>
          <p:nvPr>
            <p:ph type="ctrTitle"/>
          </p:nvPr>
        </p:nvSpPr>
        <p:spPr>
          <a:xfrm>
            <a:off x="685800" y="2605794"/>
            <a:ext cx="7772400" cy="9946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F6C00"/>
              </a:buClr>
              <a:buSzPts val="5400"/>
              <a:buFont typeface="PT Sans Narrow"/>
              <a:buNone/>
            </a:pPr>
            <a:r>
              <a:rPr b="1" i="0" lang="en-US" sz="5400" u="none" cap="none" strike="noStrike">
                <a:solidFill>
                  <a:srgbClr val="EF6C00"/>
                </a:solidFill>
                <a:latin typeface="PT Sans Narrow"/>
                <a:ea typeface="PT Sans Narrow"/>
                <a:cs typeface="PT Sans Narrow"/>
                <a:sym typeface="PT Sans Narrow"/>
              </a:rPr>
              <a:t>Packets in Flight</a:t>
            </a:r>
            <a:endParaRPr b="1" i="0" sz="5400" u="none" cap="none" strike="noStrike">
              <a:solidFill>
                <a:srgbClr val="EF6C00"/>
              </a:solidFill>
              <a:latin typeface="PT Sans Narrow"/>
              <a:ea typeface="PT Sans Narrow"/>
              <a:cs typeface="PT Sans Narrow"/>
              <a:sym typeface="PT Sans Narrow"/>
            </a:endParaRPr>
          </a:p>
        </p:txBody>
      </p:sp>
      <p:sp>
        <p:nvSpPr>
          <p:cNvPr id="96" name="Google Shape;96;p13"/>
          <p:cNvSpPr txBox="1"/>
          <p:nvPr>
            <p:ph idx="1" type="subTitle"/>
          </p:nvPr>
        </p:nvSpPr>
        <p:spPr>
          <a:xfrm>
            <a:off x="1664038" y="3615266"/>
            <a:ext cx="5813188" cy="52758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888888"/>
              </a:buClr>
              <a:buSzPts val="2400"/>
              <a:buFont typeface="Arial"/>
              <a:buNone/>
            </a:pPr>
            <a:r>
              <a:rPr b="0" i="0" lang="en-US" sz="2400" u="none" cap="none" strike="noStrike">
                <a:solidFill>
                  <a:srgbClr val="888888"/>
                </a:solidFill>
                <a:latin typeface="Avenir"/>
                <a:ea typeface="Avenir"/>
                <a:cs typeface="Avenir"/>
                <a:sym typeface="Avenir"/>
              </a:rPr>
              <a:t>CS 168 – </a:t>
            </a:r>
            <a:r>
              <a:rPr lang="en-US">
                <a:latin typeface="Avenir"/>
                <a:ea typeface="Avenir"/>
                <a:cs typeface="Avenir"/>
                <a:sym typeface="Avenir"/>
              </a:rPr>
              <a:t>Spring 2020</a:t>
            </a:r>
            <a:r>
              <a:rPr b="0" i="0" lang="en-US" sz="2400" u="none" cap="none" strike="noStrike">
                <a:solidFill>
                  <a:srgbClr val="888888"/>
                </a:solidFill>
                <a:latin typeface="Avenir"/>
                <a:ea typeface="Avenir"/>
                <a:cs typeface="Avenir"/>
                <a:sym typeface="Avenir"/>
              </a:rPr>
              <a:t> – Section </a:t>
            </a:r>
            <a:r>
              <a:rPr lang="en-US">
                <a:latin typeface="Avenir"/>
                <a:ea typeface="Avenir"/>
                <a:cs typeface="Avenir"/>
                <a:sym typeface="Avenir"/>
              </a:rPr>
              <a:t>1</a:t>
            </a:r>
            <a:endParaRPr b="0" i="0" sz="2400" u="none" cap="none" strike="noStrike">
              <a:solidFill>
                <a:srgbClr val="888888"/>
              </a:solidFill>
              <a:latin typeface="Avenir"/>
              <a:ea typeface="Avenir"/>
              <a:cs typeface="Avenir"/>
              <a:sym typeface="Aveni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1" name="Shape 101"/>
        <p:cNvGrpSpPr/>
        <p:nvPr/>
      </p:nvGrpSpPr>
      <p:grpSpPr>
        <a:xfrm>
          <a:off x="0" y="0"/>
          <a:ext cx="0" cy="0"/>
          <a:chOff x="0" y="0"/>
          <a:chExt cx="0" cy="0"/>
        </a:xfrm>
      </p:grpSpPr>
      <p:sp>
        <p:nvSpPr>
          <p:cNvPr id="102" name="Google Shape;10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Delays</a:t>
            </a:r>
            <a:endParaRPr b="1" i="0" sz="4400" u="none" cap="none" strike="noStrike">
              <a:solidFill>
                <a:srgbClr val="EF6C00"/>
              </a:solidFill>
              <a:latin typeface="PT Sans Narrow"/>
              <a:ea typeface="PT Sans Narrow"/>
              <a:cs typeface="PT Sans Narrow"/>
              <a:sym typeface="PT Sans Narrow"/>
            </a:endParaRPr>
          </a:p>
        </p:txBody>
      </p:sp>
      <p:sp>
        <p:nvSpPr>
          <p:cNvPr id="103" name="Google Shape;10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342900" marR="0" rtl="0" algn="l">
              <a:spcBef>
                <a:spcPts val="480"/>
              </a:spcBef>
              <a:spcAft>
                <a:spcPts val="0"/>
              </a:spcAft>
              <a:buNone/>
            </a:pPr>
            <a:r>
              <a:t/>
            </a:r>
            <a:endParaRPr>
              <a:latin typeface="Avenir"/>
              <a:ea typeface="Avenir"/>
              <a:cs typeface="Avenir"/>
              <a:sym typeface="Avenir"/>
            </a:endParaRPr>
          </a:p>
          <a:p>
            <a:pPr indent="0" lvl="0" marL="342900" marR="0" rtl="0" algn="l">
              <a:spcBef>
                <a:spcPts val="480"/>
              </a:spcBef>
              <a:spcAft>
                <a:spcPts val="0"/>
              </a:spcAft>
              <a:buNone/>
            </a:pPr>
            <a:r>
              <a:t/>
            </a:r>
            <a:endParaRPr>
              <a:latin typeface="Avenir"/>
              <a:ea typeface="Avenir"/>
              <a:cs typeface="Avenir"/>
              <a:sym typeface="Avenir"/>
            </a:endParaRPr>
          </a:p>
          <a:p>
            <a:pPr indent="0" lvl="0" marL="342900" marR="0" rtl="0" algn="l">
              <a:spcBef>
                <a:spcPts val="480"/>
              </a:spcBef>
              <a:spcAft>
                <a:spcPts val="0"/>
              </a:spcAft>
              <a:buNone/>
            </a:pPr>
            <a:r>
              <a:t/>
            </a:r>
            <a:endParaRPr>
              <a:latin typeface="Avenir"/>
              <a:ea typeface="Avenir"/>
              <a:cs typeface="Avenir"/>
              <a:sym typeface="Avenir"/>
            </a:endParaRPr>
          </a:p>
          <a:p>
            <a:pPr indent="-285750" lvl="1" marL="742950" marR="0" rtl="0" algn="l">
              <a:spcBef>
                <a:spcPts val="400"/>
              </a:spcBef>
              <a:spcAft>
                <a:spcPts val="0"/>
              </a:spcAft>
              <a:buClr>
                <a:srgbClr val="695D46"/>
              </a:buClr>
              <a:buSzPts val="2000"/>
              <a:buFont typeface="Arial"/>
              <a:buChar char="–"/>
            </a:pPr>
            <a:r>
              <a:rPr b="1" i="0" lang="en-US" sz="2000" u="none" cap="none" strike="noStrike">
                <a:solidFill>
                  <a:srgbClr val="695D46"/>
                </a:solidFill>
                <a:latin typeface="Avenir"/>
                <a:ea typeface="Avenir"/>
                <a:cs typeface="Avenir"/>
                <a:sym typeface="Avenir"/>
              </a:rPr>
              <a:t>how much data </a:t>
            </a:r>
            <a:r>
              <a:rPr b="0" i="0" lang="en-US" sz="2000" u="none" cap="none" strike="noStrike">
                <a:solidFill>
                  <a:srgbClr val="695D46"/>
                </a:solidFill>
                <a:latin typeface="Avenir"/>
                <a:ea typeface="Avenir"/>
                <a:cs typeface="Avenir"/>
                <a:sym typeface="Avenir"/>
              </a:rPr>
              <a:t>you’re sending and the </a:t>
            </a:r>
            <a:r>
              <a:rPr b="1" i="0" lang="en-US" sz="2000" u="none" cap="none" strike="noStrike">
                <a:solidFill>
                  <a:srgbClr val="695D46"/>
                </a:solidFill>
                <a:latin typeface="Avenir"/>
                <a:ea typeface="Avenir"/>
                <a:cs typeface="Avenir"/>
                <a:sym typeface="Avenir"/>
              </a:rPr>
              <a:t>link speed</a:t>
            </a:r>
            <a:br>
              <a:rPr b="0" i="0" lang="en-US" sz="2000" u="none" cap="none" strike="noStrike">
                <a:solidFill>
                  <a:srgbClr val="695D46"/>
                </a:solidFill>
                <a:latin typeface="Avenir"/>
                <a:ea typeface="Avenir"/>
                <a:cs typeface="Avenir"/>
                <a:sym typeface="Avenir"/>
              </a:rPr>
            </a:br>
            <a:r>
              <a:rPr b="0" i="0" lang="en-US" sz="2000" u="none" cap="none" strike="noStrike">
                <a:solidFill>
                  <a:srgbClr val="695D46"/>
                </a:solidFill>
                <a:latin typeface="Avenir"/>
                <a:ea typeface="Avenir"/>
                <a:cs typeface="Avenir"/>
                <a:sym typeface="Avenir"/>
              </a:rPr>
              <a:t>→ </a:t>
            </a:r>
            <a:r>
              <a:rPr b="0" i="0" lang="en-US" sz="2000" u="none" cap="none" strike="noStrike">
                <a:solidFill>
                  <a:srgbClr val="EF6C00"/>
                </a:solidFill>
                <a:latin typeface="Avenir"/>
                <a:ea typeface="Avenir"/>
                <a:cs typeface="Avenir"/>
                <a:sym typeface="Avenir"/>
              </a:rPr>
              <a:t>transmission delay</a:t>
            </a:r>
            <a:endParaRPr b="0" i="0" sz="2000" u="none" cap="none" strike="noStrike">
              <a:solidFill>
                <a:srgbClr val="EF6C00"/>
              </a:solidFill>
              <a:latin typeface="Avenir"/>
              <a:ea typeface="Avenir"/>
              <a:cs typeface="Avenir"/>
              <a:sym typeface="Avenir"/>
            </a:endParaRPr>
          </a:p>
          <a:p>
            <a:pPr indent="-285750" lvl="1" marL="742950" marR="0" rtl="0" algn="l">
              <a:spcBef>
                <a:spcPts val="400"/>
              </a:spcBef>
              <a:spcAft>
                <a:spcPts val="0"/>
              </a:spcAft>
              <a:buClr>
                <a:srgbClr val="695D46"/>
              </a:buClr>
              <a:buSzPts val="2000"/>
              <a:buFont typeface="Arial"/>
              <a:buChar char="–"/>
            </a:pPr>
            <a:r>
              <a:rPr b="0" i="0" lang="en-US" sz="2000" u="none" cap="none" strike="noStrike">
                <a:solidFill>
                  <a:srgbClr val="695D46"/>
                </a:solidFill>
                <a:latin typeface="Avenir"/>
                <a:ea typeface="Avenir"/>
                <a:cs typeface="Avenir"/>
                <a:sym typeface="Avenir"/>
              </a:rPr>
              <a:t>your </a:t>
            </a:r>
            <a:r>
              <a:rPr b="1" i="0" lang="en-US" sz="2000" u="none" cap="none" strike="noStrike">
                <a:solidFill>
                  <a:srgbClr val="695D46"/>
                </a:solidFill>
                <a:latin typeface="Avenir"/>
                <a:ea typeface="Avenir"/>
                <a:cs typeface="Avenir"/>
                <a:sym typeface="Avenir"/>
              </a:rPr>
              <a:t>distance</a:t>
            </a:r>
            <a:r>
              <a:rPr b="0" i="0" lang="en-US" sz="2000" u="none" cap="none" strike="noStrike">
                <a:solidFill>
                  <a:srgbClr val="695D46"/>
                </a:solidFill>
                <a:latin typeface="Avenir"/>
                <a:ea typeface="Avenir"/>
                <a:cs typeface="Avenir"/>
                <a:sym typeface="Avenir"/>
              </a:rPr>
              <a:t> from the destination</a:t>
            </a:r>
            <a:br>
              <a:rPr b="0" i="0" lang="en-US" sz="2000" u="none" cap="none" strike="noStrike">
                <a:solidFill>
                  <a:srgbClr val="695D46"/>
                </a:solidFill>
                <a:latin typeface="Avenir"/>
                <a:ea typeface="Avenir"/>
                <a:cs typeface="Avenir"/>
                <a:sym typeface="Avenir"/>
              </a:rPr>
            </a:br>
            <a:r>
              <a:rPr b="0" i="0" lang="en-US" sz="2000" u="none" cap="none" strike="noStrike">
                <a:solidFill>
                  <a:srgbClr val="695D46"/>
                </a:solidFill>
                <a:latin typeface="Avenir"/>
                <a:ea typeface="Avenir"/>
                <a:cs typeface="Avenir"/>
                <a:sym typeface="Avenir"/>
              </a:rPr>
              <a:t>→ </a:t>
            </a:r>
            <a:r>
              <a:rPr b="0" i="0" lang="en-US" sz="2000" u="none" cap="none" strike="noStrike">
                <a:solidFill>
                  <a:schemeClr val="accent1"/>
                </a:solidFill>
                <a:latin typeface="Avenir"/>
                <a:ea typeface="Avenir"/>
                <a:cs typeface="Avenir"/>
                <a:sym typeface="Avenir"/>
              </a:rPr>
              <a:t>propagation delay</a:t>
            </a:r>
            <a:endParaRPr b="0" i="0" sz="2000" u="none" cap="none" strike="noStrike">
              <a:solidFill>
                <a:schemeClr val="accent1"/>
              </a:solidFill>
              <a:latin typeface="Avenir"/>
              <a:ea typeface="Avenir"/>
              <a:cs typeface="Avenir"/>
              <a:sym typeface="Avenir"/>
            </a:endParaRPr>
          </a:p>
          <a:p>
            <a:pPr indent="-285750" lvl="1" marL="742950" marR="0" rtl="0" algn="l">
              <a:spcBef>
                <a:spcPts val="400"/>
              </a:spcBef>
              <a:spcAft>
                <a:spcPts val="0"/>
              </a:spcAft>
              <a:buClr>
                <a:srgbClr val="695D46"/>
              </a:buClr>
              <a:buSzPts val="2000"/>
              <a:buFont typeface="Arial"/>
              <a:buChar char="–"/>
            </a:pPr>
            <a:r>
              <a:rPr b="0" i="0" lang="en-US" sz="2000" u="none" cap="none" strike="noStrike">
                <a:solidFill>
                  <a:srgbClr val="695D46"/>
                </a:solidFill>
                <a:latin typeface="Avenir"/>
                <a:ea typeface="Avenir"/>
                <a:cs typeface="Avenir"/>
                <a:sym typeface="Avenir"/>
              </a:rPr>
              <a:t>the </a:t>
            </a:r>
            <a:r>
              <a:rPr b="1" i="0" lang="en-US" sz="2000" u="none" cap="none" strike="noStrike">
                <a:solidFill>
                  <a:srgbClr val="695D46"/>
                </a:solidFill>
                <a:latin typeface="Avenir"/>
                <a:ea typeface="Avenir"/>
                <a:cs typeface="Avenir"/>
                <a:sym typeface="Avenir"/>
              </a:rPr>
              <a:t>traffic pattern</a:t>
            </a:r>
            <a:br>
              <a:rPr b="0" i="0" lang="en-US" sz="2000" u="none" cap="none" strike="noStrike">
                <a:solidFill>
                  <a:srgbClr val="695D46"/>
                </a:solidFill>
                <a:latin typeface="Avenir"/>
                <a:ea typeface="Avenir"/>
                <a:cs typeface="Avenir"/>
                <a:sym typeface="Avenir"/>
              </a:rPr>
            </a:br>
            <a:r>
              <a:rPr b="0" i="0" lang="en-US" sz="2000" u="none" cap="none" strike="noStrike">
                <a:solidFill>
                  <a:srgbClr val="695D46"/>
                </a:solidFill>
                <a:latin typeface="Avenir"/>
                <a:ea typeface="Avenir"/>
                <a:cs typeface="Avenir"/>
                <a:sym typeface="Avenir"/>
              </a:rPr>
              <a:t>→ </a:t>
            </a:r>
            <a:r>
              <a:rPr b="0" i="0" lang="en-US" sz="2000" u="none" cap="none" strike="noStrike">
                <a:solidFill>
                  <a:schemeClr val="accent1"/>
                </a:solidFill>
                <a:latin typeface="Avenir"/>
                <a:ea typeface="Avenir"/>
                <a:cs typeface="Avenir"/>
                <a:sym typeface="Avenir"/>
              </a:rPr>
              <a:t>queuing delay</a:t>
            </a:r>
            <a:endParaRPr/>
          </a:p>
          <a:p>
            <a:pPr indent="-285750" lvl="1" marL="742950" marR="0" rtl="0" algn="l">
              <a:spcBef>
                <a:spcPts val="400"/>
              </a:spcBef>
              <a:spcAft>
                <a:spcPts val="0"/>
              </a:spcAft>
              <a:buClr>
                <a:srgbClr val="695D46"/>
              </a:buClr>
              <a:buSzPts val="2000"/>
              <a:buFont typeface="Arial"/>
              <a:buChar char="–"/>
            </a:pPr>
            <a:r>
              <a:rPr b="0" i="0" lang="en-US" sz="2000" u="none" cap="none" strike="noStrike">
                <a:solidFill>
                  <a:srgbClr val="695D46"/>
                </a:solidFill>
                <a:latin typeface="Avenir"/>
                <a:ea typeface="Avenir"/>
                <a:cs typeface="Avenir"/>
                <a:sym typeface="Avenir"/>
              </a:rPr>
              <a:t>how fast </a:t>
            </a:r>
            <a:r>
              <a:rPr b="1" i="0" lang="en-US" sz="2000" u="none" cap="none" strike="noStrike">
                <a:solidFill>
                  <a:srgbClr val="695D46"/>
                </a:solidFill>
                <a:latin typeface="Avenir"/>
                <a:ea typeface="Avenir"/>
                <a:cs typeface="Avenir"/>
                <a:sym typeface="Avenir"/>
              </a:rPr>
              <a:t>routers </a:t>
            </a:r>
            <a:r>
              <a:rPr b="0" i="0" lang="en-US" sz="2000" u="none" cap="none" strike="noStrike">
                <a:solidFill>
                  <a:srgbClr val="695D46"/>
                </a:solidFill>
                <a:latin typeface="Avenir"/>
                <a:ea typeface="Avenir"/>
                <a:cs typeface="Avenir"/>
                <a:sym typeface="Avenir"/>
              </a:rPr>
              <a:t>process the packet header</a:t>
            </a:r>
            <a:br>
              <a:rPr b="0" i="0" lang="en-US" sz="2000" u="none" cap="none" strike="noStrike">
                <a:solidFill>
                  <a:schemeClr val="accent1"/>
                </a:solidFill>
                <a:latin typeface="Avenir"/>
                <a:ea typeface="Avenir"/>
                <a:cs typeface="Avenir"/>
                <a:sym typeface="Avenir"/>
              </a:rPr>
            </a:br>
            <a:r>
              <a:rPr b="0" i="0" lang="en-US" sz="2000" u="none" cap="none" strike="noStrike">
                <a:solidFill>
                  <a:srgbClr val="695D46"/>
                </a:solidFill>
                <a:latin typeface="Avenir"/>
                <a:ea typeface="Avenir"/>
                <a:cs typeface="Avenir"/>
                <a:sym typeface="Avenir"/>
              </a:rPr>
              <a:t>→</a:t>
            </a:r>
            <a:r>
              <a:rPr b="0" i="0" lang="en-US" sz="2000" u="none" cap="none" strike="noStrike">
                <a:solidFill>
                  <a:schemeClr val="accent1"/>
                </a:solidFill>
                <a:latin typeface="Avenir"/>
                <a:ea typeface="Avenir"/>
                <a:cs typeface="Avenir"/>
                <a:sym typeface="Avenir"/>
              </a:rPr>
              <a:t> processing delay</a:t>
            </a:r>
            <a:endParaRPr b="0" i="0" sz="2000" u="none" cap="none" strike="noStrike">
              <a:solidFill>
                <a:srgbClr val="695D46"/>
              </a:solidFill>
              <a:latin typeface="Avenir"/>
              <a:ea typeface="Avenir"/>
              <a:cs typeface="Avenir"/>
              <a:sym typeface="Avenir"/>
            </a:endParaRPr>
          </a:p>
        </p:txBody>
      </p:sp>
      <p:sp>
        <p:nvSpPr>
          <p:cNvPr id="104" name="Google Shape;104;p14"/>
          <p:cNvSpPr txBox="1"/>
          <p:nvPr/>
        </p:nvSpPr>
        <p:spPr>
          <a:xfrm>
            <a:off x="449576" y="1549975"/>
            <a:ext cx="7175100" cy="3000000"/>
          </a:xfrm>
          <a:prstGeom prst="rect">
            <a:avLst/>
          </a:prstGeom>
          <a:noFill/>
          <a:ln>
            <a:noFill/>
          </a:ln>
        </p:spPr>
        <p:txBody>
          <a:bodyPr anchorCtr="0" anchor="t" bIns="91425" lIns="91425" spcFirstLastPara="1" rIns="91425" wrap="square" tIns="91425">
            <a:noAutofit/>
          </a:bodyPr>
          <a:lstStyle/>
          <a:p>
            <a:pPr indent="-342900" lvl="0" marL="342900" rtl="0" algn="l">
              <a:spcBef>
                <a:spcPts val="0"/>
              </a:spcBef>
              <a:spcAft>
                <a:spcPts val="0"/>
              </a:spcAft>
              <a:buClr>
                <a:schemeClr val="accent5"/>
              </a:buClr>
              <a:buSzPts val="2400"/>
              <a:buChar char="•"/>
            </a:pPr>
            <a:r>
              <a:rPr lang="en-US" sz="2400">
                <a:solidFill>
                  <a:schemeClr val="accent5"/>
                </a:solidFill>
                <a:latin typeface="Avenir"/>
                <a:ea typeface="Avenir"/>
                <a:cs typeface="Avenir"/>
                <a:sym typeface="Avenir"/>
              </a:rPr>
              <a:t>How long does it take for your data to reach its destination?</a:t>
            </a:r>
            <a:endParaRPr sz="2400">
              <a:solidFill>
                <a:schemeClr val="accent5"/>
              </a:solidFill>
              <a:latin typeface="Open Sans"/>
              <a:ea typeface="Open Sans"/>
              <a:cs typeface="Open Sans"/>
              <a:sym typeface="Open Sans"/>
            </a:endParaRPr>
          </a:p>
          <a:p>
            <a:pPr indent="-342900" lvl="0" marL="342900" rtl="0" algn="l">
              <a:spcBef>
                <a:spcPts val="480"/>
              </a:spcBef>
              <a:spcAft>
                <a:spcPts val="0"/>
              </a:spcAft>
              <a:buClr>
                <a:schemeClr val="accent5"/>
              </a:buClr>
              <a:buSzPts val="2400"/>
              <a:buChar char="•"/>
            </a:pPr>
            <a:r>
              <a:rPr lang="en-US" sz="2400">
                <a:solidFill>
                  <a:schemeClr val="accent5"/>
                </a:solidFill>
                <a:latin typeface="Avenir"/>
                <a:ea typeface="Avenir"/>
                <a:cs typeface="Avenir"/>
                <a:sym typeface="Avenir"/>
              </a:rPr>
              <a:t>It depends 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Effect filter="fade" transition="in">
                                      <p:cBhvr>
                                        <p:cTn dur="1000"/>
                                        <p:tgtEl>
                                          <p:spTgt spid="1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animEffect filter="fade" transition="in">
                                      <p:cBhvr>
                                        <p:cTn dur="1000"/>
                                        <p:tgtEl>
                                          <p:spTgt spid="1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animEffect filter="fade" transition="in">
                                      <p:cBhvr>
                                        <p:cTn dur="1000"/>
                                        <p:tgtEl>
                                          <p:spTgt spid="1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animEffect filter="fade" transition="in">
                                      <p:cBhvr>
                                        <p:cTn dur="1000"/>
                                        <p:tgtEl>
                                          <p:spTgt spid="1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animEffect filter="fade" transition="in">
                                      <p:cBhvr>
                                        <p:cTn dur="1000"/>
                                        <p:tgtEl>
                                          <p:spTgt spid="1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animEffect filter="fade" transition="in">
                                      <p:cBhvr>
                                        <p:cTn dur="1000"/>
                                        <p:tgtEl>
                                          <p:spTgt spid="1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animEffect filter="fade" transition="in">
                                      <p:cBhvr>
                                        <p:cTn dur="1000"/>
                                        <p:tgtEl>
                                          <p:spTgt spid="10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 name="Shape 109"/>
        <p:cNvGrpSpPr/>
        <p:nvPr/>
      </p:nvGrpSpPr>
      <p:grpSpPr>
        <a:xfrm>
          <a:off x="0" y="0"/>
          <a:ext cx="0" cy="0"/>
          <a:chOff x="0" y="0"/>
          <a:chExt cx="0" cy="0"/>
        </a:xfrm>
      </p:grpSpPr>
      <p:sp>
        <p:nvSpPr>
          <p:cNvPr id="110" name="Google Shape;11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Delays</a:t>
            </a:r>
            <a:endParaRPr b="1" i="0" sz="4400" u="none" cap="none" strike="noStrike">
              <a:solidFill>
                <a:srgbClr val="EF6C00"/>
              </a:solidFill>
              <a:latin typeface="PT Sans Narrow"/>
              <a:ea typeface="PT Sans Narrow"/>
              <a:cs typeface="PT Sans Narrow"/>
              <a:sym typeface="PT Sans Narrow"/>
            </a:endParaRPr>
          </a:p>
        </p:txBody>
      </p:sp>
      <p:sp>
        <p:nvSpPr>
          <p:cNvPr id="111" name="Google Shape;111;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695D46"/>
              </a:buClr>
              <a:buSzPts val="2400"/>
              <a:buFont typeface="Arial"/>
              <a:buChar char="•"/>
            </a:pPr>
            <a:r>
              <a:rPr b="0" i="0" lang="en-US" sz="2400" u="none" cap="none" strike="noStrike">
                <a:solidFill>
                  <a:srgbClr val="695D46"/>
                </a:solidFill>
                <a:latin typeface="Avenir"/>
                <a:ea typeface="Avenir"/>
                <a:cs typeface="Avenir"/>
                <a:sym typeface="Avenir"/>
              </a:rPr>
              <a:t>How long does it take for your data to reach its destination?</a:t>
            </a:r>
            <a:endParaRPr/>
          </a:p>
          <a:p>
            <a:pPr indent="-342900" lvl="0" marL="342900" marR="0" rtl="0" algn="l">
              <a:spcBef>
                <a:spcPts val="480"/>
              </a:spcBef>
              <a:spcAft>
                <a:spcPts val="0"/>
              </a:spcAft>
              <a:buClr>
                <a:srgbClr val="695D46"/>
              </a:buClr>
              <a:buSzPts val="2400"/>
              <a:buFont typeface="Arial"/>
              <a:buChar char="•"/>
            </a:pPr>
            <a:r>
              <a:rPr b="0" i="0" lang="en-US" sz="2400" u="none" cap="none" strike="noStrike">
                <a:solidFill>
                  <a:srgbClr val="695D46"/>
                </a:solidFill>
                <a:latin typeface="Avenir"/>
                <a:ea typeface="Avenir"/>
                <a:cs typeface="Avenir"/>
                <a:sym typeface="Avenir"/>
              </a:rPr>
              <a:t>It depends on…</a:t>
            </a:r>
            <a:br>
              <a:rPr b="0" i="0" lang="en-US" sz="2400" u="none" cap="none" strike="noStrike">
                <a:solidFill>
                  <a:srgbClr val="695D46"/>
                </a:solidFill>
                <a:latin typeface="Avenir"/>
                <a:ea typeface="Avenir"/>
                <a:cs typeface="Avenir"/>
                <a:sym typeface="Avenir"/>
              </a:rPr>
            </a:br>
            <a:endParaRPr b="0" i="0" sz="2400" u="none" cap="none" strike="noStrike">
              <a:solidFill>
                <a:srgbClr val="695D46"/>
              </a:solidFill>
              <a:latin typeface="Avenir"/>
              <a:ea typeface="Avenir"/>
              <a:cs typeface="Avenir"/>
              <a:sym typeface="Avenir"/>
            </a:endParaRPr>
          </a:p>
          <a:p>
            <a:pPr indent="-285750" lvl="1" marL="742950" marR="0" rtl="0" algn="l">
              <a:spcBef>
                <a:spcPts val="400"/>
              </a:spcBef>
              <a:spcAft>
                <a:spcPts val="0"/>
              </a:spcAft>
              <a:buClr>
                <a:srgbClr val="695D46"/>
              </a:buClr>
              <a:buSzPts val="2000"/>
              <a:buFont typeface="Arial"/>
              <a:buChar char="–"/>
            </a:pPr>
            <a:r>
              <a:rPr b="1" i="0" lang="en-US" sz="2000" u="none" cap="none" strike="noStrike">
                <a:solidFill>
                  <a:srgbClr val="695D46"/>
                </a:solidFill>
                <a:latin typeface="Avenir"/>
                <a:ea typeface="Avenir"/>
                <a:cs typeface="Avenir"/>
                <a:sym typeface="Avenir"/>
              </a:rPr>
              <a:t>how much data </a:t>
            </a:r>
            <a:r>
              <a:rPr b="0" i="0" lang="en-US" sz="2000" u="none" cap="none" strike="noStrike">
                <a:solidFill>
                  <a:srgbClr val="695D46"/>
                </a:solidFill>
                <a:latin typeface="Avenir"/>
                <a:ea typeface="Avenir"/>
                <a:cs typeface="Avenir"/>
                <a:sym typeface="Avenir"/>
              </a:rPr>
              <a:t>you’re sending and the </a:t>
            </a:r>
            <a:r>
              <a:rPr b="1" i="0" lang="en-US" sz="2000" u="none" cap="none" strike="noStrike">
                <a:solidFill>
                  <a:srgbClr val="695D46"/>
                </a:solidFill>
                <a:latin typeface="Avenir"/>
                <a:ea typeface="Avenir"/>
                <a:cs typeface="Avenir"/>
                <a:sym typeface="Avenir"/>
              </a:rPr>
              <a:t>link speed</a:t>
            </a:r>
            <a:br>
              <a:rPr b="0" i="0" lang="en-US" sz="2000" u="none" cap="none" strike="noStrike">
                <a:solidFill>
                  <a:srgbClr val="695D46"/>
                </a:solidFill>
                <a:latin typeface="Avenir"/>
                <a:ea typeface="Avenir"/>
                <a:cs typeface="Avenir"/>
                <a:sym typeface="Avenir"/>
              </a:rPr>
            </a:br>
            <a:r>
              <a:rPr b="0" i="0" lang="en-US" sz="2000" u="none" cap="none" strike="noStrike">
                <a:solidFill>
                  <a:srgbClr val="695D46"/>
                </a:solidFill>
                <a:latin typeface="Avenir"/>
                <a:ea typeface="Avenir"/>
                <a:cs typeface="Avenir"/>
                <a:sym typeface="Avenir"/>
              </a:rPr>
              <a:t>→ </a:t>
            </a:r>
            <a:r>
              <a:rPr b="0" i="0" lang="en-US" sz="2000" u="none" cap="none" strike="noStrike">
                <a:solidFill>
                  <a:srgbClr val="EF6C00"/>
                </a:solidFill>
                <a:latin typeface="Avenir"/>
                <a:ea typeface="Avenir"/>
                <a:cs typeface="Avenir"/>
                <a:sym typeface="Avenir"/>
              </a:rPr>
              <a:t>transmission delay</a:t>
            </a:r>
            <a:endParaRPr b="0" i="0" sz="2000" u="none" cap="none" strike="noStrike">
              <a:solidFill>
                <a:srgbClr val="EF6C00"/>
              </a:solidFill>
              <a:latin typeface="Avenir"/>
              <a:ea typeface="Avenir"/>
              <a:cs typeface="Avenir"/>
              <a:sym typeface="Avenir"/>
            </a:endParaRPr>
          </a:p>
          <a:p>
            <a:pPr indent="-285750" lvl="1" marL="742950" marR="0" rtl="0" algn="l">
              <a:spcBef>
                <a:spcPts val="400"/>
              </a:spcBef>
              <a:spcAft>
                <a:spcPts val="0"/>
              </a:spcAft>
              <a:buClr>
                <a:srgbClr val="695D46"/>
              </a:buClr>
              <a:buSzPts val="2000"/>
              <a:buFont typeface="Arial"/>
              <a:buChar char="–"/>
            </a:pPr>
            <a:r>
              <a:rPr b="0" i="0" lang="en-US" sz="2000" u="none" cap="none" strike="noStrike">
                <a:solidFill>
                  <a:srgbClr val="695D46"/>
                </a:solidFill>
                <a:latin typeface="Avenir"/>
                <a:ea typeface="Avenir"/>
                <a:cs typeface="Avenir"/>
                <a:sym typeface="Avenir"/>
              </a:rPr>
              <a:t>your </a:t>
            </a:r>
            <a:r>
              <a:rPr b="1" i="0" lang="en-US" sz="2000" u="none" cap="none" strike="noStrike">
                <a:solidFill>
                  <a:srgbClr val="695D46"/>
                </a:solidFill>
                <a:latin typeface="Avenir"/>
                <a:ea typeface="Avenir"/>
                <a:cs typeface="Avenir"/>
                <a:sym typeface="Avenir"/>
              </a:rPr>
              <a:t>distance</a:t>
            </a:r>
            <a:r>
              <a:rPr b="0" i="0" lang="en-US" sz="2000" u="none" cap="none" strike="noStrike">
                <a:solidFill>
                  <a:srgbClr val="695D46"/>
                </a:solidFill>
                <a:latin typeface="Avenir"/>
                <a:ea typeface="Avenir"/>
                <a:cs typeface="Avenir"/>
                <a:sym typeface="Avenir"/>
              </a:rPr>
              <a:t> from the destination</a:t>
            </a:r>
            <a:br>
              <a:rPr b="0" i="0" lang="en-US" sz="2000" u="none" cap="none" strike="noStrike">
                <a:solidFill>
                  <a:srgbClr val="695D46"/>
                </a:solidFill>
                <a:latin typeface="Avenir"/>
                <a:ea typeface="Avenir"/>
                <a:cs typeface="Avenir"/>
                <a:sym typeface="Avenir"/>
              </a:rPr>
            </a:br>
            <a:r>
              <a:rPr b="0" i="0" lang="en-US" sz="2000" u="none" cap="none" strike="noStrike">
                <a:solidFill>
                  <a:srgbClr val="695D46"/>
                </a:solidFill>
                <a:latin typeface="Avenir"/>
                <a:ea typeface="Avenir"/>
                <a:cs typeface="Avenir"/>
                <a:sym typeface="Avenir"/>
              </a:rPr>
              <a:t>→ </a:t>
            </a:r>
            <a:r>
              <a:rPr b="0" i="0" lang="en-US" sz="2000" u="none" cap="none" strike="noStrike">
                <a:solidFill>
                  <a:schemeClr val="accent1"/>
                </a:solidFill>
                <a:latin typeface="Avenir"/>
                <a:ea typeface="Avenir"/>
                <a:cs typeface="Avenir"/>
                <a:sym typeface="Avenir"/>
              </a:rPr>
              <a:t>propagation delay</a:t>
            </a:r>
            <a:endParaRPr b="0" i="0" sz="2000" u="none" cap="none" strike="noStrike">
              <a:solidFill>
                <a:schemeClr val="accent1"/>
              </a:solidFill>
              <a:latin typeface="Avenir"/>
              <a:ea typeface="Avenir"/>
              <a:cs typeface="Avenir"/>
              <a:sym typeface="Avenir"/>
            </a:endParaRPr>
          </a:p>
          <a:p>
            <a:pPr indent="-285750" lvl="1" marL="742950" marR="0" rtl="0" algn="l">
              <a:spcBef>
                <a:spcPts val="400"/>
              </a:spcBef>
              <a:spcAft>
                <a:spcPts val="0"/>
              </a:spcAft>
              <a:buClr>
                <a:srgbClr val="695D46"/>
              </a:buClr>
              <a:buSzPts val="2000"/>
              <a:buFont typeface="Arial"/>
              <a:buChar char="–"/>
            </a:pPr>
            <a:r>
              <a:rPr b="0" i="0" lang="en-US" sz="2000" u="none" cap="none" strike="noStrike">
                <a:solidFill>
                  <a:srgbClr val="695D46"/>
                </a:solidFill>
                <a:latin typeface="Avenir"/>
                <a:ea typeface="Avenir"/>
                <a:cs typeface="Avenir"/>
                <a:sym typeface="Avenir"/>
              </a:rPr>
              <a:t>the </a:t>
            </a:r>
            <a:r>
              <a:rPr b="1" i="0" lang="en-US" sz="2000" u="none" cap="none" strike="noStrike">
                <a:solidFill>
                  <a:srgbClr val="695D46"/>
                </a:solidFill>
                <a:latin typeface="Avenir"/>
                <a:ea typeface="Avenir"/>
                <a:cs typeface="Avenir"/>
                <a:sym typeface="Avenir"/>
              </a:rPr>
              <a:t>traffic pattern</a:t>
            </a:r>
            <a:br>
              <a:rPr b="0" i="0" lang="en-US" sz="2000" u="none" cap="none" strike="noStrike">
                <a:solidFill>
                  <a:srgbClr val="695D46"/>
                </a:solidFill>
                <a:latin typeface="Avenir"/>
                <a:ea typeface="Avenir"/>
                <a:cs typeface="Avenir"/>
                <a:sym typeface="Avenir"/>
              </a:rPr>
            </a:br>
            <a:r>
              <a:rPr b="0" i="0" lang="en-US" sz="2000" u="none" cap="none" strike="noStrike">
                <a:solidFill>
                  <a:srgbClr val="695D46"/>
                </a:solidFill>
                <a:latin typeface="Avenir"/>
                <a:ea typeface="Avenir"/>
                <a:cs typeface="Avenir"/>
                <a:sym typeface="Avenir"/>
              </a:rPr>
              <a:t>→ </a:t>
            </a:r>
            <a:r>
              <a:rPr b="0" i="0" lang="en-US" sz="2000" u="none" cap="none" strike="noStrike">
                <a:solidFill>
                  <a:schemeClr val="accent1"/>
                </a:solidFill>
                <a:latin typeface="Avenir"/>
                <a:ea typeface="Avenir"/>
                <a:cs typeface="Avenir"/>
                <a:sym typeface="Avenir"/>
              </a:rPr>
              <a:t>queuing delay</a:t>
            </a:r>
            <a:endParaRPr/>
          </a:p>
          <a:p>
            <a:pPr indent="-285750" lvl="1" marL="742950" marR="0" rtl="0" algn="l">
              <a:spcBef>
                <a:spcPts val="400"/>
              </a:spcBef>
              <a:spcAft>
                <a:spcPts val="0"/>
              </a:spcAft>
              <a:buClr>
                <a:srgbClr val="695D46"/>
              </a:buClr>
              <a:buSzPts val="2000"/>
              <a:buFont typeface="Arial"/>
              <a:buChar char="–"/>
            </a:pPr>
            <a:r>
              <a:rPr b="0" i="0" lang="en-US" sz="2000" u="none" cap="none" strike="sngStrike">
                <a:solidFill>
                  <a:srgbClr val="695D46"/>
                </a:solidFill>
                <a:latin typeface="Avenir"/>
                <a:ea typeface="Avenir"/>
                <a:cs typeface="Avenir"/>
                <a:sym typeface="Avenir"/>
              </a:rPr>
              <a:t>how fast </a:t>
            </a:r>
            <a:r>
              <a:rPr b="1" i="0" lang="en-US" sz="2000" u="none" cap="none" strike="sngStrike">
                <a:solidFill>
                  <a:srgbClr val="695D46"/>
                </a:solidFill>
                <a:latin typeface="Avenir"/>
                <a:ea typeface="Avenir"/>
                <a:cs typeface="Avenir"/>
                <a:sym typeface="Avenir"/>
              </a:rPr>
              <a:t>routers </a:t>
            </a:r>
            <a:r>
              <a:rPr b="0" i="0" lang="en-US" sz="2000" u="none" cap="none" strike="sngStrike">
                <a:solidFill>
                  <a:srgbClr val="695D46"/>
                </a:solidFill>
                <a:latin typeface="Avenir"/>
                <a:ea typeface="Avenir"/>
                <a:cs typeface="Avenir"/>
                <a:sym typeface="Avenir"/>
              </a:rPr>
              <a:t>process the packet header</a:t>
            </a:r>
            <a:br>
              <a:rPr b="0" i="0" lang="en-US" sz="2000" u="none" cap="none" strike="sngStrike">
                <a:solidFill>
                  <a:schemeClr val="accent1"/>
                </a:solidFill>
                <a:latin typeface="Avenir"/>
                <a:ea typeface="Avenir"/>
                <a:cs typeface="Avenir"/>
                <a:sym typeface="Avenir"/>
              </a:rPr>
            </a:br>
            <a:r>
              <a:rPr b="0" i="0" lang="en-US" sz="2000" u="none" cap="none" strike="sngStrike">
                <a:solidFill>
                  <a:srgbClr val="695D46"/>
                </a:solidFill>
                <a:latin typeface="Avenir"/>
                <a:ea typeface="Avenir"/>
                <a:cs typeface="Avenir"/>
                <a:sym typeface="Avenir"/>
              </a:rPr>
              <a:t>→</a:t>
            </a:r>
            <a:r>
              <a:rPr b="0" i="0" lang="en-US" sz="2000" u="none" cap="none" strike="sngStrike">
                <a:solidFill>
                  <a:schemeClr val="accent1"/>
                </a:solidFill>
                <a:latin typeface="Avenir"/>
                <a:ea typeface="Avenir"/>
                <a:cs typeface="Avenir"/>
                <a:sym typeface="Avenir"/>
              </a:rPr>
              <a:t> processing delay</a:t>
            </a:r>
            <a:endParaRPr b="0" i="0" sz="2000" u="none" cap="none" strike="sngStrike">
              <a:solidFill>
                <a:srgbClr val="695D46"/>
              </a:solidFill>
              <a:latin typeface="Avenir"/>
              <a:ea typeface="Avenir"/>
              <a:cs typeface="Avenir"/>
              <a:sym typeface="Aveni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6" name="Shape 116"/>
        <p:cNvGrpSpPr/>
        <p:nvPr/>
      </p:nvGrpSpPr>
      <p:grpSpPr>
        <a:xfrm>
          <a:off x="0" y="0"/>
          <a:ext cx="0" cy="0"/>
          <a:chOff x="0" y="0"/>
          <a:chExt cx="0" cy="0"/>
        </a:xfrm>
      </p:grpSpPr>
      <p:sp>
        <p:nvSpPr>
          <p:cNvPr id="117" name="Google Shape;11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Transmission Delay</a:t>
            </a:r>
            <a:endParaRPr b="1" i="0" sz="4400" u="none" cap="none" strike="noStrike">
              <a:solidFill>
                <a:srgbClr val="EF6C00"/>
              </a:solidFill>
              <a:latin typeface="PT Sans Narrow"/>
              <a:ea typeface="PT Sans Narrow"/>
              <a:cs typeface="PT Sans Narrow"/>
              <a:sym typeface="PT Sans Narrow"/>
            </a:endParaRPr>
          </a:p>
        </p:txBody>
      </p:sp>
      <p:sp>
        <p:nvSpPr>
          <p:cNvPr id="118" name="Google Shape;118;p16"/>
          <p:cNvSpPr/>
          <p:nvPr/>
        </p:nvSpPr>
        <p:spPr>
          <a:xfrm>
            <a:off x="1246689" y="3345635"/>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outer.png" id="119" name="Google Shape;119;p16"/>
          <p:cNvPicPr preferRelativeResize="0"/>
          <p:nvPr/>
        </p:nvPicPr>
        <p:blipFill rotWithShape="1">
          <a:blip r:embed="rId3">
            <a:alphaModFix/>
          </a:blip>
          <a:srcRect b="0" l="0" r="0" t="0"/>
          <a:stretch/>
        </p:blipFill>
        <p:spPr>
          <a:xfrm>
            <a:off x="977130" y="2984656"/>
            <a:ext cx="2370467" cy="1576361"/>
          </a:xfrm>
          <a:prstGeom prst="rect">
            <a:avLst/>
          </a:prstGeom>
          <a:noFill/>
          <a:ln>
            <a:noFill/>
          </a:ln>
        </p:spPr>
      </p:pic>
      <p:sp>
        <p:nvSpPr>
          <p:cNvPr id="120" name="Google Shape;120;p16"/>
          <p:cNvSpPr/>
          <p:nvPr/>
        </p:nvSpPr>
        <p:spPr>
          <a:xfrm>
            <a:off x="6040081" y="3345635"/>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outer.png" id="121" name="Google Shape;121;p16"/>
          <p:cNvPicPr preferRelativeResize="0"/>
          <p:nvPr/>
        </p:nvPicPr>
        <p:blipFill rotWithShape="1">
          <a:blip r:embed="rId3">
            <a:alphaModFix/>
          </a:blip>
          <a:srcRect b="0" l="0" r="0" t="0"/>
          <a:stretch/>
        </p:blipFill>
        <p:spPr>
          <a:xfrm>
            <a:off x="5770522" y="2984656"/>
            <a:ext cx="2370467" cy="1576361"/>
          </a:xfrm>
          <a:prstGeom prst="rect">
            <a:avLst/>
          </a:prstGeom>
          <a:noFill/>
          <a:ln>
            <a:noFill/>
          </a:ln>
        </p:spPr>
      </p:pic>
      <p:sp>
        <p:nvSpPr>
          <p:cNvPr id="122" name="Google Shape;122;p16"/>
          <p:cNvSpPr/>
          <p:nvPr/>
        </p:nvSpPr>
        <p:spPr>
          <a:xfrm>
            <a:off x="3110207" y="4425823"/>
            <a:ext cx="2929874" cy="1000074"/>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box.png" id="123" name="Google Shape;123;p16"/>
          <p:cNvPicPr preferRelativeResize="0"/>
          <p:nvPr/>
        </p:nvPicPr>
        <p:blipFill rotWithShape="1">
          <a:blip r:embed="rId4">
            <a:alphaModFix/>
          </a:blip>
          <a:srcRect b="0" l="0" r="0" t="0"/>
          <a:stretch/>
        </p:blipFill>
        <p:spPr>
          <a:xfrm>
            <a:off x="2133871" y="4425823"/>
            <a:ext cx="1000074" cy="1000074"/>
          </a:xfrm>
          <a:prstGeom prst="rect">
            <a:avLst/>
          </a:prstGeom>
          <a:noFill/>
          <a:ln>
            <a:noFill/>
          </a:ln>
        </p:spPr>
      </p:pic>
      <p:sp>
        <p:nvSpPr>
          <p:cNvPr id="124" name="Google Shape;124;p16"/>
          <p:cNvSpPr txBox="1"/>
          <p:nvPr/>
        </p:nvSpPr>
        <p:spPr>
          <a:xfrm>
            <a:off x="707571" y="1556098"/>
            <a:ext cx="7601858" cy="646331"/>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accent5"/>
              </a:buClr>
              <a:buSzPts val="1800"/>
              <a:buFont typeface="Arial"/>
              <a:buChar char="•"/>
            </a:pPr>
            <a:r>
              <a:rPr b="0" i="0" lang="en-US" sz="1800" u="none" cap="none" strike="noStrike">
                <a:solidFill>
                  <a:schemeClr val="accent5"/>
                </a:solidFill>
                <a:latin typeface="Avenir"/>
                <a:ea typeface="Avenir"/>
                <a:cs typeface="Avenir"/>
                <a:sym typeface="Avenir"/>
              </a:rPr>
              <a:t>How long it takes for the all bits in the packet to get on the wire</a:t>
            </a:r>
            <a:endParaRPr/>
          </a:p>
          <a:p>
            <a:pPr indent="-285750" lvl="2" marL="742950" marR="0" rtl="0" algn="l">
              <a:spcBef>
                <a:spcPts val="0"/>
              </a:spcBef>
              <a:spcAft>
                <a:spcPts val="0"/>
              </a:spcAft>
              <a:buClr>
                <a:schemeClr val="accent5"/>
              </a:buClr>
              <a:buSzPts val="1800"/>
              <a:buFont typeface="Arial"/>
              <a:buChar char="•"/>
            </a:pPr>
            <a:r>
              <a:rPr b="0" i="0" lang="en-US" sz="1800" u="none" cap="none" strike="noStrike">
                <a:solidFill>
                  <a:schemeClr val="accent5"/>
                </a:solidFill>
                <a:latin typeface="Avenir"/>
                <a:ea typeface="Avenir"/>
                <a:cs typeface="Avenir"/>
                <a:sym typeface="Avenir"/>
              </a:rPr>
              <a:t>The time between when the first and last bits enter the link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9" name="Shape 129"/>
        <p:cNvGrpSpPr/>
        <p:nvPr/>
      </p:nvGrpSpPr>
      <p:grpSpPr>
        <a:xfrm>
          <a:off x="0" y="0"/>
          <a:ext cx="0" cy="0"/>
          <a:chOff x="0" y="0"/>
          <a:chExt cx="0" cy="0"/>
        </a:xfrm>
      </p:grpSpPr>
      <p:sp>
        <p:nvSpPr>
          <p:cNvPr id="130" name="Google Shape;13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Transmission Delay</a:t>
            </a:r>
            <a:endParaRPr b="1" i="0" sz="4400" u="none" cap="none" strike="noStrike">
              <a:solidFill>
                <a:srgbClr val="EF6C00"/>
              </a:solidFill>
              <a:latin typeface="PT Sans Narrow"/>
              <a:ea typeface="PT Sans Narrow"/>
              <a:cs typeface="PT Sans Narrow"/>
              <a:sym typeface="PT Sans Narrow"/>
            </a:endParaRPr>
          </a:p>
        </p:txBody>
      </p:sp>
      <p:sp>
        <p:nvSpPr>
          <p:cNvPr id="131" name="Google Shape;131;p17"/>
          <p:cNvSpPr/>
          <p:nvPr/>
        </p:nvSpPr>
        <p:spPr>
          <a:xfrm>
            <a:off x="1246011" y="3348217"/>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outer.png" id="132" name="Google Shape;132;p17"/>
          <p:cNvPicPr preferRelativeResize="0"/>
          <p:nvPr/>
        </p:nvPicPr>
        <p:blipFill rotWithShape="1">
          <a:blip r:embed="rId3">
            <a:alphaModFix/>
          </a:blip>
          <a:srcRect b="0" l="0" r="0" t="0"/>
          <a:stretch/>
        </p:blipFill>
        <p:spPr>
          <a:xfrm>
            <a:off x="976452" y="2987238"/>
            <a:ext cx="2370467" cy="1576361"/>
          </a:xfrm>
          <a:prstGeom prst="rect">
            <a:avLst/>
          </a:prstGeom>
          <a:noFill/>
          <a:ln>
            <a:noFill/>
          </a:ln>
        </p:spPr>
      </p:pic>
      <p:sp>
        <p:nvSpPr>
          <p:cNvPr id="133" name="Google Shape;133;p17"/>
          <p:cNvSpPr/>
          <p:nvPr/>
        </p:nvSpPr>
        <p:spPr>
          <a:xfrm>
            <a:off x="6039403" y="3348217"/>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outer.png" id="134" name="Google Shape;134;p17"/>
          <p:cNvPicPr preferRelativeResize="0"/>
          <p:nvPr/>
        </p:nvPicPr>
        <p:blipFill rotWithShape="1">
          <a:blip r:embed="rId3">
            <a:alphaModFix/>
          </a:blip>
          <a:srcRect b="0" l="0" r="0" t="0"/>
          <a:stretch/>
        </p:blipFill>
        <p:spPr>
          <a:xfrm>
            <a:off x="5769844" y="2987238"/>
            <a:ext cx="2370467" cy="1576361"/>
          </a:xfrm>
          <a:prstGeom prst="rect">
            <a:avLst/>
          </a:prstGeom>
          <a:noFill/>
          <a:ln>
            <a:noFill/>
          </a:ln>
        </p:spPr>
      </p:pic>
      <p:sp>
        <p:nvSpPr>
          <p:cNvPr id="135" name="Google Shape;135;p17"/>
          <p:cNvSpPr/>
          <p:nvPr/>
        </p:nvSpPr>
        <p:spPr>
          <a:xfrm>
            <a:off x="3109529" y="4428405"/>
            <a:ext cx="2929874" cy="1000074"/>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box.png" id="136" name="Google Shape;136;p17"/>
          <p:cNvPicPr preferRelativeResize="0"/>
          <p:nvPr/>
        </p:nvPicPr>
        <p:blipFill rotWithShape="1">
          <a:blip r:embed="rId4">
            <a:alphaModFix/>
          </a:blip>
          <a:srcRect b="0" l="0" r="0" t="0"/>
          <a:stretch/>
        </p:blipFill>
        <p:spPr>
          <a:xfrm>
            <a:off x="2109455" y="4428405"/>
            <a:ext cx="1000074" cy="1000074"/>
          </a:xfrm>
          <a:prstGeom prst="rect">
            <a:avLst/>
          </a:prstGeom>
          <a:noFill/>
          <a:ln>
            <a:noFill/>
          </a:ln>
        </p:spPr>
      </p:pic>
      <p:sp>
        <p:nvSpPr>
          <p:cNvPr id="137" name="Google Shape;137;p17"/>
          <p:cNvSpPr txBox="1"/>
          <p:nvPr/>
        </p:nvSpPr>
        <p:spPr>
          <a:xfrm>
            <a:off x="707571" y="1556098"/>
            <a:ext cx="7601858" cy="1200329"/>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accent5"/>
              </a:buClr>
              <a:buSzPts val="1800"/>
              <a:buFont typeface="Arial"/>
              <a:buChar char="•"/>
            </a:pPr>
            <a:r>
              <a:rPr b="0" i="0" lang="en-US" sz="1800" u="none" cap="none" strike="noStrike">
                <a:solidFill>
                  <a:schemeClr val="accent5"/>
                </a:solidFill>
                <a:latin typeface="Avenir"/>
                <a:ea typeface="Avenir"/>
                <a:cs typeface="Avenir"/>
                <a:sym typeface="Avenir"/>
              </a:rPr>
              <a:t>How long it takes for the all bits in the packet to get on the wire</a:t>
            </a:r>
            <a:endParaRPr/>
          </a:p>
          <a:p>
            <a:pPr indent="-285750" lvl="2" marL="742950" marR="0" rtl="0" algn="l">
              <a:spcBef>
                <a:spcPts val="0"/>
              </a:spcBef>
              <a:spcAft>
                <a:spcPts val="0"/>
              </a:spcAft>
              <a:buClr>
                <a:schemeClr val="accent5"/>
              </a:buClr>
              <a:buSzPts val="1800"/>
              <a:buFont typeface="Arial"/>
              <a:buChar char="•"/>
            </a:pPr>
            <a:r>
              <a:rPr b="0" i="0" lang="en-US" sz="1800" u="none" cap="none" strike="noStrike">
                <a:solidFill>
                  <a:schemeClr val="accent5"/>
                </a:solidFill>
                <a:latin typeface="Avenir"/>
                <a:ea typeface="Avenir"/>
                <a:cs typeface="Avenir"/>
                <a:sym typeface="Avenir"/>
              </a:rPr>
              <a:t>The time between when the first and last bits enter the link</a:t>
            </a:r>
            <a:endParaRPr/>
          </a:p>
          <a:p>
            <a:pPr indent="-285750" lvl="1" marL="285750" marR="0" rtl="0" algn="l">
              <a:spcBef>
                <a:spcPts val="0"/>
              </a:spcBef>
              <a:spcAft>
                <a:spcPts val="0"/>
              </a:spcAft>
              <a:buClr>
                <a:schemeClr val="accent5"/>
              </a:buClr>
              <a:buSzPts val="1800"/>
              <a:buFont typeface="Arial"/>
              <a:buChar char="•"/>
            </a:pPr>
            <a:r>
              <a:rPr b="0" i="0" lang="en-US" sz="1800" u="none" cap="none" strike="noStrike">
                <a:solidFill>
                  <a:schemeClr val="accent5"/>
                </a:solidFill>
                <a:latin typeface="Avenir"/>
                <a:ea typeface="Avenir"/>
                <a:cs typeface="Avenir"/>
                <a:sym typeface="Avenir"/>
              </a:rPr>
              <a:t>Limited by the </a:t>
            </a:r>
            <a:r>
              <a:rPr b="1" i="0" lang="en-US" sz="1800" u="none" cap="none" strike="noStrike">
                <a:solidFill>
                  <a:srgbClr val="EF6C00"/>
                </a:solidFill>
                <a:latin typeface="Avenir"/>
                <a:ea typeface="Avenir"/>
                <a:cs typeface="Avenir"/>
                <a:sym typeface="Avenir"/>
              </a:rPr>
              <a:t>bandwidth</a:t>
            </a:r>
            <a:endParaRPr/>
          </a:p>
          <a:p>
            <a:pPr indent="-171450" lvl="2" marL="742950" marR="0" rtl="0" algn="l">
              <a:spcBef>
                <a:spcPts val="0"/>
              </a:spcBef>
              <a:spcAft>
                <a:spcPts val="0"/>
              </a:spcAft>
              <a:buClr>
                <a:schemeClr val="dk1"/>
              </a:buClr>
              <a:buSzPts val="1800"/>
              <a:buFont typeface="Arial"/>
              <a:buNone/>
            </a:pPr>
            <a:r>
              <a:t/>
            </a:r>
            <a:endParaRPr b="0" i="0" sz="1800" u="none" cap="none" strike="noStrike">
              <a:solidFill>
                <a:schemeClr val="accent5"/>
              </a:solidFill>
              <a:latin typeface="Avenir"/>
              <a:ea typeface="Avenir"/>
              <a:cs typeface="Avenir"/>
              <a:sym typeface="Aveni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2" name="Shape 142"/>
        <p:cNvGrpSpPr/>
        <p:nvPr/>
      </p:nvGrpSpPr>
      <p:grpSpPr>
        <a:xfrm>
          <a:off x="0" y="0"/>
          <a:ext cx="0" cy="0"/>
          <a:chOff x="0" y="0"/>
          <a:chExt cx="0" cy="0"/>
        </a:xfrm>
      </p:grpSpPr>
      <p:sp>
        <p:nvSpPr>
          <p:cNvPr id="143" name="Google Shape;143;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Transmission Delay</a:t>
            </a:r>
            <a:endParaRPr b="1" i="0" sz="4400" u="none" cap="none" strike="noStrike">
              <a:solidFill>
                <a:srgbClr val="EF6C00"/>
              </a:solidFill>
              <a:latin typeface="PT Sans Narrow"/>
              <a:ea typeface="PT Sans Narrow"/>
              <a:cs typeface="PT Sans Narrow"/>
              <a:sym typeface="PT Sans Narrow"/>
            </a:endParaRPr>
          </a:p>
        </p:txBody>
      </p:sp>
      <p:sp>
        <p:nvSpPr>
          <p:cNvPr id="144" name="Google Shape;144;p18"/>
          <p:cNvSpPr/>
          <p:nvPr/>
        </p:nvSpPr>
        <p:spPr>
          <a:xfrm>
            <a:off x="1246744" y="3342609"/>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outer.png" id="145" name="Google Shape;145;p18"/>
          <p:cNvPicPr preferRelativeResize="0"/>
          <p:nvPr/>
        </p:nvPicPr>
        <p:blipFill rotWithShape="1">
          <a:blip r:embed="rId3">
            <a:alphaModFix/>
          </a:blip>
          <a:srcRect b="0" l="0" r="0" t="0"/>
          <a:stretch/>
        </p:blipFill>
        <p:spPr>
          <a:xfrm>
            <a:off x="977185" y="2981630"/>
            <a:ext cx="2370467" cy="1576361"/>
          </a:xfrm>
          <a:prstGeom prst="rect">
            <a:avLst/>
          </a:prstGeom>
          <a:noFill/>
          <a:ln>
            <a:noFill/>
          </a:ln>
        </p:spPr>
      </p:pic>
      <p:sp>
        <p:nvSpPr>
          <p:cNvPr id="146" name="Google Shape;146;p18"/>
          <p:cNvSpPr/>
          <p:nvPr/>
        </p:nvSpPr>
        <p:spPr>
          <a:xfrm>
            <a:off x="6040136" y="3342609"/>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outer.png" id="147" name="Google Shape;147;p18"/>
          <p:cNvPicPr preferRelativeResize="0"/>
          <p:nvPr/>
        </p:nvPicPr>
        <p:blipFill rotWithShape="1">
          <a:blip r:embed="rId3">
            <a:alphaModFix/>
          </a:blip>
          <a:srcRect b="0" l="0" r="0" t="0"/>
          <a:stretch/>
        </p:blipFill>
        <p:spPr>
          <a:xfrm>
            <a:off x="5770577" y="2981630"/>
            <a:ext cx="2370467" cy="1576361"/>
          </a:xfrm>
          <a:prstGeom prst="rect">
            <a:avLst/>
          </a:prstGeom>
          <a:noFill/>
          <a:ln>
            <a:noFill/>
          </a:ln>
        </p:spPr>
      </p:pic>
      <p:sp>
        <p:nvSpPr>
          <p:cNvPr id="148" name="Google Shape;148;p18"/>
          <p:cNvSpPr/>
          <p:nvPr/>
        </p:nvSpPr>
        <p:spPr>
          <a:xfrm>
            <a:off x="3110262" y="4674885"/>
            <a:ext cx="2929874" cy="50292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box.png" id="149" name="Google Shape;149;p18"/>
          <p:cNvPicPr preferRelativeResize="0"/>
          <p:nvPr/>
        </p:nvPicPr>
        <p:blipFill rotWithShape="1">
          <a:blip r:embed="rId4">
            <a:alphaModFix/>
          </a:blip>
          <a:srcRect b="0" l="0" r="0" t="0"/>
          <a:stretch/>
        </p:blipFill>
        <p:spPr>
          <a:xfrm>
            <a:off x="1601502" y="4674885"/>
            <a:ext cx="1508760" cy="502920"/>
          </a:xfrm>
          <a:prstGeom prst="rect">
            <a:avLst/>
          </a:prstGeom>
          <a:noFill/>
          <a:ln>
            <a:noFill/>
          </a:ln>
        </p:spPr>
      </p:pic>
      <p:sp>
        <p:nvSpPr>
          <p:cNvPr id="150" name="Google Shape;150;p18"/>
          <p:cNvSpPr txBox="1"/>
          <p:nvPr/>
        </p:nvSpPr>
        <p:spPr>
          <a:xfrm>
            <a:off x="707571" y="1556098"/>
            <a:ext cx="7601858" cy="1477328"/>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accent5"/>
              </a:buClr>
              <a:buSzPts val="1800"/>
              <a:buFont typeface="Arial"/>
              <a:buChar char="•"/>
            </a:pPr>
            <a:r>
              <a:rPr b="0" i="0" lang="en-US" sz="1800" u="none" cap="none" strike="noStrike">
                <a:solidFill>
                  <a:schemeClr val="accent5"/>
                </a:solidFill>
                <a:latin typeface="Avenir"/>
                <a:ea typeface="Avenir"/>
                <a:cs typeface="Avenir"/>
                <a:sym typeface="Avenir"/>
              </a:rPr>
              <a:t>How long it takes for the all bits in the packet to get on the wire</a:t>
            </a:r>
            <a:endParaRPr/>
          </a:p>
          <a:p>
            <a:pPr indent="-285750" lvl="2" marL="742950" marR="0" rtl="0" algn="l">
              <a:spcBef>
                <a:spcPts val="0"/>
              </a:spcBef>
              <a:spcAft>
                <a:spcPts val="0"/>
              </a:spcAft>
              <a:buClr>
                <a:schemeClr val="accent5"/>
              </a:buClr>
              <a:buSzPts val="1800"/>
              <a:buFont typeface="Arial"/>
              <a:buChar char="•"/>
            </a:pPr>
            <a:r>
              <a:rPr b="0" i="0" lang="en-US" sz="1800" u="none" cap="none" strike="noStrike">
                <a:solidFill>
                  <a:schemeClr val="accent5"/>
                </a:solidFill>
                <a:latin typeface="Avenir"/>
                <a:ea typeface="Avenir"/>
                <a:cs typeface="Avenir"/>
                <a:sym typeface="Avenir"/>
              </a:rPr>
              <a:t>The time between when the first and last bits enter the link</a:t>
            </a:r>
            <a:endParaRPr/>
          </a:p>
          <a:p>
            <a:pPr indent="-285750" lvl="1" marL="285750" marR="0" rtl="0" algn="l">
              <a:spcBef>
                <a:spcPts val="0"/>
              </a:spcBef>
              <a:spcAft>
                <a:spcPts val="0"/>
              </a:spcAft>
              <a:buClr>
                <a:schemeClr val="accent5"/>
              </a:buClr>
              <a:buSzPts val="1800"/>
              <a:buFont typeface="Arial"/>
              <a:buChar char="•"/>
            </a:pPr>
            <a:r>
              <a:rPr b="0" i="0" lang="en-US" sz="1800" u="none" cap="none" strike="noStrike">
                <a:solidFill>
                  <a:schemeClr val="accent5"/>
                </a:solidFill>
                <a:latin typeface="Avenir"/>
                <a:ea typeface="Avenir"/>
                <a:cs typeface="Avenir"/>
                <a:sym typeface="Avenir"/>
              </a:rPr>
              <a:t>Limited by the </a:t>
            </a:r>
            <a:r>
              <a:rPr b="1" i="0" lang="en-US" sz="1800" u="none" cap="none" strike="noStrike">
                <a:solidFill>
                  <a:srgbClr val="EF6C00"/>
                </a:solidFill>
                <a:latin typeface="Avenir"/>
                <a:ea typeface="Avenir"/>
                <a:cs typeface="Avenir"/>
                <a:sym typeface="Avenir"/>
              </a:rPr>
              <a:t>bandwidth</a:t>
            </a:r>
            <a:endParaRPr/>
          </a:p>
          <a:p>
            <a:pPr indent="-285750" lvl="1" marL="285750" marR="0" rtl="0" algn="l">
              <a:spcBef>
                <a:spcPts val="0"/>
              </a:spcBef>
              <a:spcAft>
                <a:spcPts val="0"/>
              </a:spcAft>
              <a:buClr>
                <a:schemeClr val="accent5"/>
              </a:buClr>
              <a:buSzPts val="1800"/>
              <a:buFont typeface="Arial"/>
              <a:buChar char="•"/>
            </a:pPr>
            <a:r>
              <a:rPr b="0" i="0" lang="en-US" sz="1800" u="none" cap="none" strike="noStrike">
                <a:solidFill>
                  <a:schemeClr val="accent5"/>
                </a:solidFill>
                <a:latin typeface="Avenir"/>
                <a:ea typeface="Avenir"/>
                <a:cs typeface="Avenir"/>
                <a:sym typeface="Avenir"/>
              </a:rPr>
              <a:t>Function of </a:t>
            </a:r>
            <a:r>
              <a:rPr b="1" i="0" lang="en-US" sz="1800" u="none" cap="none" strike="noStrike">
                <a:solidFill>
                  <a:srgbClr val="EF6C00"/>
                </a:solidFill>
                <a:latin typeface="Avenir"/>
                <a:ea typeface="Avenir"/>
                <a:cs typeface="Avenir"/>
                <a:sym typeface="Avenir"/>
              </a:rPr>
              <a:t>packet size</a:t>
            </a:r>
            <a:endParaRPr b="1" i="0" sz="1800" u="none" cap="none" strike="noStrike">
              <a:solidFill>
                <a:srgbClr val="EF6C00"/>
              </a:solidFill>
              <a:latin typeface="Avenir"/>
              <a:ea typeface="Avenir"/>
              <a:cs typeface="Avenir"/>
              <a:sym typeface="Avenir"/>
            </a:endParaRPr>
          </a:p>
          <a:p>
            <a:pPr indent="-171450" lvl="2" marL="742950" marR="0" rtl="0" algn="l">
              <a:spcBef>
                <a:spcPts val="0"/>
              </a:spcBef>
              <a:spcAft>
                <a:spcPts val="0"/>
              </a:spcAft>
              <a:buClr>
                <a:schemeClr val="dk1"/>
              </a:buClr>
              <a:buSzPts val="1800"/>
              <a:buFont typeface="Arial"/>
              <a:buNone/>
            </a:pPr>
            <a:r>
              <a:t/>
            </a:r>
            <a:endParaRPr b="0" i="0" sz="1800" u="none" cap="none" strike="noStrike">
              <a:solidFill>
                <a:schemeClr val="accent5"/>
              </a:solidFill>
              <a:latin typeface="Avenir"/>
              <a:ea typeface="Avenir"/>
              <a:cs typeface="Avenir"/>
              <a:sym typeface="Aveni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5" name="Shape 155"/>
        <p:cNvGrpSpPr/>
        <p:nvPr/>
      </p:nvGrpSpPr>
      <p:grpSpPr>
        <a:xfrm>
          <a:off x="0" y="0"/>
          <a:ext cx="0" cy="0"/>
          <a:chOff x="0" y="0"/>
          <a:chExt cx="0" cy="0"/>
        </a:xfrm>
      </p:grpSpPr>
      <p:sp>
        <p:nvSpPr>
          <p:cNvPr id="156" name="Google Shape;15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Transmission Delay</a:t>
            </a:r>
            <a:endParaRPr b="1" i="0" sz="4400" u="none" cap="none" strike="noStrike">
              <a:solidFill>
                <a:srgbClr val="EF6C00"/>
              </a:solidFill>
              <a:latin typeface="PT Sans Narrow"/>
              <a:ea typeface="PT Sans Narrow"/>
              <a:cs typeface="PT Sans Narrow"/>
              <a:sym typeface="PT Sans Narrow"/>
            </a:endParaRPr>
          </a:p>
        </p:txBody>
      </p:sp>
      <p:pic>
        <p:nvPicPr>
          <p:cNvPr id="157" name="Google Shape;157;p19"/>
          <p:cNvPicPr preferRelativeResize="0"/>
          <p:nvPr/>
        </p:nvPicPr>
        <p:blipFill rotWithShape="1">
          <a:blip r:embed="rId3">
            <a:alphaModFix/>
          </a:blip>
          <a:srcRect b="0" l="0" r="0" t="0"/>
          <a:stretch/>
        </p:blipFill>
        <p:spPr>
          <a:xfrm>
            <a:off x="736600" y="2851150"/>
            <a:ext cx="7670800" cy="1155700"/>
          </a:xfrm>
          <a:prstGeom prst="rect">
            <a:avLst/>
          </a:prstGeom>
          <a:noFill/>
          <a:ln>
            <a:noFill/>
          </a:ln>
        </p:spPr>
      </p:pic>
      <p:sp>
        <p:nvSpPr>
          <p:cNvPr id="158" name="Google Shape;158;p19"/>
          <p:cNvSpPr/>
          <p:nvPr/>
        </p:nvSpPr>
        <p:spPr>
          <a:xfrm>
            <a:off x="5581000" y="3518375"/>
            <a:ext cx="1434600" cy="235800"/>
          </a:xfrm>
          <a:prstGeom prst="rect">
            <a:avLst/>
          </a:prstGeom>
          <a:solidFill>
            <a:srgbClr val="FF6800">
              <a:alpha val="22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9" name="Google Shape;159;p19"/>
          <p:cNvCxnSpPr>
            <a:stCxn id="158" idx="2"/>
          </p:cNvCxnSpPr>
          <p:nvPr/>
        </p:nvCxnSpPr>
        <p:spPr>
          <a:xfrm flipH="1">
            <a:off x="5011000" y="3754175"/>
            <a:ext cx="1287300" cy="746700"/>
          </a:xfrm>
          <a:prstGeom prst="straightConnector1">
            <a:avLst/>
          </a:prstGeom>
          <a:noFill/>
          <a:ln cap="flat" cmpd="sng" w="9525">
            <a:solidFill>
              <a:schemeClr val="dk2"/>
            </a:solidFill>
            <a:prstDash val="solid"/>
            <a:round/>
            <a:headEnd len="med" w="med" type="none"/>
            <a:tailEnd len="med" w="med" type="none"/>
          </a:ln>
        </p:spPr>
      </p:cxnSp>
      <p:sp>
        <p:nvSpPr>
          <p:cNvPr id="160" name="Google Shape;160;p19"/>
          <p:cNvSpPr txBox="1"/>
          <p:nvPr/>
        </p:nvSpPr>
        <p:spPr>
          <a:xfrm>
            <a:off x="3621100" y="4500875"/>
            <a:ext cx="2829600" cy="7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rgbClr val="EF6C00"/>
                </a:solidFill>
                <a:latin typeface="PT Sans Narrow"/>
                <a:ea typeface="PT Sans Narrow"/>
                <a:cs typeface="PT Sans Narrow"/>
                <a:sym typeface="PT Sans Narrow"/>
              </a:rPr>
              <a:t>Usually </a:t>
            </a:r>
            <a:r>
              <a:rPr b="1" lang="en-US" sz="2800">
                <a:solidFill>
                  <a:srgbClr val="EF6C00"/>
                </a:solidFill>
                <a:latin typeface="PT Sans Narrow"/>
                <a:ea typeface="PT Sans Narrow"/>
                <a:cs typeface="PT Sans Narrow"/>
                <a:sym typeface="PT Sans Narrow"/>
              </a:rPr>
              <a:t>bits</a:t>
            </a:r>
            <a:r>
              <a:rPr lang="en-US" sz="2800">
                <a:solidFill>
                  <a:srgbClr val="EF6C00"/>
                </a:solidFill>
                <a:latin typeface="PT Sans Narrow"/>
                <a:ea typeface="PT Sans Narrow"/>
                <a:cs typeface="PT Sans Narrow"/>
                <a:sym typeface="PT Sans Narrow"/>
              </a:rPr>
              <a:t>/second</a:t>
            </a:r>
            <a:endParaRPr sz="2800">
              <a:solidFill>
                <a:srgbClr val="EF6C00"/>
              </a:solidFill>
              <a:latin typeface="PT Sans Narrow"/>
              <a:ea typeface="PT Sans Narrow"/>
              <a:cs typeface="PT Sans Narrow"/>
              <a:sym typeface="PT Sans Narro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4" name="Shape 164"/>
        <p:cNvGrpSpPr/>
        <p:nvPr/>
      </p:nvGrpSpPr>
      <p:grpSpPr>
        <a:xfrm>
          <a:off x="0" y="0"/>
          <a:ext cx="0" cy="0"/>
          <a:chOff x="0" y="0"/>
          <a:chExt cx="0" cy="0"/>
        </a:xfrm>
      </p:grpSpPr>
      <p:sp>
        <p:nvSpPr>
          <p:cNvPr id="165" name="Google Shape;165;p20"/>
          <p:cNvSpPr txBox="1"/>
          <p:nvPr/>
        </p:nvSpPr>
        <p:spPr>
          <a:xfrm>
            <a:off x="1962535" y="5843769"/>
            <a:ext cx="2159001"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none" cap="none" strike="noStrike">
                <a:solidFill>
                  <a:schemeClr val="dk1"/>
                </a:solidFill>
                <a:latin typeface="Avenir"/>
                <a:ea typeface="Avenir"/>
                <a:cs typeface="Avenir"/>
                <a:sym typeface="Avenir"/>
              </a:rPr>
              <a:t>Packet size = 500B</a:t>
            </a:r>
            <a:endParaRPr sz="1800">
              <a:solidFill>
                <a:schemeClr val="dk1"/>
              </a:solidFill>
              <a:latin typeface="Avenir"/>
              <a:ea typeface="Avenir"/>
              <a:cs typeface="Avenir"/>
              <a:sym typeface="Avenir"/>
            </a:endParaRPr>
          </a:p>
        </p:txBody>
      </p:sp>
      <p:sp>
        <p:nvSpPr>
          <p:cNvPr id="166" name="Google Shape;166;p20"/>
          <p:cNvSpPr/>
          <p:nvPr/>
        </p:nvSpPr>
        <p:spPr>
          <a:xfrm>
            <a:off x="1256296" y="3208588"/>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router.png" id="167" name="Google Shape;167;p20"/>
          <p:cNvPicPr preferRelativeResize="0"/>
          <p:nvPr/>
        </p:nvPicPr>
        <p:blipFill rotWithShape="1">
          <a:blip r:embed="rId3">
            <a:alphaModFix/>
          </a:blip>
          <a:srcRect b="0" l="0" r="0" t="0"/>
          <a:stretch/>
        </p:blipFill>
        <p:spPr>
          <a:xfrm>
            <a:off x="986737" y="2847609"/>
            <a:ext cx="2370467" cy="1576361"/>
          </a:xfrm>
          <a:prstGeom prst="rect">
            <a:avLst/>
          </a:prstGeom>
          <a:noFill/>
          <a:ln>
            <a:noFill/>
          </a:ln>
        </p:spPr>
      </p:pic>
      <p:pic>
        <p:nvPicPr>
          <p:cNvPr descr="box.png" id="168" name="Google Shape;168;p20"/>
          <p:cNvPicPr preferRelativeResize="0"/>
          <p:nvPr/>
        </p:nvPicPr>
        <p:blipFill rotWithShape="1">
          <a:blip r:embed="rId4">
            <a:alphaModFix/>
          </a:blip>
          <a:srcRect b="0" l="0" r="0" t="0"/>
          <a:stretch/>
        </p:blipFill>
        <p:spPr>
          <a:xfrm>
            <a:off x="2490695" y="5034160"/>
            <a:ext cx="629119" cy="629119"/>
          </a:xfrm>
          <a:prstGeom prst="rect">
            <a:avLst/>
          </a:prstGeom>
          <a:noFill/>
          <a:ln>
            <a:noFill/>
          </a:ln>
        </p:spPr>
      </p:pic>
      <p:sp>
        <p:nvSpPr>
          <p:cNvPr id="169" name="Google Shape;169;p20"/>
          <p:cNvSpPr/>
          <p:nvPr/>
        </p:nvSpPr>
        <p:spPr>
          <a:xfrm>
            <a:off x="3140765" y="5046130"/>
            <a:ext cx="3246782" cy="629119"/>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20"/>
          <p:cNvSpPr txBox="1"/>
          <p:nvPr/>
        </p:nvSpPr>
        <p:spPr>
          <a:xfrm>
            <a:off x="3510841" y="4676798"/>
            <a:ext cx="2563272"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venir"/>
                <a:ea typeface="Avenir"/>
                <a:cs typeface="Avenir"/>
                <a:sym typeface="Avenir"/>
              </a:rPr>
              <a:t>Bandwidth = 4 Mbps</a:t>
            </a:r>
            <a:endParaRPr sz="1800">
              <a:solidFill>
                <a:schemeClr val="dk1"/>
              </a:solidFill>
              <a:latin typeface="Avenir"/>
              <a:ea typeface="Avenir"/>
              <a:cs typeface="Avenir"/>
              <a:sym typeface="Avenir"/>
            </a:endParaRPr>
          </a:p>
        </p:txBody>
      </p:sp>
      <p:sp>
        <p:nvSpPr>
          <p:cNvPr id="171" name="Google Shape;17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Transmission Delay: Example</a:t>
            </a:r>
            <a:endParaRPr b="1" i="0" sz="4400" u="none" cap="none" strike="noStrike">
              <a:solidFill>
                <a:srgbClr val="EF6C00"/>
              </a:solidFill>
              <a:latin typeface="PT Sans Narrow"/>
              <a:ea typeface="PT Sans Narrow"/>
              <a:cs typeface="PT Sans Narrow"/>
              <a:sym typeface="PT Sans Narrow"/>
            </a:endParaRPr>
          </a:p>
        </p:txBody>
      </p:sp>
      <p:pic>
        <p:nvPicPr>
          <p:cNvPr id="172" name="Google Shape;172;p20"/>
          <p:cNvPicPr preferRelativeResize="0"/>
          <p:nvPr/>
        </p:nvPicPr>
        <p:blipFill rotWithShape="1">
          <a:blip r:embed="rId5">
            <a:alphaModFix/>
          </a:blip>
          <a:srcRect b="0" l="0" r="0" t="0"/>
          <a:stretch/>
        </p:blipFill>
        <p:spPr>
          <a:xfrm>
            <a:off x="1959936" y="1289965"/>
            <a:ext cx="5174312" cy="779573"/>
          </a:xfrm>
          <a:prstGeom prst="rect">
            <a:avLst/>
          </a:prstGeom>
          <a:noFill/>
          <a:ln>
            <a:noFill/>
          </a:ln>
        </p:spPr>
      </p:pic>
      <p:sp>
        <p:nvSpPr>
          <p:cNvPr id="173" name="Google Shape;173;p20"/>
          <p:cNvSpPr/>
          <p:nvPr/>
        </p:nvSpPr>
        <p:spPr>
          <a:xfrm>
            <a:off x="6088975" y="3195336"/>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router.png" id="174" name="Google Shape;174;p20"/>
          <p:cNvPicPr preferRelativeResize="0"/>
          <p:nvPr/>
        </p:nvPicPr>
        <p:blipFill rotWithShape="1">
          <a:blip r:embed="rId3">
            <a:alphaModFix/>
          </a:blip>
          <a:srcRect b="0" l="0" r="0" t="0"/>
          <a:stretch/>
        </p:blipFill>
        <p:spPr>
          <a:xfrm>
            <a:off x="5819416" y="2834357"/>
            <a:ext cx="2370467" cy="15763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9" name="Shape 179"/>
        <p:cNvGrpSpPr/>
        <p:nvPr/>
      </p:nvGrpSpPr>
      <p:grpSpPr>
        <a:xfrm>
          <a:off x="0" y="0"/>
          <a:ext cx="0" cy="0"/>
          <a:chOff x="0" y="0"/>
          <a:chExt cx="0" cy="0"/>
        </a:xfrm>
      </p:grpSpPr>
      <p:sp>
        <p:nvSpPr>
          <p:cNvPr id="180" name="Google Shape;180;p21"/>
          <p:cNvSpPr/>
          <p:nvPr/>
        </p:nvSpPr>
        <p:spPr>
          <a:xfrm>
            <a:off x="2769703" y="4807589"/>
            <a:ext cx="3366053" cy="629119"/>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21"/>
          <p:cNvSpPr/>
          <p:nvPr/>
        </p:nvSpPr>
        <p:spPr>
          <a:xfrm>
            <a:off x="1256296" y="3592897"/>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router.png" id="182" name="Google Shape;182;p21"/>
          <p:cNvPicPr preferRelativeResize="0"/>
          <p:nvPr/>
        </p:nvPicPr>
        <p:blipFill rotWithShape="1">
          <a:blip r:embed="rId3">
            <a:alphaModFix/>
          </a:blip>
          <a:srcRect b="0" l="0" r="0" t="0"/>
          <a:stretch/>
        </p:blipFill>
        <p:spPr>
          <a:xfrm>
            <a:off x="986737" y="3231918"/>
            <a:ext cx="2370467" cy="1576361"/>
          </a:xfrm>
          <a:prstGeom prst="rect">
            <a:avLst/>
          </a:prstGeom>
          <a:noFill/>
          <a:ln>
            <a:noFill/>
          </a:ln>
        </p:spPr>
      </p:pic>
      <p:pic>
        <p:nvPicPr>
          <p:cNvPr descr="box.png" id="183" name="Google Shape;183;p21"/>
          <p:cNvPicPr preferRelativeResize="0"/>
          <p:nvPr/>
        </p:nvPicPr>
        <p:blipFill rotWithShape="1">
          <a:blip r:embed="rId4">
            <a:alphaModFix/>
          </a:blip>
          <a:srcRect b="0" l="0" r="0" t="0"/>
          <a:stretch/>
        </p:blipFill>
        <p:spPr>
          <a:xfrm>
            <a:off x="2504880" y="4807589"/>
            <a:ext cx="629119" cy="629119"/>
          </a:xfrm>
          <a:prstGeom prst="rect">
            <a:avLst/>
          </a:prstGeom>
          <a:noFill/>
          <a:ln>
            <a:noFill/>
          </a:ln>
        </p:spPr>
      </p:pic>
      <p:sp>
        <p:nvSpPr>
          <p:cNvPr id="184" name="Google Shape;184;p21"/>
          <p:cNvSpPr/>
          <p:nvPr/>
        </p:nvSpPr>
        <p:spPr>
          <a:xfrm>
            <a:off x="6131638" y="3592207"/>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router.png" id="185" name="Google Shape;185;p21"/>
          <p:cNvPicPr preferRelativeResize="0"/>
          <p:nvPr/>
        </p:nvPicPr>
        <p:blipFill rotWithShape="1">
          <a:blip r:embed="rId3">
            <a:alphaModFix/>
          </a:blip>
          <a:srcRect b="0" l="0" r="0" t="0"/>
          <a:stretch/>
        </p:blipFill>
        <p:spPr>
          <a:xfrm>
            <a:off x="5862079" y="3231228"/>
            <a:ext cx="2370467" cy="1576361"/>
          </a:xfrm>
          <a:prstGeom prst="rect">
            <a:avLst/>
          </a:prstGeom>
          <a:noFill/>
          <a:ln>
            <a:noFill/>
          </a:ln>
        </p:spPr>
      </p:pic>
      <p:sp>
        <p:nvSpPr>
          <p:cNvPr id="186" name="Google Shape;186;p21"/>
          <p:cNvSpPr txBox="1"/>
          <p:nvPr/>
        </p:nvSpPr>
        <p:spPr>
          <a:xfrm>
            <a:off x="3500942" y="5600804"/>
            <a:ext cx="2159001"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Packet size = 500B</a:t>
            </a:r>
            <a:endParaRPr sz="1800">
              <a:solidFill>
                <a:schemeClr val="dk1"/>
              </a:solidFill>
              <a:latin typeface="Avenir"/>
              <a:ea typeface="Avenir"/>
              <a:cs typeface="Avenir"/>
              <a:sym typeface="Avenir"/>
            </a:endParaRPr>
          </a:p>
        </p:txBody>
      </p:sp>
      <p:sp>
        <p:nvSpPr>
          <p:cNvPr id="187" name="Google Shape;187;p21"/>
          <p:cNvSpPr txBox="1"/>
          <p:nvPr/>
        </p:nvSpPr>
        <p:spPr>
          <a:xfrm>
            <a:off x="3298807" y="4386112"/>
            <a:ext cx="2563272"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venir"/>
                <a:ea typeface="Avenir"/>
                <a:cs typeface="Avenir"/>
                <a:sym typeface="Avenir"/>
              </a:rPr>
              <a:t>Bandwidth = 4 Mbps</a:t>
            </a:r>
            <a:endParaRPr sz="1800">
              <a:solidFill>
                <a:schemeClr val="dk1"/>
              </a:solidFill>
              <a:latin typeface="Avenir"/>
              <a:ea typeface="Avenir"/>
              <a:cs typeface="Avenir"/>
              <a:sym typeface="Avenir"/>
            </a:endParaRPr>
          </a:p>
        </p:txBody>
      </p:sp>
      <p:sp>
        <p:nvSpPr>
          <p:cNvPr id="188" name="Google Shape;18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Transmission Delay: Example</a:t>
            </a:r>
            <a:endParaRPr b="1" i="0" sz="4400" u="none" cap="none" strike="noStrike">
              <a:solidFill>
                <a:srgbClr val="EF6C00"/>
              </a:solidFill>
              <a:latin typeface="PT Sans Narrow"/>
              <a:ea typeface="PT Sans Narrow"/>
              <a:cs typeface="PT Sans Narrow"/>
              <a:sym typeface="PT Sans Narrow"/>
            </a:endParaRPr>
          </a:p>
        </p:txBody>
      </p:sp>
      <p:pic>
        <p:nvPicPr>
          <p:cNvPr id="189" name="Google Shape;189;p21"/>
          <p:cNvPicPr preferRelativeResize="0"/>
          <p:nvPr/>
        </p:nvPicPr>
        <p:blipFill rotWithShape="1">
          <a:blip r:embed="rId5">
            <a:alphaModFix/>
          </a:blip>
          <a:srcRect b="0" l="0" r="0" t="0"/>
          <a:stretch/>
        </p:blipFill>
        <p:spPr>
          <a:xfrm>
            <a:off x="1437193" y="1417638"/>
            <a:ext cx="6286500" cy="673100"/>
          </a:xfrm>
          <a:prstGeom prst="rect">
            <a:avLst/>
          </a:prstGeom>
          <a:noFill/>
          <a:ln>
            <a:noFill/>
          </a:ln>
        </p:spPr>
      </p:pic>
      <p:pic>
        <p:nvPicPr>
          <p:cNvPr id="190" name="Google Shape;190;p21"/>
          <p:cNvPicPr preferRelativeResize="0"/>
          <p:nvPr/>
        </p:nvPicPr>
        <p:blipFill rotWithShape="1">
          <a:blip r:embed="rId6">
            <a:alphaModFix/>
          </a:blip>
          <a:srcRect b="0" l="0" r="0" t="0"/>
          <a:stretch/>
        </p:blipFill>
        <p:spPr>
          <a:xfrm>
            <a:off x="292100" y="1964470"/>
            <a:ext cx="8559800" cy="914400"/>
          </a:xfrm>
          <a:prstGeom prst="rect">
            <a:avLst/>
          </a:prstGeom>
          <a:noFill/>
          <a:ln>
            <a:noFill/>
          </a:ln>
        </p:spPr>
      </p:pic>
      <p:sp>
        <p:nvSpPr>
          <p:cNvPr id="191" name="Google Shape;191;p21"/>
          <p:cNvSpPr txBox="1"/>
          <p:nvPr/>
        </p:nvSpPr>
        <p:spPr>
          <a:xfrm>
            <a:off x="7175650" y="620825"/>
            <a:ext cx="1501500" cy="6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Why did we have to do this?</a:t>
            </a:r>
            <a:endParaRPr/>
          </a:p>
        </p:txBody>
      </p:sp>
      <p:sp>
        <p:nvSpPr>
          <p:cNvPr id="192" name="Google Shape;192;p21"/>
          <p:cNvSpPr txBox="1"/>
          <p:nvPr/>
        </p:nvSpPr>
        <p:spPr>
          <a:xfrm>
            <a:off x="4572000" y="1370225"/>
            <a:ext cx="837300" cy="6291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u="sng"/>
              <a:t>1 byte</a:t>
            </a:r>
            <a:endParaRPr sz="1800" u="sng"/>
          </a:p>
          <a:p>
            <a:pPr indent="0" lvl="0" marL="0" rtl="0" algn="l">
              <a:spcBef>
                <a:spcPts val="0"/>
              </a:spcBef>
              <a:spcAft>
                <a:spcPts val="0"/>
              </a:spcAft>
              <a:buNone/>
            </a:pPr>
            <a:r>
              <a:rPr lang="en-US" sz="1800"/>
              <a:t> 8 bits</a:t>
            </a:r>
            <a:endParaRPr sz="1800"/>
          </a:p>
        </p:txBody>
      </p:sp>
      <p:sp>
        <p:nvSpPr>
          <p:cNvPr id="193" name="Google Shape;193;p21"/>
          <p:cNvSpPr/>
          <p:nvPr/>
        </p:nvSpPr>
        <p:spPr>
          <a:xfrm>
            <a:off x="4485300" y="1397050"/>
            <a:ext cx="1010700" cy="714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4" name="Google Shape;194;p21"/>
          <p:cNvCxnSpPr>
            <a:stCxn id="193" idx="7"/>
            <a:endCxn id="191" idx="1"/>
          </p:cNvCxnSpPr>
          <p:nvPr/>
        </p:nvCxnSpPr>
        <p:spPr>
          <a:xfrm flipH="1" rot="10800000">
            <a:off x="5347986" y="957457"/>
            <a:ext cx="1827600" cy="544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8" name="Shape 198"/>
        <p:cNvGrpSpPr/>
        <p:nvPr/>
      </p:nvGrpSpPr>
      <p:grpSpPr>
        <a:xfrm>
          <a:off x="0" y="0"/>
          <a:ext cx="0" cy="0"/>
          <a:chOff x="0" y="0"/>
          <a:chExt cx="0" cy="0"/>
        </a:xfrm>
      </p:grpSpPr>
      <p:sp>
        <p:nvSpPr>
          <p:cNvPr id="199" name="Google Shape;199;p22"/>
          <p:cNvSpPr/>
          <p:nvPr/>
        </p:nvSpPr>
        <p:spPr>
          <a:xfrm>
            <a:off x="2769703" y="4807589"/>
            <a:ext cx="3366053" cy="629119"/>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 name="Google Shape;200;p22"/>
          <p:cNvSpPr/>
          <p:nvPr/>
        </p:nvSpPr>
        <p:spPr>
          <a:xfrm>
            <a:off x="1256296" y="3592897"/>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router.png" id="201" name="Google Shape;201;p22"/>
          <p:cNvPicPr preferRelativeResize="0"/>
          <p:nvPr/>
        </p:nvPicPr>
        <p:blipFill rotWithShape="1">
          <a:blip r:embed="rId3">
            <a:alphaModFix/>
          </a:blip>
          <a:srcRect b="0" l="0" r="0" t="0"/>
          <a:stretch/>
        </p:blipFill>
        <p:spPr>
          <a:xfrm>
            <a:off x="986737" y="3231918"/>
            <a:ext cx="2370467" cy="1576361"/>
          </a:xfrm>
          <a:prstGeom prst="rect">
            <a:avLst/>
          </a:prstGeom>
          <a:noFill/>
          <a:ln>
            <a:noFill/>
          </a:ln>
        </p:spPr>
      </p:pic>
      <p:sp>
        <p:nvSpPr>
          <p:cNvPr id="202" name="Google Shape;202;p22"/>
          <p:cNvSpPr/>
          <p:nvPr/>
        </p:nvSpPr>
        <p:spPr>
          <a:xfrm>
            <a:off x="6131638" y="3592207"/>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router.png" id="203" name="Google Shape;203;p22"/>
          <p:cNvPicPr preferRelativeResize="0"/>
          <p:nvPr/>
        </p:nvPicPr>
        <p:blipFill rotWithShape="1">
          <a:blip r:embed="rId3">
            <a:alphaModFix/>
          </a:blip>
          <a:srcRect b="0" l="0" r="0" t="0"/>
          <a:stretch/>
        </p:blipFill>
        <p:spPr>
          <a:xfrm>
            <a:off x="5862079" y="3231228"/>
            <a:ext cx="2370467" cy="1576361"/>
          </a:xfrm>
          <a:prstGeom prst="rect">
            <a:avLst/>
          </a:prstGeom>
          <a:noFill/>
          <a:ln>
            <a:noFill/>
          </a:ln>
        </p:spPr>
      </p:pic>
      <p:pic>
        <p:nvPicPr>
          <p:cNvPr descr="box.png" id="204" name="Google Shape;204;p22"/>
          <p:cNvPicPr preferRelativeResize="0"/>
          <p:nvPr/>
        </p:nvPicPr>
        <p:blipFill rotWithShape="1">
          <a:blip r:embed="rId4">
            <a:alphaModFix/>
          </a:blip>
          <a:srcRect b="0" l="0" r="0" t="0"/>
          <a:stretch/>
        </p:blipFill>
        <p:spPr>
          <a:xfrm>
            <a:off x="2490695" y="4807588"/>
            <a:ext cx="629119" cy="629119"/>
          </a:xfrm>
          <a:prstGeom prst="rect">
            <a:avLst/>
          </a:prstGeom>
          <a:noFill/>
          <a:ln>
            <a:noFill/>
          </a:ln>
        </p:spPr>
      </p:pic>
      <p:sp>
        <p:nvSpPr>
          <p:cNvPr id="205" name="Google Shape;205;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Propagation Delay (latency)</a:t>
            </a:r>
            <a:endParaRPr b="1" i="0" sz="4400" u="none" cap="none" strike="noStrike">
              <a:solidFill>
                <a:srgbClr val="EF6C00"/>
              </a:solidFill>
              <a:latin typeface="PT Sans Narrow"/>
              <a:ea typeface="PT Sans Narrow"/>
              <a:cs typeface="PT Sans Narrow"/>
              <a:sym typeface="PT Sans Narrow"/>
            </a:endParaRPr>
          </a:p>
        </p:txBody>
      </p:sp>
      <p:sp>
        <p:nvSpPr>
          <p:cNvPr id="206" name="Google Shape;206;p22"/>
          <p:cNvSpPr txBox="1"/>
          <p:nvPr/>
        </p:nvSpPr>
        <p:spPr>
          <a:xfrm>
            <a:off x="680292" y="1509558"/>
            <a:ext cx="7601858" cy="1200329"/>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accent5"/>
              </a:buClr>
              <a:buSzPts val="1800"/>
              <a:buFont typeface="Arial"/>
              <a:buChar char="•"/>
            </a:pPr>
            <a:r>
              <a:rPr lang="en-US" sz="1800">
                <a:solidFill>
                  <a:schemeClr val="accent5"/>
                </a:solidFill>
                <a:latin typeface="Avenir"/>
                <a:ea typeface="Avenir"/>
                <a:cs typeface="Avenir"/>
                <a:sym typeface="Avenir"/>
              </a:rPr>
              <a:t>End-to-end transmission time of one bit</a:t>
            </a:r>
            <a:endParaRPr/>
          </a:p>
          <a:p>
            <a:pPr indent="-285750" lvl="0" marL="285750" marR="0" rtl="0" algn="l">
              <a:spcBef>
                <a:spcPts val="0"/>
              </a:spcBef>
              <a:spcAft>
                <a:spcPts val="0"/>
              </a:spcAft>
              <a:buClr>
                <a:schemeClr val="accent5"/>
              </a:buClr>
              <a:buSzPts val="1800"/>
              <a:buFont typeface="Arial"/>
              <a:buChar char="•"/>
            </a:pPr>
            <a:r>
              <a:rPr lang="en-US" sz="1800">
                <a:solidFill>
                  <a:schemeClr val="accent5"/>
                </a:solidFill>
                <a:latin typeface="Avenir"/>
                <a:ea typeface="Avenir"/>
                <a:cs typeface="Avenir"/>
                <a:sym typeface="Avenir"/>
              </a:rPr>
              <a:t>Depends on the </a:t>
            </a:r>
            <a:r>
              <a:rPr b="1" lang="en-US" sz="1800">
                <a:solidFill>
                  <a:srgbClr val="EF6C00"/>
                </a:solidFill>
                <a:latin typeface="Avenir"/>
                <a:ea typeface="Avenir"/>
                <a:cs typeface="Avenir"/>
                <a:sym typeface="Avenir"/>
              </a:rPr>
              <a:t>length</a:t>
            </a:r>
            <a:r>
              <a:rPr b="1" lang="en-US" sz="1800">
                <a:solidFill>
                  <a:schemeClr val="accent5"/>
                </a:solidFill>
                <a:latin typeface="Avenir"/>
                <a:ea typeface="Avenir"/>
                <a:cs typeface="Avenir"/>
                <a:sym typeface="Avenir"/>
              </a:rPr>
              <a:t> </a:t>
            </a:r>
            <a:r>
              <a:rPr b="1" lang="en-US" sz="1800">
                <a:solidFill>
                  <a:srgbClr val="EF6C00"/>
                </a:solidFill>
                <a:latin typeface="Avenir"/>
                <a:ea typeface="Avenir"/>
                <a:cs typeface="Avenir"/>
                <a:sym typeface="Avenir"/>
              </a:rPr>
              <a:t>of the link</a:t>
            </a:r>
            <a:endParaRPr/>
          </a:p>
          <a:p>
            <a:pPr indent="-285750" lvl="0" marL="285750" marR="0" rtl="0" algn="l">
              <a:spcBef>
                <a:spcPts val="0"/>
              </a:spcBef>
              <a:spcAft>
                <a:spcPts val="0"/>
              </a:spcAft>
              <a:buClr>
                <a:schemeClr val="accent5"/>
              </a:buClr>
              <a:buSzPts val="1800"/>
              <a:buFont typeface="Arial"/>
              <a:buChar char="•"/>
            </a:pPr>
            <a:r>
              <a:rPr lang="en-US" sz="1800">
                <a:solidFill>
                  <a:schemeClr val="accent5"/>
                </a:solidFill>
                <a:latin typeface="Avenir"/>
                <a:ea typeface="Avenir"/>
                <a:cs typeface="Avenir"/>
                <a:sym typeface="Avenir"/>
              </a:rPr>
              <a:t>Limited by the </a:t>
            </a:r>
            <a:r>
              <a:rPr b="1" lang="en-US" sz="1800">
                <a:solidFill>
                  <a:srgbClr val="EF6C00"/>
                </a:solidFill>
                <a:latin typeface="Avenir"/>
                <a:ea typeface="Avenir"/>
                <a:cs typeface="Avenir"/>
                <a:sym typeface="Avenir"/>
              </a:rPr>
              <a:t>speed of light </a:t>
            </a:r>
            <a:r>
              <a:rPr lang="en-US" sz="1800">
                <a:solidFill>
                  <a:schemeClr val="accent5"/>
                </a:solidFill>
                <a:latin typeface="Avenir"/>
                <a:ea typeface="Avenir"/>
                <a:cs typeface="Avenir"/>
                <a:sym typeface="Avenir"/>
              </a:rPr>
              <a:t>(propagation speed of link)</a:t>
            </a:r>
            <a:endParaRPr/>
          </a:p>
          <a:p>
            <a:pPr indent="-285750" lvl="0" marL="285750" marR="0" rtl="0" algn="l">
              <a:spcBef>
                <a:spcPts val="0"/>
              </a:spcBef>
              <a:spcAft>
                <a:spcPts val="0"/>
              </a:spcAft>
              <a:buClr>
                <a:schemeClr val="accent5"/>
              </a:buClr>
              <a:buSzPts val="1800"/>
              <a:buFont typeface="Arial"/>
              <a:buChar char="•"/>
            </a:pPr>
            <a:r>
              <a:rPr lang="en-US" sz="1800">
                <a:solidFill>
                  <a:schemeClr val="accent5"/>
                </a:solidFill>
                <a:latin typeface="Avenir"/>
                <a:ea typeface="Avenir"/>
                <a:cs typeface="Avenir"/>
                <a:sym typeface="Avenir"/>
              </a:rPr>
              <a:t>Does </a:t>
            </a:r>
            <a:r>
              <a:rPr b="1" lang="en-US" sz="1800">
                <a:solidFill>
                  <a:schemeClr val="accent5"/>
                </a:solidFill>
                <a:latin typeface="Avenir"/>
                <a:ea typeface="Avenir"/>
                <a:cs typeface="Avenir"/>
                <a:sym typeface="Avenir"/>
              </a:rPr>
              <a:t>NOT</a:t>
            </a:r>
            <a:r>
              <a:rPr lang="en-US" sz="1800">
                <a:solidFill>
                  <a:schemeClr val="accent5"/>
                </a:solidFill>
                <a:latin typeface="Avenir"/>
                <a:ea typeface="Avenir"/>
                <a:cs typeface="Avenir"/>
                <a:sym typeface="Avenir"/>
              </a:rPr>
              <a:t> depend on the size of the packet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1" name="Shape 211"/>
        <p:cNvGrpSpPr/>
        <p:nvPr/>
      </p:nvGrpSpPr>
      <p:grpSpPr>
        <a:xfrm>
          <a:off x="0" y="0"/>
          <a:ext cx="0" cy="0"/>
          <a:chOff x="0" y="0"/>
          <a:chExt cx="0" cy="0"/>
        </a:xfrm>
      </p:grpSpPr>
      <p:sp>
        <p:nvSpPr>
          <p:cNvPr id="212" name="Google Shape;212;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Propagation Delay: Formula</a:t>
            </a:r>
            <a:endParaRPr b="1" i="0" sz="4400" u="none" cap="none" strike="noStrike">
              <a:solidFill>
                <a:srgbClr val="EF6C00"/>
              </a:solidFill>
              <a:latin typeface="PT Sans Narrow"/>
              <a:ea typeface="PT Sans Narrow"/>
              <a:cs typeface="PT Sans Narrow"/>
              <a:sym typeface="PT Sans Narrow"/>
            </a:endParaRPr>
          </a:p>
        </p:txBody>
      </p:sp>
      <p:pic>
        <p:nvPicPr>
          <p:cNvPr id="213" name="Google Shape;213;p23"/>
          <p:cNvPicPr preferRelativeResize="0"/>
          <p:nvPr/>
        </p:nvPicPr>
        <p:blipFill rotWithShape="1">
          <a:blip r:embed="rId3">
            <a:alphaModFix/>
          </a:blip>
          <a:srcRect b="0" l="0" r="0" t="0"/>
          <a:stretch/>
        </p:blipFill>
        <p:spPr>
          <a:xfrm>
            <a:off x="274982" y="3208227"/>
            <a:ext cx="8620539" cy="86603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7" name="Shape 217"/>
        <p:cNvGrpSpPr/>
        <p:nvPr/>
      </p:nvGrpSpPr>
      <p:grpSpPr>
        <a:xfrm>
          <a:off x="0" y="0"/>
          <a:ext cx="0" cy="0"/>
          <a:chOff x="0" y="0"/>
          <a:chExt cx="0" cy="0"/>
        </a:xfrm>
      </p:grpSpPr>
      <p:sp>
        <p:nvSpPr>
          <p:cNvPr id="218" name="Google Shape;218;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Propagation Delay: Example</a:t>
            </a:r>
            <a:endParaRPr b="1" i="0" sz="4400" u="none" cap="none" strike="noStrike">
              <a:solidFill>
                <a:srgbClr val="EF6C00"/>
              </a:solidFill>
              <a:latin typeface="PT Sans Narrow"/>
              <a:ea typeface="PT Sans Narrow"/>
              <a:cs typeface="PT Sans Narrow"/>
              <a:sym typeface="PT Sans Narrow"/>
            </a:endParaRPr>
          </a:p>
        </p:txBody>
      </p:sp>
      <p:pic>
        <p:nvPicPr>
          <p:cNvPr id="219" name="Google Shape;219;p24"/>
          <p:cNvPicPr preferRelativeResize="0"/>
          <p:nvPr/>
        </p:nvPicPr>
        <p:blipFill rotWithShape="1">
          <a:blip r:embed="rId3">
            <a:alphaModFix/>
          </a:blip>
          <a:srcRect b="0" l="0" r="0" t="0"/>
          <a:stretch/>
        </p:blipFill>
        <p:spPr>
          <a:xfrm>
            <a:off x="3133999" y="5533588"/>
            <a:ext cx="2843777" cy="547690"/>
          </a:xfrm>
          <a:prstGeom prst="rect">
            <a:avLst/>
          </a:prstGeom>
          <a:noFill/>
          <a:ln>
            <a:noFill/>
          </a:ln>
        </p:spPr>
      </p:pic>
      <p:pic>
        <p:nvPicPr>
          <p:cNvPr id="220" name="Google Shape;220;p24"/>
          <p:cNvPicPr preferRelativeResize="0"/>
          <p:nvPr/>
        </p:nvPicPr>
        <p:blipFill rotWithShape="1">
          <a:blip r:embed="rId4">
            <a:alphaModFix/>
          </a:blip>
          <a:srcRect b="0" l="0" r="0" t="0"/>
          <a:stretch/>
        </p:blipFill>
        <p:spPr>
          <a:xfrm>
            <a:off x="2891160" y="4068137"/>
            <a:ext cx="3107436" cy="385648"/>
          </a:xfrm>
          <a:prstGeom prst="rect">
            <a:avLst/>
          </a:prstGeom>
          <a:noFill/>
          <a:ln>
            <a:noFill/>
          </a:ln>
        </p:spPr>
      </p:pic>
      <p:sp>
        <p:nvSpPr>
          <p:cNvPr id="221" name="Google Shape;221;p24"/>
          <p:cNvSpPr/>
          <p:nvPr/>
        </p:nvSpPr>
        <p:spPr>
          <a:xfrm>
            <a:off x="2769703" y="4807589"/>
            <a:ext cx="3493003" cy="629119"/>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 name="Google Shape;222;p24"/>
          <p:cNvSpPr/>
          <p:nvPr/>
        </p:nvSpPr>
        <p:spPr>
          <a:xfrm>
            <a:off x="647568" y="3540979"/>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router.png" id="223" name="Google Shape;223;p24"/>
          <p:cNvPicPr preferRelativeResize="0"/>
          <p:nvPr/>
        </p:nvPicPr>
        <p:blipFill rotWithShape="1">
          <a:blip r:embed="rId5">
            <a:alphaModFix/>
          </a:blip>
          <a:srcRect b="0" l="0" r="0" t="0"/>
          <a:stretch/>
        </p:blipFill>
        <p:spPr>
          <a:xfrm>
            <a:off x="399236" y="3231228"/>
            <a:ext cx="2370467" cy="1576361"/>
          </a:xfrm>
          <a:prstGeom prst="rect">
            <a:avLst/>
          </a:prstGeom>
          <a:noFill/>
          <a:ln>
            <a:noFill/>
          </a:ln>
        </p:spPr>
      </p:pic>
      <p:pic>
        <p:nvPicPr>
          <p:cNvPr descr="box.png" id="224" name="Google Shape;224;p24"/>
          <p:cNvPicPr preferRelativeResize="0"/>
          <p:nvPr/>
        </p:nvPicPr>
        <p:blipFill rotWithShape="1">
          <a:blip r:embed="rId6">
            <a:alphaModFix/>
          </a:blip>
          <a:srcRect b="0" l="0" r="0" t="0"/>
          <a:stretch/>
        </p:blipFill>
        <p:spPr>
          <a:xfrm>
            <a:off x="2504880" y="4807589"/>
            <a:ext cx="629119" cy="629119"/>
          </a:xfrm>
          <a:prstGeom prst="rect">
            <a:avLst/>
          </a:prstGeom>
          <a:noFill/>
          <a:ln>
            <a:noFill/>
          </a:ln>
        </p:spPr>
      </p:pic>
      <p:sp>
        <p:nvSpPr>
          <p:cNvPr id="225" name="Google Shape;225;p24"/>
          <p:cNvSpPr/>
          <p:nvPr/>
        </p:nvSpPr>
        <p:spPr>
          <a:xfrm>
            <a:off x="6262706" y="3540979"/>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router.png" id="226" name="Google Shape;226;p24"/>
          <p:cNvPicPr preferRelativeResize="0"/>
          <p:nvPr/>
        </p:nvPicPr>
        <p:blipFill rotWithShape="1">
          <a:blip r:embed="rId5">
            <a:alphaModFix/>
          </a:blip>
          <a:srcRect b="0" l="0" r="0" t="0"/>
          <a:stretch/>
        </p:blipFill>
        <p:spPr>
          <a:xfrm>
            <a:off x="6009231" y="3250507"/>
            <a:ext cx="2370467" cy="1576361"/>
          </a:xfrm>
          <a:prstGeom prst="rect">
            <a:avLst/>
          </a:prstGeom>
          <a:noFill/>
          <a:ln>
            <a:noFill/>
          </a:ln>
        </p:spPr>
      </p:pic>
      <p:pic>
        <p:nvPicPr>
          <p:cNvPr id="227" name="Google Shape;227;p24"/>
          <p:cNvPicPr preferRelativeResize="0"/>
          <p:nvPr/>
        </p:nvPicPr>
        <p:blipFill rotWithShape="1">
          <a:blip r:embed="rId7">
            <a:alphaModFix/>
          </a:blip>
          <a:srcRect b="0" l="0" r="0" t="0"/>
          <a:stretch/>
        </p:blipFill>
        <p:spPr>
          <a:xfrm>
            <a:off x="1090416" y="1639302"/>
            <a:ext cx="6667500" cy="977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1" name="Shape 231"/>
        <p:cNvGrpSpPr/>
        <p:nvPr/>
      </p:nvGrpSpPr>
      <p:grpSpPr>
        <a:xfrm>
          <a:off x="0" y="0"/>
          <a:ext cx="0" cy="0"/>
          <a:chOff x="0" y="0"/>
          <a:chExt cx="0" cy="0"/>
        </a:xfrm>
      </p:grpSpPr>
      <p:sp>
        <p:nvSpPr>
          <p:cNvPr id="232" name="Google Shape;232;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Bandwidth Delay Product (BDP)</a:t>
            </a:r>
            <a:endParaRPr b="1" i="0" sz="4400" u="none" cap="none" strike="noStrike">
              <a:solidFill>
                <a:srgbClr val="EF6C00"/>
              </a:solidFill>
              <a:latin typeface="PT Sans Narrow"/>
              <a:ea typeface="PT Sans Narrow"/>
              <a:cs typeface="PT Sans Narrow"/>
              <a:sym typeface="PT Sans Narrow"/>
            </a:endParaRPr>
          </a:p>
        </p:txBody>
      </p:sp>
      <p:sp>
        <p:nvSpPr>
          <p:cNvPr id="233" name="Google Shape;233;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695D46"/>
              </a:buClr>
              <a:buSzPts val="2400"/>
              <a:buFont typeface="Arial"/>
              <a:buChar char="•"/>
            </a:pPr>
            <a:r>
              <a:rPr b="0" i="0" lang="en-US" sz="2400" u="none" cap="none" strike="noStrike">
                <a:solidFill>
                  <a:srgbClr val="695D46"/>
                </a:solidFill>
                <a:latin typeface="Avenir"/>
                <a:ea typeface="Avenir"/>
                <a:cs typeface="Avenir"/>
                <a:sym typeface="Avenir"/>
              </a:rPr>
              <a:t>Now that we know the propagation delay, we can tell how many bits are “in flight” (on the link) at any time</a:t>
            </a:r>
            <a:endParaRPr b="0" i="0" sz="2400" u="none" cap="none" strike="noStrike">
              <a:solidFill>
                <a:srgbClr val="695D46"/>
              </a:solidFill>
              <a:latin typeface="Open Sans"/>
              <a:ea typeface="Open Sans"/>
              <a:cs typeface="Open Sans"/>
              <a:sym typeface="Open Sans"/>
            </a:endParaRPr>
          </a:p>
          <a:p>
            <a:pPr indent="0" lvl="0" marL="0" marR="0" rtl="0" algn="l">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p:txBody>
      </p:sp>
      <p:sp>
        <p:nvSpPr>
          <p:cNvPr id="234" name="Google Shape;234;p25"/>
          <p:cNvSpPr/>
          <p:nvPr/>
        </p:nvSpPr>
        <p:spPr>
          <a:xfrm rot="-5400000">
            <a:off x="4352929" y="1285420"/>
            <a:ext cx="1327150" cy="5842907"/>
          </a:xfrm>
          <a:prstGeom prst="can">
            <a:avLst>
              <a:gd fmla="val 25000" name="adj"/>
            </a:avLst>
          </a:prstGeom>
          <a:gradFill>
            <a:gsLst>
              <a:gs pos="0">
                <a:srgbClr val="FF6800"/>
              </a:gs>
              <a:gs pos="100000">
                <a:srgbClr val="FF976D"/>
              </a:gs>
            </a:gsLst>
            <a:lin ang="16200000" scaled="0"/>
          </a:gradFill>
          <a:ln cap="flat" cmpd="sng" w="9525">
            <a:solidFill>
              <a:srgbClr val="EE68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25"/>
          <p:cNvSpPr/>
          <p:nvPr/>
        </p:nvSpPr>
        <p:spPr>
          <a:xfrm>
            <a:off x="2280106" y="4965699"/>
            <a:ext cx="5505450" cy="114300"/>
          </a:xfrm>
          <a:prstGeom prst="leftRightArrow">
            <a:avLst>
              <a:gd fmla="val 50000" name="adj1"/>
              <a:gd fmla="val 50000" name="adj2"/>
            </a:avLst>
          </a:prstGeom>
          <a:solidFill>
            <a:srgbClr val="695D46"/>
          </a:solidFill>
          <a:ln cap="flat" cmpd="sng" w="9525">
            <a:solidFill>
              <a:srgbClr val="695D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 name="Google Shape;236;p25"/>
          <p:cNvSpPr/>
          <p:nvPr/>
        </p:nvSpPr>
        <p:spPr>
          <a:xfrm rot="-5400000">
            <a:off x="1210131" y="4149723"/>
            <a:ext cx="1327151" cy="114302"/>
          </a:xfrm>
          <a:prstGeom prst="leftRightArrow">
            <a:avLst>
              <a:gd fmla="val 50000" name="adj1"/>
              <a:gd fmla="val 50000" name="adj2"/>
            </a:avLst>
          </a:prstGeom>
          <a:solidFill>
            <a:srgbClr val="695D46"/>
          </a:solidFill>
          <a:ln cap="flat" cmpd="sng" w="9525">
            <a:solidFill>
              <a:srgbClr val="695D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25"/>
          <p:cNvSpPr txBox="1"/>
          <p:nvPr/>
        </p:nvSpPr>
        <p:spPr>
          <a:xfrm>
            <a:off x="127457" y="3886199"/>
            <a:ext cx="1599743" cy="46166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2400">
                <a:solidFill>
                  <a:srgbClr val="695D46"/>
                </a:solidFill>
                <a:latin typeface="Avenir"/>
                <a:ea typeface="Avenir"/>
                <a:cs typeface="Avenir"/>
                <a:sym typeface="Avenir"/>
              </a:rPr>
              <a:t>??</a:t>
            </a:r>
            <a:endParaRPr sz="2400">
              <a:solidFill>
                <a:srgbClr val="695D46"/>
              </a:solidFill>
              <a:latin typeface="Avenir"/>
              <a:ea typeface="Avenir"/>
              <a:cs typeface="Avenir"/>
              <a:sym typeface="Avenir"/>
            </a:endParaRPr>
          </a:p>
        </p:txBody>
      </p:sp>
      <p:sp>
        <p:nvSpPr>
          <p:cNvPr id="238" name="Google Shape;238;p25"/>
          <p:cNvSpPr txBox="1"/>
          <p:nvPr/>
        </p:nvSpPr>
        <p:spPr>
          <a:xfrm>
            <a:off x="3708857" y="5135263"/>
            <a:ext cx="2806243" cy="46166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rgbClr val="695D46"/>
                </a:solidFill>
                <a:latin typeface="Avenir"/>
                <a:ea typeface="Avenir"/>
                <a:cs typeface="Avenir"/>
                <a:sym typeface="Avenir"/>
              </a:rPr>
              <a:t>??</a:t>
            </a:r>
            <a:endParaRPr sz="2400">
              <a:solidFill>
                <a:srgbClr val="695D46"/>
              </a:solidFill>
              <a:latin typeface="Avenir"/>
              <a:ea typeface="Avenir"/>
              <a:cs typeface="Avenir"/>
              <a:sym typeface="Avenir"/>
            </a:endParaRPr>
          </a:p>
        </p:txBody>
      </p:sp>
      <p:sp>
        <p:nvSpPr>
          <p:cNvPr id="239" name="Google Shape;239;p25"/>
          <p:cNvSpPr txBox="1"/>
          <p:nvPr/>
        </p:nvSpPr>
        <p:spPr>
          <a:xfrm>
            <a:off x="2280106" y="5895330"/>
            <a:ext cx="5657852" cy="46166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rgbClr val="695D46"/>
                </a:solidFill>
                <a:latin typeface="Avenir"/>
                <a:ea typeface="Avenir"/>
                <a:cs typeface="Avenir"/>
                <a:sym typeface="Avenir"/>
              </a:rPr>
              <a:t>BDP = ?? * ??</a:t>
            </a:r>
            <a:endParaRPr sz="2400">
              <a:solidFill>
                <a:srgbClr val="695D46"/>
              </a:solidFill>
              <a:latin typeface="Avenir"/>
              <a:ea typeface="Avenir"/>
              <a:cs typeface="Avenir"/>
              <a:sym typeface="Aveni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3" name="Shape 243"/>
        <p:cNvGrpSpPr/>
        <p:nvPr/>
      </p:nvGrpSpPr>
      <p:grpSpPr>
        <a:xfrm>
          <a:off x="0" y="0"/>
          <a:ext cx="0" cy="0"/>
          <a:chOff x="0" y="0"/>
          <a:chExt cx="0" cy="0"/>
        </a:xfrm>
      </p:grpSpPr>
      <p:sp>
        <p:nvSpPr>
          <p:cNvPr id="244" name="Google Shape;24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Bandwidth Delay Product (BDP)</a:t>
            </a:r>
            <a:endParaRPr b="1" i="0" sz="4400" u="none" cap="none" strike="noStrike">
              <a:solidFill>
                <a:srgbClr val="EF6C00"/>
              </a:solidFill>
              <a:latin typeface="PT Sans Narrow"/>
              <a:ea typeface="PT Sans Narrow"/>
              <a:cs typeface="PT Sans Narrow"/>
              <a:sym typeface="PT Sans Narrow"/>
            </a:endParaRPr>
          </a:p>
        </p:txBody>
      </p:sp>
      <p:sp>
        <p:nvSpPr>
          <p:cNvPr id="245" name="Google Shape;245;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Now that we know the propagation delay, we can tell how many bits are “in flight” (on the link) at any time</a:t>
            </a:r>
            <a:endParaRPr/>
          </a:p>
          <a:p>
            <a:pPr indent="-190500" lvl="0" marL="342900" marR="0" rtl="0" algn="l">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a:p>
            <a:pPr indent="0" lvl="0" marL="0" marR="0" rtl="0" algn="l">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p:txBody>
      </p:sp>
      <p:sp>
        <p:nvSpPr>
          <p:cNvPr id="246" name="Google Shape;246;p26"/>
          <p:cNvSpPr/>
          <p:nvPr/>
        </p:nvSpPr>
        <p:spPr>
          <a:xfrm rot="-5400000">
            <a:off x="4352929" y="1285420"/>
            <a:ext cx="1327150" cy="5842907"/>
          </a:xfrm>
          <a:prstGeom prst="can">
            <a:avLst>
              <a:gd fmla="val 25000" name="adj"/>
            </a:avLst>
          </a:prstGeom>
          <a:gradFill>
            <a:gsLst>
              <a:gs pos="0">
                <a:srgbClr val="FF6800"/>
              </a:gs>
              <a:gs pos="100000">
                <a:srgbClr val="FF976D"/>
              </a:gs>
            </a:gsLst>
            <a:lin ang="16200000" scaled="0"/>
          </a:gradFill>
          <a:ln cap="flat" cmpd="sng" w="9525">
            <a:solidFill>
              <a:srgbClr val="EE68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 name="Google Shape;247;p26"/>
          <p:cNvSpPr/>
          <p:nvPr/>
        </p:nvSpPr>
        <p:spPr>
          <a:xfrm>
            <a:off x="2280106" y="4965699"/>
            <a:ext cx="5505450" cy="114300"/>
          </a:xfrm>
          <a:prstGeom prst="leftRightArrow">
            <a:avLst>
              <a:gd fmla="val 50000" name="adj1"/>
              <a:gd fmla="val 50000" name="adj2"/>
            </a:avLst>
          </a:prstGeom>
          <a:solidFill>
            <a:srgbClr val="695D46"/>
          </a:solidFill>
          <a:ln cap="flat" cmpd="sng" w="9525">
            <a:solidFill>
              <a:srgbClr val="695D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8" name="Google Shape;248;p26"/>
          <p:cNvSpPr/>
          <p:nvPr/>
        </p:nvSpPr>
        <p:spPr>
          <a:xfrm rot="-5400000">
            <a:off x="1210131" y="4149723"/>
            <a:ext cx="1327151" cy="114302"/>
          </a:xfrm>
          <a:prstGeom prst="leftRightArrow">
            <a:avLst>
              <a:gd fmla="val 50000" name="adj1"/>
              <a:gd fmla="val 50000" name="adj2"/>
            </a:avLst>
          </a:prstGeom>
          <a:solidFill>
            <a:srgbClr val="695D46"/>
          </a:solidFill>
          <a:ln cap="flat" cmpd="sng" w="9525">
            <a:solidFill>
              <a:srgbClr val="695D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 name="Google Shape;249;p26"/>
          <p:cNvSpPr txBox="1"/>
          <p:nvPr/>
        </p:nvSpPr>
        <p:spPr>
          <a:xfrm>
            <a:off x="127457" y="3886199"/>
            <a:ext cx="1803401"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695D46"/>
                </a:solidFill>
                <a:latin typeface="Avenir"/>
                <a:ea typeface="Avenir"/>
                <a:cs typeface="Avenir"/>
                <a:sym typeface="Avenir"/>
              </a:rPr>
              <a:t>Bandwidth</a:t>
            </a:r>
            <a:endParaRPr sz="2400">
              <a:solidFill>
                <a:srgbClr val="695D46"/>
              </a:solidFill>
              <a:latin typeface="Avenir"/>
              <a:ea typeface="Avenir"/>
              <a:cs typeface="Avenir"/>
              <a:sym typeface="Avenir"/>
            </a:endParaRPr>
          </a:p>
        </p:txBody>
      </p:sp>
      <p:sp>
        <p:nvSpPr>
          <p:cNvPr id="250" name="Google Shape;250;p26"/>
          <p:cNvSpPr txBox="1"/>
          <p:nvPr/>
        </p:nvSpPr>
        <p:spPr>
          <a:xfrm>
            <a:off x="3708857" y="5135263"/>
            <a:ext cx="2806243" cy="46166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rgbClr val="695D46"/>
                </a:solidFill>
                <a:latin typeface="Avenir"/>
                <a:ea typeface="Avenir"/>
                <a:cs typeface="Avenir"/>
                <a:sym typeface="Avenir"/>
              </a:rPr>
              <a:t>Propagation delay</a:t>
            </a:r>
            <a:endParaRPr sz="2400">
              <a:solidFill>
                <a:srgbClr val="695D46"/>
              </a:solidFill>
              <a:latin typeface="Avenir"/>
              <a:ea typeface="Avenir"/>
              <a:cs typeface="Avenir"/>
              <a:sym typeface="Avenir"/>
            </a:endParaRPr>
          </a:p>
        </p:txBody>
      </p:sp>
      <p:pic>
        <p:nvPicPr>
          <p:cNvPr id="251" name="Google Shape;251;p26"/>
          <p:cNvPicPr preferRelativeResize="0"/>
          <p:nvPr/>
        </p:nvPicPr>
        <p:blipFill rotWithShape="1">
          <a:blip r:embed="rId3">
            <a:alphaModFix/>
          </a:blip>
          <a:srcRect b="0" l="0" r="0" t="0"/>
          <a:stretch/>
        </p:blipFill>
        <p:spPr>
          <a:xfrm>
            <a:off x="258417" y="5965457"/>
            <a:ext cx="8686800" cy="5649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5" name="Shape 255"/>
        <p:cNvGrpSpPr/>
        <p:nvPr/>
      </p:nvGrpSpPr>
      <p:grpSpPr>
        <a:xfrm>
          <a:off x="0" y="0"/>
          <a:ext cx="0" cy="0"/>
          <a:chOff x="0" y="0"/>
          <a:chExt cx="0" cy="0"/>
        </a:xfrm>
      </p:grpSpPr>
      <p:sp>
        <p:nvSpPr>
          <p:cNvPr id="256" name="Google Shape;256;p27"/>
          <p:cNvSpPr txBox="1"/>
          <p:nvPr/>
        </p:nvSpPr>
        <p:spPr>
          <a:xfrm>
            <a:off x="683846" y="2706077"/>
            <a:ext cx="7346462" cy="107721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3200">
                <a:solidFill>
                  <a:schemeClr val="accent5"/>
                </a:solidFill>
                <a:latin typeface="Avenir"/>
                <a:ea typeface="Avenir"/>
                <a:cs typeface="Avenir"/>
                <a:sym typeface="Avenir"/>
              </a:rPr>
              <a:t>Packets might have to </a:t>
            </a:r>
            <a:r>
              <a:rPr b="1" lang="en-US" sz="3200">
                <a:solidFill>
                  <a:schemeClr val="accent5"/>
                </a:solidFill>
                <a:latin typeface="Avenir"/>
                <a:ea typeface="Avenir"/>
                <a:cs typeface="Avenir"/>
                <a:sym typeface="Avenir"/>
              </a:rPr>
              <a:t>wait</a:t>
            </a:r>
            <a:r>
              <a:rPr lang="en-US" sz="3200">
                <a:solidFill>
                  <a:schemeClr val="accent5"/>
                </a:solidFill>
                <a:latin typeface="Avenir"/>
                <a:ea typeface="Avenir"/>
                <a:cs typeface="Avenir"/>
                <a:sym typeface="Avenir"/>
              </a:rPr>
              <a:t> before they can be transmitted…</a:t>
            </a:r>
            <a:endParaRPr sz="3200">
              <a:solidFill>
                <a:schemeClr val="accent5"/>
              </a:solidFill>
              <a:latin typeface="Avenir"/>
              <a:ea typeface="Avenir"/>
              <a:cs typeface="Avenir"/>
              <a:sym typeface="Aveni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0" name="Shape 260"/>
        <p:cNvGrpSpPr/>
        <p:nvPr/>
      </p:nvGrpSpPr>
      <p:grpSpPr>
        <a:xfrm>
          <a:off x="0" y="0"/>
          <a:ext cx="0" cy="0"/>
          <a:chOff x="0" y="0"/>
          <a:chExt cx="0" cy="0"/>
        </a:xfrm>
      </p:grpSpPr>
      <p:sp>
        <p:nvSpPr>
          <p:cNvPr id="261" name="Google Shape;261;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Queuing Delay</a:t>
            </a:r>
            <a:endParaRPr b="1" i="0" sz="4400" u="none" cap="none" strike="noStrike">
              <a:solidFill>
                <a:srgbClr val="EF6C00"/>
              </a:solidFill>
              <a:latin typeface="PT Sans Narrow"/>
              <a:ea typeface="PT Sans Narrow"/>
              <a:cs typeface="PT Sans Narrow"/>
              <a:sym typeface="PT Sans Narrow"/>
            </a:endParaRPr>
          </a:p>
        </p:txBody>
      </p:sp>
      <p:sp>
        <p:nvSpPr>
          <p:cNvPr id="262" name="Google Shape;262;p28"/>
          <p:cNvSpPr/>
          <p:nvPr/>
        </p:nvSpPr>
        <p:spPr>
          <a:xfrm>
            <a:off x="1246744" y="3330873"/>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router.png" id="263" name="Google Shape;263;p28"/>
          <p:cNvPicPr preferRelativeResize="0"/>
          <p:nvPr/>
        </p:nvPicPr>
        <p:blipFill rotWithShape="1">
          <a:blip r:embed="rId3">
            <a:alphaModFix/>
          </a:blip>
          <a:srcRect b="0" l="0" r="0" t="0"/>
          <a:stretch/>
        </p:blipFill>
        <p:spPr>
          <a:xfrm>
            <a:off x="977185" y="2969894"/>
            <a:ext cx="2370467" cy="1576361"/>
          </a:xfrm>
          <a:prstGeom prst="rect">
            <a:avLst/>
          </a:prstGeom>
          <a:noFill/>
          <a:ln>
            <a:noFill/>
          </a:ln>
        </p:spPr>
      </p:pic>
      <p:sp>
        <p:nvSpPr>
          <p:cNvPr id="264" name="Google Shape;264;p28"/>
          <p:cNvSpPr/>
          <p:nvPr/>
        </p:nvSpPr>
        <p:spPr>
          <a:xfrm>
            <a:off x="6040136" y="3330873"/>
            <a:ext cx="1863518" cy="2635181"/>
          </a:xfrm>
          <a:prstGeom prst="can">
            <a:avLst>
              <a:gd fmla="val 25000" name="adj"/>
            </a:avLst>
          </a:prstGeom>
          <a:solidFill>
            <a:schemeClr val="lt2"/>
          </a:solidFill>
          <a:ln cap="flat" cmpd="sng" w="9525">
            <a:solidFill>
              <a:schemeClr val="l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router.png" id="265" name="Google Shape;265;p28"/>
          <p:cNvPicPr preferRelativeResize="0"/>
          <p:nvPr/>
        </p:nvPicPr>
        <p:blipFill rotWithShape="1">
          <a:blip r:embed="rId3">
            <a:alphaModFix/>
          </a:blip>
          <a:srcRect b="0" l="0" r="0" t="0"/>
          <a:stretch/>
        </p:blipFill>
        <p:spPr>
          <a:xfrm>
            <a:off x="5770577" y="2969894"/>
            <a:ext cx="2370467" cy="1576361"/>
          </a:xfrm>
          <a:prstGeom prst="rect">
            <a:avLst/>
          </a:prstGeom>
          <a:noFill/>
          <a:ln>
            <a:noFill/>
          </a:ln>
        </p:spPr>
      </p:pic>
      <p:sp>
        <p:nvSpPr>
          <p:cNvPr id="266" name="Google Shape;266;p28"/>
          <p:cNvSpPr/>
          <p:nvPr/>
        </p:nvSpPr>
        <p:spPr>
          <a:xfrm>
            <a:off x="3110262" y="4411061"/>
            <a:ext cx="2929874" cy="629119"/>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box.png" id="267" name="Google Shape;267;p28"/>
          <p:cNvPicPr preferRelativeResize="0"/>
          <p:nvPr/>
        </p:nvPicPr>
        <p:blipFill rotWithShape="1">
          <a:blip r:embed="rId4">
            <a:alphaModFix/>
          </a:blip>
          <a:srcRect b="0" l="0" r="0" t="0"/>
          <a:stretch/>
        </p:blipFill>
        <p:spPr>
          <a:xfrm>
            <a:off x="2504880" y="4411061"/>
            <a:ext cx="629119" cy="629119"/>
          </a:xfrm>
          <a:prstGeom prst="rect">
            <a:avLst/>
          </a:prstGeom>
          <a:noFill/>
          <a:ln>
            <a:noFill/>
          </a:ln>
        </p:spPr>
      </p:pic>
      <p:pic>
        <p:nvPicPr>
          <p:cNvPr descr="box.png" id="268" name="Google Shape;268;p28"/>
          <p:cNvPicPr preferRelativeResize="0"/>
          <p:nvPr/>
        </p:nvPicPr>
        <p:blipFill rotWithShape="1">
          <a:blip r:embed="rId4">
            <a:alphaModFix/>
          </a:blip>
          <a:srcRect b="0" l="0" r="0" t="0"/>
          <a:stretch/>
        </p:blipFill>
        <p:spPr>
          <a:xfrm>
            <a:off x="1875761" y="4411061"/>
            <a:ext cx="629119" cy="629119"/>
          </a:xfrm>
          <a:prstGeom prst="rect">
            <a:avLst/>
          </a:prstGeom>
          <a:noFill/>
          <a:ln>
            <a:noFill/>
          </a:ln>
        </p:spPr>
      </p:pic>
      <p:pic>
        <p:nvPicPr>
          <p:cNvPr descr="box.png" id="269" name="Google Shape;269;p28"/>
          <p:cNvPicPr preferRelativeResize="0"/>
          <p:nvPr/>
        </p:nvPicPr>
        <p:blipFill rotWithShape="1">
          <a:blip r:embed="rId4">
            <a:alphaModFix/>
          </a:blip>
          <a:srcRect b="0" l="0" r="0" t="0"/>
          <a:stretch/>
        </p:blipFill>
        <p:spPr>
          <a:xfrm>
            <a:off x="1246642" y="4411061"/>
            <a:ext cx="629119" cy="629119"/>
          </a:xfrm>
          <a:prstGeom prst="rect">
            <a:avLst/>
          </a:prstGeom>
          <a:noFill/>
          <a:ln>
            <a:noFill/>
          </a:ln>
        </p:spPr>
      </p:pic>
      <p:sp>
        <p:nvSpPr>
          <p:cNvPr id="270" name="Google Shape;270;p28"/>
          <p:cNvSpPr txBox="1"/>
          <p:nvPr/>
        </p:nvSpPr>
        <p:spPr>
          <a:xfrm>
            <a:off x="707571" y="1520823"/>
            <a:ext cx="7601858" cy="646331"/>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accent5"/>
              </a:buClr>
              <a:buSzPts val="1800"/>
              <a:buFont typeface="Arial"/>
              <a:buChar char="•"/>
            </a:pPr>
            <a:r>
              <a:rPr lang="en-US" sz="1800">
                <a:solidFill>
                  <a:schemeClr val="accent5"/>
                </a:solidFill>
                <a:latin typeface="Avenir"/>
                <a:ea typeface="Avenir"/>
                <a:cs typeface="Avenir"/>
                <a:sym typeface="Avenir"/>
              </a:rPr>
              <a:t>How long the packet waits to get transmitted on the wire</a:t>
            </a:r>
            <a:endParaRPr/>
          </a:p>
          <a:p>
            <a:pPr indent="-285750" lvl="0" marL="285750" marR="0" rtl="0" algn="l">
              <a:spcBef>
                <a:spcPts val="0"/>
              </a:spcBef>
              <a:spcAft>
                <a:spcPts val="0"/>
              </a:spcAft>
              <a:buClr>
                <a:schemeClr val="accent5"/>
              </a:buClr>
              <a:buSzPts val="1800"/>
              <a:buFont typeface="Arial"/>
              <a:buChar char="•"/>
            </a:pPr>
            <a:r>
              <a:rPr b="1" lang="en-US" sz="1800" u="sng">
                <a:solidFill>
                  <a:schemeClr val="accent5"/>
                </a:solidFill>
                <a:latin typeface="Avenir"/>
                <a:ea typeface="Avenir"/>
                <a:cs typeface="Avenir"/>
                <a:sym typeface="Avenir"/>
              </a:rPr>
              <a:t>Happens only when arrival rate is greater than transmission rate</a:t>
            </a:r>
            <a:endParaRPr b="1" u="sng"/>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67"/>
                                        </p:tgtEl>
                                        <p:attrNameLst>
                                          <p:attrName>style.visibility</p:attrName>
                                        </p:attrNameLst>
                                      </p:cBhvr>
                                      <p:to>
                                        <p:strVal val="visible"/>
                                      </p:to>
                                    </p:set>
                                    <p:anim calcmode="lin" valueType="num">
                                      <p:cBhvr additive="base">
                                        <p:cTn dur="500"/>
                                        <p:tgtEl>
                                          <p:spTgt spid="267"/>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268"/>
                                        </p:tgtEl>
                                        <p:attrNameLst>
                                          <p:attrName>style.visibility</p:attrName>
                                        </p:attrNameLst>
                                      </p:cBhvr>
                                      <p:to>
                                        <p:strVal val="visible"/>
                                      </p:to>
                                    </p:set>
                                    <p:anim calcmode="lin" valueType="num">
                                      <p:cBhvr additive="base">
                                        <p:cTn dur="500"/>
                                        <p:tgtEl>
                                          <p:spTgt spid="268"/>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269"/>
                                        </p:tgtEl>
                                        <p:attrNameLst>
                                          <p:attrName>style.visibility</p:attrName>
                                        </p:attrNameLst>
                                      </p:cBhvr>
                                      <p:to>
                                        <p:strVal val="visible"/>
                                      </p:to>
                                    </p:set>
                                    <p:anim calcmode="lin" valueType="num">
                                      <p:cBhvr additive="base">
                                        <p:cTn dur="500"/>
                                        <p:tgtEl>
                                          <p:spTgt spid="26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500"/>
                                        <p:tgtEl>
                                          <p:spTgt spid="267"/>
                                        </p:tgtEl>
                                        <p:attrNameLst>
                                          <p:attrName>ppt_x</p:attrName>
                                        </p:attrNameLst>
                                      </p:cBhvr>
                                      <p:tavLst>
                                        <p:tav fmla="" tm="0">
                                          <p:val>
                                            <p:strVal val="#ppt_x"/>
                                          </p:val>
                                        </p:tav>
                                        <p:tav fmla="" tm="100000">
                                          <p:val>
                                            <p:strVal val="#ppt_x+1"/>
                                          </p:val>
                                        </p:tav>
                                      </p:tavLst>
                                    </p:anim>
                                    <p:set>
                                      <p:cBhvr>
                                        <p:cTn dur="1" fill="hold">
                                          <p:stCondLst>
                                            <p:cond delay="500"/>
                                          </p:stCondLst>
                                        </p:cTn>
                                        <p:tgtEl>
                                          <p:spTgt spid="267"/>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2" presetSubtype="2">
                                  <p:stCondLst>
                                    <p:cond delay="0"/>
                                  </p:stCondLst>
                                  <p:childTnLst>
                                    <p:anim calcmode="lin" valueType="num">
                                      <p:cBhvr additive="base">
                                        <p:cTn dur="500"/>
                                        <p:tgtEl>
                                          <p:spTgt spid="268"/>
                                        </p:tgtEl>
                                        <p:attrNameLst>
                                          <p:attrName>ppt_x</p:attrName>
                                        </p:attrNameLst>
                                      </p:cBhvr>
                                      <p:tavLst>
                                        <p:tav fmla="" tm="0">
                                          <p:val>
                                            <p:strVal val="#ppt_x"/>
                                          </p:val>
                                        </p:tav>
                                        <p:tav fmla="" tm="100000">
                                          <p:val>
                                            <p:strVal val="#ppt_x+1"/>
                                          </p:val>
                                        </p:tav>
                                      </p:tavLst>
                                    </p:anim>
                                    <p:set>
                                      <p:cBhvr>
                                        <p:cTn dur="1" fill="hold">
                                          <p:stCondLst>
                                            <p:cond delay="500"/>
                                          </p:stCondLst>
                                        </p:cTn>
                                        <p:tgtEl>
                                          <p:spTgt spid="268"/>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2" presetSubtype="2">
                                  <p:stCondLst>
                                    <p:cond delay="0"/>
                                  </p:stCondLst>
                                  <p:childTnLst>
                                    <p:anim calcmode="lin" valueType="num">
                                      <p:cBhvr additive="base">
                                        <p:cTn dur="500"/>
                                        <p:tgtEl>
                                          <p:spTgt spid="269"/>
                                        </p:tgtEl>
                                        <p:attrNameLst>
                                          <p:attrName>ppt_x</p:attrName>
                                        </p:attrNameLst>
                                      </p:cBhvr>
                                      <p:tavLst>
                                        <p:tav fmla="" tm="0">
                                          <p:val>
                                            <p:strVal val="#ppt_x"/>
                                          </p:val>
                                        </p:tav>
                                        <p:tav fmla="" tm="100000">
                                          <p:val>
                                            <p:strVal val="#ppt_x+1"/>
                                          </p:val>
                                        </p:tav>
                                      </p:tavLst>
                                    </p:anim>
                                    <p:set>
                                      <p:cBhvr>
                                        <p:cTn dur="1" fill="hold">
                                          <p:stCondLst>
                                            <p:cond delay="500"/>
                                          </p:stCondLst>
                                        </p:cTn>
                                        <p:tgtEl>
                                          <p:spTgt spid="26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0">
  <p:cSld>
    <p:spTree>
      <p:nvGrpSpPr>
        <p:cNvPr id="274" name="Shape 274"/>
        <p:cNvGrpSpPr/>
        <p:nvPr/>
      </p:nvGrpSpPr>
      <p:grpSpPr>
        <a:xfrm>
          <a:off x="0" y="0"/>
          <a:ext cx="0" cy="0"/>
          <a:chOff x="0" y="0"/>
          <a:chExt cx="0" cy="0"/>
        </a:xfrm>
      </p:grpSpPr>
      <p:sp>
        <p:nvSpPr>
          <p:cNvPr id="275" name="Google Shape;275;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An easy fix for queuing delay?</a:t>
            </a:r>
            <a:endParaRPr b="1" i="0" sz="4400" u="none" cap="none" strike="noStrike">
              <a:solidFill>
                <a:srgbClr val="EF6C00"/>
              </a:solidFill>
              <a:latin typeface="PT Sans Narrow"/>
              <a:ea typeface="PT Sans Narrow"/>
              <a:cs typeface="PT Sans Narrow"/>
              <a:sym typeface="PT Sans Narrow"/>
            </a:endParaRPr>
          </a:p>
        </p:txBody>
      </p:sp>
      <p:sp>
        <p:nvSpPr>
          <p:cNvPr id="276" name="Google Shape;276;p2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695D46"/>
              </a:buClr>
              <a:buSzPts val="2400"/>
              <a:buFont typeface="Arial"/>
              <a:buNone/>
            </a:pPr>
            <a:r>
              <a:rPr b="0" i="0" lang="en-US" sz="2400" u="none" cap="none" strike="noStrike">
                <a:solidFill>
                  <a:srgbClr val="695D46"/>
                </a:solidFill>
                <a:latin typeface="Avenir"/>
                <a:ea typeface="Avenir"/>
                <a:cs typeface="Avenir"/>
                <a:sym typeface="Avenir"/>
              </a:rPr>
              <a:t>Naïve solution: </a:t>
            </a:r>
            <a:r>
              <a:rPr b="0" i="1" lang="en-US" sz="2400" u="none" cap="none" strike="noStrike">
                <a:solidFill>
                  <a:srgbClr val="695D46"/>
                </a:solidFill>
                <a:latin typeface="Avenir"/>
                <a:ea typeface="Avenir"/>
                <a:cs typeface="Avenir"/>
                <a:sym typeface="Avenir"/>
              </a:rPr>
              <a:t>max(arrival rate, </a:t>
            </a:r>
            <a:r>
              <a:rPr i="1" lang="en-US">
                <a:latin typeface="Avenir"/>
                <a:ea typeface="Avenir"/>
                <a:cs typeface="Avenir"/>
                <a:sym typeface="Avenir"/>
              </a:rPr>
              <a:t>transmission </a:t>
            </a:r>
            <a:r>
              <a:rPr b="0" i="1" lang="en-US" sz="2400" u="none" cap="none" strike="noStrike">
                <a:solidFill>
                  <a:srgbClr val="695D46"/>
                </a:solidFill>
                <a:latin typeface="Avenir"/>
                <a:ea typeface="Avenir"/>
                <a:cs typeface="Avenir"/>
                <a:sym typeface="Avenir"/>
              </a:rPr>
              <a:t>rate)</a:t>
            </a:r>
            <a:endParaRPr/>
          </a:p>
          <a:p>
            <a:pPr indent="0" lvl="0" marL="0" marR="0" rtl="0" algn="l">
              <a:lnSpc>
                <a:spcPct val="100000"/>
              </a:lnSpc>
              <a:spcBef>
                <a:spcPts val="0"/>
              </a:spcBef>
              <a:spcAft>
                <a:spcPts val="0"/>
              </a:spcAft>
              <a:buClr>
                <a:srgbClr val="695D46"/>
              </a:buClr>
              <a:buSzPts val="2400"/>
              <a:buFont typeface="Arial"/>
              <a:buNone/>
            </a:pPr>
            <a:r>
              <a:t/>
            </a:r>
            <a:endParaRPr b="0" i="1" sz="2400" u="none" cap="none" strike="noStrike">
              <a:solidFill>
                <a:srgbClr val="695D46"/>
              </a:solidFill>
              <a:latin typeface="Avenir"/>
              <a:ea typeface="Avenir"/>
              <a:cs typeface="Avenir"/>
              <a:sym typeface="Avenir"/>
            </a:endParaRPr>
          </a:p>
          <a:p>
            <a:pPr indent="0" lvl="0" marL="0" marR="0" rtl="0" algn="ctr">
              <a:lnSpc>
                <a:spcPct val="100000"/>
              </a:lnSpc>
              <a:spcBef>
                <a:spcPts val="0"/>
              </a:spcBef>
              <a:spcAft>
                <a:spcPts val="0"/>
              </a:spcAft>
              <a:buClr>
                <a:srgbClr val="695D46"/>
              </a:buClr>
              <a:buSzPts val="2400"/>
              <a:buFont typeface="Arial"/>
              <a:buNone/>
            </a:pPr>
            <a:r>
              <a:rPr b="0" i="1" lang="en-US" sz="2400" u="none" cap="none" strike="noStrike">
                <a:solidFill>
                  <a:srgbClr val="695D46"/>
                </a:solidFill>
                <a:latin typeface="Avenir"/>
                <a:ea typeface="Avenir"/>
                <a:cs typeface="Avenir"/>
                <a:sym typeface="Avenir"/>
              </a:rPr>
              <a:t>Is this sufficient?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0" name="Shape 280"/>
        <p:cNvGrpSpPr/>
        <p:nvPr/>
      </p:nvGrpSpPr>
      <p:grpSpPr>
        <a:xfrm>
          <a:off x="0" y="0"/>
          <a:ext cx="0" cy="0"/>
          <a:chOff x="0" y="0"/>
          <a:chExt cx="0" cy="0"/>
        </a:xfrm>
      </p:grpSpPr>
      <p:sp>
        <p:nvSpPr>
          <p:cNvPr id="281" name="Google Shape;281;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Burstiness!</a:t>
            </a:r>
            <a:endParaRPr b="1" i="0" sz="4400" u="none" cap="none" strike="noStrike">
              <a:solidFill>
                <a:srgbClr val="EF6C00"/>
              </a:solidFill>
              <a:latin typeface="PT Sans Narrow"/>
              <a:ea typeface="PT Sans Narrow"/>
              <a:cs typeface="PT Sans Narrow"/>
              <a:sym typeface="PT Sans Narrow"/>
            </a:endParaRPr>
          </a:p>
        </p:txBody>
      </p:sp>
      <p:sp>
        <p:nvSpPr>
          <p:cNvPr id="282" name="Google Shape;282;p30"/>
          <p:cNvSpPr txBox="1"/>
          <p:nvPr>
            <p:ph idx="1" type="body"/>
          </p:nvPr>
        </p:nvSpPr>
        <p:spPr>
          <a:xfrm>
            <a:off x="457200" y="1229139"/>
            <a:ext cx="8229600" cy="452596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695D46"/>
              </a:buClr>
              <a:buSzPts val="2400"/>
              <a:buFont typeface="Arial"/>
              <a:buChar char="•"/>
            </a:pPr>
            <a:r>
              <a:rPr b="0" i="0" lang="en-US" sz="2400" u="none" cap="none" strike="noStrike">
                <a:solidFill>
                  <a:srgbClr val="695D46"/>
                </a:solidFill>
                <a:latin typeface="Avenir"/>
                <a:ea typeface="Avenir"/>
                <a:cs typeface="Avenir"/>
                <a:sym typeface="Avenir"/>
              </a:rPr>
              <a:t>Transmission rate = constant over time</a:t>
            </a:r>
            <a:endParaRPr/>
          </a:p>
          <a:p>
            <a:pPr indent="-342900" lvl="0" marL="342900" marR="0" rtl="0" algn="l">
              <a:spcBef>
                <a:spcPts val="480"/>
              </a:spcBef>
              <a:spcAft>
                <a:spcPts val="0"/>
              </a:spcAft>
              <a:buClr>
                <a:srgbClr val="695D46"/>
              </a:buClr>
              <a:buSzPts val="2400"/>
              <a:buFont typeface="Arial"/>
              <a:buChar char="•"/>
            </a:pPr>
            <a:r>
              <a:rPr b="0" i="0" lang="en-US" sz="2400" u="none" cap="none" strike="noStrike">
                <a:solidFill>
                  <a:srgbClr val="695D46"/>
                </a:solidFill>
                <a:latin typeface="Avenir"/>
                <a:ea typeface="Avenir"/>
                <a:cs typeface="Avenir"/>
                <a:sym typeface="Avenir"/>
              </a:rPr>
              <a:t>Arrival rate = not constant over time</a:t>
            </a:r>
            <a:endParaRPr/>
          </a:p>
          <a:p>
            <a:pPr indent="-190500" lvl="0" marL="342900" marR="0" rtl="0" algn="l">
              <a:spcBef>
                <a:spcPts val="480"/>
              </a:spcBef>
              <a:spcAft>
                <a:spcPts val="0"/>
              </a:spcAft>
              <a:buClr>
                <a:srgbClr val="695D46"/>
              </a:buClr>
              <a:buSzPts val="2400"/>
              <a:buFont typeface="Arial"/>
              <a:buNone/>
            </a:pPr>
            <a:r>
              <a:t/>
            </a:r>
            <a:endParaRPr b="0" i="0" sz="2400" u="none" cap="none" strike="noStrike">
              <a:solidFill>
                <a:srgbClr val="695D46"/>
              </a:solidFill>
              <a:latin typeface="Avenir"/>
              <a:ea typeface="Avenir"/>
              <a:cs typeface="Avenir"/>
              <a:sym typeface="Avenir"/>
            </a:endParaRPr>
          </a:p>
        </p:txBody>
      </p:sp>
      <p:pic>
        <p:nvPicPr>
          <p:cNvPr id="283" name="Google Shape;283;p30"/>
          <p:cNvPicPr preferRelativeResize="0"/>
          <p:nvPr/>
        </p:nvPicPr>
        <p:blipFill rotWithShape="1">
          <a:blip r:embed="rId3">
            <a:alphaModFix/>
          </a:blip>
          <a:srcRect b="0" l="0" r="0" t="0"/>
          <a:stretch/>
        </p:blipFill>
        <p:spPr>
          <a:xfrm>
            <a:off x="630623" y="2658612"/>
            <a:ext cx="8056177" cy="3265801"/>
          </a:xfrm>
          <a:prstGeom prst="rect">
            <a:avLst/>
          </a:prstGeom>
          <a:noFill/>
          <a:ln>
            <a:noFill/>
          </a:ln>
        </p:spPr>
      </p:pic>
      <p:sp>
        <p:nvSpPr>
          <p:cNvPr id="284" name="Google Shape;284;p30"/>
          <p:cNvSpPr txBox="1"/>
          <p:nvPr/>
        </p:nvSpPr>
        <p:spPr>
          <a:xfrm>
            <a:off x="3048000" y="5924413"/>
            <a:ext cx="2491901"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Netflix Traffic, circa 2010</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8" name="Shape 288"/>
        <p:cNvGrpSpPr/>
        <p:nvPr/>
      </p:nvGrpSpPr>
      <p:grpSpPr>
        <a:xfrm>
          <a:off x="0" y="0"/>
          <a:ext cx="0" cy="0"/>
          <a:chOff x="0" y="0"/>
          <a:chExt cx="0" cy="0"/>
        </a:xfrm>
      </p:grpSpPr>
      <p:sp>
        <p:nvSpPr>
          <p:cNvPr id="289" name="Google Shape;28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Burstiness and Queues</a:t>
            </a:r>
            <a:endParaRPr b="1" i="0" sz="4400" u="none" cap="none" strike="noStrike">
              <a:solidFill>
                <a:srgbClr val="EF6C00"/>
              </a:solidFill>
              <a:latin typeface="PT Sans Narrow"/>
              <a:ea typeface="PT Sans Narrow"/>
              <a:cs typeface="PT Sans Narrow"/>
              <a:sym typeface="PT Sans Narrow"/>
            </a:endParaRPr>
          </a:p>
        </p:txBody>
      </p:sp>
      <p:sp>
        <p:nvSpPr>
          <p:cNvPr id="290" name="Google Shape;290;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695D46"/>
              </a:buClr>
              <a:buSzPts val="2400"/>
              <a:buFont typeface="Arial"/>
              <a:buChar char="•"/>
            </a:pPr>
            <a:r>
              <a:rPr b="0" i="0" lang="en-US" sz="2400" u="none" cap="none" strike="noStrike">
                <a:solidFill>
                  <a:srgbClr val="695D46"/>
                </a:solidFill>
                <a:latin typeface="Avenir"/>
                <a:ea typeface="Avenir"/>
                <a:cs typeface="Avenir"/>
                <a:sym typeface="Avenir"/>
              </a:rPr>
              <a:t>How does burstiness affect queuing delays?</a:t>
            </a:r>
            <a:endParaRPr/>
          </a:p>
          <a:p>
            <a:pPr indent="-158750" lvl="1" marL="742950" marR="0" rtl="0" algn="l">
              <a:spcBef>
                <a:spcPts val="400"/>
              </a:spcBef>
              <a:spcAft>
                <a:spcPts val="0"/>
              </a:spcAft>
              <a:buClr>
                <a:srgbClr val="695D46"/>
              </a:buClr>
              <a:buSzPts val="2000"/>
              <a:buFont typeface="Arial"/>
              <a:buNone/>
            </a:pPr>
            <a:r>
              <a:t/>
            </a:r>
            <a:endParaRPr b="0" i="0" sz="2000" u="none" cap="none" strike="noStrike">
              <a:solidFill>
                <a:srgbClr val="695D46"/>
              </a:solidFill>
              <a:latin typeface="Avenir"/>
              <a:ea typeface="Avenir"/>
              <a:cs typeface="Avenir"/>
              <a:sym typeface="Avenir"/>
            </a:endParaRPr>
          </a:p>
          <a:p>
            <a:pPr indent="-158750" lvl="1" marL="742950" marR="0" rtl="0" algn="l">
              <a:spcBef>
                <a:spcPts val="400"/>
              </a:spcBef>
              <a:spcAft>
                <a:spcPts val="0"/>
              </a:spcAft>
              <a:buClr>
                <a:srgbClr val="695D46"/>
              </a:buClr>
              <a:buSzPts val="2000"/>
              <a:buFont typeface="Arial"/>
              <a:buNone/>
            </a:pPr>
            <a:r>
              <a:t/>
            </a:r>
            <a:endParaRPr b="0" i="0" sz="2000" u="none" cap="none" strike="noStrike">
              <a:solidFill>
                <a:srgbClr val="695D46"/>
              </a:solidFill>
              <a:latin typeface="Avenir"/>
              <a:ea typeface="Avenir"/>
              <a:cs typeface="Avenir"/>
              <a:sym typeface="Avenir"/>
            </a:endParaRPr>
          </a:p>
          <a:p>
            <a:pPr indent="-342900" lvl="0" marL="342900" marR="0" rtl="0" algn="l">
              <a:spcBef>
                <a:spcPts val="480"/>
              </a:spcBef>
              <a:spcAft>
                <a:spcPts val="0"/>
              </a:spcAft>
              <a:buClr>
                <a:srgbClr val="695D46"/>
              </a:buClr>
              <a:buSzPts val="2400"/>
              <a:buFont typeface="Arial"/>
              <a:buChar char="•"/>
            </a:pPr>
            <a:r>
              <a:rPr b="0" i="0" lang="en-US" sz="2400" u="none" cap="none" strike="noStrike">
                <a:solidFill>
                  <a:srgbClr val="695D46"/>
                </a:solidFill>
                <a:latin typeface="Avenir"/>
                <a:ea typeface="Avenir"/>
                <a:cs typeface="Avenir"/>
                <a:sym typeface="Avenir"/>
              </a:rPr>
              <a:t>What happens when the queue is full?</a:t>
            </a:r>
            <a:endParaRPr/>
          </a:p>
          <a:p>
            <a:pPr indent="-158750" lvl="1" marL="742950" marR="0" rtl="0" algn="l">
              <a:spcBef>
                <a:spcPts val="400"/>
              </a:spcBef>
              <a:spcAft>
                <a:spcPts val="0"/>
              </a:spcAft>
              <a:buClr>
                <a:srgbClr val="695D46"/>
              </a:buClr>
              <a:buSzPts val="2000"/>
              <a:buFont typeface="Arial"/>
              <a:buNone/>
            </a:pPr>
            <a:r>
              <a:t/>
            </a:r>
            <a:endParaRPr b="0" i="0" sz="2000" u="none" cap="none" strike="noStrike">
              <a:solidFill>
                <a:srgbClr val="695D46"/>
              </a:solidFill>
              <a:latin typeface="Avenir"/>
              <a:ea typeface="Avenir"/>
              <a:cs typeface="Avenir"/>
              <a:sym typeface="Aveni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4" name="Shape 294"/>
        <p:cNvGrpSpPr/>
        <p:nvPr/>
      </p:nvGrpSpPr>
      <p:grpSpPr>
        <a:xfrm>
          <a:off x="0" y="0"/>
          <a:ext cx="0" cy="0"/>
          <a:chOff x="0" y="0"/>
          <a:chExt cx="0" cy="0"/>
        </a:xfrm>
      </p:grpSpPr>
      <p:sp>
        <p:nvSpPr>
          <p:cNvPr id="295" name="Google Shape;295;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1"/>
              </a:buClr>
              <a:buSzPts val="4400"/>
              <a:buFont typeface="PT Sans Narrow"/>
              <a:buNone/>
            </a:pPr>
            <a:r>
              <a:rPr lang="en-US">
                <a:solidFill>
                  <a:schemeClr val="accent1"/>
                </a:solidFill>
              </a:rPr>
              <a:t>Burstiness and Queues</a:t>
            </a:r>
            <a:endParaRPr/>
          </a:p>
        </p:txBody>
      </p:sp>
      <p:sp>
        <p:nvSpPr>
          <p:cNvPr id="296" name="Google Shape;296;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695D46"/>
              </a:buClr>
              <a:buSzPts val="2400"/>
              <a:buFont typeface="Arial"/>
              <a:buChar char="•"/>
            </a:pPr>
            <a:r>
              <a:rPr b="0" i="0" lang="en-US" sz="2400" u="none" cap="none" strike="noStrike">
                <a:solidFill>
                  <a:srgbClr val="695D46"/>
                </a:solidFill>
                <a:latin typeface="Avenir"/>
                <a:ea typeface="Avenir"/>
                <a:cs typeface="Avenir"/>
                <a:sym typeface="Avenir"/>
              </a:rPr>
              <a:t>How does burstiness affect queuing delays?</a:t>
            </a:r>
            <a:endParaRPr/>
          </a:p>
          <a:p>
            <a:pPr indent="-285750" lvl="1" marL="742950" marR="0" rtl="0" algn="l">
              <a:spcBef>
                <a:spcPts val="400"/>
              </a:spcBef>
              <a:spcAft>
                <a:spcPts val="0"/>
              </a:spcAft>
              <a:buClr>
                <a:srgbClr val="695D46"/>
              </a:buClr>
              <a:buSzPts val="2000"/>
              <a:buFont typeface="Arial"/>
              <a:buChar char="–"/>
            </a:pPr>
            <a:r>
              <a:rPr b="0" i="0" lang="en-US" sz="2000" u="none" cap="none" strike="noStrike">
                <a:solidFill>
                  <a:srgbClr val="695D46"/>
                </a:solidFill>
                <a:latin typeface="Avenir"/>
                <a:ea typeface="Avenir"/>
                <a:cs typeface="Avenir"/>
                <a:sym typeface="Avenir"/>
              </a:rPr>
              <a:t>Bursty flows tend to increase queuing delay</a:t>
            </a:r>
            <a:endParaRPr/>
          </a:p>
          <a:p>
            <a:pPr indent="-158750" lvl="1" marL="742950" marR="0" rtl="0" algn="l">
              <a:spcBef>
                <a:spcPts val="400"/>
              </a:spcBef>
              <a:spcAft>
                <a:spcPts val="0"/>
              </a:spcAft>
              <a:buClr>
                <a:srgbClr val="695D46"/>
              </a:buClr>
              <a:buSzPts val="2000"/>
              <a:buFont typeface="Arial"/>
              <a:buNone/>
            </a:pPr>
            <a:r>
              <a:t/>
            </a:r>
            <a:endParaRPr b="0" i="0" sz="2000" u="none" cap="none" strike="noStrike">
              <a:solidFill>
                <a:srgbClr val="695D46"/>
              </a:solidFill>
              <a:latin typeface="Avenir"/>
              <a:ea typeface="Avenir"/>
              <a:cs typeface="Avenir"/>
              <a:sym typeface="Avenir"/>
            </a:endParaRPr>
          </a:p>
          <a:p>
            <a:pPr indent="-342900" lvl="0" marL="342900" marR="0" rtl="0" algn="l">
              <a:spcBef>
                <a:spcPts val="480"/>
              </a:spcBef>
              <a:spcAft>
                <a:spcPts val="0"/>
              </a:spcAft>
              <a:buClr>
                <a:srgbClr val="695D46"/>
              </a:buClr>
              <a:buSzPts val="2400"/>
              <a:buFont typeface="Arial"/>
              <a:buChar char="•"/>
            </a:pPr>
            <a:r>
              <a:rPr b="0" i="0" lang="en-US" sz="2400" u="none" cap="none" strike="noStrike">
                <a:solidFill>
                  <a:srgbClr val="695D46"/>
                </a:solidFill>
                <a:latin typeface="Avenir"/>
                <a:ea typeface="Avenir"/>
                <a:cs typeface="Avenir"/>
                <a:sym typeface="Avenir"/>
              </a:rPr>
              <a:t>What happens when the queue is full?</a:t>
            </a:r>
            <a:endParaRPr/>
          </a:p>
          <a:p>
            <a:pPr indent="-285750" lvl="1" marL="742950" marR="0" rtl="0" algn="l">
              <a:spcBef>
                <a:spcPts val="400"/>
              </a:spcBef>
              <a:spcAft>
                <a:spcPts val="0"/>
              </a:spcAft>
              <a:buClr>
                <a:srgbClr val="695D46"/>
              </a:buClr>
              <a:buSzPts val="2000"/>
              <a:buFont typeface="Arial"/>
              <a:buChar char="–"/>
            </a:pPr>
            <a:r>
              <a:rPr b="0" i="0" lang="en-US" sz="2000" u="none" cap="none" strike="noStrike">
                <a:solidFill>
                  <a:srgbClr val="695D46"/>
                </a:solidFill>
                <a:latin typeface="Avenir"/>
                <a:ea typeface="Avenir"/>
                <a:cs typeface="Avenir"/>
                <a:sym typeface="Avenir"/>
              </a:rPr>
              <a:t>Packets are dropped</a:t>
            </a:r>
            <a:endParaRPr b="0" i="0" sz="2000" u="none" cap="none" strike="noStrike">
              <a:solidFill>
                <a:srgbClr val="695D46"/>
              </a:solidFill>
              <a:latin typeface="Avenir"/>
              <a:ea typeface="Avenir"/>
              <a:cs typeface="Avenir"/>
              <a:sym typeface="Aveni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1" name="Shape 301"/>
        <p:cNvGrpSpPr/>
        <p:nvPr/>
      </p:nvGrpSpPr>
      <p:grpSpPr>
        <a:xfrm>
          <a:off x="0" y="0"/>
          <a:ext cx="0" cy="0"/>
          <a:chOff x="0" y="0"/>
          <a:chExt cx="0" cy="0"/>
        </a:xfrm>
      </p:grpSpPr>
      <p:sp>
        <p:nvSpPr>
          <p:cNvPr id="302" name="Google Shape;302;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95D46"/>
              </a:buClr>
              <a:buSzPts val="2400"/>
              <a:buFont typeface="Arial"/>
              <a:buNone/>
            </a:pPr>
            <a:r>
              <a:rPr b="0" i="0" lang="en-US" sz="2400" u="none" cap="none" strike="noStrike">
                <a:solidFill>
                  <a:srgbClr val="695D46"/>
                </a:solidFill>
                <a:latin typeface="Avenir"/>
                <a:ea typeface="Avenir"/>
                <a:cs typeface="Avenir"/>
                <a:sym typeface="Avenir"/>
              </a:rPr>
              <a:t>Sum of all nodal delays on the path</a:t>
            </a:r>
            <a:endParaRPr b="0" i="0" sz="2400" u="none" cap="none" strike="noStrike">
              <a:solidFill>
                <a:srgbClr val="695D46"/>
              </a:solidFill>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rtl="0" algn="l">
              <a:spcBef>
                <a:spcPts val="0"/>
              </a:spcBef>
              <a:spcAft>
                <a:spcPts val="0"/>
              </a:spcAft>
              <a:buClr>
                <a:schemeClr val="accent5"/>
              </a:buClr>
              <a:buSzPts val="2400"/>
              <a:buFont typeface="Arial"/>
              <a:buNone/>
            </a:pPr>
            <a:r>
              <a:rPr lang="en-US">
                <a:solidFill>
                  <a:schemeClr val="accent5"/>
                </a:solidFill>
                <a:latin typeface="Avenir"/>
                <a:ea typeface="Avenir"/>
                <a:cs typeface="Avenir"/>
                <a:sym typeface="Avenir"/>
              </a:rPr>
              <a:t>End-to-End Delay = Propagation Delay + Transmission Delay + Queuing Delay</a:t>
            </a:r>
            <a:endParaRPr>
              <a:latin typeface="Avenir"/>
              <a:ea typeface="Avenir"/>
              <a:cs typeface="Avenir"/>
              <a:sym typeface="Avenir"/>
            </a:endParaRPr>
          </a:p>
        </p:txBody>
      </p:sp>
      <p:sp>
        <p:nvSpPr>
          <p:cNvPr id="303" name="Google Shape;303;p33"/>
          <p:cNvSpPr/>
          <p:nvPr/>
        </p:nvSpPr>
        <p:spPr>
          <a:xfrm>
            <a:off x="2709593" y="3742289"/>
            <a:ext cx="882093" cy="189408"/>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4" name="Google Shape;304;p33"/>
          <p:cNvSpPr/>
          <p:nvPr/>
        </p:nvSpPr>
        <p:spPr>
          <a:xfrm>
            <a:off x="5553782" y="3742289"/>
            <a:ext cx="882093" cy="189408"/>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monitor.png" id="305" name="Google Shape;305;p33"/>
          <p:cNvPicPr preferRelativeResize="0"/>
          <p:nvPr/>
        </p:nvPicPr>
        <p:blipFill rotWithShape="1">
          <a:blip r:embed="rId3">
            <a:alphaModFix/>
          </a:blip>
          <a:srcRect b="0" l="0" r="0" t="0"/>
          <a:stretch/>
        </p:blipFill>
        <p:spPr>
          <a:xfrm>
            <a:off x="381970" y="3294449"/>
            <a:ext cx="1024222" cy="1024222"/>
          </a:xfrm>
          <a:prstGeom prst="rect">
            <a:avLst/>
          </a:prstGeom>
          <a:noFill/>
          <a:ln>
            <a:noFill/>
          </a:ln>
        </p:spPr>
      </p:pic>
      <p:sp>
        <p:nvSpPr>
          <p:cNvPr id="306" name="Google Shape;306;p33"/>
          <p:cNvSpPr/>
          <p:nvPr/>
        </p:nvSpPr>
        <p:spPr>
          <a:xfrm>
            <a:off x="4152734" y="3742289"/>
            <a:ext cx="840002" cy="189408"/>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 name="Google Shape;307;p33"/>
          <p:cNvSpPr/>
          <p:nvPr/>
        </p:nvSpPr>
        <p:spPr>
          <a:xfrm>
            <a:off x="1406192" y="3749173"/>
            <a:ext cx="742354" cy="182524"/>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router.png" id="308" name="Google Shape;308;p33"/>
          <p:cNvPicPr preferRelativeResize="0"/>
          <p:nvPr/>
        </p:nvPicPr>
        <p:blipFill rotWithShape="1">
          <a:blip r:embed="rId4">
            <a:alphaModFix/>
          </a:blip>
          <a:srcRect b="0" l="0" r="0" t="0"/>
          <a:stretch/>
        </p:blipFill>
        <p:spPr>
          <a:xfrm>
            <a:off x="2067390" y="3625884"/>
            <a:ext cx="713674" cy="474593"/>
          </a:xfrm>
          <a:prstGeom prst="rect">
            <a:avLst/>
          </a:prstGeom>
          <a:noFill/>
          <a:ln>
            <a:noFill/>
          </a:ln>
        </p:spPr>
      </p:pic>
      <p:pic>
        <p:nvPicPr>
          <p:cNvPr descr="laptop.png" id="309" name="Google Shape;309;p33"/>
          <p:cNvPicPr preferRelativeResize="0"/>
          <p:nvPr/>
        </p:nvPicPr>
        <p:blipFill rotWithShape="1">
          <a:blip r:embed="rId5">
            <a:alphaModFix/>
          </a:blip>
          <a:srcRect b="0" l="0" r="0" t="0"/>
          <a:stretch/>
        </p:blipFill>
        <p:spPr>
          <a:xfrm>
            <a:off x="7736890" y="3294449"/>
            <a:ext cx="1024222" cy="1024222"/>
          </a:xfrm>
          <a:prstGeom prst="rect">
            <a:avLst/>
          </a:prstGeom>
          <a:noFill/>
          <a:ln>
            <a:noFill/>
          </a:ln>
        </p:spPr>
      </p:pic>
      <p:pic>
        <p:nvPicPr>
          <p:cNvPr descr="router.png" id="310" name="Google Shape;310;p33"/>
          <p:cNvPicPr preferRelativeResize="0"/>
          <p:nvPr/>
        </p:nvPicPr>
        <p:blipFill rotWithShape="1">
          <a:blip r:embed="rId4">
            <a:alphaModFix/>
          </a:blip>
          <a:srcRect b="0" l="0" r="0" t="0"/>
          <a:stretch/>
        </p:blipFill>
        <p:spPr>
          <a:xfrm>
            <a:off x="4920322" y="3599696"/>
            <a:ext cx="713674" cy="474593"/>
          </a:xfrm>
          <a:prstGeom prst="rect">
            <a:avLst/>
          </a:prstGeom>
          <a:noFill/>
          <a:ln>
            <a:noFill/>
          </a:ln>
        </p:spPr>
      </p:pic>
      <p:pic>
        <p:nvPicPr>
          <p:cNvPr descr="router.png" id="311" name="Google Shape;311;p33"/>
          <p:cNvPicPr preferRelativeResize="0"/>
          <p:nvPr/>
        </p:nvPicPr>
        <p:blipFill rotWithShape="1">
          <a:blip r:embed="rId4">
            <a:alphaModFix/>
          </a:blip>
          <a:srcRect b="0" l="0" r="0" t="0"/>
          <a:stretch/>
        </p:blipFill>
        <p:spPr>
          <a:xfrm>
            <a:off x="6374758" y="3621093"/>
            <a:ext cx="713674" cy="474593"/>
          </a:xfrm>
          <a:prstGeom prst="rect">
            <a:avLst/>
          </a:prstGeom>
          <a:noFill/>
          <a:ln>
            <a:noFill/>
          </a:ln>
        </p:spPr>
      </p:pic>
      <p:pic>
        <p:nvPicPr>
          <p:cNvPr descr="box.png" id="312" name="Google Shape;312;p33"/>
          <p:cNvPicPr preferRelativeResize="0"/>
          <p:nvPr/>
        </p:nvPicPr>
        <p:blipFill rotWithShape="1">
          <a:blip r:embed="rId6">
            <a:alphaModFix/>
          </a:blip>
          <a:srcRect b="0" l="0" r="0" t="0"/>
          <a:stretch/>
        </p:blipFill>
        <p:spPr>
          <a:xfrm>
            <a:off x="1311488" y="3742289"/>
            <a:ext cx="189408" cy="189408"/>
          </a:xfrm>
          <a:prstGeom prst="rect">
            <a:avLst/>
          </a:prstGeom>
          <a:noFill/>
          <a:ln>
            <a:noFill/>
          </a:ln>
        </p:spPr>
      </p:pic>
      <p:pic>
        <p:nvPicPr>
          <p:cNvPr descr="router.png" id="313" name="Google Shape;313;p33"/>
          <p:cNvPicPr preferRelativeResize="0"/>
          <p:nvPr/>
        </p:nvPicPr>
        <p:blipFill rotWithShape="1">
          <a:blip r:embed="rId4">
            <a:alphaModFix/>
          </a:blip>
          <a:srcRect b="0" l="0" r="0" t="0"/>
          <a:stretch/>
        </p:blipFill>
        <p:spPr>
          <a:xfrm>
            <a:off x="3510530" y="3625884"/>
            <a:ext cx="713674" cy="474593"/>
          </a:xfrm>
          <a:prstGeom prst="rect">
            <a:avLst/>
          </a:prstGeom>
          <a:noFill/>
          <a:ln>
            <a:noFill/>
          </a:ln>
        </p:spPr>
      </p:pic>
      <p:sp>
        <p:nvSpPr>
          <p:cNvPr id="314" name="Google Shape;314;p33"/>
          <p:cNvSpPr/>
          <p:nvPr/>
        </p:nvSpPr>
        <p:spPr>
          <a:xfrm>
            <a:off x="7019118" y="3749173"/>
            <a:ext cx="742354" cy="182524"/>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5" name="Google Shape;315;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End-to-End Delay</a:t>
            </a:r>
            <a:endParaRPr b="1" i="0" sz="4400" u="none" cap="none" strike="noStrike">
              <a:solidFill>
                <a:srgbClr val="EF6C00"/>
              </a:solidFill>
              <a:latin typeface="PT Sans Narrow"/>
              <a:ea typeface="PT Sans Narrow"/>
              <a:cs typeface="PT Sans Narrow"/>
              <a:sym typeface="PT Sans Narro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9" name="Shape 319"/>
        <p:cNvGrpSpPr/>
        <p:nvPr/>
      </p:nvGrpSpPr>
      <p:grpSpPr>
        <a:xfrm>
          <a:off x="0" y="0"/>
          <a:ext cx="0" cy="0"/>
          <a:chOff x="0" y="0"/>
          <a:chExt cx="0" cy="0"/>
        </a:xfrm>
      </p:grpSpPr>
      <p:sp>
        <p:nvSpPr>
          <p:cNvPr id="320" name="Google Shape;320;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95D46"/>
              </a:buClr>
              <a:buSzPts val="2400"/>
              <a:buFont typeface="Arial"/>
              <a:buNone/>
            </a:pPr>
            <a:r>
              <a:rPr b="0" i="0" lang="en-US" sz="2400" u="none" cap="none" strike="noStrike">
                <a:solidFill>
                  <a:srgbClr val="695D46"/>
                </a:solidFill>
                <a:latin typeface="Avenir"/>
                <a:ea typeface="Avenir"/>
                <a:cs typeface="Avenir"/>
                <a:sym typeface="Avenir"/>
              </a:rPr>
              <a:t>The time it  for the packet to reach its destination and receive a response</a:t>
            </a:r>
            <a:endParaRPr b="0" i="0" sz="2400" u="none" cap="none" strike="noStrike">
              <a:solidFill>
                <a:srgbClr val="695D46"/>
              </a:solidFill>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t/>
            </a:r>
            <a:endParaRPr>
              <a:latin typeface="Avenir"/>
              <a:ea typeface="Avenir"/>
              <a:cs typeface="Avenir"/>
              <a:sym typeface="Avenir"/>
            </a:endParaRPr>
          </a:p>
          <a:p>
            <a:pPr indent="0" lvl="0" marL="0" marR="0" rtl="0" algn="l">
              <a:spcBef>
                <a:spcPts val="0"/>
              </a:spcBef>
              <a:spcAft>
                <a:spcPts val="0"/>
              </a:spcAft>
              <a:buClr>
                <a:srgbClr val="695D46"/>
              </a:buClr>
              <a:buSzPts val="2400"/>
              <a:buFont typeface="Arial"/>
              <a:buNone/>
            </a:pPr>
            <a:r>
              <a:rPr lang="en-US">
                <a:latin typeface="Avenir"/>
                <a:ea typeface="Avenir"/>
                <a:cs typeface="Avenir"/>
                <a:sym typeface="Avenir"/>
              </a:rPr>
              <a:t>RTT = 2 * (End-to-End Delay)</a:t>
            </a:r>
            <a:endParaRPr>
              <a:latin typeface="Avenir"/>
              <a:ea typeface="Avenir"/>
              <a:cs typeface="Avenir"/>
              <a:sym typeface="Avenir"/>
            </a:endParaRPr>
          </a:p>
          <a:p>
            <a:pPr indent="-190500" lvl="0" marL="342900" marR="0" rtl="0" algn="l">
              <a:spcBef>
                <a:spcPts val="480"/>
              </a:spcBef>
              <a:spcAft>
                <a:spcPts val="0"/>
              </a:spcAft>
              <a:buClr>
                <a:srgbClr val="695D46"/>
              </a:buClr>
              <a:buSzPts val="2400"/>
              <a:buFont typeface="Arial"/>
              <a:buNone/>
            </a:pPr>
            <a:r>
              <a:t/>
            </a:r>
            <a:endParaRPr b="0" i="0" sz="2400" u="none" cap="none" strike="noStrike">
              <a:solidFill>
                <a:srgbClr val="695D46"/>
              </a:solidFill>
              <a:latin typeface="Avenir"/>
              <a:ea typeface="Avenir"/>
              <a:cs typeface="Avenir"/>
              <a:sym typeface="Avenir"/>
            </a:endParaRPr>
          </a:p>
        </p:txBody>
      </p:sp>
      <p:sp>
        <p:nvSpPr>
          <p:cNvPr id="321" name="Google Shape;321;p34"/>
          <p:cNvSpPr/>
          <p:nvPr/>
        </p:nvSpPr>
        <p:spPr>
          <a:xfrm>
            <a:off x="2709593" y="3742289"/>
            <a:ext cx="882093" cy="189408"/>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2" name="Google Shape;322;p34"/>
          <p:cNvSpPr/>
          <p:nvPr/>
        </p:nvSpPr>
        <p:spPr>
          <a:xfrm>
            <a:off x="5553782" y="3742289"/>
            <a:ext cx="882093" cy="189408"/>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 name="Google Shape;323;p34"/>
          <p:cNvSpPr/>
          <p:nvPr/>
        </p:nvSpPr>
        <p:spPr>
          <a:xfrm>
            <a:off x="1406192" y="3749173"/>
            <a:ext cx="742354" cy="182524"/>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4" name="Google Shape;324;p34"/>
          <p:cNvSpPr/>
          <p:nvPr/>
        </p:nvSpPr>
        <p:spPr>
          <a:xfrm>
            <a:off x="4152734" y="3742289"/>
            <a:ext cx="840002" cy="189408"/>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 name="Google Shape;325;p34"/>
          <p:cNvSpPr/>
          <p:nvPr/>
        </p:nvSpPr>
        <p:spPr>
          <a:xfrm>
            <a:off x="7019118" y="3749173"/>
            <a:ext cx="742354" cy="182524"/>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box.png" id="326" name="Google Shape;326;p34"/>
          <p:cNvPicPr preferRelativeResize="0"/>
          <p:nvPr/>
        </p:nvPicPr>
        <p:blipFill rotWithShape="1">
          <a:blip r:embed="rId3">
            <a:alphaModFix/>
          </a:blip>
          <a:srcRect b="0" l="0" r="0" t="0"/>
          <a:stretch/>
        </p:blipFill>
        <p:spPr>
          <a:xfrm>
            <a:off x="7707888" y="3742289"/>
            <a:ext cx="189408" cy="189408"/>
          </a:xfrm>
          <a:prstGeom prst="rect">
            <a:avLst/>
          </a:prstGeom>
          <a:noFill/>
          <a:ln>
            <a:noFill/>
          </a:ln>
        </p:spPr>
      </p:pic>
      <p:pic>
        <p:nvPicPr>
          <p:cNvPr descr="router.png" id="327" name="Google Shape;327;p34"/>
          <p:cNvPicPr preferRelativeResize="0"/>
          <p:nvPr/>
        </p:nvPicPr>
        <p:blipFill rotWithShape="1">
          <a:blip r:embed="rId4">
            <a:alphaModFix/>
          </a:blip>
          <a:srcRect b="0" l="0" r="0" t="0"/>
          <a:stretch/>
        </p:blipFill>
        <p:spPr>
          <a:xfrm>
            <a:off x="2094962" y="3625884"/>
            <a:ext cx="713674" cy="474593"/>
          </a:xfrm>
          <a:prstGeom prst="rect">
            <a:avLst/>
          </a:prstGeom>
          <a:noFill/>
          <a:ln>
            <a:noFill/>
          </a:ln>
        </p:spPr>
      </p:pic>
      <p:pic>
        <p:nvPicPr>
          <p:cNvPr descr="router.png" id="328" name="Google Shape;328;p34"/>
          <p:cNvPicPr preferRelativeResize="0"/>
          <p:nvPr/>
        </p:nvPicPr>
        <p:blipFill rotWithShape="1">
          <a:blip r:embed="rId4">
            <a:alphaModFix/>
          </a:blip>
          <a:srcRect b="0" l="0" r="0" t="0"/>
          <a:stretch/>
        </p:blipFill>
        <p:spPr>
          <a:xfrm>
            <a:off x="3510223" y="3625884"/>
            <a:ext cx="713674" cy="474593"/>
          </a:xfrm>
          <a:prstGeom prst="rect">
            <a:avLst/>
          </a:prstGeom>
          <a:noFill/>
          <a:ln>
            <a:noFill/>
          </a:ln>
        </p:spPr>
      </p:pic>
      <p:pic>
        <p:nvPicPr>
          <p:cNvPr descr="router.png" id="329" name="Google Shape;329;p34"/>
          <p:cNvPicPr preferRelativeResize="0"/>
          <p:nvPr/>
        </p:nvPicPr>
        <p:blipFill rotWithShape="1">
          <a:blip r:embed="rId4">
            <a:alphaModFix/>
          </a:blip>
          <a:srcRect b="0" l="0" r="0" t="0"/>
          <a:stretch/>
        </p:blipFill>
        <p:spPr>
          <a:xfrm>
            <a:off x="6374758" y="3625884"/>
            <a:ext cx="713674" cy="474593"/>
          </a:xfrm>
          <a:prstGeom prst="rect">
            <a:avLst/>
          </a:prstGeom>
          <a:noFill/>
          <a:ln>
            <a:noFill/>
          </a:ln>
        </p:spPr>
      </p:pic>
      <p:pic>
        <p:nvPicPr>
          <p:cNvPr descr="router.png" id="330" name="Google Shape;330;p34"/>
          <p:cNvPicPr preferRelativeResize="0"/>
          <p:nvPr/>
        </p:nvPicPr>
        <p:blipFill rotWithShape="1">
          <a:blip r:embed="rId4">
            <a:alphaModFix/>
          </a:blip>
          <a:srcRect b="0" l="0" r="0" t="0"/>
          <a:stretch/>
        </p:blipFill>
        <p:spPr>
          <a:xfrm>
            <a:off x="4906724" y="3630604"/>
            <a:ext cx="713674" cy="474593"/>
          </a:xfrm>
          <a:prstGeom prst="rect">
            <a:avLst/>
          </a:prstGeom>
          <a:noFill/>
          <a:ln>
            <a:noFill/>
          </a:ln>
        </p:spPr>
      </p:pic>
      <p:pic>
        <p:nvPicPr>
          <p:cNvPr descr="laptop.png" id="331" name="Google Shape;331;p34"/>
          <p:cNvPicPr preferRelativeResize="0"/>
          <p:nvPr/>
        </p:nvPicPr>
        <p:blipFill rotWithShape="1">
          <a:blip r:embed="rId5">
            <a:alphaModFix/>
          </a:blip>
          <a:srcRect b="0" l="0" r="0" t="0"/>
          <a:stretch/>
        </p:blipFill>
        <p:spPr>
          <a:xfrm>
            <a:off x="7736890" y="3294449"/>
            <a:ext cx="1024222" cy="1024222"/>
          </a:xfrm>
          <a:prstGeom prst="rect">
            <a:avLst/>
          </a:prstGeom>
          <a:noFill/>
          <a:ln>
            <a:noFill/>
          </a:ln>
        </p:spPr>
      </p:pic>
      <p:pic>
        <p:nvPicPr>
          <p:cNvPr descr="monitor.png" id="332" name="Google Shape;332;p34"/>
          <p:cNvPicPr preferRelativeResize="0"/>
          <p:nvPr/>
        </p:nvPicPr>
        <p:blipFill rotWithShape="1">
          <a:blip r:embed="rId6">
            <a:alphaModFix/>
          </a:blip>
          <a:srcRect b="0" l="0" r="0" t="0"/>
          <a:stretch/>
        </p:blipFill>
        <p:spPr>
          <a:xfrm>
            <a:off x="381970" y="3294449"/>
            <a:ext cx="1024222" cy="1024222"/>
          </a:xfrm>
          <a:prstGeom prst="rect">
            <a:avLst/>
          </a:prstGeom>
          <a:noFill/>
          <a:ln>
            <a:noFill/>
          </a:ln>
        </p:spPr>
      </p:pic>
      <p:pic>
        <p:nvPicPr>
          <p:cNvPr descr="box.png" id="333" name="Google Shape;333;p34"/>
          <p:cNvPicPr preferRelativeResize="0"/>
          <p:nvPr/>
        </p:nvPicPr>
        <p:blipFill rotWithShape="1">
          <a:blip r:embed="rId3">
            <a:alphaModFix/>
          </a:blip>
          <a:srcRect b="0" l="0" r="0" t="0"/>
          <a:stretch/>
        </p:blipFill>
        <p:spPr>
          <a:xfrm>
            <a:off x="1311488" y="3742289"/>
            <a:ext cx="189408" cy="189408"/>
          </a:xfrm>
          <a:prstGeom prst="rect">
            <a:avLst/>
          </a:prstGeom>
          <a:noFill/>
          <a:ln>
            <a:noFill/>
          </a:ln>
        </p:spPr>
      </p:pic>
      <p:sp>
        <p:nvSpPr>
          <p:cNvPr id="334" name="Google Shape;334;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Round Trip Time (RTT)</a:t>
            </a:r>
            <a:endParaRPr b="1" i="0" sz="4400" u="none" cap="none" strike="noStrike">
              <a:solidFill>
                <a:srgbClr val="EF6C00"/>
              </a:solidFill>
              <a:latin typeface="PT Sans Narrow"/>
              <a:ea typeface="PT Sans Narrow"/>
              <a:cs typeface="PT Sans Narrow"/>
              <a:sym typeface="PT Sans Narro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8" name="Shape 338"/>
        <p:cNvGrpSpPr/>
        <p:nvPr/>
      </p:nvGrpSpPr>
      <p:grpSpPr>
        <a:xfrm>
          <a:off x="0" y="0"/>
          <a:ext cx="0" cy="0"/>
          <a:chOff x="0" y="0"/>
          <a:chExt cx="0" cy="0"/>
        </a:xfrm>
      </p:grpSpPr>
      <p:sp>
        <p:nvSpPr>
          <p:cNvPr id="339" name="Google Shape;339;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Visualizing packet delay…</a:t>
            </a:r>
            <a:endParaRPr b="1" i="0" sz="4400" u="none" cap="none" strike="noStrike">
              <a:solidFill>
                <a:srgbClr val="EF6C00"/>
              </a:solidFill>
              <a:latin typeface="PT Sans Narrow"/>
              <a:ea typeface="PT Sans Narrow"/>
              <a:cs typeface="PT Sans Narrow"/>
              <a:sym typeface="PT Sans Narrow"/>
            </a:endParaRPr>
          </a:p>
        </p:txBody>
      </p:sp>
      <p:cxnSp>
        <p:nvCxnSpPr>
          <p:cNvPr id="340" name="Google Shape;340;p35"/>
          <p:cNvCxnSpPr/>
          <p:nvPr/>
        </p:nvCxnSpPr>
        <p:spPr>
          <a:xfrm>
            <a:off x="3529052" y="2321127"/>
            <a:ext cx="0" cy="3207973"/>
          </a:xfrm>
          <a:prstGeom prst="straightConnector1">
            <a:avLst/>
          </a:prstGeom>
          <a:noFill/>
          <a:ln cap="flat" cmpd="sng" w="25400">
            <a:solidFill>
              <a:srgbClr val="695D46"/>
            </a:solidFill>
            <a:prstDash val="solid"/>
            <a:round/>
            <a:headEnd len="sm" w="sm" type="none"/>
            <a:tailEnd len="lg" w="lg" type="triangle"/>
          </a:ln>
          <a:effectLst>
            <a:outerShdw blurRad="40000" rotWithShape="0" dir="5400000" dist="20000">
              <a:srgbClr val="000000">
                <a:alpha val="37647"/>
              </a:srgbClr>
            </a:outerShdw>
          </a:effectLst>
        </p:spPr>
      </p:cxnSp>
      <p:cxnSp>
        <p:nvCxnSpPr>
          <p:cNvPr id="341" name="Google Shape;341;p35"/>
          <p:cNvCxnSpPr/>
          <p:nvPr/>
        </p:nvCxnSpPr>
        <p:spPr>
          <a:xfrm>
            <a:off x="8048298" y="2321127"/>
            <a:ext cx="0" cy="3207973"/>
          </a:xfrm>
          <a:prstGeom prst="straightConnector1">
            <a:avLst/>
          </a:prstGeom>
          <a:noFill/>
          <a:ln cap="flat" cmpd="sng" w="25400">
            <a:solidFill>
              <a:srgbClr val="695D46"/>
            </a:solidFill>
            <a:prstDash val="solid"/>
            <a:round/>
            <a:headEnd len="sm" w="sm" type="none"/>
            <a:tailEnd len="lg" w="lg" type="triangle"/>
          </a:ln>
          <a:effectLst>
            <a:outerShdw blurRad="40000" rotWithShape="0" dir="5400000" dist="20000">
              <a:srgbClr val="000000">
                <a:alpha val="37647"/>
              </a:srgbClr>
            </a:outerShdw>
          </a:effectLst>
        </p:spPr>
      </p:cxnSp>
      <p:sp>
        <p:nvSpPr>
          <p:cNvPr id="342" name="Google Shape;342;p35"/>
          <p:cNvSpPr/>
          <p:nvPr/>
        </p:nvSpPr>
        <p:spPr>
          <a:xfrm flipH="1" rot="-9942956">
            <a:off x="3369018" y="3373436"/>
            <a:ext cx="4849365" cy="762000"/>
          </a:xfrm>
          <a:prstGeom prst="parallelogram">
            <a:avLst>
              <a:gd fmla="val 25000" name="adj"/>
            </a:avLst>
          </a:prstGeom>
          <a:solidFill>
            <a:schemeClr val="accent1"/>
          </a:solidFill>
          <a:ln cap="flat" cmpd="sng" w="9525">
            <a:solidFill>
              <a:schemeClr val="accent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43" name="Google Shape;343;p35"/>
          <p:cNvCxnSpPr/>
          <p:nvPr/>
        </p:nvCxnSpPr>
        <p:spPr>
          <a:xfrm rot="10800000">
            <a:off x="683853" y="2786974"/>
            <a:ext cx="2845200"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344" name="Google Shape;344;p35"/>
          <p:cNvCxnSpPr/>
          <p:nvPr/>
        </p:nvCxnSpPr>
        <p:spPr>
          <a:xfrm rot="10800000">
            <a:off x="683857" y="3574960"/>
            <a:ext cx="2845196" cy="4687"/>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345" name="Google Shape;345;p35"/>
          <p:cNvCxnSpPr/>
          <p:nvPr/>
        </p:nvCxnSpPr>
        <p:spPr>
          <a:xfrm rot="10800000">
            <a:off x="683856" y="4721898"/>
            <a:ext cx="7364441" cy="10496"/>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sp>
        <p:nvSpPr>
          <p:cNvPr id="346" name="Google Shape;346;p35"/>
          <p:cNvSpPr txBox="1"/>
          <p:nvPr/>
        </p:nvSpPr>
        <p:spPr>
          <a:xfrm>
            <a:off x="834887" y="2999970"/>
            <a:ext cx="2231653" cy="3693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chemeClr val="accent5"/>
                </a:solidFill>
                <a:latin typeface="Avenir"/>
                <a:ea typeface="Avenir"/>
                <a:cs typeface="Avenir"/>
                <a:sym typeface="Avenir"/>
              </a:rPr>
              <a:t>Transmission delay</a:t>
            </a:r>
            <a:endParaRPr sz="1800">
              <a:solidFill>
                <a:schemeClr val="accent5"/>
              </a:solidFill>
              <a:latin typeface="Avenir"/>
              <a:ea typeface="Avenir"/>
              <a:cs typeface="Avenir"/>
              <a:sym typeface="Avenir"/>
            </a:endParaRPr>
          </a:p>
        </p:txBody>
      </p:sp>
      <p:sp>
        <p:nvSpPr>
          <p:cNvPr id="347" name="Google Shape;347;p35"/>
          <p:cNvSpPr txBox="1"/>
          <p:nvPr/>
        </p:nvSpPr>
        <p:spPr>
          <a:xfrm>
            <a:off x="999307" y="3955539"/>
            <a:ext cx="2067233" cy="3693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rgbClr val="695D46"/>
                </a:solidFill>
                <a:latin typeface="Avenir"/>
                <a:ea typeface="Avenir"/>
                <a:cs typeface="Avenir"/>
                <a:sym typeface="Avenir"/>
              </a:rPr>
              <a:t>Propagation delay</a:t>
            </a:r>
            <a:endParaRPr sz="1800">
              <a:solidFill>
                <a:srgbClr val="695D46"/>
              </a:solidFill>
              <a:latin typeface="Avenir"/>
              <a:ea typeface="Avenir"/>
              <a:cs typeface="Avenir"/>
              <a:sym typeface="Avenir"/>
            </a:endParaRPr>
          </a:p>
        </p:txBody>
      </p:sp>
      <p:sp>
        <p:nvSpPr>
          <p:cNvPr id="348" name="Google Shape;348;p35"/>
          <p:cNvSpPr txBox="1"/>
          <p:nvPr/>
        </p:nvSpPr>
        <p:spPr>
          <a:xfrm>
            <a:off x="8049341" y="2417641"/>
            <a:ext cx="734328" cy="3693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chemeClr val="accent5"/>
                </a:solidFill>
                <a:latin typeface="Avenir"/>
                <a:ea typeface="Avenir"/>
                <a:cs typeface="Avenir"/>
                <a:sym typeface="Avenir"/>
              </a:rPr>
              <a:t>Time</a:t>
            </a:r>
            <a:endParaRPr sz="1800">
              <a:solidFill>
                <a:schemeClr val="accent5"/>
              </a:solidFill>
              <a:latin typeface="Avenir"/>
              <a:ea typeface="Avenir"/>
              <a:cs typeface="Avenir"/>
              <a:sym typeface="Aveni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0">
  <p:cSld>
    <p:spTree>
      <p:nvGrpSpPr>
        <p:cNvPr id="352" name="Shape 352"/>
        <p:cNvGrpSpPr/>
        <p:nvPr/>
      </p:nvGrpSpPr>
      <p:grpSpPr>
        <a:xfrm>
          <a:off x="0" y="0"/>
          <a:ext cx="0" cy="0"/>
          <a:chOff x="0" y="0"/>
          <a:chExt cx="0" cy="0"/>
        </a:xfrm>
      </p:grpSpPr>
      <p:sp>
        <p:nvSpPr>
          <p:cNvPr id="353" name="Google Shape;353;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Visualizing packet delay…</a:t>
            </a:r>
            <a:endParaRPr b="1" i="0" sz="4400" u="none" cap="none" strike="noStrike">
              <a:solidFill>
                <a:srgbClr val="EF6C00"/>
              </a:solidFill>
              <a:latin typeface="PT Sans Narrow"/>
              <a:ea typeface="PT Sans Narrow"/>
              <a:cs typeface="PT Sans Narrow"/>
              <a:sym typeface="PT Sans Narrow"/>
            </a:endParaRPr>
          </a:p>
        </p:txBody>
      </p:sp>
      <p:cxnSp>
        <p:nvCxnSpPr>
          <p:cNvPr id="354" name="Google Shape;354;p36"/>
          <p:cNvCxnSpPr/>
          <p:nvPr/>
        </p:nvCxnSpPr>
        <p:spPr>
          <a:xfrm>
            <a:off x="1237802" y="2380077"/>
            <a:ext cx="0" cy="3207900"/>
          </a:xfrm>
          <a:prstGeom prst="straightConnector1">
            <a:avLst/>
          </a:prstGeom>
          <a:noFill/>
          <a:ln cap="flat" cmpd="sng" w="25400">
            <a:solidFill>
              <a:srgbClr val="695D46"/>
            </a:solidFill>
            <a:prstDash val="solid"/>
            <a:round/>
            <a:headEnd len="sm" w="sm" type="none"/>
            <a:tailEnd len="lg" w="lg" type="triangle"/>
          </a:ln>
          <a:effectLst>
            <a:outerShdw blurRad="40000" rotWithShape="0" dir="5400000" dist="20000">
              <a:srgbClr val="000000">
                <a:alpha val="37650"/>
              </a:srgbClr>
            </a:outerShdw>
          </a:effectLst>
        </p:spPr>
      </p:cxnSp>
      <p:cxnSp>
        <p:nvCxnSpPr>
          <p:cNvPr id="355" name="Google Shape;355;p36"/>
          <p:cNvCxnSpPr/>
          <p:nvPr/>
        </p:nvCxnSpPr>
        <p:spPr>
          <a:xfrm>
            <a:off x="5757048" y="2380077"/>
            <a:ext cx="0" cy="3207900"/>
          </a:xfrm>
          <a:prstGeom prst="straightConnector1">
            <a:avLst/>
          </a:prstGeom>
          <a:noFill/>
          <a:ln cap="flat" cmpd="sng" w="25400">
            <a:solidFill>
              <a:srgbClr val="695D46"/>
            </a:solidFill>
            <a:prstDash val="solid"/>
            <a:round/>
            <a:headEnd len="sm" w="sm" type="none"/>
            <a:tailEnd len="lg" w="lg" type="triangle"/>
          </a:ln>
          <a:effectLst>
            <a:outerShdw blurRad="40000" rotWithShape="0" dir="5400000" dist="20000">
              <a:srgbClr val="000000">
                <a:alpha val="37650"/>
              </a:srgbClr>
            </a:outerShdw>
          </a:effectLst>
        </p:spPr>
      </p:cxnSp>
      <p:sp>
        <p:nvSpPr>
          <p:cNvPr id="356" name="Google Shape;356;p36"/>
          <p:cNvSpPr/>
          <p:nvPr/>
        </p:nvSpPr>
        <p:spPr>
          <a:xfrm flipH="1" rot="-9943022">
            <a:off x="1077825" y="3432474"/>
            <a:ext cx="4849399" cy="761885"/>
          </a:xfrm>
          <a:prstGeom prst="parallelogram">
            <a:avLst>
              <a:gd fmla="val 25000" name="adj"/>
            </a:avLst>
          </a:prstGeom>
          <a:solidFill>
            <a:schemeClr val="accent1"/>
          </a:solidFill>
          <a:ln cap="flat" cmpd="sng" w="9525">
            <a:solidFill>
              <a:schemeClr val="accent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57" name="Google Shape;357;p36"/>
          <p:cNvCxnSpPr/>
          <p:nvPr/>
        </p:nvCxnSpPr>
        <p:spPr>
          <a:xfrm>
            <a:off x="1237803" y="2845924"/>
            <a:ext cx="6956700"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50"/>
              </a:srgbClr>
            </a:outerShdw>
          </a:effectLst>
        </p:spPr>
      </p:cxnSp>
      <p:cxnSp>
        <p:nvCxnSpPr>
          <p:cNvPr id="358" name="Google Shape;358;p36"/>
          <p:cNvCxnSpPr/>
          <p:nvPr/>
        </p:nvCxnSpPr>
        <p:spPr>
          <a:xfrm rot="10800000">
            <a:off x="5745900" y="3981625"/>
            <a:ext cx="2448600"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50"/>
              </a:srgbClr>
            </a:outerShdw>
          </a:effectLst>
        </p:spPr>
      </p:cxnSp>
      <p:cxnSp>
        <p:nvCxnSpPr>
          <p:cNvPr id="359" name="Google Shape;359;p36"/>
          <p:cNvCxnSpPr/>
          <p:nvPr/>
        </p:nvCxnSpPr>
        <p:spPr>
          <a:xfrm>
            <a:off x="5791728" y="4791350"/>
            <a:ext cx="2239200"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50"/>
              </a:srgbClr>
            </a:outerShdw>
          </a:effectLst>
        </p:spPr>
      </p:cxnSp>
      <p:sp>
        <p:nvSpPr>
          <p:cNvPr id="360" name="Google Shape;360;p36"/>
          <p:cNvSpPr txBox="1"/>
          <p:nvPr/>
        </p:nvSpPr>
        <p:spPr>
          <a:xfrm>
            <a:off x="5853587" y="4201832"/>
            <a:ext cx="2231700" cy="3693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chemeClr val="accent5"/>
                </a:solidFill>
                <a:latin typeface="Avenir"/>
                <a:ea typeface="Avenir"/>
                <a:cs typeface="Avenir"/>
                <a:sym typeface="Avenir"/>
              </a:rPr>
              <a:t>Transmission delay</a:t>
            </a:r>
            <a:endParaRPr sz="1800">
              <a:solidFill>
                <a:schemeClr val="accent5"/>
              </a:solidFill>
              <a:latin typeface="Avenir"/>
              <a:ea typeface="Avenir"/>
              <a:cs typeface="Avenir"/>
              <a:sym typeface="Avenir"/>
            </a:endParaRPr>
          </a:p>
        </p:txBody>
      </p:sp>
      <p:sp>
        <p:nvSpPr>
          <p:cNvPr id="361" name="Google Shape;361;p36"/>
          <p:cNvSpPr txBox="1"/>
          <p:nvPr/>
        </p:nvSpPr>
        <p:spPr>
          <a:xfrm>
            <a:off x="5935782" y="3229114"/>
            <a:ext cx="2067300" cy="3693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rgbClr val="695D46"/>
                </a:solidFill>
                <a:latin typeface="Avenir"/>
                <a:ea typeface="Avenir"/>
                <a:cs typeface="Avenir"/>
                <a:sym typeface="Avenir"/>
              </a:rPr>
              <a:t>Propagation delay</a:t>
            </a:r>
            <a:endParaRPr sz="1800">
              <a:solidFill>
                <a:srgbClr val="695D46"/>
              </a:solidFill>
              <a:latin typeface="Avenir"/>
              <a:ea typeface="Avenir"/>
              <a:cs typeface="Avenir"/>
              <a:sym typeface="Avenir"/>
            </a:endParaRPr>
          </a:p>
        </p:txBody>
      </p:sp>
      <p:sp>
        <p:nvSpPr>
          <p:cNvPr id="362" name="Google Shape;362;p36"/>
          <p:cNvSpPr txBox="1"/>
          <p:nvPr/>
        </p:nvSpPr>
        <p:spPr>
          <a:xfrm>
            <a:off x="5758091" y="2095591"/>
            <a:ext cx="734400" cy="3693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chemeClr val="accent5"/>
                </a:solidFill>
                <a:latin typeface="Avenir"/>
                <a:ea typeface="Avenir"/>
                <a:cs typeface="Avenir"/>
                <a:sym typeface="Avenir"/>
              </a:rPr>
              <a:t>Time</a:t>
            </a:r>
            <a:endParaRPr sz="1800">
              <a:solidFill>
                <a:schemeClr val="accent5"/>
              </a:solidFill>
              <a:latin typeface="Avenir"/>
              <a:ea typeface="Avenir"/>
              <a:cs typeface="Avenir"/>
              <a:sym typeface="Aveni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6" name="Shape 366"/>
        <p:cNvGrpSpPr/>
        <p:nvPr/>
      </p:nvGrpSpPr>
      <p:grpSpPr>
        <a:xfrm>
          <a:off x="0" y="0"/>
          <a:ext cx="0" cy="0"/>
          <a:chOff x="0" y="0"/>
          <a:chExt cx="0" cy="0"/>
        </a:xfrm>
      </p:grpSpPr>
      <p:sp>
        <p:nvSpPr>
          <p:cNvPr id="367" name="Google Shape;367;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Visualizing end-to-end delay…</a:t>
            </a:r>
            <a:endParaRPr b="1" i="0" sz="4400" u="none" cap="none" strike="noStrike">
              <a:solidFill>
                <a:srgbClr val="EF6C00"/>
              </a:solidFill>
              <a:latin typeface="PT Sans Narrow"/>
              <a:ea typeface="PT Sans Narrow"/>
              <a:cs typeface="PT Sans Narrow"/>
              <a:sym typeface="PT Sans Narrow"/>
            </a:endParaRPr>
          </a:p>
        </p:txBody>
      </p:sp>
      <p:cxnSp>
        <p:nvCxnSpPr>
          <p:cNvPr id="368" name="Google Shape;368;p37"/>
          <p:cNvCxnSpPr/>
          <p:nvPr/>
        </p:nvCxnSpPr>
        <p:spPr>
          <a:xfrm>
            <a:off x="2901466" y="2292533"/>
            <a:ext cx="0" cy="3825673"/>
          </a:xfrm>
          <a:prstGeom prst="straightConnector1">
            <a:avLst/>
          </a:prstGeom>
          <a:noFill/>
          <a:ln cap="flat" cmpd="sng" w="25400">
            <a:solidFill>
              <a:srgbClr val="695D46"/>
            </a:solidFill>
            <a:prstDash val="solid"/>
            <a:round/>
            <a:headEnd len="sm" w="sm" type="none"/>
            <a:tailEnd len="lg" w="lg" type="triangle"/>
          </a:ln>
          <a:effectLst>
            <a:outerShdw blurRad="40000" rotWithShape="0" dir="5400000" dist="20000">
              <a:srgbClr val="000000">
                <a:alpha val="37647"/>
              </a:srgbClr>
            </a:outerShdw>
          </a:effectLst>
        </p:spPr>
      </p:cxnSp>
      <p:cxnSp>
        <p:nvCxnSpPr>
          <p:cNvPr id="369" name="Google Shape;369;p37"/>
          <p:cNvCxnSpPr/>
          <p:nvPr/>
        </p:nvCxnSpPr>
        <p:spPr>
          <a:xfrm>
            <a:off x="5124552" y="2292533"/>
            <a:ext cx="0" cy="3825673"/>
          </a:xfrm>
          <a:prstGeom prst="straightConnector1">
            <a:avLst/>
          </a:prstGeom>
          <a:noFill/>
          <a:ln cap="flat" cmpd="sng" w="25400">
            <a:solidFill>
              <a:srgbClr val="695D46"/>
            </a:solidFill>
            <a:prstDash val="solid"/>
            <a:round/>
            <a:headEnd len="sm" w="sm" type="none"/>
            <a:tailEnd len="lg" w="lg" type="triangle"/>
          </a:ln>
          <a:effectLst>
            <a:outerShdw blurRad="40000" rotWithShape="0" dir="5400000" dist="20000">
              <a:srgbClr val="000000">
                <a:alpha val="37647"/>
              </a:srgbClr>
            </a:outerShdw>
          </a:effectLst>
        </p:spPr>
      </p:cxnSp>
      <p:sp>
        <p:nvSpPr>
          <p:cNvPr id="370" name="Google Shape;370;p37"/>
          <p:cNvSpPr/>
          <p:nvPr/>
        </p:nvSpPr>
        <p:spPr>
          <a:xfrm flipH="1" rot="-9942956">
            <a:off x="2778050" y="3052598"/>
            <a:ext cx="2480429" cy="762000"/>
          </a:xfrm>
          <a:prstGeom prst="parallelogram">
            <a:avLst>
              <a:gd fmla="val 25000" name="adj"/>
            </a:avLst>
          </a:prstGeom>
          <a:solidFill>
            <a:schemeClr val="accent1"/>
          </a:solidFill>
          <a:ln cap="flat" cmpd="sng" w="9525">
            <a:solidFill>
              <a:schemeClr val="accent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71" name="Google Shape;371;p37"/>
          <p:cNvCxnSpPr/>
          <p:nvPr/>
        </p:nvCxnSpPr>
        <p:spPr>
          <a:xfrm rot="10800000">
            <a:off x="709526" y="2758380"/>
            <a:ext cx="2191940"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372" name="Google Shape;372;p37"/>
          <p:cNvCxnSpPr/>
          <p:nvPr/>
        </p:nvCxnSpPr>
        <p:spPr>
          <a:xfrm rot="10800000">
            <a:off x="709526" y="3551053"/>
            <a:ext cx="2191940"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373" name="Google Shape;373;p37"/>
          <p:cNvCxnSpPr/>
          <p:nvPr/>
        </p:nvCxnSpPr>
        <p:spPr>
          <a:xfrm rot="10800000">
            <a:off x="709526" y="4126971"/>
            <a:ext cx="4415027"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sp>
        <p:nvSpPr>
          <p:cNvPr id="374" name="Google Shape;374;p37"/>
          <p:cNvSpPr txBox="1"/>
          <p:nvPr/>
        </p:nvSpPr>
        <p:spPr>
          <a:xfrm>
            <a:off x="457200" y="2971376"/>
            <a:ext cx="2222336" cy="3693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chemeClr val="accent5"/>
                </a:solidFill>
                <a:latin typeface="Avenir"/>
                <a:ea typeface="Avenir"/>
                <a:cs typeface="Avenir"/>
                <a:sym typeface="Avenir"/>
              </a:rPr>
              <a:t>Transmission delay</a:t>
            </a:r>
            <a:endParaRPr sz="1800">
              <a:solidFill>
                <a:schemeClr val="accent5"/>
              </a:solidFill>
              <a:latin typeface="Avenir"/>
              <a:ea typeface="Avenir"/>
              <a:cs typeface="Avenir"/>
              <a:sym typeface="Avenir"/>
            </a:endParaRPr>
          </a:p>
        </p:txBody>
      </p:sp>
      <p:sp>
        <p:nvSpPr>
          <p:cNvPr id="375" name="Google Shape;375;p37"/>
          <p:cNvSpPr txBox="1"/>
          <p:nvPr/>
        </p:nvSpPr>
        <p:spPr>
          <a:xfrm>
            <a:off x="527432" y="3628733"/>
            <a:ext cx="2067233" cy="3693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rgbClr val="695D46"/>
                </a:solidFill>
                <a:latin typeface="Avenir"/>
                <a:ea typeface="Avenir"/>
                <a:cs typeface="Avenir"/>
                <a:sym typeface="Avenir"/>
              </a:rPr>
              <a:t>Propagation delay</a:t>
            </a:r>
            <a:endParaRPr sz="1800">
              <a:solidFill>
                <a:srgbClr val="695D46"/>
              </a:solidFill>
              <a:latin typeface="Avenir"/>
              <a:ea typeface="Avenir"/>
              <a:cs typeface="Avenir"/>
              <a:sym typeface="Avenir"/>
            </a:endParaRPr>
          </a:p>
        </p:txBody>
      </p:sp>
      <p:cxnSp>
        <p:nvCxnSpPr>
          <p:cNvPr id="376" name="Google Shape;376;p37"/>
          <p:cNvCxnSpPr/>
          <p:nvPr/>
        </p:nvCxnSpPr>
        <p:spPr>
          <a:xfrm>
            <a:off x="8142072" y="2292533"/>
            <a:ext cx="0" cy="3825673"/>
          </a:xfrm>
          <a:prstGeom prst="straightConnector1">
            <a:avLst/>
          </a:prstGeom>
          <a:noFill/>
          <a:ln cap="flat" cmpd="sng" w="25400">
            <a:solidFill>
              <a:srgbClr val="695D46"/>
            </a:solidFill>
            <a:prstDash val="solid"/>
            <a:round/>
            <a:headEnd len="sm" w="sm" type="none"/>
            <a:tailEnd len="lg" w="lg" type="triangle"/>
          </a:ln>
          <a:effectLst>
            <a:outerShdw blurRad="40000" rotWithShape="0" dir="5400000" dist="20000">
              <a:srgbClr val="000000">
                <a:alpha val="37647"/>
              </a:srgbClr>
            </a:outerShdw>
          </a:effectLst>
        </p:spPr>
      </p:cxnSp>
      <p:sp>
        <p:nvSpPr>
          <p:cNvPr id="377" name="Google Shape;377;p37"/>
          <p:cNvSpPr/>
          <p:nvPr/>
        </p:nvSpPr>
        <p:spPr>
          <a:xfrm flipH="1" rot="-9942956">
            <a:off x="5041559" y="4497835"/>
            <a:ext cx="3198541" cy="360179"/>
          </a:xfrm>
          <a:prstGeom prst="parallelogram">
            <a:avLst>
              <a:gd fmla="val 25000" name="adj"/>
            </a:avLst>
          </a:prstGeom>
          <a:solidFill>
            <a:schemeClr val="accent1"/>
          </a:solidFill>
          <a:ln cap="flat" cmpd="sng" w="9525">
            <a:solidFill>
              <a:schemeClr val="accent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78" name="Google Shape;378;p37"/>
          <p:cNvCxnSpPr/>
          <p:nvPr/>
        </p:nvCxnSpPr>
        <p:spPr>
          <a:xfrm rot="10800000">
            <a:off x="709526" y="4495740"/>
            <a:ext cx="4415027"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379" name="Google Shape;379;p37"/>
          <p:cNvCxnSpPr/>
          <p:nvPr/>
        </p:nvCxnSpPr>
        <p:spPr>
          <a:xfrm rot="10800000">
            <a:off x="709526" y="5247034"/>
            <a:ext cx="7432547"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sp>
        <p:nvSpPr>
          <p:cNvPr id="380" name="Google Shape;380;p37"/>
          <p:cNvSpPr txBox="1"/>
          <p:nvPr/>
        </p:nvSpPr>
        <p:spPr>
          <a:xfrm>
            <a:off x="457200" y="4126971"/>
            <a:ext cx="2222336" cy="3693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chemeClr val="accent5"/>
                </a:solidFill>
                <a:latin typeface="Avenir"/>
                <a:ea typeface="Avenir"/>
                <a:cs typeface="Avenir"/>
                <a:sym typeface="Avenir"/>
              </a:rPr>
              <a:t>Transmission delay</a:t>
            </a:r>
            <a:endParaRPr sz="1800">
              <a:solidFill>
                <a:schemeClr val="accent5"/>
              </a:solidFill>
              <a:latin typeface="Avenir"/>
              <a:ea typeface="Avenir"/>
              <a:cs typeface="Avenir"/>
              <a:sym typeface="Avenir"/>
            </a:endParaRPr>
          </a:p>
        </p:txBody>
      </p:sp>
      <p:sp>
        <p:nvSpPr>
          <p:cNvPr id="381" name="Google Shape;381;p37"/>
          <p:cNvSpPr txBox="1"/>
          <p:nvPr/>
        </p:nvSpPr>
        <p:spPr>
          <a:xfrm>
            <a:off x="527432" y="4690068"/>
            <a:ext cx="2067233" cy="3693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rgbClr val="695D46"/>
                </a:solidFill>
                <a:latin typeface="Avenir"/>
                <a:ea typeface="Avenir"/>
                <a:cs typeface="Avenir"/>
                <a:sym typeface="Avenir"/>
              </a:rPr>
              <a:t>Propagation delay</a:t>
            </a:r>
            <a:endParaRPr sz="1800">
              <a:solidFill>
                <a:srgbClr val="695D46"/>
              </a:solidFill>
              <a:latin typeface="Avenir"/>
              <a:ea typeface="Avenir"/>
              <a:cs typeface="Avenir"/>
              <a:sym typeface="Avenir"/>
            </a:endParaRPr>
          </a:p>
        </p:txBody>
      </p:sp>
      <p:pic>
        <p:nvPicPr>
          <p:cNvPr descr="monitor.png" id="382" name="Google Shape;382;p37"/>
          <p:cNvPicPr preferRelativeResize="0"/>
          <p:nvPr/>
        </p:nvPicPr>
        <p:blipFill rotWithShape="1">
          <a:blip r:embed="rId3">
            <a:alphaModFix/>
          </a:blip>
          <a:srcRect b="0" l="0" r="0" t="0"/>
          <a:stretch/>
        </p:blipFill>
        <p:spPr>
          <a:xfrm>
            <a:off x="2510306" y="1510213"/>
            <a:ext cx="782320" cy="782320"/>
          </a:xfrm>
          <a:prstGeom prst="rect">
            <a:avLst/>
          </a:prstGeom>
          <a:noFill/>
          <a:ln>
            <a:noFill/>
          </a:ln>
        </p:spPr>
      </p:pic>
      <p:pic>
        <p:nvPicPr>
          <p:cNvPr descr="laptop.png" id="383" name="Google Shape;383;p37"/>
          <p:cNvPicPr preferRelativeResize="0"/>
          <p:nvPr/>
        </p:nvPicPr>
        <p:blipFill rotWithShape="1">
          <a:blip r:embed="rId4">
            <a:alphaModFix/>
          </a:blip>
          <a:srcRect b="0" l="0" r="0" t="0"/>
          <a:stretch/>
        </p:blipFill>
        <p:spPr>
          <a:xfrm>
            <a:off x="7697108" y="1386860"/>
            <a:ext cx="880591" cy="880591"/>
          </a:xfrm>
          <a:prstGeom prst="rect">
            <a:avLst/>
          </a:prstGeom>
          <a:noFill/>
          <a:ln>
            <a:noFill/>
          </a:ln>
        </p:spPr>
      </p:pic>
      <p:pic>
        <p:nvPicPr>
          <p:cNvPr descr="router.png" id="384" name="Google Shape;384;p37"/>
          <p:cNvPicPr preferRelativeResize="0"/>
          <p:nvPr/>
        </p:nvPicPr>
        <p:blipFill rotWithShape="1">
          <a:blip r:embed="rId5">
            <a:alphaModFix/>
          </a:blip>
          <a:srcRect b="0" l="0" r="0" t="0"/>
          <a:stretch/>
        </p:blipFill>
        <p:spPr>
          <a:xfrm>
            <a:off x="4638799" y="1645867"/>
            <a:ext cx="972430" cy="646666"/>
          </a:xfrm>
          <a:prstGeom prst="rect">
            <a:avLst/>
          </a:prstGeom>
          <a:noFill/>
          <a:ln>
            <a:noFill/>
          </a:ln>
        </p:spPr>
      </p:pic>
      <p:sp>
        <p:nvSpPr>
          <p:cNvPr id="385" name="Google Shape;385;p37"/>
          <p:cNvSpPr txBox="1"/>
          <p:nvPr/>
        </p:nvSpPr>
        <p:spPr>
          <a:xfrm>
            <a:off x="2802467" y="1202194"/>
            <a:ext cx="318229"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386" name="Google Shape;386;p37"/>
          <p:cNvSpPr txBox="1"/>
          <p:nvPr/>
        </p:nvSpPr>
        <p:spPr>
          <a:xfrm>
            <a:off x="4965437" y="1140881"/>
            <a:ext cx="318229"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a:t>
            </a:r>
            <a:endParaRPr sz="1800">
              <a:solidFill>
                <a:schemeClr val="dk1"/>
              </a:solidFill>
              <a:latin typeface="Calibri"/>
              <a:ea typeface="Calibri"/>
              <a:cs typeface="Calibri"/>
              <a:sym typeface="Calibri"/>
            </a:endParaRPr>
          </a:p>
        </p:txBody>
      </p:sp>
      <p:sp>
        <p:nvSpPr>
          <p:cNvPr id="387" name="Google Shape;387;p37"/>
          <p:cNvSpPr txBox="1"/>
          <p:nvPr/>
        </p:nvSpPr>
        <p:spPr>
          <a:xfrm>
            <a:off x="7982958" y="1048306"/>
            <a:ext cx="318229"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88" name="Google Shape;388;p37"/>
          <p:cNvSpPr txBox="1"/>
          <p:nvPr/>
        </p:nvSpPr>
        <p:spPr>
          <a:xfrm>
            <a:off x="8235091" y="2345194"/>
            <a:ext cx="734328" cy="3693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chemeClr val="accent5"/>
                </a:solidFill>
                <a:latin typeface="Avenir"/>
                <a:ea typeface="Avenir"/>
                <a:cs typeface="Avenir"/>
                <a:sym typeface="Avenir"/>
              </a:rPr>
              <a:t>Time</a:t>
            </a:r>
            <a:endParaRPr sz="1800">
              <a:solidFill>
                <a:schemeClr val="accent5"/>
              </a:solidFill>
              <a:latin typeface="Avenir"/>
              <a:ea typeface="Avenir"/>
              <a:cs typeface="Avenir"/>
              <a:sym typeface="Aveni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2" name="Shape 392"/>
        <p:cNvGrpSpPr/>
        <p:nvPr/>
      </p:nvGrpSpPr>
      <p:grpSpPr>
        <a:xfrm>
          <a:off x="0" y="0"/>
          <a:ext cx="0" cy="0"/>
          <a:chOff x="0" y="0"/>
          <a:chExt cx="0" cy="0"/>
        </a:xfrm>
      </p:grpSpPr>
      <p:sp>
        <p:nvSpPr>
          <p:cNvPr id="393" name="Google Shape;393;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Visualizing end-to-end delay…</a:t>
            </a:r>
            <a:endParaRPr b="1" i="0" sz="4400" u="none" cap="none" strike="noStrike">
              <a:solidFill>
                <a:srgbClr val="EF6C00"/>
              </a:solidFill>
              <a:latin typeface="PT Sans Narrow"/>
              <a:ea typeface="PT Sans Narrow"/>
              <a:cs typeface="PT Sans Narrow"/>
              <a:sym typeface="PT Sans Narrow"/>
            </a:endParaRPr>
          </a:p>
        </p:txBody>
      </p:sp>
      <p:sp>
        <p:nvSpPr>
          <p:cNvPr id="394" name="Google Shape;394;p38"/>
          <p:cNvSpPr/>
          <p:nvPr/>
        </p:nvSpPr>
        <p:spPr>
          <a:xfrm flipH="1" rot="-9942956">
            <a:off x="3146479" y="3173068"/>
            <a:ext cx="2349345" cy="179440"/>
          </a:xfrm>
          <a:prstGeom prst="parallelogram">
            <a:avLst>
              <a:gd fmla="val 25000" name="adj"/>
            </a:avLst>
          </a:prstGeom>
          <a:solidFill>
            <a:schemeClr val="accent1"/>
          </a:solidFill>
          <a:ln cap="flat" cmpd="sng" w="9525">
            <a:solidFill>
              <a:schemeClr val="accent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95" name="Google Shape;395;p38"/>
          <p:cNvCxnSpPr/>
          <p:nvPr/>
        </p:nvCxnSpPr>
        <p:spPr>
          <a:xfrm rot="10800000">
            <a:off x="1015260" y="3082204"/>
            <a:ext cx="2191940"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396" name="Google Shape;396;p38"/>
          <p:cNvCxnSpPr/>
          <p:nvPr/>
        </p:nvCxnSpPr>
        <p:spPr>
          <a:xfrm rot="10800000">
            <a:off x="1015260" y="3384606"/>
            <a:ext cx="2191940"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397" name="Google Shape;397;p38"/>
          <p:cNvCxnSpPr/>
          <p:nvPr/>
        </p:nvCxnSpPr>
        <p:spPr>
          <a:xfrm rot="10800000">
            <a:off x="1015260" y="4285792"/>
            <a:ext cx="4415027"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sp>
        <p:nvSpPr>
          <p:cNvPr id="398" name="Google Shape;398;p38"/>
          <p:cNvSpPr txBox="1"/>
          <p:nvPr/>
        </p:nvSpPr>
        <p:spPr>
          <a:xfrm>
            <a:off x="799444" y="3059977"/>
            <a:ext cx="2185826"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chemeClr val="accent5"/>
                </a:solidFill>
                <a:latin typeface="Avenir"/>
                <a:ea typeface="Avenir"/>
                <a:cs typeface="Avenir"/>
                <a:sym typeface="Avenir"/>
              </a:rPr>
              <a:t>Transmission delay</a:t>
            </a:r>
            <a:endParaRPr sz="1600">
              <a:solidFill>
                <a:schemeClr val="accent5"/>
              </a:solidFill>
              <a:latin typeface="Avenir"/>
              <a:ea typeface="Avenir"/>
              <a:cs typeface="Avenir"/>
              <a:sym typeface="Avenir"/>
            </a:endParaRPr>
          </a:p>
        </p:txBody>
      </p:sp>
      <p:sp>
        <p:nvSpPr>
          <p:cNvPr id="399" name="Google Shape;399;p38"/>
          <p:cNvSpPr txBox="1"/>
          <p:nvPr/>
        </p:nvSpPr>
        <p:spPr>
          <a:xfrm>
            <a:off x="1132391" y="3522073"/>
            <a:ext cx="1852879"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rgbClr val="695D46"/>
                </a:solidFill>
                <a:latin typeface="Avenir"/>
                <a:ea typeface="Avenir"/>
                <a:cs typeface="Avenir"/>
                <a:sym typeface="Avenir"/>
              </a:rPr>
              <a:t>Propagation delay</a:t>
            </a:r>
            <a:endParaRPr sz="1600">
              <a:solidFill>
                <a:srgbClr val="695D46"/>
              </a:solidFill>
              <a:latin typeface="Avenir"/>
              <a:ea typeface="Avenir"/>
              <a:cs typeface="Avenir"/>
              <a:sym typeface="Avenir"/>
            </a:endParaRPr>
          </a:p>
        </p:txBody>
      </p:sp>
      <p:cxnSp>
        <p:nvCxnSpPr>
          <p:cNvPr id="400" name="Google Shape;400;p38"/>
          <p:cNvCxnSpPr/>
          <p:nvPr/>
        </p:nvCxnSpPr>
        <p:spPr>
          <a:xfrm rot="10800000">
            <a:off x="1015260" y="5123483"/>
            <a:ext cx="4415027"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401" name="Google Shape;401;p38"/>
          <p:cNvCxnSpPr/>
          <p:nvPr/>
        </p:nvCxnSpPr>
        <p:spPr>
          <a:xfrm rot="10800000">
            <a:off x="1015260" y="6256804"/>
            <a:ext cx="7180222"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sp>
        <p:nvSpPr>
          <p:cNvPr id="402" name="Google Shape;402;p38"/>
          <p:cNvSpPr txBox="1"/>
          <p:nvPr/>
        </p:nvSpPr>
        <p:spPr>
          <a:xfrm>
            <a:off x="1015260" y="4578869"/>
            <a:ext cx="1970010"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chemeClr val="accent5"/>
                </a:solidFill>
                <a:latin typeface="Avenir"/>
                <a:ea typeface="Avenir"/>
                <a:cs typeface="Avenir"/>
                <a:sym typeface="Avenir"/>
              </a:rPr>
              <a:t>Transmission delay</a:t>
            </a:r>
            <a:endParaRPr sz="1600">
              <a:solidFill>
                <a:schemeClr val="accent5"/>
              </a:solidFill>
              <a:latin typeface="Avenir"/>
              <a:ea typeface="Avenir"/>
              <a:cs typeface="Avenir"/>
              <a:sym typeface="Avenir"/>
            </a:endParaRPr>
          </a:p>
        </p:txBody>
      </p:sp>
      <p:sp>
        <p:nvSpPr>
          <p:cNvPr id="403" name="Google Shape;403;p38"/>
          <p:cNvSpPr txBox="1"/>
          <p:nvPr/>
        </p:nvSpPr>
        <p:spPr>
          <a:xfrm>
            <a:off x="1047520" y="5562042"/>
            <a:ext cx="1852879"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rgbClr val="695D46"/>
                </a:solidFill>
                <a:latin typeface="Avenir"/>
                <a:ea typeface="Avenir"/>
                <a:cs typeface="Avenir"/>
                <a:sym typeface="Avenir"/>
              </a:rPr>
              <a:t>Propagation delay</a:t>
            </a:r>
            <a:endParaRPr sz="1600">
              <a:solidFill>
                <a:srgbClr val="695D46"/>
              </a:solidFill>
              <a:latin typeface="Avenir"/>
              <a:ea typeface="Avenir"/>
              <a:cs typeface="Avenir"/>
              <a:sym typeface="Avenir"/>
            </a:endParaRPr>
          </a:p>
        </p:txBody>
      </p:sp>
      <p:pic>
        <p:nvPicPr>
          <p:cNvPr descr="monitor.png" id="404" name="Google Shape;404;p38"/>
          <p:cNvPicPr preferRelativeResize="0"/>
          <p:nvPr/>
        </p:nvPicPr>
        <p:blipFill rotWithShape="1">
          <a:blip r:embed="rId3">
            <a:alphaModFix/>
          </a:blip>
          <a:srcRect b="0" l="0" r="0" t="0"/>
          <a:stretch/>
        </p:blipFill>
        <p:spPr>
          <a:xfrm>
            <a:off x="2816040" y="1959170"/>
            <a:ext cx="782320" cy="782320"/>
          </a:xfrm>
          <a:prstGeom prst="rect">
            <a:avLst/>
          </a:prstGeom>
          <a:noFill/>
          <a:ln>
            <a:noFill/>
          </a:ln>
        </p:spPr>
      </p:pic>
      <p:pic>
        <p:nvPicPr>
          <p:cNvPr descr="laptop.png" id="405" name="Google Shape;405;p38"/>
          <p:cNvPicPr preferRelativeResize="0"/>
          <p:nvPr/>
        </p:nvPicPr>
        <p:blipFill rotWithShape="1">
          <a:blip r:embed="rId4">
            <a:alphaModFix/>
          </a:blip>
          <a:srcRect b="0" l="0" r="0" t="0"/>
          <a:stretch/>
        </p:blipFill>
        <p:spPr>
          <a:xfrm>
            <a:off x="7791215" y="1860899"/>
            <a:ext cx="880591" cy="880591"/>
          </a:xfrm>
          <a:prstGeom prst="rect">
            <a:avLst/>
          </a:prstGeom>
          <a:noFill/>
          <a:ln>
            <a:noFill/>
          </a:ln>
        </p:spPr>
      </p:pic>
      <p:pic>
        <p:nvPicPr>
          <p:cNvPr descr="router.png" id="406" name="Google Shape;406;p38"/>
          <p:cNvPicPr preferRelativeResize="0"/>
          <p:nvPr/>
        </p:nvPicPr>
        <p:blipFill rotWithShape="1">
          <a:blip r:embed="rId5">
            <a:alphaModFix/>
          </a:blip>
          <a:srcRect b="0" l="0" r="0" t="0"/>
          <a:stretch/>
        </p:blipFill>
        <p:spPr>
          <a:xfrm>
            <a:off x="4944533" y="2094824"/>
            <a:ext cx="972430" cy="646666"/>
          </a:xfrm>
          <a:prstGeom prst="rect">
            <a:avLst/>
          </a:prstGeom>
          <a:noFill/>
          <a:ln>
            <a:noFill/>
          </a:ln>
        </p:spPr>
      </p:pic>
      <p:sp>
        <p:nvSpPr>
          <p:cNvPr id="407" name="Google Shape;407;p38"/>
          <p:cNvSpPr/>
          <p:nvPr/>
        </p:nvSpPr>
        <p:spPr>
          <a:xfrm flipH="1" rot="-9942956">
            <a:off x="3145369" y="3367426"/>
            <a:ext cx="2374632" cy="276046"/>
          </a:xfrm>
          <a:prstGeom prst="parallelogram">
            <a:avLst>
              <a:gd fmla="val 25000" name="adj"/>
            </a:avLst>
          </a:prstGeom>
          <a:solidFill>
            <a:schemeClr val="accent3"/>
          </a:solidFill>
          <a:ln cap="flat" cmpd="sng" w="25400">
            <a:solidFill>
              <a:srgbClr val="8279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08" name="Google Shape;408;p38"/>
          <p:cNvSpPr/>
          <p:nvPr/>
        </p:nvSpPr>
        <p:spPr>
          <a:xfrm flipH="1" rot="-9479134">
            <a:off x="5158650" y="4880858"/>
            <a:ext cx="3345448" cy="766145"/>
          </a:xfrm>
          <a:prstGeom prst="parallelogram">
            <a:avLst>
              <a:gd fmla="val 41787" name="adj"/>
            </a:avLst>
          </a:prstGeom>
          <a:solidFill>
            <a:schemeClr val="accent3"/>
          </a:solidFill>
          <a:ln cap="flat" cmpd="sng" w="25400">
            <a:solidFill>
              <a:srgbClr val="8279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09" name="Google Shape;409;p38"/>
          <p:cNvCxnSpPr/>
          <p:nvPr/>
        </p:nvCxnSpPr>
        <p:spPr>
          <a:xfrm>
            <a:off x="3207200" y="2751431"/>
            <a:ext cx="0" cy="3833190"/>
          </a:xfrm>
          <a:prstGeom prst="straightConnector1">
            <a:avLst/>
          </a:prstGeom>
          <a:noFill/>
          <a:ln cap="flat" cmpd="sng" w="25400">
            <a:solidFill>
              <a:srgbClr val="695D46"/>
            </a:solidFill>
            <a:prstDash val="solid"/>
            <a:round/>
            <a:headEnd len="sm" w="sm" type="none"/>
            <a:tailEnd len="lg" w="lg" type="triangle"/>
          </a:ln>
          <a:effectLst>
            <a:outerShdw blurRad="40000" rotWithShape="0" dir="5400000" dist="20000">
              <a:srgbClr val="000000">
                <a:alpha val="37647"/>
              </a:srgbClr>
            </a:outerShdw>
          </a:effectLst>
        </p:spPr>
      </p:cxnSp>
      <p:sp>
        <p:nvSpPr>
          <p:cNvPr id="410" name="Google Shape;410;p38"/>
          <p:cNvSpPr/>
          <p:nvPr/>
        </p:nvSpPr>
        <p:spPr>
          <a:xfrm flipH="1" rot="-9479134">
            <a:off x="5195208" y="4235818"/>
            <a:ext cx="3272753" cy="585224"/>
          </a:xfrm>
          <a:prstGeom prst="parallelogram">
            <a:avLst>
              <a:gd fmla="val 41787" name="adj"/>
            </a:avLst>
          </a:prstGeom>
          <a:solidFill>
            <a:schemeClr val="accent1"/>
          </a:solidFill>
          <a:ln cap="flat" cmpd="sng" w="25400">
            <a:solidFill>
              <a:srgbClr val="AE4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11" name="Google Shape;411;p38"/>
          <p:cNvCxnSpPr/>
          <p:nvPr/>
        </p:nvCxnSpPr>
        <p:spPr>
          <a:xfrm rot="10800000">
            <a:off x="1015260" y="3941920"/>
            <a:ext cx="4391988"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412" name="Google Shape;412;p38"/>
          <p:cNvCxnSpPr/>
          <p:nvPr/>
        </p:nvCxnSpPr>
        <p:spPr>
          <a:xfrm>
            <a:off x="5430286" y="2751431"/>
            <a:ext cx="0" cy="3833190"/>
          </a:xfrm>
          <a:prstGeom prst="straightConnector1">
            <a:avLst/>
          </a:prstGeom>
          <a:noFill/>
          <a:ln cap="flat" cmpd="sng" w="25400">
            <a:solidFill>
              <a:srgbClr val="695D46"/>
            </a:solidFill>
            <a:prstDash val="solid"/>
            <a:round/>
            <a:headEnd len="sm" w="sm" type="none"/>
            <a:tailEnd len="lg" w="lg" type="triangle"/>
          </a:ln>
          <a:effectLst>
            <a:outerShdw blurRad="40000" rotWithShape="0" dir="5400000" dist="20000">
              <a:srgbClr val="000000">
                <a:alpha val="37647"/>
              </a:srgbClr>
            </a:outerShdw>
          </a:effectLst>
        </p:spPr>
      </p:cxnSp>
      <p:sp>
        <p:nvSpPr>
          <p:cNvPr id="413" name="Google Shape;413;p38"/>
          <p:cNvSpPr txBox="1"/>
          <p:nvPr/>
        </p:nvSpPr>
        <p:spPr>
          <a:xfrm>
            <a:off x="930389" y="3914638"/>
            <a:ext cx="1970010" cy="3693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US" sz="1800">
                <a:solidFill>
                  <a:srgbClr val="4DB6AC"/>
                </a:solidFill>
                <a:latin typeface="Calibri"/>
                <a:ea typeface="Calibri"/>
                <a:cs typeface="Calibri"/>
                <a:sym typeface="Calibri"/>
              </a:rPr>
              <a:t>What is this??</a:t>
            </a:r>
            <a:endParaRPr b="1" sz="1800">
              <a:solidFill>
                <a:srgbClr val="4DB6AC"/>
              </a:solidFill>
              <a:latin typeface="Calibri"/>
              <a:ea typeface="Calibri"/>
              <a:cs typeface="Calibri"/>
              <a:sym typeface="Calibri"/>
            </a:endParaRPr>
          </a:p>
        </p:txBody>
      </p:sp>
      <p:sp>
        <p:nvSpPr>
          <p:cNvPr id="414" name="Google Shape;414;p38"/>
          <p:cNvSpPr txBox="1"/>
          <p:nvPr/>
        </p:nvSpPr>
        <p:spPr>
          <a:xfrm>
            <a:off x="707571" y="1520823"/>
            <a:ext cx="7601858" cy="369332"/>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accent5"/>
              </a:buClr>
              <a:buSzPts val="1800"/>
              <a:buFont typeface="Arial"/>
              <a:buChar char="•"/>
            </a:pPr>
            <a:r>
              <a:rPr lang="en-US" sz="1800">
                <a:solidFill>
                  <a:schemeClr val="accent5"/>
                </a:solidFill>
                <a:latin typeface="Open Sans"/>
                <a:ea typeface="Open Sans"/>
                <a:cs typeface="Open Sans"/>
                <a:sym typeface="Open Sans"/>
              </a:rPr>
              <a:t>Two packets, back-to-back</a:t>
            </a:r>
            <a:endParaRPr/>
          </a:p>
        </p:txBody>
      </p:sp>
      <p:sp>
        <p:nvSpPr>
          <p:cNvPr id="415" name="Google Shape;415;p38"/>
          <p:cNvSpPr txBox="1"/>
          <p:nvPr/>
        </p:nvSpPr>
        <p:spPr>
          <a:xfrm rot="-5400000">
            <a:off x="-1254482" y="4382423"/>
            <a:ext cx="337912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695D46"/>
                </a:solidFill>
                <a:latin typeface="Calibri"/>
                <a:ea typeface="Calibri"/>
                <a:cs typeface="Calibri"/>
                <a:sym typeface="Calibri"/>
              </a:rPr>
              <a:t>End-to-end delay of brown packet</a:t>
            </a:r>
            <a:endParaRPr sz="1800">
              <a:solidFill>
                <a:srgbClr val="695D46"/>
              </a:solidFill>
              <a:latin typeface="Calibri"/>
              <a:ea typeface="Calibri"/>
              <a:cs typeface="Calibri"/>
              <a:sym typeface="Calibri"/>
            </a:endParaRPr>
          </a:p>
        </p:txBody>
      </p:sp>
      <p:sp>
        <p:nvSpPr>
          <p:cNvPr id="416" name="Google Shape;416;p38"/>
          <p:cNvSpPr/>
          <p:nvPr/>
        </p:nvSpPr>
        <p:spPr>
          <a:xfrm>
            <a:off x="707571" y="3078747"/>
            <a:ext cx="268537" cy="3167331"/>
          </a:xfrm>
          <a:prstGeom prst="leftBrace">
            <a:avLst>
              <a:gd fmla="val 8333" name="adj1"/>
              <a:gd fmla="val 50000" name="adj2"/>
            </a:avLst>
          </a:prstGeom>
          <a:noFill/>
          <a:ln cap="flat" cmpd="sng" w="25400">
            <a:solidFill>
              <a:schemeClr val="accent5"/>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417" name="Google Shape;417;p38"/>
          <p:cNvCxnSpPr/>
          <p:nvPr/>
        </p:nvCxnSpPr>
        <p:spPr>
          <a:xfrm>
            <a:off x="8242518" y="2751431"/>
            <a:ext cx="0" cy="3833190"/>
          </a:xfrm>
          <a:prstGeom prst="straightConnector1">
            <a:avLst/>
          </a:prstGeom>
          <a:noFill/>
          <a:ln cap="flat" cmpd="sng" w="25400">
            <a:solidFill>
              <a:srgbClr val="695D46"/>
            </a:solidFill>
            <a:prstDash val="solid"/>
            <a:round/>
            <a:headEnd len="sm" w="sm" type="none"/>
            <a:tailEnd len="lg" w="lg" type="triangle"/>
          </a:ln>
          <a:effectLst>
            <a:outerShdw blurRad="40000" rotWithShape="0" dir="5400000" dist="20000">
              <a:srgbClr val="000000">
                <a:alpha val="37647"/>
              </a:srgbClr>
            </a:outerShdw>
          </a:effectLst>
        </p:spPr>
      </p:cxnSp>
      <p:sp>
        <p:nvSpPr>
          <p:cNvPr id="418" name="Google Shape;418;p38"/>
          <p:cNvSpPr txBox="1"/>
          <p:nvPr/>
        </p:nvSpPr>
        <p:spPr>
          <a:xfrm>
            <a:off x="8277150" y="2782496"/>
            <a:ext cx="734328" cy="3693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chemeClr val="accent5"/>
                </a:solidFill>
                <a:latin typeface="Avenir"/>
                <a:ea typeface="Avenir"/>
                <a:cs typeface="Avenir"/>
                <a:sym typeface="Avenir"/>
              </a:rPr>
              <a:t>Time</a:t>
            </a:r>
            <a:endParaRPr sz="1800">
              <a:solidFill>
                <a:schemeClr val="accent5"/>
              </a:solidFill>
              <a:latin typeface="Avenir"/>
              <a:ea typeface="Avenir"/>
              <a:cs typeface="Avenir"/>
              <a:sym typeface="Aveni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22" name="Shape 422"/>
        <p:cNvGrpSpPr/>
        <p:nvPr/>
      </p:nvGrpSpPr>
      <p:grpSpPr>
        <a:xfrm>
          <a:off x="0" y="0"/>
          <a:ext cx="0" cy="0"/>
          <a:chOff x="0" y="0"/>
          <a:chExt cx="0" cy="0"/>
        </a:xfrm>
      </p:grpSpPr>
      <p:sp>
        <p:nvSpPr>
          <p:cNvPr id="423" name="Google Shape;42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Visualizing end-to-end delay…</a:t>
            </a:r>
            <a:endParaRPr b="1" i="0" sz="4400" u="none" cap="none" strike="noStrike">
              <a:solidFill>
                <a:srgbClr val="EF6C00"/>
              </a:solidFill>
              <a:latin typeface="PT Sans Narrow"/>
              <a:ea typeface="PT Sans Narrow"/>
              <a:cs typeface="PT Sans Narrow"/>
              <a:sym typeface="PT Sans Narrow"/>
            </a:endParaRPr>
          </a:p>
        </p:txBody>
      </p:sp>
      <p:sp>
        <p:nvSpPr>
          <p:cNvPr id="424" name="Google Shape;424;p39"/>
          <p:cNvSpPr/>
          <p:nvPr/>
        </p:nvSpPr>
        <p:spPr>
          <a:xfrm flipH="1" rot="-9942956">
            <a:off x="3146479" y="3173068"/>
            <a:ext cx="2349345" cy="179440"/>
          </a:xfrm>
          <a:prstGeom prst="parallelogram">
            <a:avLst>
              <a:gd fmla="val 25000" name="adj"/>
            </a:avLst>
          </a:prstGeom>
          <a:solidFill>
            <a:schemeClr val="accent1"/>
          </a:solidFill>
          <a:ln cap="flat" cmpd="sng" w="9525">
            <a:solidFill>
              <a:schemeClr val="accent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25" name="Google Shape;425;p39"/>
          <p:cNvCxnSpPr/>
          <p:nvPr/>
        </p:nvCxnSpPr>
        <p:spPr>
          <a:xfrm rot="10800000">
            <a:off x="1015260" y="3082204"/>
            <a:ext cx="2191940"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426" name="Google Shape;426;p39"/>
          <p:cNvCxnSpPr/>
          <p:nvPr/>
        </p:nvCxnSpPr>
        <p:spPr>
          <a:xfrm rot="10800000">
            <a:off x="1015260" y="3384606"/>
            <a:ext cx="2191940"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427" name="Google Shape;427;p39"/>
          <p:cNvCxnSpPr/>
          <p:nvPr/>
        </p:nvCxnSpPr>
        <p:spPr>
          <a:xfrm rot="10800000">
            <a:off x="1015260" y="4285792"/>
            <a:ext cx="4415027"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428" name="Google Shape;428;p39"/>
          <p:cNvCxnSpPr/>
          <p:nvPr/>
        </p:nvCxnSpPr>
        <p:spPr>
          <a:xfrm rot="10800000">
            <a:off x="1015260" y="5123483"/>
            <a:ext cx="4415027"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429" name="Google Shape;429;p39"/>
          <p:cNvCxnSpPr/>
          <p:nvPr/>
        </p:nvCxnSpPr>
        <p:spPr>
          <a:xfrm rot="10800000">
            <a:off x="1015260" y="6256804"/>
            <a:ext cx="7180222"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pic>
        <p:nvPicPr>
          <p:cNvPr descr="monitor.png" id="430" name="Google Shape;430;p39"/>
          <p:cNvPicPr preferRelativeResize="0"/>
          <p:nvPr/>
        </p:nvPicPr>
        <p:blipFill rotWithShape="1">
          <a:blip r:embed="rId3">
            <a:alphaModFix/>
          </a:blip>
          <a:srcRect b="0" l="0" r="0" t="0"/>
          <a:stretch/>
        </p:blipFill>
        <p:spPr>
          <a:xfrm>
            <a:off x="2816040" y="1959170"/>
            <a:ext cx="782320" cy="782320"/>
          </a:xfrm>
          <a:prstGeom prst="rect">
            <a:avLst/>
          </a:prstGeom>
          <a:noFill/>
          <a:ln>
            <a:noFill/>
          </a:ln>
        </p:spPr>
      </p:pic>
      <p:pic>
        <p:nvPicPr>
          <p:cNvPr descr="laptop.png" id="431" name="Google Shape;431;p39"/>
          <p:cNvPicPr preferRelativeResize="0"/>
          <p:nvPr/>
        </p:nvPicPr>
        <p:blipFill rotWithShape="1">
          <a:blip r:embed="rId4">
            <a:alphaModFix/>
          </a:blip>
          <a:srcRect b="0" l="0" r="0" t="0"/>
          <a:stretch/>
        </p:blipFill>
        <p:spPr>
          <a:xfrm>
            <a:off x="7791215" y="1860899"/>
            <a:ext cx="880591" cy="880591"/>
          </a:xfrm>
          <a:prstGeom prst="rect">
            <a:avLst/>
          </a:prstGeom>
          <a:noFill/>
          <a:ln>
            <a:noFill/>
          </a:ln>
        </p:spPr>
      </p:pic>
      <p:pic>
        <p:nvPicPr>
          <p:cNvPr descr="router.png" id="432" name="Google Shape;432;p39"/>
          <p:cNvPicPr preferRelativeResize="0"/>
          <p:nvPr/>
        </p:nvPicPr>
        <p:blipFill rotWithShape="1">
          <a:blip r:embed="rId5">
            <a:alphaModFix/>
          </a:blip>
          <a:srcRect b="0" l="0" r="0" t="0"/>
          <a:stretch/>
        </p:blipFill>
        <p:spPr>
          <a:xfrm>
            <a:off x="4944533" y="2094824"/>
            <a:ext cx="972430" cy="646666"/>
          </a:xfrm>
          <a:prstGeom prst="rect">
            <a:avLst/>
          </a:prstGeom>
          <a:noFill/>
          <a:ln>
            <a:noFill/>
          </a:ln>
        </p:spPr>
      </p:pic>
      <p:sp>
        <p:nvSpPr>
          <p:cNvPr id="433" name="Google Shape;433;p39"/>
          <p:cNvSpPr/>
          <p:nvPr/>
        </p:nvSpPr>
        <p:spPr>
          <a:xfrm flipH="1" rot="-9942956">
            <a:off x="3145369" y="3367426"/>
            <a:ext cx="2374632" cy="276046"/>
          </a:xfrm>
          <a:prstGeom prst="parallelogram">
            <a:avLst>
              <a:gd fmla="val 25000" name="adj"/>
            </a:avLst>
          </a:prstGeom>
          <a:solidFill>
            <a:schemeClr val="accent3"/>
          </a:solidFill>
          <a:ln cap="flat" cmpd="sng" w="25400">
            <a:solidFill>
              <a:srgbClr val="8279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34" name="Google Shape;434;p39"/>
          <p:cNvSpPr/>
          <p:nvPr/>
        </p:nvSpPr>
        <p:spPr>
          <a:xfrm flipH="1" rot="-9479134">
            <a:off x="5158650" y="4880858"/>
            <a:ext cx="3345448" cy="766145"/>
          </a:xfrm>
          <a:prstGeom prst="parallelogram">
            <a:avLst>
              <a:gd fmla="val 41787" name="adj"/>
            </a:avLst>
          </a:prstGeom>
          <a:solidFill>
            <a:schemeClr val="accent3"/>
          </a:solidFill>
          <a:ln cap="flat" cmpd="sng" w="25400">
            <a:solidFill>
              <a:srgbClr val="8279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35" name="Google Shape;435;p39"/>
          <p:cNvCxnSpPr/>
          <p:nvPr/>
        </p:nvCxnSpPr>
        <p:spPr>
          <a:xfrm>
            <a:off x="3207200" y="2751431"/>
            <a:ext cx="0" cy="3833190"/>
          </a:xfrm>
          <a:prstGeom prst="straightConnector1">
            <a:avLst/>
          </a:prstGeom>
          <a:noFill/>
          <a:ln cap="flat" cmpd="sng" w="25400">
            <a:solidFill>
              <a:srgbClr val="695D46"/>
            </a:solidFill>
            <a:prstDash val="solid"/>
            <a:round/>
            <a:headEnd len="sm" w="sm" type="none"/>
            <a:tailEnd len="lg" w="lg" type="triangle"/>
          </a:ln>
          <a:effectLst>
            <a:outerShdw blurRad="40000" rotWithShape="0" dir="5400000" dist="20000">
              <a:srgbClr val="000000">
                <a:alpha val="37647"/>
              </a:srgbClr>
            </a:outerShdw>
          </a:effectLst>
        </p:spPr>
      </p:cxnSp>
      <p:sp>
        <p:nvSpPr>
          <p:cNvPr id="436" name="Google Shape;436;p39"/>
          <p:cNvSpPr/>
          <p:nvPr/>
        </p:nvSpPr>
        <p:spPr>
          <a:xfrm flipH="1" rot="-9479134">
            <a:off x="5195208" y="4235818"/>
            <a:ext cx="3272753" cy="585224"/>
          </a:xfrm>
          <a:prstGeom prst="parallelogram">
            <a:avLst>
              <a:gd fmla="val 41787" name="adj"/>
            </a:avLst>
          </a:prstGeom>
          <a:solidFill>
            <a:schemeClr val="accent1"/>
          </a:solidFill>
          <a:ln cap="flat" cmpd="sng" w="25400">
            <a:solidFill>
              <a:srgbClr val="AE4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37" name="Google Shape;437;p39"/>
          <p:cNvCxnSpPr/>
          <p:nvPr/>
        </p:nvCxnSpPr>
        <p:spPr>
          <a:xfrm rot="10800000">
            <a:off x="1015260" y="3941920"/>
            <a:ext cx="4391988" cy="0"/>
          </a:xfrm>
          <a:prstGeom prst="straightConnector1">
            <a:avLst/>
          </a:prstGeom>
          <a:noFill/>
          <a:ln cap="flat" cmpd="sng" w="9525">
            <a:solidFill>
              <a:srgbClr val="695D46"/>
            </a:solidFill>
            <a:prstDash val="dash"/>
            <a:round/>
            <a:headEnd len="sm" w="sm" type="none"/>
            <a:tailEnd len="sm" w="sm" type="none"/>
          </a:ln>
          <a:effectLst>
            <a:outerShdw blurRad="40000" rotWithShape="0" dir="5400000" dist="20000">
              <a:srgbClr val="000000">
                <a:alpha val="37647"/>
              </a:srgbClr>
            </a:outerShdw>
          </a:effectLst>
        </p:spPr>
      </p:cxnSp>
      <p:cxnSp>
        <p:nvCxnSpPr>
          <p:cNvPr id="438" name="Google Shape;438;p39"/>
          <p:cNvCxnSpPr/>
          <p:nvPr/>
        </p:nvCxnSpPr>
        <p:spPr>
          <a:xfrm>
            <a:off x="5430286" y="2751431"/>
            <a:ext cx="0" cy="3833190"/>
          </a:xfrm>
          <a:prstGeom prst="straightConnector1">
            <a:avLst/>
          </a:prstGeom>
          <a:noFill/>
          <a:ln cap="flat" cmpd="sng" w="25400">
            <a:solidFill>
              <a:srgbClr val="695D46"/>
            </a:solidFill>
            <a:prstDash val="solid"/>
            <a:round/>
            <a:headEnd len="sm" w="sm" type="none"/>
            <a:tailEnd len="lg" w="lg" type="triangle"/>
          </a:ln>
          <a:effectLst>
            <a:outerShdw blurRad="40000" rotWithShape="0" dir="5400000" dist="20000">
              <a:srgbClr val="000000">
                <a:alpha val="37647"/>
              </a:srgbClr>
            </a:outerShdw>
          </a:effectLst>
        </p:spPr>
      </p:cxnSp>
      <p:sp>
        <p:nvSpPr>
          <p:cNvPr id="439" name="Google Shape;439;p39"/>
          <p:cNvSpPr txBox="1"/>
          <p:nvPr/>
        </p:nvSpPr>
        <p:spPr>
          <a:xfrm>
            <a:off x="850877" y="3954394"/>
            <a:ext cx="1970010"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rgbClr val="695D46"/>
                </a:solidFill>
                <a:latin typeface="Avenir"/>
                <a:ea typeface="Avenir"/>
                <a:cs typeface="Avenir"/>
                <a:sym typeface="Avenir"/>
              </a:rPr>
              <a:t>Queuing delay</a:t>
            </a:r>
            <a:endParaRPr sz="1600">
              <a:solidFill>
                <a:srgbClr val="695D46"/>
              </a:solidFill>
              <a:latin typeface="Avenir"/>
              <a:ea typeface="Avenir"/>
              <a:cs typeface="Avenir"/>
              <a:sym typeface="Avenir"/>
            </a:endParaRPr>
          </a:p>
        </p:txBody>
      </p:sp>
      <p:sp>
        <p:nvSpPr>
          <p:cNvPr id="440" name="Google Shape;440;p39"/>
          <p:cNvSpPr txBox="1"/>
          <p:nvPr/>
        </p:nvSpPr>
        <p:spPr>
          <a:xfrm>
            <a:off x="8277150" y="2782496"/>
            <a:ext cx="734328" cy="3693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chemeClr val="accent5"/>
                </a:solidFill>
                <a:latin typeface="Avenir"/>
                <a:ea typeface="Avenir"/>
                <a:cs typeface="Avenir"/>
                <a:sym typeface="Avenir"/>
              </a:rPr>
              <a:t>Time</a:t>
            </a:r>
            <a:endParaRPr sz="1800">
              <a:solidFill>
                <a:schemeClr val="accent5"/>
              </a:solidFill>
              <a:latin typeface="Avenir"/>
              <a:ea typeface="Avenir"/>
              <a:cs typeface="Avenir"/>
              <a:sym typeface="Avenir"/>
            </a:endParaRPr>
          </a:p>
        </p:txBody>
      </p:sp>
      <p:sp>
        <p:nvSpPr>
          <p:cNvPr id="441" name="Google Shape;441;p39"/>
          <p:cNvSpPr txBox="1"/>
          <p:nvPr/>
        </p:nvSpPr>
        <p:spPr>
          <a:xfrm>
            <a:off x="707571" y="1520823"/>
            <a:ext cx="7601858"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accent5"/>
                </a:solidFill>
                <a:latin typeface="Avenir"/>
                <a:ea typeface="Avenir"/>
                <a:cs typeface="Avenir"/>
                <a:sym typeface="Avenir"/>
              </a:rPr>
              <a:t>Two packets, back-to-back</a:t>
            </a:r>
            <a:endParaRPr/>
          </a:p>
        </p:txBody>
      </p:sp>
      <p:sp>
        <p:nvSpPr>
          <p:cNvPr id="442" name="Google Shape;442;p39"/>
          <p:cNvSpPr txBox="1"/>
          <p:nvPr/>
        </p:nvSpPr>
        <p:spPr>
          <a:xfrm rot="-5400000">
            <a:off x="-1417670" y="4382423"/>
            <a:ext cx="370550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695D46"/>
                </a:solidFill>
                <a:latin typeface="Avenir"/>
                <a:ea typeface="Avenir"/>
                <a:cs typeface="Avenir"/>
                <a:sym typeface="Avenir"/>
              </a:rPr>
              <a:t>End-to-end delay of brown packet</a:t>
            </a:r>
            <a:endParaRPr sz="1800">
              <a:solidFill>
                <a:srgbClr val="695D46"/>
              </a:solidFill>
              <a:latin typeface="Avenir"/>
              <a:ea typeface="Avenir"/>
              <a:cs typeface="Avenir"/>
              <a:sym typeface="Avenir"/>
            </a:endParaRPr>
          </a:p>
        </p:txBody>
      </p:sp>
      <p:sp>
        <p:nvSpPr>
          <p:cNvPr id="443" name="Google Shape;443;p39"/>
          <p:cNvSpPr/>
          <p:nvPr/>
        </p:nvSpPr>
        <p:spPr>
          <a:xfrm>
            <a:off x="707571" y="3078747"/>
            <a:ext cx="268537" cy="3167331"/>
          </a:xfrm>
          <a:prstGeom prst="leftBrace">
            <a:avLst>
              <a:gd fmla="val 8333" name="adj1"/>
              <a:gd fmla="val 50000" name="adj2"/>
            </a:avLst>
          </a:prstGeom>
          <a:noFill/>
          <a:ln cap="flat" cmpd="sng" w="25400">
            <a:solidFill>
              <a:schemeClr val="accent5"/>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39"/>
          <p:cNvSpPr txBox="1"/>
          <p:nvPr/>
        </p:nvSpPr>
        <p:spPr>
          <a:xfrm>
            <a:off x="4585964" y="4856158"/>
            <a:ext cx="184666"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45" name="Google Shape;445;p39"/>
          <p:cNvCxnSpPr/>
          <p:nvPr/>
        </p:nvCxnSpPr>
        <p:spPr>
          <a:xfrm>
            <a:off x="8241446" y="2751431"/>
            <a:ext cx="0" cy="3833190"/>
          </a:xfrm>
          <a:prstGeom prst="straightConnector1">
            <a:avLst/>
          </a:prstGeom>
          <a:noFill/>
          <a:ln cap="flat" cmpd="sng" w="25400">
            <a:solidFill>
              <a:srgbClr val="695D46"/>
            </a:solidFill>
            <a:prstDash val="solid"/>
            <a:round/>
            <a:headEnd len="sm" w="sm" type="none"/>
            <a:tailEnd len="lg" w="lg" type="triangle"/>
          </a:ln>
          <a:effectLst>
            <a:outerShdw blurRad="40000" rotWithShape="0" dir="5400000" dist="20000">
              <a:srgbClr val="000000">
                <a:alpha val="37647"/>
              </a:srgbClr>
            </a:outerShdw>
          </a:effectLst>
        </p:spPr>
      </p:cxnSp>
      <p:sp>
        <p:nvSpPr>
          <p:cNvPr id="446" name="Google Shape;446;p39"/>
          <p:cNvSpPr txBox="1"/>
          <p:nvPr/>
        </p:nvSpPr>
        <p:spPr>
          <a:xfrm>
            <a:off x="799444" y="3086481"/>
            <a:ext cx="2185826"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chemeClr val="accent5"/>
                </a:solidFill>
                <a:latin typeface="Avenir"/>
                <a:ea typeface="Avenir"/>
                <a:cs typeface="Avenir"/>
                <a:sym typeface="Avenir"/>
              </a:rPr>
              <a:t>Transmission delay</a:t>
            </a:r>
            <a:endParaRPr sz="1600">
              <a:solidFill>
                <a:schemeClr val="accent5"/>
              </a:solidFill>
              <a:latin typeface="Avenir"/>
              <a:ea typeface="Avenir"/>
              <a:cs typeface="Avenir"/>
              <a:sym typeface="Avenir"/>
            </a:endParaRPr>
          </a:p>
        </p:txBody>
      </p:sp>
      <p:sp>
        <p:nvSpPr>
          <p:cNvPr id="447" name="Google Shape;447;p39"/>
          <p:cNvSpPr txBox="1"/>
          <p:nvPr/>
        </p:nvSpPr>
        <p:spPr>
          <a:xfrm>
            <a:off x="1132391" y="3522073"/>
            <a:ext cx="1852879"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rgbClr val="695D46"/>
                </a:solidFill>
                <a:latin typeface="Avenir"/>
                <a:ea typeface="Avenir"/>
                <a:cs typeface="Avenir"/>
                <a:sym typeface="Avenir"/>
              </a:rPr>
              <a:t>Propagation delay</a:t>
            </a:r>
            <a:endParaRPr sz="1600">
              <a:solidFill>
                <a:srgbClr val="695D46"/>
              </a:solidFill>
              <a:latin typeface="Avenir"/>
              <a:ea typeface="Avenir"/>
              <a:cs typeface="Avenir"/>
              <a:sym typeface="Avenir"/>
            </a:endParaRPr>
          </a:p>
        </p:txBody>
      </p:sp>
      <p:sp>
        <p:nvSpPr>
          <p:cNvPr id="448" name="Google Shape;448;p39"/>
          <p:cNvSpPr txBox="1"/>
          <p:nvPr/>
        </p:nvSpPr>
        <p:spPr>
          <a:xfrm>
            <a:off x="737091" y="4603642"/>
            <a:ext cx="2185826"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chemeClr val="accent5"/>
                </a:solidFill>
                <a:latin typeface="Avenir"/>
                <a:ea typeface="Avenir"/>
                <a:cs typeface="Avenir"/>
                <a:sym typeface="Avenir"/>
              </a:rPr>
              <a:t>Transmission delay</a:t>
            </a:r>
            <a:endParaRPr sz="1600">
              <a:solidFill>
                <a:schemeClr val="accent5"/>
              </a:solidFill>
              <a:latin typeface="Avenir"/>
              <a:ea typeface="Avenir"/>
              <a:cs typeface="Avenir"/>
              <a:sym typeface="Avenir"/>
            </a:endParaRPr>
          </a:p>
        </p:txBody>
      </p:sp>
      <p:sp>
        <p:nvSpPr>
          <p:cNvPr id="449" name="Google Shape;449;p39"/>
          <p:cNvSpPr txBox="1"/>
          <p:nvPr/>
        </p:nvSpPr>
        <p:spPr>
          <a:xfrm>
            <a:off x="1075904" y="5515504"/>
            <a:ext cx="1852879"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rgbClr val="695D46"/>
                </a:solidFill>
                <a:latin typeface="Avenir"/>
                <a:ea typeface="Avenir"/>
                <a:cs typeface="Avenir"/>
                <a:sym typeface="Avenir"/>
              </a:rPr>
              <a:t>Propagation delay</a:t>
            </a:r>
            <a:endParaRPr sz="1600">
              <a:solidFill>
                <a:srgbClr val="695D46"/>
              </a:solidFill>
              <a:latin typeface="Avenir"/>
              <a:ea typeface="Avenir"/>
              <a:cs typeface="Avenir"/>
              <a:sym typeface="Aveni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54" name="Shape 454"/>
        <p:cNvGrpSpPr/>
        <p:nvPr/>
      </p:nvGrpSpPr>
      <p:grpSpPr>
        <a:xfrm>
          <a:off x="0" y="0"/>
          <a:ext cx="0" cy="0"/>
          <a:chOff x="0" y="0"/>
          <a:chExt cx="0" cy="0"/>
        </a:xfrm>
      </p:grpSpPr>
      <p:sp>
        <p:nvSpPr>
          <p:cNvPr id="455" name="Google Shape;455;p40"/>
          <p:cNvSpPr txBox="1"/>
          <p:nvPr>
            <p:ph type="title"/>
          </p:nvPr>
        </p:nvSpPr>
        <p:spPr>
          <a:xfrm>
            <a:off x="457200" y="285748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Questions on Queuing?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60" name="Shape 460"/>
        <p:cNvGrpSpPr/>
        <p:nvPr/>
      </p:nvGrpSpPr>
      <p:grpSpPr>
        <a:xfrm>
          <a:off x="0" y="0"/>
          <a:ext cx="0" cy="0"/>
          <a:chOff x="0" y="0"/>
          <a:chExt cx="0" cy="0"/>
        </a:xfrm>
      </p:grpSpPr>
      <p:sp>
        <p:nvSpPr>
          <p:cNvPr id="461" name="Google Shape;461;p41"/>
          <p:cNvSpPr txBox="1"/>
          <p:nvPr>
            <p:ph type="title"/>
          </p:nvPr>
        </p:nvSpPr>
        <p:spPr>
          <a:xfrm>
            <a:off x="457200" y="274650"/>
            <a:ext cx="48438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Statistical Multiplexing</a:t>
            </a:r>
            <a:endParaRPr/>
          </a:p>
        </p:txBody>
      </p:sp>
      <p:sp>
        <p:nvSpPr>
          <p:cNvPr id="462" name="Google Shape;462;p41"/>
          <p:cNvSpPr/>
          <p:nvPr/>
        </p:nvSpPr>
        <p:spPr>
          <a:xfrm rot="736">
            <a:off x="5977974" y="2346007"/>
            <a:ext cx="1400400" cy="889200"/>
          </a:xfrm>
          <a:prstGeom prst="trapezoid">
            <a:avLst>
              <a:gd fmla="val 53860" name="adj"/>
            </a:avLst>
          </a:prstGeom>
          <a:solidFill>
            <a:srgbClr val="FF9900"/>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15</a:t>
            </a:r>
            <a:endParaRPr/>
          </a:p>
        </p:txBody>
      </p:sp>
      <p:sp>
        <p:nvSpPr>
          <p:cNvPr id="463" name="Google Shape;463;p41"/>
          <p:cNvSpPr/>
          <p:nvPr/>
        </p:nvSpPr>
        <p:spPr>
          <a:xfrm>
            <a:off x="5310625" y="1365125"/>
            <a:ext cx="1169400" cy="715800"/>
          </a:xfrm>
          <a:prstGeom prst="trapezoid">
            <a:avLst>
              <a:gd fmla="val 55357" name="adj"/>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12</a:t>
            </a:r>
            <a:endParaRPr/>
          </a:p>
        </p:txBody>
      </p:sp>
      <p:sp>
        <p:nvSpPr>
          <p:cNvPr id="464" name="Google Shape;464;p41"/>
          <p:cNvSpPr/>
          <p:nvPr/>
        </p:nvSpPr>
        <p:spPr>
          <a:xfrm>
            <a:off x="6918775" y="3920025"/>
            <a:ext cx="1169400" cy="542700"/>
          </a:xfrm>
          <a:prstGeom prst="trapezoid">
            <a:avLst>
              <a:gd fmla="val 55357"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9</a:t>
            </a:r>
            <a:endParaRPr/>
          </a:p>
        </p:txBody>
      </p:sp>
      <p:cxnSp>
        <p:nvCxnSpPr>
          <p:cNvPr id="465" name="Google Shape;465;p41"/>
          <p:cNvCxnSpPr/>
          <p:nvPr/>
        </p:nvCxnSpPr>
        <p:spPr>
          <a:xfrm flipH="1" rot="10800000">
            <a:off x="5301000" y="3233325"/>
            <a:ext cx="3513900" cy="10200"/>
          </a:xfrm>
          <a:prstGeom prst="straightConnector1">
            <a:avLst/>
          </a:prstGeom>
          <a:noFill/>
          <a:ln cap="flat" cmpd="sng" w="38100">
            <a:solidFill>
              <a:schemeClr val="dk2"/>
            </a:solidFill>
            <a:prstDash val="solid"/>
            <a:round/>
            <a:headEnd len="med" w="med" type="none"/>
            <a:tailEnd len="med" w="med" type="stealth"/>
          </a:ln>
        </p:spPr>
      </p:cxnSp>
      <p:cxnSp>
        <p:nvCxnSpPr>
          <p:cNvPr id="466" name="Google Shape;466;p41"/>
          <p:cNvCxnSpPr/>
          <p:nvPr/>
        </p:nvCxnSpPr>
        <p:spPr>
          <a:xfrm flipH="1" rot="10800000">
            <a:off x="5301000" y="2090325"/>
            <a:ext cx="3513900" cy="10200"/>
          </a:xfrm>
          <a:prstGeom prst="straightConnector1">
            <a:avLst/>
          </a:prstGeom>
          <a:noFill/>
          <a:ln cap="flat" cmpd="sng" w="38100">
            <a:solidFill>
              <a:schemeClr val="dk2"/>
            </a:solidFill>
            <a:prstDash val="solid"/>
            <a:round/>
            <a:headEnd len="med" w="med" type="none"/>
            <a:tailEnd len="med" w="med" type="stealth"/>
          </a:ln>
        </p:spPr>
      </p:cxnSp>
      <p:cxnSp>
        <p:nvCxnSpPr>
          <p:cNvPr id="467" name="Google Shape;467;p41"/>
          <p:cNvCxnSpPr/>
          <p:nvPr/>
        </p:nvCxnSpPr>
        <p:spPr>
          <a:xfrm flipH="1" rot="10800000">
            <a:off x="5301000" y="4452525"/>
            <a:ext cx="3513900" cy="10200"/>
          </a:xfrm>
          <a:prstGeom prst="straightConnector1">
            <a:avLst/>
          </a:prstGeom>
          <a:noFill/>
          <a:ln cap="flat" cmpd="sng" w="38100">
            <a:solidFill>
              <a:schemeClr val="dk2"/>
            </a:solidFill>
            <a:prstDash val="solid"/>
            <a:round/>
            <a:headEnd len="med" w="med" type="none"/>
            <a:tailEnd len="med" w="med" type="stealth"/>
          </a:ln>
        </p:spPr>
      </p:cxnSp>
      <p:sp>
        <p:nvSpPr>
          <p:cNvPr id="468" name="Google Shape;468;p41"/>
          <p:cNvSpPr txBox="1"/>
          <p:nvPr>
            <p:ph idx="4294967295" type="body"/>
          </p:nvPr>
        </p:nvSpPr>
        <p:spPr>
          <a:xfrm>
            <a:off x="533400" y="1752600"/>
            <a:ext cx="4371600" cy="202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lang="en-US">
                <a:latin typeface="Avenir"/>
                <a:ea typeface="Avenir"/>
                <a:cs typeface="Avenir"/>
                <a:sym typeface="Avenir"/>
              </a:rPr>
              <a:t>Sum of the peaks is always greater than the peak of the sums (peak of the aggregate). Usually much greater.</a:t>
            </a:r>
            <a:endParaRPr b="0" i="0" sz="2000" u="none" cap="none" strike="noStrike">
              <a:solidFill>
                <a:srgbClr val="695D46"/>
              </a:solidFill>
              <a:latin typeface="Avenir"/>
              <a:ea typeface="Avenir"/>
              <a:cs typeface="Avenir"/>
              <a:sym typeface="Avenir"/>
            </a:endParaRPr>
          </a:p>
        </p:txBody>
      </p:sp>
      <p:sp>
        <p:nvSpPr>
          <p:cNvPr id="469" name="Google Shape;469;p41"/>
          <p:cNvSpPr/>
          <p:nvPr/>
        </p:nvSpPr>
        <p:spPr>
          <a:xfrm>
            <a:off x="1065300" y="3991675"/>
            <a:ext cx="1169400" cy="715800"/>
          </a:xfrm>
          <a:prstGeom prst="trapezoid">
            <a:avLst>
              <a:gd fmla="val 55357" name="adj"/>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12</a:t>
            </a:r>
            <a:endParaRPr/>
          </a:p>
        </p:txBody>
      </p:sp>
      <p:sp>
        <p:nvSpPr>
          <p:cNvPr id="470" name="Google Shape;470;p41"/>
          <p:cNvSpPr/>
          <p:nvPr/>
        </p:nvSpPr>
        <p:spPr>
          <a:xfrm rot="736">
            <a:off x="949799" y="4707632"/>
            <a:ext cx="1400400" cy="889200"/>
          </a:xfrm>
          <a:prstGeom prst="trapezoid">
            <a:avLst>
              <a:gd fmla="val 53860" name="adj"/>
            </a:avLst>
          </a:prstGeom>
          <a:solidFill>
            <a:srgbClr val="FF9900"/>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15</a:t>
            </a:r>
            <a:endParaRPr/>
          </a:p>
        </p:txBody>
      </p:sp>
      <p:sp>
        <p:nvSpPr>
          <p:cNvPr id="471" name="Google Shape;471;p41"/>
          <p:cNvSpPr/>
          <p:nvPr/>
        </p:nvSpPr>
        <p:spPr>
          <a:xfrm>
            <a:off x="1065300" y="5596975"/>
            <a:ext cx="1169400" cy="542700"/>
          </a:xfrm>
          <a:prstGeom prst="trapezoid">
            <a:avLst>
              <a:gd fmla="val 55357"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9</a:t>
            </a:r>
            <a:endParaRPr/>
          </a:p>
        </p:txBody>
      </p:sp>
      <p:sp>
        <p:nvSpPr>
          <p:cNvPr id="472" name="Google Shape;472;p41"/>
          <p:cNvSpPr txBox="1"/>
          <p:nvPr/>
        </p:nvSpPr>
        <p:spPr>
          <a:xfrm>
            <a:off x="2574050" y="4384825"/>
            <a:ext cx="1115700" cy="15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600"/>
              <a:t>&gt;</a:t>
            </a:r>
            <a:endParaRPr sz="9600"/>
          </a:p>
        </p:txBody>
      </p:sp>
      <p:cxnSp>
        <p:nvCxnSpPr>
          <p:cNvPr id="473" name="Google Shape;473;p41"/>
          <p:cNvCxnSpPr/>
          <p:nvPr/>
        </p:nvCxnSpPr>
        <p:spPr>
          <a:xfrm>
            <a:off x="707450" y="3984850"/>
            <a:ext cx="0" cy="2122500"/>
          </a:xfrm>
          <a:prstGeom prst="straightConnector1">
            <a:avLst/>
          </a:prstGeom>
          <a:noFill/>
          <a:ln cap="flat" cmpd="sng" w="28575">
            <a:solidFill>
              <a:schemeClr val="dk2"/>
            </a:solidFill>
            <a:prstDash val="solid"/>
            <a:round/>
            <a:headEnd len="med" w="med" type="none"/>
            <a:tailEnd len="med" w="med" type="none"/>
          </a:ln>
        </p:spPr>
      </p:cxnSp>
      <p:cxnSp>
        <p:nvCxnSpPr>
          <p:cNvPr id="474" name="Google Shape;474;p41"/>
          <p:cNvCxnSpPr>
            <a:endCxn id="469" idx="0"/>
          </p:cNvCxnSpPr>
          <p:nvPr/>
        </p:nvCxnSpPr>
        <p:spPr>
          <a:xfrm flipH="1" rot="10800000">
            <a:off x="736200" y="3991675"/>
            <a:ext cx="913800" cy="7500"/>
          </a:xfrm>
          <a:prstGeom prst="straightConnector1">
            <a:avLst/>
          </a:prstGeom>
          <a:noFill/>
          <a:ln cap="flat" cmpd="sng" w="28575">
            <a:solidFill>
              <a:schemeClr val="dk2"/>
            </a:solidFill>
            <a:prstDash val="lgDash"/>
            <a:round/>
            <a:headEnd len="med" w="med" type="none"/>
            <a:tailEnd len="med" w="med" type="none"/>
          </a:ln>
        </p:spPr>
      </p:cxnSp>
      <p:cxnSp>
        <p:nvCxnSpPr>
          <p:cNvPr id="475" name="Google Shape;475;p41"/>
          <p:cNvCxnSpPr/>
          <p:nvPr/>
        </p:nvCxnSpPr>
        <p:spPr>
          <a:xfrm rot="10800000">
            <a:off x="707450" y="6118825"/>
            <a:ext cx="981900" cy="14400"/>
          </a:xfrm>
          <a:prstGeom prst="straightConnector1">
            <a:avLst/>
          </a:prstGeom>
          <a:noFill/>
          <a:ln cap="flat" cmpd="sng" w="28575">
            <a:solidFill>
              <a:schemeClr val="dk2"/>
            </a:solidFill>
            <a:prstDash val="lgDash"/>
            <a:round/>
            <a:headEnd len="med" w="med" type="none"/>
            <a:tailEnd len="med" w="med" type="none"/>
          </a:ln>
        </p:spPr>
      </p:cxnSp>
      <p:sp>
        <p:nvSpPr>
          <p:cNvPr id="476" name="Google Shape;476;p41"/>
          <p:cNvSpPr txBox="1"/>
          <p:nvPr/>
        </p:nvSpPr>
        <p:spPr>
          <a:xfrm>
            <a:off x="300900" y="4903375"/>
            <a:ext cx="384900" cy="4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36</a:t>
            </a:r>
            <a:endParaRPr/>
          </a:p>
        </p:txBody>
      </p:sp>
      <p:cxnSp>
        <p:nvCxnSpPr>
          <p:cNvPr id="477" name="Google Shape;477;p41"/>
          <p:cNvCxnSpPr/>
          <p:nvPr/>
        </p:nvCxnSpPr>
        <p:spPr>
          <a:xfrm flipH="1">
            <a:off x="4084750" y="5255400"/>
            <a:ext cx="15600" cy="838800"/>
          </a:xfrm>
          <a:prstGeom prst="straightConnector1">
            <a:avLst/>
          </a:prstGeom>
          <a:noFill/>
          <a:ln cap="flat" cmpd="sng" w="28575">
            <a:solidFill>
              <a:schemeClr val="dk2"/>
            </a:solidFill>
            <a:prstDash val="solid"/>
            <a:round/>
            <a:headEnd len="med" w="med" type="none"/>
            <a:tailEnd len="med" w="med" type="none"/>
          </a:ln>
        </p:spPr>
      </p:cxnSp>
      <p:cxnSp>
        <p:nvCxnSpPr>
          <p:cNvPr id="478" name="Google Shape;478;p41"/>
          <p:cNvCxnSpPr/>
          <p:nvPr/>
        </p:nvCxnSpPr>
        <p:spPr>
          <a:xfrm>
            <a:off x="4100350" y="5226525"/>
            <a:ext cx="1591200" cy="6900"/>
          </a:xfrm>
          <a:prstGeom prst="straightConnector1">
            <a:avLst/>
          </a:prstGeom>
          <a:noFill/>
          <a:ln cap="flat" cmpd="sng" w="28575">
            <a:solidFill>
              <a:schemeClr val="dk2"/>
            </a:solidFill>
            <a:prstDash val="lgDash"/>
            <a:round/>
            <a:headEnd len="med" w="med" type="none"/>
            <a:tailEnd len="med" w="med" type="none"/>
          </a:ln>
        </p:spPr>
      </p:cxnSp>
      <p:cxnSp>
        <p:nvCxnSpPr>
          <p:cNvPr id="479" name="Google Shape;479;p41"/>
          <p:cNvCxnSpPr/>
          <p:nvPr/>
        </p:nvCxnSpPr>
        <p:spPr>
          <a:xfrm rot="10800000">
            <a:off x="4084838" y="6105888"/>
            <a:ext cx="981900" cy="14400"/>
          </a:xfrm>
          <a:prstGeom prst="straightConnector1">
            <a:avLst/>
          </a:prstGeom>
          <a:noFill/>
          <a:ln cap="flat" cmpd="sng" w="28575">
            <a:solidFill>
              <a:schemeClr val="dk2"/>
            </a:solidFill>
            <a:prstDash val="lgDash"/>
            <a:round/>
            <a:headEnd len="med" w="med" type="none"/>
            <a:tailEnd len="med" w="med" type="none"/>
          </a:ln>
        </p:spPr>
      </p:cxnSp>
      <p:sp>
        <p:nvSpPr>
          <p:cNvPr id="480" name="Google Shape;480;p41"/>
          <p:cNvSpPr txBox="1"/>
          <p:nvPr/>
        </p:nvSpPr>
        <p:spPr>
          <a:xfrm>
            <a:off x="3678288" y="5423838"/>
            <a:ext cx="384900" cy="4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15</a:t>
            </a:r>
            <a:endParaRPr/>
          </a:p>
        </p:txBody>
      </p:sp>
      <p:cxnSp>
        <p:nvCxnSpPr>
          <p:cNvPr id="481" name="Google Shape;481;p41"/>
          <p:cNvCxnSpPr/>
          <p:nvPr/>
        </p:nvCxnSpPr>
        <p:spPr>
          <a:xfrm flipH="1" rot="10800000">
            <a:off x="4495350" y="6115975"/>
            <a:ext cx="3513900" cy="10200"/>
          </a:xfrm>
          <a:prstGeom prst="straightConnector1">
            <a:avLst/>
          </a:prstGeom>
          <a:noFill/>
          <a:ln cap="flat" cmpd="sng" w="38100">
            <a:solidFill>
              <a:schemeClr val="dk2"/>
            </a:solidFill>
            <a:prstDash val="solid"/>
            <a:round/>
            <a:headEnd len="med" w="med" type="none"/>
            <a:tailEnd len="med" w="med" type="stealth"/>
          </a:ln>
        </p:spPr>
      </p:cxnSp>
      <p:sp>
        <p:nvSpPr>
          <p:cNvPr id="482" name="Google Shape;482;p41"/>
          <p:cNvSpPr/>
          <p:nvPr/>
        </p:nvSpPr>
        <p:spPr>
          <a:xfrm>
            <a:off x="4504975" y="5390775"/>
            <a:ext cx="1169400" cy="715800"/>
          </a:xfrm>
          <a:prstGeom prst="trapezoid">
            <a:avLst>
              <a:gd fmla="val 55357" name="adj"/>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12</a:t>
            </a:r>
            <a:endParaRPr/>
          </a:p>
        </p:txBody>
      </p:sp>
      <p:cxnSp>
        <p:nvCxnSpPr>
          <p:cNvPr id="483" name="Google Shape;483;p41"/>
          <p:cNvCxnSpPr/>
          <p:nvPr/>
        </p:nvCxnSpPr>
        <p:spPr>
          <a:xfrm flipH="1" rot="10800000">
            <a:off x="4495350" y="6115975"/>
            <a:ext cx="3513900" cy="10200"/>
          </a:xfrm>
          <a:prstGeom prst="straightConnector1">
            <a:avLst/>
          </a:prstGeom>
          <a:noFill/>
          <a:ln cap="flat" cmpd="sng" w="38100">
            <a:solidFill>
              <a:schemeClr val="dk2"/>
            </a:solidFill>
            <a:prstDash val="solid"/>
            <a:round/>
            <a:headEnd len="med" w="med" type="none"/>
            <a:tailEnd len="med" w="med" type="stealth"/>
          </a:ln>
        </p:spPr>
      </p:cxnSp>
      <p:sp>
        <p:nvSpPr>
          <p:cNvPr id="484" name="Google Shape;484;p41"/>
          <p:cNvSpPr/>
          <p:nvPr/>
        </p:nvSpPr>
        <p:spPr>
          <a:xfrm>
            <a:off x="6113125" y="5592025"/>
            <a:ext cx="1169400" cy="542700"/>
          </a:xfrm>
          <a:prstGeom prst="trapezoid">
            <a:avLst>
              <a:gd fmla="val 52312"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9</a:t>
            </a:r>
            <a:endParaRPr/>
          </a:p>
        </p:txBody>
      </p:sp>
      <p:cxnSp>
        <p:nvCxnSpPr>
          <p:cNvPr id="485" name="Google Shape;485;p41"/>
          <p:cNvCxnSpPr/>
          <p:nvPr/>
        </p:nvCxnSpPr>
        <p:spPr>
          <a:xfrm flipH="1" rot="10800000">
            <a:off x="4495350" y="6115975"/>
            <a:ext cx="3513900" cy="10200"/>
          </a:xfrm>
          <a:prstGeom prst="straightConnector1">
            <a:avLst/>
          </a:prstGeom>
          <a:noFill/>
          <a:ln cap="flat" cmpd="sng" w="38100">
            <a:solidFill>
              <a:schemeClr val="dk2"/>
            </a:solidFill>
            <a:prstDash val="solid"/>
            <a:round/>
            <a:headEnd len="med" w="med" type="none"/>
            <a:tailEnd len="med" w="med" type="stealth"/>
          </a:ln>
        </p:spPr>
      </p:cxnSp>
      <p:sp>
        <p:nvSpPr>
          <p:cNvPr id="486" name="Google Shape;486;p41"/>
          <p:cNvSpPr txBox="1"/>
          <p:nvPr/>
        </p:nvSpPr>
        <p:spPr>
          <a:xfrm>
            <a:off x="5660675" y="5584475"/>
            <a:ext cx="4524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15</a:t>
            </a:r>
            <a:endParaRPr/>
          </a:p>
        </p:txBody>
      </p:sp>
      <p:sp>
        <p:nvSpPr>
          <p:cNvPr id="487" name="Google Shape;487;p41"/>
          <p:cNvSpPr/>
          <p:nvPr/>
        </p:nvSpPr>
        <p:spPr>
          <a:xfrm>
            <a:off x="5282025" y="5214875"/>
            <a:ext cx="1130725" cy="909500"/>
          </a:xfrm>
          <a:custGeom>
            <a:rect b="b" l="l" r="r" t="t"/>
            <a:pathLst>
              <a:path extrusionOk="0" h="36380" w="45229">
                <a:moveTo>
                  <a:pt x="0" y="6637"/>
                </a:moveTo>
                <a:lnTo>
                  <a:pt x="7866" y="0"/>
                </a:lnTo>
                <a:lnTo>
                  <a:pt x="40313" y="0"/>
                </a:lnTo>
                <a:lnTo>
                  <a:pt x="45229" y="15240"/>
                </a:lnTo>
                <a:lnTo>
                  <a:pt x="33184" y="36380"/>
                </a:lnTo>
                <a:lnTo>
                  <a:pt x="15732" y="36380"/>
                </a:lnTo>
                <a:close/>
              </a:path>
            </a:pathLst>
          </a:custGeom>
          <a:solidFill>
            <a:srgbClr val="FF9900"/>
          </a:solidFill>
          <a:ln>
            <a:noFill/>
          </a:ln>
        </p:spPr>
      </p:sp>
      <p:sp>
        <p:nvSpPr>
          <p:cNvPr id="488" name="Google Shape;488;p41"/>
          <p:cNvSpPr txBox="1"/>
          <p:nvPr/>
        </p:nvSpPr>
        <p:spPr>
          <a:xfrm>
            <a:off x="5647588" y="5468225"/>
            <a:ext cx="399600" cy="3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15</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93" name="Shape 493"/>
        <p:cNvGrpSpPr/>
        <p:nvPr/>
      </p:nvGrpSpPr>
      <p:grpSpPr>
        <a:xfrm>
          <a:off x="0" y="0"/>
          <a:ext cx="0" cy="0"/>
          <a:chOff x="0" y="0"/>
          <a:chExt cx="0" cy="0"/>
        </a:xfrm>
      </p:grpSpPr>
      <p:sp>
        <p:nvSpPr>
          <p:cNvPr id="494" name="Google Shape;494;p42"/>
          <p:cNvSpPr/>
          <p:nvPr/>
        </p:nvSpPr>
        <p:spPr>
          <a:xfrm rot="736">
            <a:off x="1283349" y="3270232"/>
            <a:ext cx="1400400" cy="889200"/>
          </a:xfrm>
          <a:prstGeom prst="trapezoid">
            <a:avLst>
              <a:gd fmla="val 53860" name="adj"/>
            </a:avLst>
          </a:prstGeom>
          <a:solidFill>
            <a:srgbClr val="FF9900"/>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15</a:t>
            </a:r>
            <a:endParaRPr/>
          </a:p>
        </p:txBody>
      </p:sp>
      <p:sp>
        <p:nvSpPr>
          <p:cNvPr id="495" name="Google Shape;495;p42"/>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Statistical Multiplexing</a:t>
            </a:r>
            <a:endParaRPr/>
          </a:p>
        </p:txBody>
      </p:sp>
      <p:sp>
        <p:nvSpPr>
          <p:cNvPr id="496" name="Google Shape;496;p42"/>
          <p:cNvSpPr/>
          <p:nvPr/>
        </p:nvSpPr>
        <p:spPr>
          <a:xfrm>
            <a:off x="616000" y="2289350"/>
            <a:ext cx="1169400" cy="715800"/>
          </a:xfrm>
          <a:prstGeom prst="trapezoid">
            <a:avLst>
              <a:gd fmla="val 55357" name="adj"/>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12</a:t>
            </a:r>
            <a:endParaRPr/>
          </a:p>
        </p:txBody>
      </p:sp>
      <p:sp>
        <p:nvSpPr>
          <p:cNvPr id="497" name="Google Shape;497;p42"/>
          <p:cNvSpPr/>
          <p:nvPr/>
        </p:nvSpPr>
        <p:spPr>
          <a:xfrm>
            <a:off x="2224150" y="4844250"/>
            <a:ext cx="1169400" cy="542700"/>
          </a:xfrm>
          <a:prstGeom prst="trapezoid">
            <a:avLst>
              <a:gd fmla="val 55357"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9</a:t>
            </a:r>
            <a:endParaRPr/>
          </a:p>
        </p:txBody>
      </p:sp>
      <p:cxnSp>
        <p:nvCxnSpPr>
          <p:cNvPr id="498" name="Google Shape;498;p42"/>
          <p:cNvCxnSpPr/>
          <p:nvPr/>
        </p:nvCxnSpPr>
        <p:spPr>
          <a:xfrm flipH="1" rot="10800000">
            <a:off x="606375" y="4157550"/>
            <a:ext cx="3513900" cy="10200"/>
          </a:xfrm>
          <a:prstGeom prst="straightConnector1">
            <a:avLst/>
          </a:prstGeom>
          <a:noFill/>
          <a:ln cap="flat" cmpd="sng" w="38100">
            <a:solidFill>
              <a:schemeClr val="dk2"/>
            </a:solidFill>
            <a:prstDash val="solid"/>
            <a:round/>
            <a:headEnd len="med" w="med" type="none"/>
            <a:tailEnd len="med" w="med" type="stealth"/>
          </a:ln>
        </p:spPr>
      </p:cxnSp>
      <p:cxnSp>
        <p:nvCxnSpPr>
          <p:cNvPr id="499" name="Google Shape;499;p42"/>
          <p:cNvCxnSpPr/>
          <p:nvPr/>
        </p:nvCxnSpPr>
        <p:spPr>
          <a:xfrm flipH="1" rot="10800000">
            <a:off x="606375" y="3014550"/>
            <a:ext cx="3513900" cy="10200"/>
          </a:xfrm>
          <a:prstGeom prst="straightConnector1">
            <a:avLst/>
          </a:prstGeom>
          <a:noFill/>
          <a:ln cap="flat" cmpd="sng" w="38100">
            <a:solidFill>
              <a:schemeClr val="dk2"/>
            </a:solidFill>
            <a:prstDash val="solid"/>
            <a:round/>
            <a:headEnd len="med" w="med" type="none"/>
            <a:tailEnd len="med" w="med" type="stealth"/>
          </a:ln>
        </p:spPr>
      </p:cxnSp>
      <p:cxnSp>
        <p:nvCxnSpPr>
          <p:cNvPr id="500" name="Google Shape;500;p42"/>
          <p:cNvCxnSpPr/>
          <p:nvPr/>
        </p:nvCxnSpPr>
        <p:spPr>
          <a:xfrm flipH="1" rot="10800000">
            <a:off x="606375" y="5376750"/>
            <a:ext cx="3513900" cy="10200"/>
          </a:xfrm>
          <a:prstGeom prst="straightConnector1">
            <a:avLst/>
          </a:prstGeom>
          <a:noFill/>
          <a:ln cap="flat" cmpd="sng" w="38100">
            <a:solidFill>
              <a:schemeClr val="dk2"/>
            </a:solidFill>
            <a:prstDash val="solid"/>
            <a:round/>
            <a:headEnd len="med" w="med" type="none"/>
            <a:tailEnd len="med" w="med" type="stealth"/>
          </a:ln>
        </p:spPr>
      </p:cxnSp>
      <p:cxnSp>
        <p:nvCxnSpPr>
          <p:cNvPr id="501" name="Google Shape;501;p42"/>
          <p:cNvCxnSpPr/>
          <p:nvPr/>
        </p:nvCxnSpPr>
        <p:spPr>
          <a:xfrm flipH="1" rot="10800000">
            <a:off x="5172900" y="3454013"/>
            <a:ext cx="3513900" cy="10200"/>
          </a:xfrm>
          <a:prstGeom prst="straightConnector1">
            <a:avLst/>
          </a:prstGeom>
          <a:noFill/>
          <a:ln cap="flat" cmpd="sng" w="38100">
            <a:solidFill>
              <a:schemeClr val="dk2"/>
            </a:solidFill>
            <a:prstDash val="solid"/>
            <a:round/>
            <a:headEnd len="med" w="med" type="none"/>
            <a:tailEnd len="med" w="med" type="stealth"/>
          </a:ln>
        </p:spPr>
      </p:cxnSp>
      <p:sp>
        <p:nvSpPr>
          <p:cNvPr id="502" name="Google Shape;502;p42"/>
          <p:cNvSpPr/>
          <p:nvPr/>
        </p:nvSpPr>
        <p:spPr>
          <a:xfrm>
            <a:off x="5182525" y="2728813"/>
            <a:ext cx="1169400" cy="715800"/>
          </a:xfrm>
          <a:prstGeom prst="trapezoid">
            <a:avLst>
              <a:gd fmla="val 55357" name="adj"/>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12</a:t>
            </a:r>
            <a:endParaRPr/>
          </a:p>
        </p:txBody>
      </p:sp>
      <p:cxnSp>
        <p:nvCxnSpPr>
          <p:cNvPr id="503" name="Google Shape;503;p42"/>
          <p:cNvCxnSpPr/>
          <p:nvPr/>
        </p:nvCxnSpPr>
        <p:spPr>
          <a:xfrm flipH="1" rot="10800000">
            <a:off x="5172900" y="3454013"/>
            <a:ext cx="3513900" cy="10200"/>
          </a:xfrm>
          <a:prstGeom prst="straightConnector1">
            <a:avLst/>
          </a:prstGeom>
          <a:noFill/>
          <a:ln cap="flat" cmpd="sng" w="38100">
            <a:solidFill>
              <a:schemeClr val="dk2"/>
            </a:solidFill>
            <a:prstDash val="solid"/>
            <a:round/>
            <a:headEnd len="med" w="med" type="none"/>
            <a:tailEnd len="med" w="med" type="stealth"/>
          </a:ln>
        </p:spPr>
      </p:cxnSp>
      <p:sp>
        <p:nvSpPr>
          <p:cNvPr id="504" name="Google Shape;504;p42"/>
          <p:cNvSpPr/>
          <p:nvPr/>
        </p:nvSpPr>
        <p:spPr>
          <a:xfrm>
            <a:off x="6790675" y="2930063"/>
            <a:ext cx="1169400" cy="542700"/>
          </a:xfrm>
          <a:prstGeom prst="trapezoid">
            <a:avLst>
              <a:gd fmla="val 55357"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9</a:t>
            </a:r>
            <a:endParaRPr/>
          </a:p>
        </p:txBody>
      </p:sp>
      <p:cxnSp>
        <p:nvCxnSpPr>
          <p:cNvPr id="505" name="Google Shape;505;p42"/>
          <p:cNvCxnSpPr/>
          <p:nvPr/>
        </p:nvCxnSpPr>
        <p:spPr>
          <a:xfrm flipH="1" rot="10800000">
            <a:off x="5172900" y="3454013"/>
            <a:ext cx="3513900" cy="10200"/>
          </a:xfrm>
          <a:prstGeom prst="straightConnector1">
            <a:avLst/>
          </a:prstGeom>
          <a:noFill/>
          <a:ln cap="flat" cmpd="sng" w="38100">
            <a:solidFill>
              <a:schemeClr val="dk2"/>
            </a:solidFill>
            <a:prstDash val="solid"/>
            <a:round/>
            <a:headEnd len="med" w="med" type="none"/>
            <a:tailEnd len="med" w="med" type="stealth"/>
          </a:ln>
        </p:spPr>
      </p:cxnSp>
      <p:cxnSp>
        <p:nvCxnSpPr>
          <p:cNvPr id="506" name="Google Shape;506;p42"/>
          <p:cNvCxnSpPr/>
          <p:nvPr/>
        </p:nvCxnSpPr>
        <p:spPr>
          <a:xfrm flipH="1" rot="10800000">
            <a:off x="5288400" y="5252700"/>
            <a:ext cx="3513900" cy="10200"/>
          </a:xfrm>
          <a:prstGeom prst="straightConnector1">
            <a:avLst/>
          </a:prstGeom>
          <a:noFill/>
          <a:ln cap="flat" cmpd="sng" w="38100">
            <a:solidFill>
              <a:schemeClr val="dk2"/>
            </a:solidFill>
            <a:prstDash val="solid"/>
            <a:round/>
            <a:headEnd len="med" w="med" type="none"/>
            <a:tailEnd len="med" w="med" type="stealth"/>
          </a:ln>
        </p:spPr>
      </p:cxnSp>
      <p:sp>
        <p:nvSpPr>
          <p:cNvPr id="507" name="Google Shape;507;p42"/>
          <p:cNvSpPr/>
          <p:nvPr/>
        </p:nvSpPr>
        <p:spPr>
          <a:xfrm>
            <a:off x="5298025" y="4527500"/>
            <a:ext cx="1169400" cy="715800"/>
          </a:xfrm>
          <a:prstGeom prst="trapezoid">
            <a:avLst>
              <a:gd fmla="val 55357" name="adj"/>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12</a:t>
            </a:r>
            <a:endParaRPr/>
          </a:p>
        </p:txBody>
      </p:sp>
      <p:cxnSp>
        <p:nvCxnSpPr>
          <p:cNvPr id="508" name="Google Shape;508;p42"/>
          <p:cNvCxnSpPr/>
          <p:nvPr/>
        </p:nvCxnSpPr>
        <p:spPr>
          <a:xfrm flipH="1" rot="10800000">
            <a:off x="5288400" y="5252700"/>
            <a:ext cx="3513900" cy="10200"/>
          </a:xfrm>
          <a:prstGeom prst="straightConnector1">
            <a:avLst/>
          </a:prstGeom>
          <a:noFill/>
          <a:ln cap="flat" cmpd="sng" w="38100">
            <a:solidFill>
              <a:schemeClr val="dk2"/>
            </a:solidFill>
            <a:prstDash val="solid"/>
            <a:round/>
            <a:headEnd len="med" w="med" type="none"/>
            <a:tailEnd len="med" w="med" type="stealth"/>
          </a:ln>
        </p:spPr>
      </p:cxnSp>
      <p:sp>
        <p:nvSpPr>
          <p:cNvPr id="509" name="Google Shape;509;p42"/>
          <p:cNvSpPr/>
          <p:nvPr/>
        </p:nvSpPr>
        <p:spPr>
          <a:xfrm>
            <a:off x="6906175" y="4728750"/>
            <a:ext cx="1169400" cy="542700"/>
          </a:xfrm>
          <a:prstGeom prst="trapezoid">
            <a:avLst>
              <a:gd fmla="val 52312"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9</a:t>
            </a:r>
            <a:endParaRPr/>
          </a:p>
        </p:txBody>
      </p:sp>
      <p:cxnSp>
        <p:nvCxnSpPr>
          <p:cNvPr id="510" name="Google Shape;510;p42"/>
          <p:cNvCxnSpPr/>
          <p:nvPr/>
        </p:nvCxnSpPr>
        <p:spPr>
          <a:xfrm flipH="1" rot="10800000">
            <a:off x="5288400" y="5252700"/>
            <a:ext cx="3513900" cy="10200"/>
          </a:xfrm>
          <a:prstGeom prst="straightConnector1">
            <a:avLst/>
          </a:prstGeom>
          <a:noFill/>
          <a:ln cap="flat" cmpd="sng" w="38100">
            <a:solidFill>
              <a:schemeClr val="dk2"/>
            </a:solidFill>
            <a:prstDash val="solid"/>
            <a:round/>
            <a:headEnd len="med" w="med" type="none"/>
            <a:tailEnd len="med" w="med" type="stealth"/>
          </a:ln>
        </p:spPr>
      </p:cxnSp>
      <p:sp>
        <p:nvSpPr>
          <p:cNvPr id="511" name="Google Shape;511;p42"/>
          <p:cNvSpPr/>
          <p:nvPr/>
        </p:nvSpPr>
        <p:spPr>
          <a:xfrm rot="736">
            <a:off x="5849874" y="2566695"/>
            <a:ext cx="1400400" cy="889200"/>
          </a:xfrm>
          <a:prstGeom prst="trapezoid">
            <a:avLst>
              <a:gd fmla="val 53860" name="adj"/>
            </a:avLst>
          </a:prstGeom>
          <a:solidFill>
            <a:srgbClr val="FF9900"/>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15</a:t>
            </a:r>
            <a:endParaRPr/>
          </a:p>
        </p:txBody>
      </p:sp>
      <p:cxnSp>
        <p:nvCxnSpPr>
          <p:cNvPr id="512" name="Google Shape;512;p42"/>
          <p:cNvCxnSpPr/>
          <p:nvPr/>
        </p:nvCxnSpPr>
        <p:spPr>
          <a:xfrm flipH="1" rot="10800000">
            <a:off x="5172900" y="3454013"/>
            <a:ext cx="3513900" cy="10200"/>
          </a:xfrm>
          <a:prstGeom prst="straightConnector1">
            <a:avLst/>
          </a:prstGeom>
          <a:noFill/>
          <a:ln cap="flat" cmpd="sng" w="38100">
            <a:solidFill>
              <a:schemeClr val="dk2"/>
            </a:solidFill>
            <a:prstDash val="solid"/>
            <a:round/>
            <a:headEnd len="med" w="med" type="none"/>
            <a:tailEnd len="med" w="med" type="stealth"/>
          </a:ln>
        </p:spPr>
      </p:cxnSp>
      <p:sp>
        <p:nvSpPr>
          <p:cNvPr id="513" name="Google Shape;513;p42"/>
          <p:cNvSpPr txBox="1"/>
          <p:nvPr/>
        </p:nvSpPr>
        <p:spPr>
          <a:xfrm>
            <a:off x="6453725" y="4721200"/>
            <a:ext cx="4524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15</a:t>
            </a:r>
            <a:endParaRPr/>
          </a:p>
        </p:txBody>
      </p:sp>
      <p:sp>
        <p:nvSpPr>
          <p:cNvPr id="514" name="Google Shape;514;p42"/>
          <p:cNvSpPr/>
          <p:nvPr/>
        </p:nvSpPr>
        <p:spPr>
          <a:xfrm>
            <a:off x="6075075" y="4351600"/>
            <a:ext cx="1130725" cy="909500"/>
          </a:xfrm>
          <a:custGeom>
            <a:rect b="b" l="l" r="r" t="t"/>
            <a:pathLst>
              <a:path extrusionOk="0" h="36380" w="45229">
                <a:moveTo>
                  <a:pt x="0" y="6637"/>
                </a:moveTo>
                <a:lnTo>
                  <a:pt x="7866" y="0"/>
                </a:lnTo>
                <a:lnTo>
                  <a:pt x="40313" y="0"/>
                </a:lnTo>
                <a:lnTo>
                  <a:pt x="45229" y="15240"/>
                </a:lnTo>
                <a:lnTo>
                  <a:pt x="33184" y="36380"/>
                </a:lnTo>
                <a:lnTo>
                  <a:pt x="15732" y="36380"/>
                </a:lnTo>
                <a:close/>
              </a:path>
            </a:pathLst>
          </a:custGeom>
          <a:solidFill>
            <a:srgbClr val="FF9900"/>
          </a:solidFill>
          <a:ln>
            <a:noFill/>
          </a:ln>
        </p:spPr>
      </p:sp>
      <p:sp>
        <p:nvSpPr>
          <p:cNvPr id="515" name="Google Shape;515;p42"/>
          <p:cNvSpPr txBox="1"/>
          <p:nvPr/>
        </p:nvSpPr>
        <p:spPr>
          <a:xfrm>
            <a:off x="6440638" y="4604950"/>
            <a:ext cx="399600" cy="3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15</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20" name="Shape 520"/>
        <p:cNvGrpSpPr/>
        <p:nvPr/>
      </p:nvGrpSpPr>
      <p:grpSpPr>
        <a:xfrm>
          <a:off x="0" y="0"/>
          <a:ext cx="0" cy="0"/>
          <a:chOff x="0" y="0"/>
          <a:chExt cx="0" cy="0"/>
        </a:xfrm>
      </p:grpSpPr>
      <p:sp>
        <p:nvSpPr>
          <p:cNvPr id="521" name="Google Shape;521;p43"/>
          <p:cNvSpPr txBox="1"/>
          <p:nvPr>
            <p:ph type="title"/>
          </p:nvPr>
        </p:nvSpPr>
        <p:spPr>
          <a:xfrm>
            <a:off x="457200" y="285748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Discussion Questions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26" name="Shape 526"/>
        <p:cNvGrpSpPr/>
        <p:nvPr/>
      </p:nvGrpSpPr>
      <p:grpSpPr>
        <a:xfrm>
          <a:off x="0" y="0"/>
          <a:ext cx="0" cy="0"/>
          <a:chOff x="0" y="0"/>
          <a:chExt cx="0" cy="0"/>
        </a:xfrm>
      </p:grpSpPr>
      <p:pic>
        <p:nvPicPr>
          <p:cNvPr id="527" name="Google Shape;527;p44"/>
          <p:cNvPicPr preferRelativeResize="0"/>
          <p:nvPr/>
        </p:nvPicPr>
        <p:blipFill>
          <a:blip r:embed="rId3">
            <a:alphaModFix/>
          </a:blip>
          <a:stretch>
            <a:fillRect/>
          </a:stretch>
        </p:blipFill>
        <p:spPr>
          <a:xfrm>
            <a:off x="628812" y="99238"/>
            <a:ext cx="8157623" cy="6659525"/>
          </a:xfrm>
          <a:prstGeom prst="rect">
            <a:avLst/>
          </a:prstGeom>
          <a:noFill/>
          <a:ln>
            <a:noFill/>
          </a:ln>
        </p:spPr>
      </p:pic>
      <p:sp>
        <p:nvSpPr>
          <p:cNvPr id="528" name="Google Shape;528;p44"/>
          <p:cNvSpPr/>
          <p:nvPr/>
        </p:nvSpPr>
        <p:spPr>
          <a:xfrm>
            <a:off x="837400" y="1284975"/>
            <a:ext cx="7608900" cy="794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4"/>
          <p:cNvSpPr/>
          <p:nvPr/>
        </p:nvSpPr>
        <p:spPr>
          <a:xfrm>
            <a:off x="903175" y="2634900"/>
            <a:ext cx="7608900" cy="794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4"/>
          <p:cNvSpPr/>
          <p:nvPr/>
        </p:nvSpPr>
        <p:spPr>
          <a:xfrm>
            <a:off x="837400" y="3710550"/>
            <a:ext cx="7608900" cy="709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4"/>
          <p:cNvSpPr/>
          <p:nvPr/>
        </p:nvSpPr>
        <p:spPr>
          <a:xfrm>
            <a:off x="837400" y="4937747"/>
            <a:ext cx="7608900" cy="471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4"/>
          <p:cNvSpPr/>
          <p:nvPr/>
        </p:nvSpPr>
        <p:spPr>
          <a:xfrm>
            <a:off x="903175" y="5830450"/>
            <a:ext cx="7608900" cy="794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2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3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3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7" name="Shape 537"/>
        <p:cNvGrpSpPr/>
        <p:nvPr/>
      </p:nvGrpSpPr>
      <p:grpSpPr>
        <a:xfrm>
          <a:off x="0" y="0"/>
          <a:ext cx="0" cy="0"/>
          <a:chOff x="0" y="0"/>
          <a:chExt cx="0" cy="0"/>
        </a:xfrm>
      </p:grpSpPr>
      <p:pic>
        <p:nvPicPr>
          <p:cNvPr id="538" name="Google Shape;538;p45"/>
          <p:cNvPicPr preferRelativeResize="0"/>
          <p:nvPr/>
        </p:nvPicPr>
        <p:blipFill>
          <a:blip r:embed="rId3">
            <a:alphaModFix/>
          </a:blip>
          <a:stretch>
            <a:fillRect/>
          </a:stretch>
        </p:blipFill>
        <p:spPr>
          <a:xfrm>
            <a:off x="152400" y="282350"/>
            <a:ext cx="8839201" cy="1796980"/>
          </a:xfrm>
          <a:prstGeom prst="rect">
            <a:avLst/>
          </a:prstGeom>
          <a:noFill/>
          <a:ln>
            <a:noFill/>
          </a:ln>
        </p:spPr>
      </p:pic>
      <p:pic>
        <p:nvPicPr>
          <p:cNvPr id="539" name="Google Shape;539;p45"/>
          <p:cNvPicPr preferRelativeResize="0"/>
          <p:nvPr/>
        </p:nvPicPr>
        <p:blipFill rotWithShape="1">
          <a:blip r:embed="rId4">
            <a:alphaModFix/>
          </a:blip>
          <a:srcRect b="0" l="0" r="0" t="15704"/>
          <a:stretch/>
        </p:blipFill>
        <p:spPr>
          <a:xfrm>
            <a:off x="152400" y="1905800"/>
            <a:ext cx="8839200" cy="1626075"/>
          </a:xfrm>
          <a:prstGeom prst="rect">
            <a:avLst/>
          </a:prstGeom>
          <a:noFill/>
          <a:ln>
            <a:noFill/>
          </a:ln>
        </p:spPr>
      </p:pic>
      <p:pic>
        <p:nvPicPr>
          <p:cNvPr id="540" name="Google Shape;540;p45"/>
          <p:cNvPicPr preferRelativeResize="0"/>
          <p:nvPr/>
        </p:nvPicPr>
        <p:blipFill>
          <a:blip r:embed="rId5">
            <a:alphaModFix/>
          </a:blip>
          <a:stretch>
            <a:fillRect/>
          </a:stretch>
        </p:blipFill>
        <p:spPr>
          <a:xfrm>
            <a:off x="664575" y="3531875"/>
            <a:ext cx="7814848" cy="3167299"/>
          </a:xfrm>
          <a:prstGeom prst="rect">
            <a:avLst/>
          </a:prstGeom>
          <a:noFill/>
          <a:ln>
            <a:noFill/>
          </a:ln>
        </p:spPr>
      </p:pic>
      <p:sp>
        <p:nvSpPr>
          <p:cNvPr id="541" name="Google Shape;541;p45"/>
          <p:cNvSpPr/>
          <p:nvPr/>
        </p:nvSpPr>
        <p:spPr>
          <a:xfrm>
            <a:off x="767550" y="4085912"/>
            <a:ext cx="7814700" cy="2613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4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46" name="Shape 546"/>
        <p:cNvGrpSpPr/>
        <p:nvPr/>
      </p:nvGrpSpPr>
      <p:grpSpPr>
        <a:xfrm>
          <a:off x="0" y="0"/>
          <a:ext cx="0" cy="0"/>
          <a:chOff x="0" y="0"/>
          <a:chExt cx="0" cy="0"/>
        </a:xfrm>
      </p:grpSpPr>
      <p:pic>
        <p:nvPicPr>
          <p:cNvPr id="547" name="Google Shape;547;p46"/>
          <p:cNvPicPr preferRelativeResize="0"/>
          <p:nvPr/>
        </p:nvPicPr>
        <p:blipFill>
          <a:blip r:embed="rId3">
            <a:alphaModFix/>
          </a:blip>
          <a:stretch>
            <a:fillRect/>
          </a:stretch>
        </p:blipFill>
        <p:spPr>
          <a:xfrm>
            <a:off x="152400" y="282350"/>
            <a:ext cx="8839201" cy="1796980"/>
          </a:xfrm>
          <a:prstGeom prst="rect">
            <a:avLst/>
          </a:prstGeom>
          <a:noFill/>
          <a:ln>
            <a:noFill/>
          </a:ln>
        </p:spPr>
      </p:pic>
      <p:pic>
        <p:nvPicPr>
          <p:cNvPr id="548" name="Google Shape;548;p46"/>
          <p:cNvPicPr preferRelativeResize="0"/>
          <p:nvPr/>
        </p:nvPicPr>
        <p:blipFill rotWithShape="1">
          <a:blip r:embed="rId4">
            <a:alphaModFix/>
          </a:blip>
          <a:srcRect b="0" l="0" r="0" t="15704"/>
          <a:stretch/>
        </p:blipFill>
        <p:spPr>
          <a:xfrm>
            <a:off x="152400" y="1905800"/>
            <a:ext cx="8839200" cy="1626075"/>
          </a:xfrm>
          <a:prstGeom prst="rect">
            <a:avLst/>
          </a:prstGeom>
          <a:noFill/>
          <a:ln>
            <a:noFill/>
          </a:ln>
        </p:spPr>
      </p:pic>
      <p:pic>
        <p:nvPicPr>
          <p:cNvPr id="549" name="Google Shape;549;p46"/>
          <p:cNvPicPr preferRelativeResize="0"/>
          <p:nvPr/>
        </p:nvPicPr>
        <p:blipFill>
          <a:blip r:embed="rId5">
            <a:alphaModFix/>
          </a:blip>
          <a:stretch>
            <a:fillRect/>
          </a:stretch>
        </p:blipFill>
        <p:spPr>
          <a:xfrm>
            <a:off x="152400" y="3612076"/>
            <a:ext cx="8839202" cy="53233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54" name="Shape 554"/>
        <p:cNvGrpSpPr/>
        <p:nvPr/>
      </p:nvGrpSpPr>
      <p:grpSpPr>
        <a:xfrm>
          <a:off x="0" y="0"/>
          <a:ext cx="0" cy="0"/>
          <a:chOff x="0" y="0"/>
          <a:chExt cx="0" cy="0"/>
        </a:xfrm>
      </p:grpSpPr>
      <p:pic>
        <p:nvPicPr>
          <p:cNvPr id="555" name="Google Shape;555;p47"/>
          <p:cNvPicPr preferRelativeResize="0"/>
          <p:nvPr/>
        </p:nvPicPr>
        <p:blipFill rotWithShape="1">
          <a:blip r:embed="rId3">
            <a:alphaModFix/>
          </a:blip>
          <a:srcRect b="83763" l="0" r="0" t="0"/>
          <a:stretch/>
        </p:blipFill>
        <p:spPr>
          <a:xfrm>
            <a:off x="152400" y="122240"/>
            <a:ext cx="8839201" cy="570774"/>
          </a:xfrm>
          <a:prstGeom prst="rect">
            <a:avLst/>
          </a:prstGeom>
          <a:noFill/>
          <a:ln>
            <a:noFill/>
          </a:ln>
        </p:spPr>
      </p:pic>
      <p:pic>
        <p:nvPicPr>
          <p:cNvPr id="556" name="Google Shape;556;p47"/>
          <p:cNvPicPr preferRelativeResize="0"/>
          <p:nvPr/>
        </p:nvPicPr>
        <p:blipFill>
          <a:blip r:embed="rId4">
            <a:alphaModFix/>
          </a:blip>
          <a:stretch>
            <a:fillRect/>
          </a:stretch>
        </p:blipFill>
        <p:spPr>
          <a:xfrm>
            <a:off x="282350" y="2974200"/>
            <a:ext cx="6351803" cy="1925525"/>
          </a:xfrm>
          <a:prstGeom prst="rect">
            <a:avLst/>
          </a:prstGeom>
          <a:noFill/>
          <a:ln>
            <a:noFill/>
          </a:ln>
        </p:spPr>
      </p:pic>
      <p:pic>
        <p:nvPicPr>
          <p:cNvPr id="557" name="Google Shape;557;p47"/>
          <p:cNvPicPr preferRelativeResize="0"/>
          <p:nvPr/>
        </p:nvPicPr>
        <p:blipFill>
          <a:blip r:embed="rId5">
            <a:alphaModFix/>
          </a:blip>
          <a:stretch>
            <a:fillRect/>
          </a:stretch>
        </p:blipFill>
        <p:spPr>
          <a:xfrm>
            <a:off x="282350" y="4895725"/>
            <a:ext cx="5690526" cy="2012250"/>
          </a:xfrm>
          <a:prstGeom prst="rect">
            <a:avLst/>
          </a:prstGeom>
          <a:noFill/>
          <a:ln>
            <a:noFill/>
          </a:ln>
        </p:spPr>
      </p:pic>
      <p:pic>
        <p:nvPicPr>
          <p:cNvPr id="558" name="Google Shape;558;p47"/>
          <p:cNvPicPr preferRelativeResize="0"/>
          <p:nvPr/>
        </p:nvPicPr>
        <p:blipFill rotWithShape="1">
          <a:blip r:embed="rId3">
            <a:alphaModFix/>
          </a:blip>
          <a:srcRect b="0" l="0" r="0" t="27917"/>
          <a:stretch/>
        </p:blipFill>
        <p:spPr>
          <a:xfrm>
            <a:off x="152400" y="635250"/>
            <a:ext cx="8839201" cy="24111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63" name="Shape 563"/>
        <p:cNvGrpSpPr/>
        <p:nvPr/>
      </p:nvGrpSpPr>
      <p:grpSpPr>
        <a:xfrm>
          <a:off x="0" y="0"/>
          <a:ext cx="0" cy="0"/>
          <a:chOff x="0" y="0"/>
          <a:chExt cx="0" cy="0"/>
        </a:xfrm>
      </p:grpSpPr>
      <p:pic>
        <p:nvPicPr>
          <p:cNvPr id="564" name="Google Shape;564;p48"/>
          <p:cNvPicPr preferRelativeResize="0"/>
          <p:nvPr/>
        </p:nvPicPr>
        <p:blipFill>
          <a:blip r:embed="rId3">
            <a:alphaModFix/>
          </a:blip>
          <a:stretch>
            <a:fillRect/>
          </a:stretch>
        </p:blipFill>
        <p:spPr>
          <a:xfrm>
            <a:off x="152400" y="340100"/>
            <a:ext cx="8839202" cy="53233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69" name="Shape 569"/>
        <p:cNvGrpSpPr/>
        <p:nvPr/>
      </p:nvGrpSpPr>
      <p:grpSpPr>
        <a:xfrm>
          <a:off x="0" y="0"/>
          <a:ext cx="0" cy="0"/>
          <a:chOff x="0" y="0"/>
          <a:chExt cx="0" cy="0"/>
        </a:xfrm>
      </p:grpSpPr>
      <p:pic>
        <p:nvPicPr>
          <p:cNvPr id="570" name="Google Shape;570;p49"/>
          <p:cNvPicPr preferRelativeResize="0"/>
          <p:nvPr/>
        </p:nvPicPr>
        <p:blipFill>
          <a:blip r:embed="rId3">
            <a:alphaModFix/>
          </a:blip>
          <a:stretch>
            <a:fillRect/>
          </a:stretch>
        </p:blipFill>
        <p:spPr>
          <a:xfrm>
            <a:off x="152400" y="3036288"/>
            <a:ext cx="8839199" cy="3786401"/>
          </a:xfrm>
          <a:prstGeom prst="rect">
            <a:avLst/>
          </a:prstGeom>
          <a:noFill/>
          <a:ln>
            <a:noFill/>
          </a:ln>
        </p:spPr>
      </p:pic>
      <p:pic>
        <p:nvPicPr>
          <p:cNvPr id="571" name="Google Shape;571;p49"/>
          <p:cNvPicPr preferRelativeResize="0"/>
          <p:nvPr/>
        </p:nvPicPr>
        <p:blipFill>
          <a:blip r:embed="rId4">
            <a:alphaModFix/>
          </a:blip>
          <a:stretch>
            <a:fillRect/>
          </a:stretch>
        </p:blipFill>
        <p:spPr>
          <a:xfrm>
            <a:off x="152400" y="340100"/>
            <a:ext cx="8839202" cy="532333"/>
          </a:xfrm>
          <a:prstGeom prst="rect">
            <a:avLst/>
          </a:prstGeom>
          <a:noFill/>
          <a:ln>
            <a:noFill/>
          </a:ln>
        </p:spPr>
      </p:pic>
      <p:pic>
        <p:nvPicPr>
          <p:cNvPr id="572" name="Google Shape;572;p49"/>
          <p:cNvPicPr preferRelativeResize="0"/>
          <p:nvPr/>
        </p:nvPicPr>
        <p:blipFill>
          <a:blip r:embed="rId5">
            <a:alphaModFix/>
          </a:blip>
          <a:stretch>
            <a:fillRect/>
          </a:stretch>
        </p:blipFill>
        <p:spPr>
          <a:xfrm>
            <a:off x="0" y="1024811"/>
            <a:ext cx="4868974" cy="2165950"/>
          </a:xfrm>
          <a:prstGeom prst="rect">
            <a:avLst/>
          </a:prstGeom>
          <a:noFill/>
          <a:ln>
            <a:noFill/>
          </a:ln>
        </p:spPr>
      </p:pic>
      <p:pic>
        <p:nvPicPr>
          <p:cNvPr id="573" name="Google Shape;573;p49"/>
          <p:cNvPicPr preferRelativeResize="0"/>
          <p:nvPr/>
        </p:nvPicPr>
        <p:blipFill>
          <a:blip r:embed="rId6">
            <a:alphaModFix/>
          </a:blip>
          <a:stretch>
            <a:fillRect/>
          </a:stretch>
        </p:blipFill>
        <p:spPr>
          <a:xfrm>
            <a:off x="4827406" y="1102062"/>
            <a:ext cx="4240394" cy="201147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78" name="Shape 578"/>
        <p:cNvGrpSpPr/>
        <p:nvPr/>
      </p:nvGrpSpPr>
      <p:grpSpPr>
        <a:xfrm>
          <a:off x="0" y="0"/>
          <a:ext cx="0" cy="0"/>
          <a:chOff x="0" y="0"/>
          <a:chExt cx="0" cy="0"/>
        </a:xfrm>
      </p:grpSpPr>
      <p:pic>
        <p:nvPicPr>
          <p:cNvPr id="579" name="Google Shape;579;p50"/>
          <p:cNvPicPr preferRelativeResize="0"/>
          <p:nvPr/>
        </p:nvPicPr>
        <p:blipFill rotWithShape="1">
          <a:blip r:embed="rId3">
            <a:alphaModFix/>
          </a:blip>
          <a:srcRect b="80782" l="0" r="0" t="0"/>
          <a:stretch/>
        </p:blipFill>
        <p:spPr>
          <a:xfrm>
            <a:off x="152400" y="92275"/>
            <a:ext cx="8839201" cy="339750"/>
          </a:xfrm>
          <a:prstGeom prst="rect">
            <a:avLst/>
          </a:prstGeom>
          <a:noFill/>
          <a:ln>
            <a:noFill/>
          </a:ln>
        </p:spPr>
      </p:pic>
      <p:pic>
        <p:nvPicPr>
          <p:cNvPr id="580" name="Google Shape;580;p50"/>
          <p:cNvPicPr preferRelativeResize="0"/>
          <p:nvPr/>
        </p:nvPicPr>
        <p:blipFill rotWithShape="1">
          <a:blip r:embed="rId3">
            <a:alphaModFix/>
          </a:blip>
          <a:srcRect b="0" l="0" r="0" t="16387"/>
          <a:stretch/>
        </p:blipFill>
        <p:spPr>
          <a:xfrm>
            <a:off x="152400" y="2293498"/>
            <a:ext cx="8839201" cy="1478175"/>
          </a:xfrm>
          <a:prstGeom prst="rect">
            <a:avLst/>
          </a:prstGeom>
          <a:noFill/>
          <a:ln>
            <a:noFill/>
          </a:ln>
        </p:spPr>
      </p:pic>
      <p:sp>
        <p:nvSpPr>
          <p:cNvPr id="581" name="Google Shape;581;p50"/>
          <p:cNvSpPr/>
          <p:nvPr/>
        </p:nvSpPr>
        <p:spPr>
          <a:xfrm>
            <a:off x="0" y="1920938"/>
            <a:ext cx="9144000" cy="2223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8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86" name="Shape 586"/>
        <p:cNvGrpSpPr/>
        <p:nvPr/>
      </p:nvGrpSpPr>
      <p:grpSpPr>
        <a:xfrm>
          <a:off x="0" y="0"/>
          <a:ext cx="0" cy="0"/>
          <a:chOff x="0" y="0"/>
          <a:chExt cx="0" cy="0"/>
        </a:xfrm>
      </p:grpSpPr>
      <p:pic>
        <p:nvPicPr>
          <p:cNvPr id="587" name="Google Shape;587;p51"/>
          <p:cNvPicPr preferRelativeResize="0"/>
          <p:nvPr/>
        </p:nvPicPr>
        <p:blipFill>
          <a:blip r:embed="rId3">
            <a:alphaModFix/>
          </a:blip>
          <a:stretch>
            <a:fillRect/>
          </a:stretch>
        </p:blipFill>
        <p:spPr>
          <a:xfrm>
            <a:off x="152400" y="152400"/>
            <a:ext cx="8839198" cy="3331235"/>
          </a:xfrm>
          <a:prstGeom prst="rect">
            <a:avLst/>
          </a:prstGeom>
          <a:noFill/>
          <a:ln>
            <a:noFill/>
          </a:ln>
        </p:spPr>
      </p:pic>
      <p:pic>
        <p:nvPicPr>
          <p:cNvPr id="588" name="Google Shape;588;p51"/>
          <p:cNvPicPr preferRelativeResize="0"/>
          <p:nvPr/>
        </p:nvPicPr>
        <p:blipFill>
          <a:blip r:embed="rId4">
            <a:alphaModFix/>
          </a:blip>
          <a:stretch>
            <a:fillRect/>
          </a:stretch>
        </p:blipFill>
        <p:spPr>
          <a:xfrm>
            <a:off x="152400" y="4011435"/>
            <a:ext cx="8839200" cy="1387767"/>
          </a:xfrm>
          <a:prstGeom prst="rect">
            <a:avLst/>
          </a:prstGeom>
          <a:noFill/>
          <a:ln>
            <a:noFill/>
          </a:ln>
        </p:spPr>
      </p:pic>
      <p:sp>
        <p:nvSpPr>
          <p:cNvPr id="589" name="Google Shape;589;p51"/>
          <p:cNvSpPr/>
          <p:nvPr/>
        </p:nvSpPr>
        <p:spPr>
          <a:xfrm>
            <a:off x="0" y="4417975"/>
            <a:ext cx="9144000" cy="1776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8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4" name="Shape 594"/>
        <p:cNvGrpSpPr/>
        <p:nvPr/>
      </p:nvGrpSpPr>
      <p:grpSpPr>
        <a:xfrm>
          <a:off x="0" y="0"/>
          <a:ext cx="0" cy="0"/>
          <a:chOff x="0" y="0"/>
          <a:chExt cx="0" cy="0"/>
        </a:xfrm>
      </p:grpSpPr>
      <p:pic>
        <p:nvPicPr>
          <p:cNvPr id="595" name="Google Shape;595;p52"/>
          <p:cNvPicPr preferRelativeResize="0"/>
          <p:nvPr/>
        </p:nvPicPr>
        <p:blipFill>
          <a:blip r:embed="rId3">
            <a:alphaModFix/>
          </a:blip>
          <a:stretch>
            <a:fillRect/>
          </a:stretch>
        </p:blipFill>
        <p:spPr>
          <a:xfrm>
            <a:off x="152400" y="1336513"/>
            <a:ext cx="8839197" cy="4184986"/>
          </a:xfrm>
          <a:prstGeom prst="rect">
            <a:avLst/>
          </a:prstGeom>
          <a:noFill/>
          <a:ln>
            <a:noFill/>
          </a:ln>
        </p:spPr>
      </p:pic>
      <p:sp>
        <p:nvSpPr>
          <p:cNvPr id="596" name="Google Shape;596;p52"/>
          <p:cNvSpPr/>
          <p:nvPr/>
        </p:nvSpPr>
        <p:spPr>
          <a:xfrm>
            <a:off x="0" y="4100350"/>
            <a:ext cx="9144000" cy="1776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52"/>
          <p:cNvSpPr/>
          <p:nvPr/>
        </p:nvSpPr>
        <p:spPr>
          <a:xfrm>
            <a:off x="0" y="1899350"/>
            <a:ext cx="9144000" cy="1776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9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9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2" name="Shape 602"/>
        <p:cNvGrpSpPr/>
        <p:nvPr/>
      </p:nvGrpSpPr>
      <p:grpSpPr>
        <a:xfrm>
          <a:off x="0" y="0"/>
          <a:ext cx="0" cy="0"/>
          <a:chOff x="0" y="0"/>
          <a:chExt cx="0" cy="0"/>
        </a:xfrm>
      </p:grpSpPr>
      <p:pic>
        <p:nvPicPr>
          <p:cNvPr id="603" name="Google Shape;603;p53"/>
          <p:cNvPicPr preferRelativeResize="0"/>
          <p:nvPr/>
        </p:nvPicPr>
        <p:blipFill>
          <a:blip r:embed="rId3">
            <a:alphaModFix/>
          </a:blip>
          <a:stretch>
            <a:fillRect/>
          </a:stretch>
        </p:blipFill>
        <p:spPr>
          <a:xfrm>
            <a:off x="566288" y="4"/>
            <a:ext cx="8011417" cy="685800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8" name="Shape 608"/>
        <p:cNvGrpSpPr/>
        <p:nvPr/>
      </p:nvGrpSpPr>
      <p:grpSpPr>
        <a:xfrm>
          <a:off x="0" y="0"/>
          <a:ext cx="0" cy="0"/>
          <a:chOff x="0" y="0"/>
          <a:chExt cx="0" cy="0"/>
        </a:xfrm>
      </p:grpSpPr>
      <p:pic>
        <p:nvPicPr>
          <p:cNvPr id="609" name="Google Shape;609;p54"/>
          <p:cNvPicPr preferRelativeResize="0"/>
          <p:nvPr/>
        </p:nvPicPr>
        <p:blipFill>
          <a:blip r:embed="rId3">
            <a:alphaModFix/>
          </a:blip>
          <a:stretch>
            <a:fillRect/>
          </a:stretch>
        </p:blipFill>
        <p:spPr>
          <a:xfrm>
            <a:off x="152400" y="838200"/>
            <a:ext cx="8839200" cy="509553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14" name="Shape 614"/>
        <p:cNvGrpSpPr/>
        <p:nvPr/>
      </p:nvGrpSpPr>
      <p:grpSpPr>
        <a:xfrm>
          <a:off x="0" y="0"/>
          <a:ext cx="0" cy="0"/>
          <a:chOff x="0" y="0"/>
          <a:chExt cx="0" cy="0"/>
        </a:xfrm>
      </p:grpSpPr>
      <p:pic>
        <p:nvPicPr>
          <p:cNvPr id="615" name="Google Shape;615;p55"/>
          <p:cNvPicPr preferRelativeResize="0"/>
          <p:nvPr/>
        </p:nvPicPr>
        <p:blipFill>
          <a:blip r:embed="rId3">
            <a:alphaModFix/>
          </a:blip>
          <a:stretch>
            <a:fillRect/>
          </a:stretch>
        </p:blipFill>
        <p:spPr>
          <a:xfrm>
            <a:off x="454063" y="0"/>
            <a:ext cx="8235863" cy="6858000"/>
          </a:xfrm>
          <a:prstGeom prst="rect">
            <a:avLst/>
          </a:prstGeom>
          <a:noFill/>
          <a:ln>
            <a:noFill/>
          </a:ln>
        </p:spPr>
      </p:pic>
      <p:sp>
        <p:nvSpPr>
          <p:cNvPr id="616" name="Google Shape;616;p55"/>
          <p:cNvSpPr/>
          <p:nvPr/>
        </p:nvSpPr>
        <p:spPr>
          <a:xfrm>
            <a:off x="705575" y="6447475"/>
            <a:ext cx="5172900" cy="410400"/>
          </a:xfrm>
          <a:prstGeom prst="rect">
            <a:avLst/>
          </a:prstGeom>
          <a:solidFill>
            <a:srgbClr val="FF6800">
              <a:alpha val="22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21" name="Shape 621"/>
        <p:cNvGrpSpPr/>
        <p:nvPr/>
      </p:nvGrpSpPr>
      <p:grpSpPr>
        <a:xfrm>
          <a:off x="0" y="0"/>
          <a:ext cx="0" cy="0"/>
          <a:chOff x="0" y="0"/>
          <a:chExt cx="0" cy="0"/>
        </a:xfrm>
      </p:grpSpPr>
      <p:grpSp>
        <p:nvGrpSpPr>
          <p:cNvPr id="622" name="Google Shape;622;p56"/>
          <p:cNvGrpSpPr/>
          <p:nvPr/>
        </p:nvGrpSpPr>
        <p:grpSpPr>
          <a:xfrm>
            <a:off x="304800" y="69000"/>
            <a:ext cx="6627426" cy="1346150"/>
            <a:chOff x="152400" y="221400"/>
            <a:chExt cx="6627426" cy="1346150"/>
          </a:xfrm>
        </p:grpSpPr>
        <p:pic>
          <p:nvPicPr>
            <p:cNvPr id="623" name="Google Shape;623;p56"/>
            <p:cNvPicPr preferRelativeResize="0"/>
            <p:nvPr/>
          </p:nvPicPr>
          <p:blipFill rotWithShape="1">
            <a:blip r:embed="rId3">
              <a:alphaModFix/>
            </a:blip>
            <a:srcRect b="30704" l="0" r="25020" t="47766"/>
            <a:stretch/>
          </p:blipFill>
          <p:spPr>
            <a:xfrm>
              <a:off x="152400" y="549600"/>
              <a:ext cx="6627426" cy="1017950"/>
            </a:xfrm>
            <a:prstGeom prst="rect">
              <a:avLst/>
            </a:prstGeom>
            <a:noFill/>
            <a:ln>
              <a:noFill/>
            </a:ln>
          </p:spPr>
        </p:pic>
        <p:sp>
          <p:nvSpPr>
            <p:cNvPr id="624" name="Google Shape;624;p56"/>
            <p:cNvSpPr/>
            <p:nvPr/>
          </p:nvSpPr>
          <p:spPr>
            <a:xfrm>
              <a:off x="152400" y="221400"/>
              <a:ext cx="1140900" cy="705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5" name="Google Shape;625;p56"/>
          <p:cNvGrpSpPr/>
          <p:nvPr/>
        </p:nvGrpSpPr>
        <p:grpSpPr>
          <a:xfrm>
            <a:off x="328925" y="2726550"/>
            <a:ext cx="8486150" cy="1404900"/>
            <a:chOff x="328925" y="2024100"/>
            <a:chExt cx="8486150" cy="1404900"/>
          </a:xfrm>
        </p:grpSpPr>
        <p:pic>
          <p:nvPicPr>
            <p:cNvPr id="626" name="Google Shape;626;p56"/>
            <p:cNvPicPr preferRelativeResize="0"/>
            <p:nvPr/>
          </p:nvPicPr>
          <p:blipFill rotWithShape="1">
            <a:blip r:embed="rId4">
              <a:alphaModFix/>
            </a:blip>
            <a:srcRect b="5379" l="0" r="0" t="79483"/>
            <a:stretch/>
          </p:blipFill>
          <p:spPr>
            <a:xfrm>
              <a:off x="328925" y="2437050"/>
              <a:ext cx="8486150" cy="991950"/>
            </a:xfrm>
            <a:prstGeom prst="rect">
              <a:avLst/>
            </a:prstGeom>
            <a:noFill/>
            <a:ln>
              <a:noFill/>
            </a:ln>
          </p:spPr>
        </p:pic>
        <p:sp>
          <p:nvSpPr>
            <p:cNvPr id="627" name="Google Shape;627;p56"/>
            <p:cNvSpPr/>
            <p:nvPr/>
          </p:nvSpPr>
          <p:spPr>
            <a:xfrm>
              <a:off x="328925" y="2024100"/>
              <a:ext cx="3923100" cy="705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28" name="Google Shape;628;p56"/>
          <p:cNvPicPr preferRelativeResize="0"/>
          <p:nvPr/>
        </p:nvPicPr>
        <p:blipFill rotWithShape="1">
          <a:blip r:embed="rId5">
            <a:alphaModFix/>
          </a:blip>
          <a:srcRect b="0" l="0" r="0" t="19250"/>
          <a:stretch/>
        </p:blipFill>
        <p:spPr>
          <a:xfrm>
            <a:off x="799000" y="4644800"/>
            <a:ext cx="6724650" cy="6922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33" name="Shape 633"/>
        <p:cNvGrpSpPr/>
        <p:nvPr/>
      </p:nvGrpSpPr>
      <p:grpSpPr>
        <a:xfrm>
          <a:off x="0" y="0"/>
          <a:ext cx="0" cy="0"/>
          <a:chOff x="0" y="0"/>
          <a:chExt cx="0" cy="0"/>
        </a:xfrm>
      </p:grpSpPr>
      <p:pic>
        <p:nvPicPr>
          <p:cNvPr id="634" name="Google Shape;634;p57"/>
          <p:cNvPicPr preferRelativeResize="0"/>
          <p:nvPr/>
        </p:nvPicPr>
        <p:blipFill>
          <a:blip r:embed="rId3">
            <a:alphaModFix/>
          </a:blip>
          <a:stretch>
            <a:fillRect/>
          </a:stretch>
        </p:blipFill>
        <p:spPr>
          <a:xfrm>
            <a:off x="454063" y="0"/>
            <a:ext cx="8235863" cy="6858000"/>
          </a:xfrm>
          <a:prstGeom prst="rect">
            <a:avLst/>
          </a:prstGeom>
          <a:noFill/>
          <a:ln>
            <a:noFill/>
          </a:ln>
        </p:spPr>
      </p:pic>
      <p:grpSp>
        <p:nvGrpSpPr>
          <p:cNvPr id="635" name="Google Shape;635;p57"/>
          <p:cNvGrpSpPr/>
          <p:nvPr/>
        </p:nvGrpSpPr>
        <p:grpSpPr>
          <a:xfrm>
            <a:off x="444300" y="6399575"/>
            <a:ext cx="7902751" cy="410400"/>
            <a:chOff x="215700" y="6094775"/>
            <a:chExt cx="7902751" cy="410400"/>
          </a:xfrm>
        </p:grpSpPr>
        <p:pic>
          <p:nvPicPr>
            <p:cNvPr id="636" name="Google Shape;636;p57"/>
            <p:cNvPicPr preferRelativeResize="0"/>
            <p:nvPr/>
          </p:nvPicPr>
          <p:blipFill rotWithShape="1">
            <a:blip r:embed="rId4">
              <a:alphaModFix/>
            </a:blip>
            <a:srcRect b="19782" l="0" r="0" t="15463"/>
            <a:stretch/>
          </p:blipFill>
          <p:spPr>
            <a:xfrm>
              <a:off x="215700" y="6094775"/>
              <a:ext cx="7902751" cy="410400"/>
            </a:xfrm>
            <a:prstGeom prst="rect">
              <a:avLst/>
            </a:prstGeom>
            <a:noFill/>
            <a:ln>
              <a:noFill/>
            </a:ln>
          </p:spPr>
        </p:pic>
        <p:sp>
          <p:nvSpPr>
            <p:cNvPr id="637" name="Google Shape;637;p57"/>
            <p:cNvSpPr/>
            <p:nvPr/>
          </p:nvSpPr>
          <p:spPr>
            <a:xfrm>
              <a:off x="215700" y="6094775"/>
              <a:ext cx="7798500" cy="410400"/>
            </a:xfrm>
            <a:prstGeom prst="rect">
              <a:avLst/>
            </a:prstGeom>
            <a:solidFill>
              <a:srgbClr val="FF6800">
                <a:alpha val="22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42" name="Shape 642"/>
        <p:cNvGrpSpPr/>
        <p:nvPr/>
      </p:nvGrpSpPr>
      <p:grpSpPr>
        <a:xfrm>
          <a:off x="0" y="0"/>
          <a:ext cx="0" cy="0"/>
          <a:chOff x="0" y="0"/>
          <a:chExt cx="0" cy="0"/>
        </a:xfrm>
      </p:grpSpPr>
      <p:pic>
        <p:nvPicPr>
          <p:cNvPr id="643" name="Google Shape;643;p58"/>
          <p:cNvPicPr preferRelativeResize="0"/>
          <p:nvPr/>
        </p:nvPicPr>
        <p:blipFill>
          <a:blip r:embed="rId3">
            <a:alphaModFix/>
          </a:blip>
          <a:stretch>
            <a:fillRect/>
          </a:stretch>
        </p:blipFill>
        <p:spPr>
          <a:xfrm>
            <a:off x="0" y="2022500"/>
            <a:ext cx="9143999" cy="209333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Tropic">
      <a:dk1>
        <a:srgbClr val="000000"/>
      </a:dk1>
      <a:lt1>
        <a:srgbClr val="FFFFFF"/>
      </a:lt1>
      <a:dk2>
        <a:srgbClr val="1F497D"/>
      </a:dk2>
      <a:lt2>
        <a:srgbClr val="EEECE1"/>
      </a:lt2>
      <a:accent1>
        <a:srgbClr val="EF6C00"/>
      </a:accent1>
      <a:accent2>
        <a:srgbClr val="4DB6AC"/>
      </a:accent2>
      <a:accent3>
        <a:srgbClr val="B3A77D"/>
      </a:accent3>
      <a:accent4>
        <a:srgbClr val="A1E8D9"/>
      </a:accent4>
      <a:accent5>
        <a:srgbClr val="695D46"/>
      </a:accent5>
      <a:accent6>
        <a:srgbClr val="009668"/>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85B0D2F0D7DC4489CFF991C602C9121" ma:contentTypeVersion="0" ma:contentTypeDescription="Create a new document." ma:contentTypeScope="" ma:versionID="c4a54f631029e8a3d4327c2e4c61e29a">
  <xsd:schema xmlns:xsd="http://www.w3.org/2001/XMLSchema" xmlns:xs="http://www.w3.org/2001/XMLSchema" xmlns:p="http://schemas.microsoft.com/office/2006/metadata/properties" targetNamespace="http://schemas.microsoft.com/office/2006/metadata/properties" ma:root="true" ma:fieldsID="d413257cd9829394d17656a545d5fa4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0379C4E-29D1-4E05-8332-EB4225EB8F68}"/>
</file>

<file path=customXml/itemProps2.xml><?xml version="1.0" encoding="utf-8"?>
<ds:datastoreItem xmlns:ds="http://schemas.openxmlformats.org/officeDocument/2006/customXml" ds:itemID="{35902D10-177A-4AC3-96F3-6F66BE8D140A}"/>
</file>

<file path=customXml/itemProps3.xml><?xml version="1.0" encoding="utf-8"?>
<ds:datastoreItem xmlns:ds="http://schemas.openxmlformats.org/officeDocument/2006/customXml" ds:itemID="{5B9F2F37-B639-4D55-A61D-059C3F628FBB}"/>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0x010100185B0D2F0D7DC4489CFF991C602C9121</vt:lpwstr>
  </property>
</Properties>
</file>